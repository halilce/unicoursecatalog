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9"/>
  </p:notesMasterIdLst>
  <p:handoutMasterIdLst>
    <p:handoutMasterId r:id="rId30"/>
  </p:handoutMasterIdLst>
  <p:sldIdLst>
    <p:sldId id="256" r:id="rId2"/>
    <p:sldId id="257" r:id="rId3"/>
    <p:sldId id="341" r:id="rId4"/>
    <p:sldId id="346" r:id="rId5"/>
    <p:sldId id="344" r:id="rId6"/>
    <p:sldId id="347" r:id="rId7"/>
    <p:sldId id="259" r:id="rId8"/>
    <p:sldId id="340" r:id="rId9"/>
    <p:sldId id="348" r:id="rId10"/>
    <p:sldId id="349" r:id="rId11"/>
    <p:sldId id="350" r:id="rId12"/>
    <p:sldId id="351" r:id="rId13"/>
    <p:sldId id="352" r:id="rId14"/>
    <p:sldId id="353" r:id="rId15"/>
    <p:sldId id="358" r:id="rId16"/>
    <p:sldId id="357" r:id="rId17"/>
    <p:sldId id="356" r:id="rId18"/>
    <p:sldId id="354" r:id="rId19"/>
    <p:sldId id="362" r:id="rId20"/>
    <p:sldId id="361" r:id="rId21"/>
    <p:sldId id="360" r:id="rId22"/>
    <p:sldId id="364" r:id="rId23"/>
    <p:sldId id="359" r:id="rId24"/>
    <p:sldId id="355" r:id="rId25"/>
    <p:sldId id="363" r:id="rId26"/>
    <p:sldId id="365" r:id="rId27"/>
    <p:sldId id="366" r:id="rId2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756"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DF517C3B-1BFC-4645-9A7E-CFD598D7AF85}" type="datetimeFigureOut">
              <a:rPr lang="tr-TR" smtClean="0"/>
              <a:t>9.11.2025</a:t>
            </a:fld>
            <a:endParaRPr lang="tr-TR"/>
          </a:p>
        </p:txBody>
      </p:sp>
      <p:sp>
        <p:nvSpPr>
          <p:cNvPr id="4" name="Altbilgi Yer Tutucusu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54C8A4B9-0741-462C-B321-6B0FE3B75F6B}" type="slidenum">
              <a:rPr lang="tr-TR" smtClean="0"/>
              <a:t>‹#›</a:t>
            </a:fld>
            <a:endParaRPr lang="tr-TR"/>
          </a:p>
        </p:txBody>
      </p:sp>
    </p:spTree>
    <p:extLst>
      <p:ext uri="{BB962C8B-B14F-4D97-AF65-F5344CB8AC3E}">
        <p14:creationId xmlns:p14="http://schemas.microsoft.com/office/powerpoint/2010/main" val="36874226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4ED14F1-F049-4039-9D45-C21EC6A01681}" type="datetimeFigureOut">
              <a:rPr lang="tr-TR" smtClean="0"/>
              <a:t>9.11.2025</a:t>
            </a:fld>
            <a:endParaRPr lang="tr-TR"/>
          </a:p>
        </p:txBody>
      </p:sp>
      <p:sp>
        <p:nvSpPr>
          <p:cNvPr id="4" name="Slayt Görüntüsü Yer Tutucusu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C2333F2-83F2-4E70-A193-61FE464B4759}" type="slidenum">
              <a:rPr lang="tr-TR" smtClean="0"/>
              <a:t>‹#›</a:t>
            </a:fld>
            <a:endParaRPr lang="tr-TR"/>
          </a:p>
        </p:txBody>
      </p:sp>
    </p:spTree>
    <p:extLst>
      <p:ext uri="{BB962C8B-B14F-4D97-AF65-F5344CB8AC3E}">
        <p14:creationId xmlns:p14="http://schemas.microsoft.com/office/powerpoint/2010/main" val="19170284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941054" y="778891"/>
            <a:ext cx="2090038" cy="543560"/>
          </a:xfrm>
          <a:prstGeom prst="rect">
            <a:avLst/>
          </a:prstGeom>
        </p:spPr>
        <p:txBody>
          <a:bodyPr wrap="square" lIns="0" tIns="0" rIns="0" bIns="0">
            <a:spAutoFit/>
          </a:bodyPr>
          <a:lstStyle>
            <a:lvl1pPr>
              <a:defRPr sz="3400" b="1" i="0">
                <a:solidFill>
                  <a:srgbClr val="2C241F"/>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C241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3D91FF7-987F-49A6-8465-DDAFB3FDBE46}" type="datetime1">
              <a:rPr lang="en-US" smtClean="0"/>
              <a:t>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2C241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rgbClr val="2C241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9195AEA-B31B-4927-BAEB-89FE4F6867FA}" type="datetime1">
              <a:rPr lang="en-US" smtClean="0"/>
              <a:t>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2C241F"/>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4E45DF0-34D0-47CC-A354-ED04965C8C2C}" type="datetime1">
              <a:rPr lang="en-US" smtClean="0"/>
              <a:t>11/9/2025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2C241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A5E1D5A6-3674-4970-BF02-4C9200B17B5E}" type="datetime1">
              <a:rPr lang="en-US" smtClean="0"/>
              <a:t>11/9/2025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8"/>
          </a:xfrm>
          <a:prstGeom prst="rect">
            <a:avLst/>
          </a:prstGeom>
        </p:spPr>
      </p:pic>
      <p:pic>
        <p:nvPicPr>
          <p:cNvPr id="17" name="bg object 17"/>
          <p:cNvPicPr/>
          <p:nvPr/>
        </p:nvPicPr>
        <p:blipFill>
          <a:blip r:embed="rId3" cstate="print"/>
          <a:stretch>
            <a:fillRect/>
          </a:stretch>
        </p:blipFill>
        <p:spPr>
          <a:xfrm>
            <a:off x="2831592" y="2104643"/>
            <a:ext cx="9360408" cy="4753356"/>
          </a:xfrm>
          <a:prstGeom prst="rect">
            <a:avLst/>
          </a:prstGeom>
        </p:spPr>
      </p:pic>
      <p:pic>
        <p:nvPicPr>
          <p:cNvPr id="18" name="bg object 18"/>
          <p:cNvPicPr/>
          <p:nvPr/>
        </p:nvPicPr>
        <p:blipFill>
          <a:blip r:embed="rId4" cstate="print"/>
          <a:stretch>
            <a:fillRect/>
          </a:stretch>
        </p:blipFill>
        <p:spPr>
          <a:xfrm>
            <a:off x="0" y="0"/>
            <a:ext cx="12190476" cy="6857999"/>
          </a:xfrm>
          <a:prstGeom prst="rect">
            <a:avLst/>
          </a:prstGeom>
        </p:spPr>
      </p:pic>
      <p:sp>
        <p:nvSpPr>
          <p:cNvPr id="19" name="bg object 19"/>
          <p:cNvSpPr/>
          <p:nvPr/>
        </p:nvSpPr>
        <p:spPr>
          <a:xfrm>
            <a:off x="0" y="0"/>
            <a:ext cx="965200" cy="6858000"/>
          </a:xfrm>
          <a:custGeom>
            <a:avLst/>
            <a:gdLst/>
            <a:ahLst/>
            <a:cxnLst/>
            <a:rect l="l" t="t" r="r" b="b"/>
            <a:pathLst>
              <a:path w="965200" h="6858000">
                <a:moveTo>
                  <a:pt x="964691" y="0"/>
                </a:moveTo>
                <a:lnTo>
                  <a:pt x="0" y="0"/>
                </a:lnTo>
                <a:lnTo>
                  <a:pt x="0" y="6858000"/>
                </a:lnTo>
                <a:lnTo>
                  <a:pt x="964691" y="6858000"/>
                </a:lnTo>
                <a:lnTo>
                  <a:pt x="964691" y="0"/>
                </a:lnTo>
                <a:close/>
              </a:path>
            </a:pathLst>
          </a:custGeom>
          <a:solidFill>
            <a:srgbClr val="2C241F"/>
          </a:solidFill>
        </p:spPr>
        <p:txBody>
          <a:bodyPr wrap="square" lIns="0" tIns="0" rIns="0" bIns="0" rtlCol="0"/>
          <a:lstStyle/>
          <a:p>
            <a:endParaRPr/>
          </a:p>
        </p:txBody>
      </p:sp>
      <p:sp>
        <p:nvSpPr>
          <p:cNvPr id="20" name="bg object 20"/>
          <p:cNvSpPr/>
          <p:nvPr/>
        </p:nvSpPr>
        <p:spPr>
          <a:xfrm>
            <a:off x="961644" y="0"/>
            <a:ext cx="45720" cy="6858000"/>
          </a:xfrm>
          <a:custGeom>
            <a:avLst/>
            <a:gdLst/>
            <a:ahLst/>
            <a:cxnLst/>
            <a:rect l="l" t="t" r="r" b="b"/>
            <a:pathLst>
              <a:path w="45719" h="6858000">
                <a:moveTo>
                  <a:pt x="45719" y="0"/>
                </a:moveTo>
                <a:lnTo>
                  <a:pt x="0" y="0"/>
                </a:lnTo>
                <a:lnTo>
                  <a:pt x="0" y="6858000"/>
                </a:lnTo>
                <a:lnTo>
                  <a:pt x="45719" y="6858000"/>
                </a:lnTo>
                <a:lnTo>
                  <a:pt x="45719" y="0"/>
                </a:lnTo>
                <a:close/>
              </a:path>
            </a:pathLst>
          </a:custGeom>
          <a:solidFill>
            <a:srgbClr val="F88556"/>
          </a:solidFill>
        </p:spPr>
        <p:txBody>
          <a:bodyPr wrap="square" lIns="0" tIns="0" rIns="0" bIns="0" rtlCol="0"/>
          <a:lstStyle/>
          <a:p>
            <a:endParaRPr/>
          </a:p>
        </p:txBody>
      </p:sp>
      <p:sp>
        <p:nvSpPr>
          <p:cNvPr id="21" name="bg object 21"/>
          <p:cNvSpPr/>
          <p:nvPr/>
        </p:nvSpPr>
        <p:spPr>
          <a:xfrm>
            <a:off x="967739" y="0"/>
            <a:ext cx="10372725" cy="6858000"/>
          </a:xfrm>
          <a:custGeom>
            <a:avLst/>
            <a:gdLst/>
            <a:ahLst/>
            <a:cxnLst/>
            <a:rect l="l" t="t" r="r" b="b"/>
            <a:pathLst>
              <a:path w="10372725" h="6858000">
                <a:moveTo>
                  <a:pt x="10372344" y="0"/>
                </a:moveTo>
                <a:lnTo>
                  <a:pt x="0" y="0"/>
                </a:lnTo>
                <a:lnTo>
                  <a:pt x="0" y="6858000"/>
                </a:lnTo>
                <a:lnTo>
                  <a:pt x="10372344" y="6858000"/>
                </a:lnTo>
                <a:lnTo>
                  <a:pt x="10372344" y="0"/>
                </a:lnTo>
                <a:close/>
              </a:path>
            </a:pathLst>
          </a:custGeom>
          <a:solidFill>
            <a:srgbClr val="2C241F">
              <a:alpha val="92156"/>
            </a:srgbClr>
          </a:solidFill>
        </p:spPr>
        <p:txBody>
          <a:bodyPr wrap="square" lIns="0" tIns="0" rIns="0" bIns="0" rtlCol="0"/>
          <a:lstStyle/>
          <a:p>
            <a:endParaRPr/>
          </a:p>
        </p:txBody>
      </p:sp>
      <p:sp>
        <p:nvSpPr>
          <p:cNvPr id="22" name="bg object 22"/>
          <p:cNvSpPr/>
          <p:nvPr/>
        </p:nvSpPr>
        <p:spPr>
          <a:xfrm>
            <a:off x="11376659" y="0"/>
            <a:ext cx="27940" cy="6858000"/>
          </a:xfrm>
          <a:custGeom>
            <a:avLst/>
            <a:gdLst/>
            <a:ahLst/>
            <a:cxnLst/>
            <a:rect l="l" t="t" r="r" b="b"/>
            <a:pathLst>
              <a:path w="27940" h="6858000">
                <a:moveTo>
                  <a:pt x="27431" y="0"/>
                </a:moveTo>
                <a:lnTo>
                  <a:pt x="0" y="0"/>
                </a:lnTo>
                <a:lnTo>
                  <a:pt x="0" y="6858000"/>
                </a:lnTo>
                <a:lnTo>
                  <a:pt x="27431" y="6858000"/>
                </a:lnTo>
                <a:lnTo>
                  <a:pt x="27431" y="0"/>
                </a:lnTo>
                <a:close/>
              </a:path>
            </a:pathLst>
          </a:custGeom>
          <a:solidFill>
            <a:srgbClr val="F8855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AF9369D-FF24-45DF-A56F-4FB39123F2A1}" type="datetime1">
              <a:rPr lang="en-US" smtClean="0"/>
              <a:t>11/9/2025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7998"/>
          </a:xfrm>
          <a:prstGeom prst="rect">
            <a:avLst/>
          </a:prstGeom>
        </p:spPr>
      </p:pic>
      <p:pic>
        <p:nvPicPr>
          <p:cNvPr id="17" name="bg object 17"/>
          <p:cNvPicPr/>
          <p:nvPr/>
        </p:nvPicPr>
        <p:blipFill>
          <a:blip r:embed="rId8" cstate="print"/>
          <a:stretch>
            <a:fillRect/>
          </a:stretch>
        </p:blipFill>
        <p:spPr>
          <a:xfrm>
            <a:off x="2831592" y="2104643"/>
            <a:ext cx="9360408" cy="4753356"/>
          </a:xfrm>
          <a:prstGeom prst="rect">
            <a:avLst/>
          </a:prstGeom>
        </p:spPr>
      </p:pic>
      <p:pic>
        <p:nvPicPr>
          <p:cNvPr id="18" name="bg object 18"/>
          <p:cNvPicPr/>
          <p:nvPr/>
        </p:nvPicPr>
        <p:blipFill>
          <a:blip r:embed="rId9" cstate="print"/>
          <a:stretch>
            <a:fillRect/>
          </a:stretch>
        </p:blipFill>
        <p:spPr>
          <a:xfrm>
            <a:off x="0" y="0"/>
            <a:ext cx="12190476" cy="6857999"/>
          </a:xfrm>
          <a:prstGeom prst="rect">
            <a:avLst/>
          </a:prstGeom>
        </p:spPr>
      </p:pic>
      <p:sp>
        <p:nvSpPr>
          <p:cNvPr id="19" name="bg object 19"/>
          <p:cNvSpPr/>
          <p:nvPr/>
        </p:nvSpPr>
        <p:spPr>
          <a:xfrm>
            <a:off x="0" y="0"/>
            <a:ext cx="965200" cy="6858000"/>
          </a:xfrm>
          <a:custGeom>
            <a:avLst/>
            <a:gdLst/>
            <a:ahLst/>
            <a:cxnLst/>
            <a:rect l="l" t="t" r="r" b="b"/>
            <a:pathLst>
              <a:path w="965200" h="6858000">
                <a:moveTo>
                  <a:pt x="964691" y="0"/>
                </a:moveTo>
                <a:lnTo>
                  <a:pt x="0" y="0"/>
                </a:lnTo>
                <a:lnTo>
                  <a:pt x="0" y="6858000"/>
                </a:lnTo>
                <a:lnTo>
                  <a:pt x="964691" y="6858000"/>
                </a:lnTo>
                <a:lnTo>
                  <a:pt x="964691" y="0"/>
                </a:lnTo>
                <a:close/>
              </a:path>
            </a:pathLst>
          </a:custGeom>
          <a:solidFill>
            <a:srgbClr val="2C241F"/>
          </a:solidFill>
        </p:spPr>
        <p:txBody>
          <a:bodyPr wrap="square" lIns="0" tIns="0" rIns="0" bIns="0" rtlCol="0"/>
          <a:lstStyle/>
          <a:p>
            <a:endParaRPr/>
          </a:p>
        </p:txBody>
      </p:sp>
      <p:sp>
        <p:nvSpPr>
          <p:cNvPr id="20" name="bg object 20"/>
          <p:cNvSpPr/>
          <p:nvPr/>
        </p:nvSpPr>
        <p:spPr>
          <a:xfrm>
            <a:off x="961644" y="0"/>
            <a:ext cx="45720" cy="6858000"/>
          </a:xfrm>
          <a:custGeom>
            <a:avLst/>
            <a:gdLst/>
            <a:ahLst/>
            <a:cxnLst/>
            <a:rect l="l" t="t" r="r" b="b"/>
            <a:pathLst>
              <a:path w="45719" h="6858000">
                <a:moveTo>
                  <a:pt x="45719" y="0"/>
                </a:moveTo>
                <a:lnTo>
                  <a:pt x="0" y="0"/>
                </a:lnTo>
                <a:lnTo>
                  <a:pt x="0" y="6858000"/>
                </a:lnTo>
                <a:lnTo>
                  <a:pt x="45719" y="6858000"/>
                </a:lnTo>
                <a:lnTo>
                  <a:pt x="45719" y="0"/>
                </a:lnTo>
                <a:close/>
              </a:path>
            </a:pathLst>
          </a:custGeom>
          <a:solidFill>
            <a:srgbClr val="F88556"/>
          </a:solidFill>
        </p:spPr>
        <p:txBody>
          <a:bodyPr wrap="square" lIns="0" tIns="0" rIns="0" bIns="0" rtlCol="0"/>
          <a:lstStyle/>
          <a:p>
            <a:endParaRPr/>
          </a:p>
        </p:txBody>
      </p:sp>
      <p:sp>
        <p:nvSpPr>
          <p:cNvPr id="21" name="bg object 21"/>
          <p:cNvSpPr/>
          <p:nvPr/>
        </p:nvSpPr>
        <p:spPr>
          <a:xfrm>
            <a:off x="1004316" y="0"/>
            <a:ext cx="10372725" cy="6858000"/>
          </a:xfrm>
          <a:custGeom>
            <a:avLst/>
            <a:gdLst/>
            <a:ahLst/>
            <a:cxnLst/>
            <a:rect l="l" t="t" r="r" b="b"/>
            <a:pathLst>
              <a:path w="10372725" h="6858000">
                <a:moveTo>
                  <a:pt x="10372344" y="0"/>
                </a:moveTo>
                <a:lnTo>
                  <a:pt x="0" y="0"/>
                </a:lnTo>
                <a:lnTo>
                  <a:pt x="0" y="6858000"/>
                </a:lnTo>
                <a:lnTo>
                  <a:pt x="10372344" y="6858000"/>
                </a:lnTo>
                <a:lnTo>
                  <a:pt x="10372344" y="0"/>
                </a:lnTo>
                <a:close/>
              </a:path>
            </a:pathLst>
          </a:custGeom>
          <a:solidFill>
            <a:srgbClr val="FFFFFF"/>
          </a:solidFill>
        </p:spPr>
        <p:txBody>
          <a:bodyPr wrap="square" lIns="0" tIns="0" rIns="0" bIns="0" rtlCol="0"/>
          <a:lstStyle/>
          <a:p>
            <a:endParaRPr/>
          </a:p>
        </p:txBody>
      </p:sp>
      <p:sp>
        <p:nvSpPr>
          <p:cNvPr id="22" name="bg object 22"/>
          <p:cNvSpPr/>
          <p:nvPr/>
        </p:nvSpPr>
        <p:spPr>
          <a:xfrm>
            <a:off x="11376659" y="0"/>
            <a:ext cx="27940" cy="6858000"/>
          </a:xfrm>
          <a:custGeom>
            <a:avLst/>
            <a:gdLst/>
            <a:ahLst/>
            <a:cxnLst/>
            <a:rect l="l" t="t" r="r" b="b"/>
            <a:pathLst>
              <a:path w="27940" h="6858000">
                <a:moveTo>
                  <a:pt x="27431" y="0"/>
                </a:moveTo>
                <a:lnTo>
                  <a:pt x="0" y="0"/>
                </a:lnTo>
                <a:lnTo>
                  <a:pt x="0" y="6858000"/>
                </a:lnTo>
                <a:lnTo>
                  <a:pt x="27431" y="6858000"/>
                </a:lnTo>
                <a:lnTo>
                  <a:pt x="27431" y="0"/>
                </a:lnTo>
                <a:close/>
              </a:path>
            </a:pathLst>
          </a:custGeom>
          <a:solidFill>
            <a:srgbClr val="F88556"/>
          </a:solidFill>
        </p:spPr>
        <p:txBody>
          <a:bodyPr wrap="square" lIns="0" tIns="0" rIns="0" bIns="0" rtlCol="0"/>
          <a:lstStyle/>
          <a:p>
            <a:endParaRPr/>
          </a:p>
        </p:txBody>
      </p:sp>
      <p:sp>
        <p:nvSpPr>
          <p:cNvPr id="2" name="Holder 2"/>
          <p:cNvSpPr>
            <a:spLocks noGrp="1"/>
          </p:cNvSpPr>
          <p:nvPr>
            <p:ph type="title"/>
          </p:nvPr>
        </p:nvSpPr>
        <p:spPr>
          <a:xfrm>
            <a:off x="3893058" y="778891"/>
            <a:ext cx="7143368" cy="543560"/>
          </a:xfrm>
          <a:prstGeom prst="rect">
            <a:avLst/>
          </a:prstGeom>
        </p:spPr>
        <p:txBody>
          <a:bodyPr wrap="square" lIns="0" tIns="0" rIns="0" bIns="0">
            <a:spAutoFit/>
          </a:bodyPr>
          <a:lstStyle>
            <a:lvl1pPr>
              <a:defRPr sz="3400" b="1" i="0">
                <a:solidFill>
                  <a:srgbClr val="2C241F"/>
                </a:solidFill>
                <a:latin typeface="Arial"/>
                <a:cs typeface="Arial"/>
              </a:defRPr>
            </a:lvl1pPr>
          </a:lstStyle>
          <a:p>
            <a:endParaRPr/>
          </a:p>
        </p:txBody>
      </p:sp>
      <p:sp>
        <p:nvSpPr>
          <p:cNvPr id="3" name="Holder 3"/>
          <p:cNvSpPr>
            <a:spLocks noGrp="1"/>
          </p:cNvSpPr>
          <p:nvPr>
            <p:ph type="body" idx="1"/>
          </p:nvPr>
        </p:nvSpPr>
        <p:spPr>
          <a:xfrm>
            <a:off x="1448180" y="1516888"/>
            <a:ext cx="9582150" cy="4255770"/>
          </a:xfrm>
          <a:prstGeom prst="rect">
            <a:avLst/>
          </a:prstGeom>
        </p:spPr>
        <p:txBody>
          <a:bodyPr wrap="square" lIns="0" tIns="0" rIns="0" bIns="0">
            <a:spAutoFit/>
          </a:bodyPr>
          <a:lstStyle>
            <a:lvl1pPr>
              <a:defRPr sz="2400" b="0" i="0">
                <a:solidFill>
                  <a:srgbClr val="2C241F"/>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598E9150-29C0-4E38-BF4E-9A0BF4C5E418}" type="datetime1">
              <a:rPr lang="en-US" smtClean="0"/>
              <a:t>11/9/2025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mermaid.live/"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halilce.github.io/unicoursecatalog/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8"/>
            </a:xfrm>
            <a:prstGeom prst="rect">
              <a:avLst/>
            </a:prstGeom>
          </p:spPr>
        </p:pic>
        <p:pic>
          <p:nvPicPr>
            <p:cNvPr id="4" name="object 4"/>
            <p:cNvPicPr/>
            <p:nvPr/>
          </p:nvPicPr>
          <p:blipFill>
            <a:blip r:embed="rId3" cstate="print"/>
            <a:stretch>
              <a:fillRect/>
            </a:stretch>
          </p:blipFill>
          <p:spPr>
            <a:xfrm>
              <a:off x="2831592" y="2104643"/>
              <a:ext cx="9360408" cy="4753356"/>
            </a:xfrm>
            <a:prstGeom prst="rect">
              <a:avLst/>
            </a:prstGeom>
          </p:spPr>
        </p:pic>
        <p:pic>
          <p:nvPicPr>
            <p:cNvPr id="5" name="object 5"/>
            <p:cNvPicPr/>
            <p:nvPr/>
          </p:nvPicPr>
          <p:blipFill>
            <a:blip r:embed="rId4" cstate="print"/>
            <a:stretch>
              <a:fillRect/>
            </a:stretch>
          </p:blipFill>
          <p:spPr>
            <a:xfrm>
              <a:off x="0" y="0"/>
              <a:ext cx="12190476" cy="6857999"/>
            </a:xfrm>
            <a:prstGeom prst="rect">
              <a:avLst/>
            </a:prstGeom>
          </p:spPr>
        </p:pic>
        <p:sp>
          <p:nvSpPr>
            <p:cNvPr id="6" name="object 6"/>
            <p:cNvSpPr/>
            <p:nvPr/>
          </p:nvSpPr>
          <p:spPr>
            <a:xfrm>
              <a:off x="0" y="0"/>
              <a:ext cx="965200" cy="6858000"/>
            </a:xfrm>
            <a:custGeom>
              <a:avLst/>
              <a:gdLst/>
              <a:ahLst/>
              <a:cxnLst/>
              <a:rect l="l" t="t" r="r" b="b"/>
              <a:pathLst>
                <a:path w="965200" h="6858000">
                  <a:moveTo>
                    <a:pt x="964691" y="0"/>
                  </a:moveTo>
                  <a:lnTo>
                    <a:pt x="0" y="0"/>
                  </a:lnTo>
                  <a:lnTo>
                    <a:pt x="0" y="6858000"/>
                  </a:lnTo>
                  <a:lnTo>
                    <a:pt x="964691" y="6858000"/>
                  </a:lnTo>
                  <a:lnTo>
                    <a:pt x="964691" y="0"/>
                  </a:lnTo>
                  <a:close/>
                </a:path>
              </a:pathLst>
            </a:custGeom>
            <a:solidFill>
              <a:srgbClr val="2C241F"/>
            </a:solidFill>
          </p:spPr>
          <p:txBody>
            <a:bodyPr wrap="square" lIns="0" tIns="0" rIns="0" bIns="0" rtlCol="0"/>
            <a:lstStyle/>
            <a:p>
              <a:endParaRPr/>
            </a:p>
          </p:txBody>
        </p:sp>
        <p:sp>
          <p:nvSpPr>
            <p:cNvPr id="7" name="object 7"/>
            <p:cNvSpPr/>
            <p:nvPr/>
          </p:nvSpPr>
          <p:spPr>
            <a:xfrm>
              <a:off x="961644" y="0"/>
              <a:ext cx="45720" cy="6858000"/>
            </a:xfrm>
            <a:custGeom>
              <a:avLst/>
              <a:gdLst/>
              <a:ahLst/>
              <a:cxnLst/>
              <a:rect l="l" t="t" r="r" b="b"/>
              <a:pathLst>
                <a:path w="45719" h="6858000">
                  <a:moveTo>
                    <a:pt x="45719" y="0"/>
                  </a:moveTo>
                  <a:lnTo>
                    <a:pt x="0" y="0"/>
                  </a:lnTo>
                  <a:lnTo>
                    <a:pt x="0" y="6858000"/>
                  </a:lnTo>
                  <a:lnTo>
                    <a:pt x="45719" y="6858000"/>
                  </a:lnTo>
                  <a:lnTo>
                    <a:pt x="45719" y="0"/>
                  </a:lnTo>
                  <a:close/>
                </a:path>
              </a:pathLst>
            </a:custGeom>
            <a:solidFill>
              <a:srgbClr val="F88556"/>
            </a:solidFill>
          </p:spPr>
          <p:txBody>
            <a:bodyPr wrap="square" lIns="0" tIns="0" rIns="0" bIns="0" rtlCol="0"/>
            <a:lstStyle/>
            <a:p>
              <a:endParaRPr/>
            </a:p>
          </p:txBody>
        </p:sp>
      </p:grpSp>
      <p:grpSp>
        <p:nvGrpSpPr>
          <p:cNvPr id="8" name="object 8"/>
          <p:cNvGrpSpPr/>
          <p:nvPr/>
        </p:nvGrpSpPr>
        <p:grpSpPr>
          <a:xfrm>
            <a:off x="1007363" y="0"/>
            <a:ext cx="7961630" cy="6858000"/>
            <a:chOff x="1007363" y="0"/>
            <a:chExt cx="7961630" cy="6858000"/>
          </a:xfrm>
        </p:grpSpPr>
        <p:sp>
          <p:nvSpPr>
            <p:cNvPr id="9" name="object 9"/>
            <p:cNvSpPr/>
            <p:nvPr/>
          </p:nvSpPr>
          <p:spPr>
            <a:xfrm>
              <a:off x="1007363" y="0"/>
              <a:ext cx="7934325" cy="6858000"/>
            </a:xfrm>
            <a:custGeom>
              <a:avLst/>
              <a:gdLst/>
              <a:ahLst/>
              <a:cxnLst/>
              <a:rect l="l" t="t" r="r" b="b"/>
              <a:pathLst>
                <a:path w="7934325" h="6858000">
                  <a:moveTo>
                    <a:pt x="7933944" y="0"/>
                  </a:moveTo>
                  <a:lnTo>
                    <a:pt x="0" y="0"/>
                  </a:lnTo>
                  <a:lnTo>
                    <a:pt x="0" y="6858000"/>
                  </a:lnTo>
                  <a:lnTo>
                    <a:pt x="7933944" y="6858000"/>
                  </a:lnTo>
                  <a:lnTo>
                    <a:pt x="7933944" y="0"/>
                  </a:lnTo>
                  <a:close/>
                </a:path>
              </a:pathLst>
            </a:custGeom>
            <a:solidFill>
              <a:srgbClr val="2C241F">
                <a:alpha val="92156"/>
              </a:srgbClr>
            </a:solidFill>
          </p:spPr>
          <p:txBody>
            <a:bodyPr wrap="square" lIns="0" tIns="0" rIns="0" bIns="0" rtlCol="0"/>
            <a:lstStyle/>
            <a:p>
              <a:endParaRPr/>
            </a:p>
          </p:txBody>
        </p:sp>
        <p:sp>
          <p:nvSpPr>
            <p:cNvPr id="10" name="object 10"/>
            <p:cNvSpPr/>
            <p:nvPr/>
          </p:nvSpPr>
          <p:spPr>
            <a:xfrm>
              <a:off x="8941307" y="0"/>
              <a:ext cx="27940" cy="6858000"/>
            </a:xfrm>
            <a:custGeom>
              <a:avLst/>
              <a:gdLst/>
              <a:ahLst/>
              <a:cxnLst/>
              <a:rect l="l" t="t" r="r" b="b"/>
              <a:pathLst>
                <a:path w="27940" h="6858000">
                  <a:moveTo>
                    <a:pt x="27431" y="0"/>
                  </a:moveTo>
                  <a:lnTo>
                    <a:pt x="0" y="0"/>
                  </a:lnTo>
                  <a:lnTo>
                    <a:pt x="0" y="6858000"/>
                  </a:lnTo>
                  <a:lnTo>
                    <a:pt x="27431" y="6858000"/>
                  </a:lnTo>
                  <a:lnTo>
                    <a:pt x="27431" y="0"/>
                  </a:lnTo>
                  <a:close/>
                </a:path>
              </a:pathLst>
            </a:custGeom>
            <a:solidFill>
              <a:srgbClr val="F88556"/>
            </a:solidFill>
          </p:spPr>
          <p:txBody>
            <a:bodyPr wrap="square" lIns="0" tIns="0" rIns="0" bIns="0" rtlCol="0"/>
            <a:lstStyle/>
            <a:p>
              <a:endParaRPr/>
            </a:p>
          </p:txBody>
        </p:sp>
      </p:grpSp>
      <p:sp>
        <p:nvSpPr>
          <p:cNvPr id="13" name="object 13"/>
          <p:cNvSpPr txBox="1">
            <a:spLocks noGrp="1"/>
          </p:cNvSpPr>
          <p:nvPr>
            <p:ph type="title"/>
          </p:nvPr>
        </p:nvSpPr>
        <p:spPr>
          <a:xfrm>
            <a:off x="1613153" y="2121865"/>
            <a:ext cx="6847840" cy="1859483"/>
          </a:xfrm>
          <a:prstGeom prst="rect">
            <a:avLst/>
          </a:prstGeom>
        </p:spPr>
        <p:txBody>
          <a:bodyPr vert="horz" wrap="square" lIns="0" tIns="12700" rIns="0" bIns="0" rtlCol="0">
            <a:spAutoFit/>
          </a:bodyPr>
          <a:lstStyle/>
          <a:p>
            <a:pPr marL="12700" algn="r">
              <a:lnSpc>
                <a:spcPct val="100000"/>
              </a:lnSpc>
              <a:spcBef>
                <a:spcPts val="100"/>
              </a:spcBef>
            </a:pPr>
            <a:r>
              <a:rPr lang="tr-TR" sz="6000" b="0" smtClean="0">
                <a:solidFill>
                  <a:srgbClr val="FFFFFF"/>
                </a:solidFill>
              </a:rPr>
              <a:t>Uygulamalı</a:t>
            </a:r>
            <a:br>
              <a:rPr lang="tr-TR" sz="6000" b="0" smtClean="0">
                <a:solidFill>
                  <a:srgbClr val="FFFFFF"/>
                </a:solidFill>
              </a:rPr>
            </a:br>
            <a:r>
              <a:rPr lang="tr-TR" sz="6000" b="0" smtClean="0">
                <a:solidFill>
                  <a:srgbClr val="FFFFFF"/>
                </a:solidFill>
              </a:rPr>
              <a:t> Koşul Yapıları</a:t>
            </a:r>
            <a:endParaRPr sz="6000" dirty="0">
              <a:latin typeface="Arial"/>
              <a:cs typeface="Arial"/>
            </a:endParaRPr>
          </a:p>
        </p:txBody>
      </p:sp>
      <p:sp>
        <p:nvSpPr>
          <p:cNvPr id="14" name="object 14"/>
          <p:cNvSpPr txBox="1"/>
          <p:nvPr/>
        </p:nvSpPr>
        <p:spPr>
          <a:xfrm>
            <a:off x="3933825" y="4997727"/>
            <a:ext cx="4526915" cy="522579"/>
          </a:xfrm>
          <a:prstGeom prst="rect">
            <a:avLst/>
          </a:prstGeom>
        </p:spPr>
        <p:txBody>
          <a:bodyPr vert="horz" wrap="square" lIns="0" tIns="151765" rIns="0" bIns="0" rtlCol="0">
            <a:spAutoFit/>
          </a:bodyPr>
          <a:lstStyle/>
          <a:p>
            <a:pPr marR="6985" algn="r">
              <a:lnSpc>
                <a:spcPct val="100000"/>
              </a:lnSpc>
              <a:spcBef>
                <a:spcPts val="1095"/>
              </a:spcBef>
            </a:pPr>
            <a:r>
              <a:rPr lang="tr-TR" sz="2400" spc="-10" dirty="0" err="1" smtClean="0">
                <a:solidFill>
                  <a:srgbClr val="FFFFFF"/>
                </a:solidFill>
                <a:latin typeface="Arial"/>
                <a:cs typeface="Arial"/>
              </a:rPr>
              <a:t>Öğr</a:t>
            </a:r>
            <a:r>
              <a:rPr lang="tr-TR" sz="2400" spc="-10" dirty="0" smtClean="0">
                <a:solidFill>
                  <a:srgbClr val="FFFFFF"/>
                </a:solidFill>
                <a:latin typeface="Arial"/>
                <a:cs typeface="Arial"/>
              </a:rPr>
              <a:t>. Gör. Halil ARSLAN</a:t>
            </a:r>
            <a:endParaRPr sz="2400" dirty="0">
              <a:latin typeface="Arial"/>
              <a:cs typeface="Arial"/>
            </a:endParaRPr>
          </a:p>
        </p:txBody>
      </p:sp>
      <p:sp>
        <p:nvSpPr>
          <p:cNvPr id="11" name="Slayt Numarası Yer Tutucusu 10"/>
          <p:cNvSpPr>
            <a:spLocks noGrp="1"/>
          </p:cNvSpPr>
          <p:nvPr>
            <p:ph type="sldNum" sz="quarter" idx="7"/>
          </p:nvPr>
        </p:nvSpPr>
        <p:spPr/>
        <p:txBody>
          <a:bodyPr/>
          <a:lstStyle/>
          <a:p>
            <a:fld id="{B6F15528-21DE-4FAA-801E-634DDDAF4B2B}" type="slidenum">
              <a:rPr lang="tr-TR" smtClean="0"/>
              <a:t>1</a:t>
            </a:fld>
            <a:endParaRPr lang="tr-T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3893058" y="778891"/>
            <a:ext cx="7143368"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Koşullar</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a:t>
            </a:fld>
            <a:endParaRPr lang="tr-TR" sz="2000" b="1" dirty="0">
              <a:solidFill>
                <a:schemeClr val="bg1"/>
              </a:solidFill>
            </a:endParaRPr>
          </a:p>
        </p:txBody>
      </p:sp>
      <p:pic>
        <p:nvPicPr>
          <p:cNvPr id="9" name="Resim 8"/>
          <p:cNvPicPr>
            <a:picLocks noChangeAspect="1"/>
          </p:cNvPicPr>
          <p:nvPr/>
        </p:nvPicPr>
        <p:blipFill>
          <a:blip r:embed="rId2">
            <a:duotone>
              <a:schemeClr val="accent2">
                <a:shade val="45000"/>
                <a:satMod val="135000"/>
              </a:schemeClr>
              <a:prstClr val="white"/>
            </a:duotone>
          </a:blip>
          <a:stretch>
            <a:fillRect/>
          </a:stretch>
        </p:blipFill>
        <p:spPr>
          <a:xfrm>
            <a:off x="2257948" y="1746746"/>
            <a:ext cx="7973538" cy="463932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3893058" y="778891"/>
            <a:ext cx="7143368"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Kilo Endeksi Hesabı</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3</a:t>
            </a:fld>
            <a:endParaRPr lang="tr-TR" sz="2000" b="1" dirty="0">
              <a:solidFill>
                <a:schemeClr val="bg1"/>
              </a:solidFill>
            </a:endParaRPr>
          </a:p>
        </p:txBody>
      </p:sp>
      <p:pic>
        <p:nvPicPr>
          <p:cNvPr id="2" name="Resim 1"/>
          <p:cNvPicPr>
            <a:picLocks noChangeAspect="1"/>
          </p:cNvPicPr>
          <p:nvPr/>
        </p:nvPicPr>
        <p:blipFill>
          <a:blip r:embed="rId2"/>
          <a:stretch>
            <a:fillRect/>
          </a:stretch>
        </p:blipFill>
        <p:spPr>
          <a:xfrm>
            <a:off x="2234132" y="1591801"/>
            <a:ext cx="8021169" cy="4686954"/>
          </a:xfrm>
          <a:prstGeom prst="rect">
            <a:avLst/>
          </a:prstGeom>
        </p:spPr>
      </p:pic>
    </p:spTree>
    <p:extLst>
      <p:ext uri="{BB962C8B-B14F-4D97-AF65-F5344CB8AC3E}">
        <p14:creationId xmlns:p14="http://schemas.microsoft.com/office/powerpoint/2010/main" val="25005733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3893058" y="778891"/>
            <a:ext cx="7143368"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Kilo Endeksi Hesabı</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4</a:t>
            </a:fld>
            <a:endParaRPr lang="tr-TR" sz="2000" b="1" dirty="0">
              <a:solidFill>
                <a:schemeClr val="bg1"/>
              </a:solidFill>
            </a:endParaRPr>
          </a:p>
        </p:txBody>
      </p:sp>
      <p:pic>
        <p:nvPicPr>
          <p:cNvPr id="3" name="Resim 2"/>
          <p:cNvPicPr>
            <a:picLocks noChangeAspect="1"/>
          </p:cNvPicPr>
          <p:nvPr/>
        </p:nvPicPr>
        <p:blipFill>
          <a:blip r:embed="rId2"/>
          <a:stretch>
            <a:fillRect/>
          </a:stretch>
        </p:blipFill>
        <p:spPr>
          <a:xfrm>
            <a:off x="2729197" y="1571018"/>
            <a:ext cx="7445142" cy="5134581"/>
          </a:xfrm>
          <a:prstGeom prst="rect">
            <a:avLst/>
          </a:prstGeom>
        </p:spPr>
      </p:pic>
    </p:spTree>
    <p:extLst>
      <p:ext uri="{BB962C8B-B14F-4D97-AF65-F5344CB8AC3E}">
        <p14:creationId xmlns:p14="http://schemas.microsoft.com/office/powerpoint/2010/main" val="32133619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778891"/>
            <a:ext cx="9698354" cy="535403"/>
          </a:xfrm>
          <a:prstGeom prst="rect">
            <a:avLst/>
          </a:prstGeom>
        </p:spPr>
        <p:txBody>
          <a:bodyPr vert="horz" wrap="square" lIns="0" tIns="12065" rIns="0" bIns="0" rtlCol="0">
            <a:spAutoFit/>
          </a:bodyPr>
          <a:lstStyle/>
          <a:p>
            <a:pPr marL="82550" algn="r">
              <a:lnSpc>
                <a:spcPct val="100000"/>
              </a:lnSpc>
              <a:spcBef>
                <a:spcPts val="95"/>
              </a:spcBef>
            </a:pPr>
            <a:r>
              <a:rPr lang="tr-TR" spc="-10" dirty="0" smtClean="0"/>
              <a:t>Pozitif 3’e Bölünebilen Sayı</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5</a:t>
            </a:fld>
            <a:endParaRPr lang="tr-TR" sz="2000" b="1" dirty="0">
              <a:solidFill>
                <a:schemeClr val="bg1"/>
              </a:solidFill>
            </a:endParaRPr>
          </a:p>
        </p:txBody>
      </p:sp>
      <p:pic>
        <p:nvPicPr>
          <p:cNvPr id="2" name="Resim 1"/>
          <p:cNvPicPr>
            <a:picLocks noChangeAspect="1"/>
          </p:cNvPicPr>
          <p:nvPr/>
        </p:nvPicPr>
        <p:blipFill>
          <a:blip r:embed="rId2"/>
          <a:stretch>
            <a:fillRect/>
          </a:stretch>
        </p:blipFill>
        <p:spPr>
          <a:xfrm>
            <a:off x="2057400" y="1587183"/>
            <a:ext cx="8116433" cy="4858428"/>
          </a:xfrm>
          <a:prstGeom prst="rect">
            <a:avLst/>
          </a:prstGeom>
        </p:spPr>
      </p:pic>
    </p:spTree>
    <p:extLst>
      <p:ext uri="{BB962C8B-B14F-4D97-AF65-F5344CB8AC3E}">
        <p14:creationId xmlns:p14="http://schemas.microsoft.com/office/powerpoint/2010/main" val="37086054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778891"/>
            <a:ext cx="9698354" cy="535403"/>
          </a:xfrm>
          <a:prstGeom prst="rect">
            <a:avLst/>
          </a:prstGeom>
        </p:spPr>
        <p:txBody>
          <a:bodyPr vert="horz" wrap="square" lIns="0" tIns="12065" rIns="0" bIns="0" rtlCol="0">
            <a:spAutoFit/>
          </a:bodyPr>
          <a:lstStyle/>
          <a:p>
            <a:pPr marL="82550" algn="r">
              <a:lnSpc>
                <a:spcPct val="100000"/>
              </a:lnSpc>
              <a:spcBef>
                <a:spcPts val="95"/>
              </a:spcBef>
            </a:pPr>
            <a:r>
              <a:rPr lang="tr-TR" spc="-10" dirty="0" smtClean="0"/>
              <a:t>Kimlik Kartı</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6</a:t>
            </a:fld>
            <a:endParaRPr lang="tr-TR" sz="2000" b="1" dirty="0">
              <a:solidFill>
                <a:schemeClr val="bg1"/>
              </a:solidFill>
            </a:endParaRPr>
          </a:p>
        </p:txBody>
      </p:sp>
      <p:sp>
        <p:nvSpPr>
          <p:cNvPr id="3" name="Dikdörtgen 2"/>
          <p:cNvSpPr/>
          <p:nvPr/>
        </p:nvSpPr>
        <p:spPr>
          <a:xfrm>
            <a:off x="1752600" y="1752600"/>
            <a:ext cx="9283826" cy="4708981"/>
          </a:xfrm>
          <a:prstGeom prst="rect">
            <a:avLst/>
          </a:prstGeom>
        </p:spPr>
        <p:txBody>
          <a:bodyPr wrap="square">
            <a:spAutoFit/>
          </a:bodyPr>
          <a:lstStyle/>
          <a:p>
            <a:r>
              <a:rPr lang="tr-TR" sz="2000" b="1" dirty="0" smtClean="0">
                <a:solidFill>
                  <a:schemeClr val="accent1">
                    <a:lumMod val="75000"/>
                  </a:schemeClr>
                </a:solidFill>
              </a:rPr>
              <a:t>ad, </a:t>
            </a:r>
            <a:r>
              <a:rPr lang="tr-TR" sz="2000" b="1" dirty="0" err="1" smtClean="0">
                <a:solidFill>
                  <a:schemeClr val="accent1">
                    <a:lumMod val="75000"/>
                  </a:schemeClr>
                </a:solidFill>
              </a:rPr>
              <a:t>soyad</a:t>
            </a:r>
            <a:r>
              <a:rPr lang="tr-TR" sz="2000" b="1" dirty="0" smtClean="0">
                <a:solidFill>
                  <a:schemeClr val="accent1">
                    <a:lumMod val="75000"/>
                  </a:schemeClr>
                </a:solidFill>
              </a:rPr>
              <a:t>, yas, </a:t>
            </a:r>
            <a:r>
              <a:rPr lang="tr-TR" sz="2000" b="1" dirty="0" err="1" smtClean="0">
                <a:solidFill>
                  <a:schemeClr val="accent1">
                    <a:lumMod val="75000"/>
                  </a:schemeClr>
                </a:solidFill>
              </a:rPr>
              <a:t>sehir</a:t>
            </a:r>
            <a:r>
              <a:rPr lang="tr-TR" sz="2000" b="1" dirty="0" smtClean="0">
                <a:solidFill>
                  <a:schemeClr val="accent1">
                    <a:lumMod val="75000"/>
                  </a:schemeClr>
                </a:solidFill>
              </a:rPr>
              <a:t> </a:t>
            </a:r>
            <a:r>
              <a:rPr lang="tr-TR" sz="2000" b="1" dirty="0" smtClean="0">
                <a:solidFill>
                  <a:schemeClr val="accent6">
                    <a:lumMod val="75000"/>
                  </a:schemeClr>
                </a:solidFill>
              </a:rPr>
              <a:t>=</a:t>
            </a:r>
            <a:r>
              <a:rPr lang="tr-TR" sz="2000" dirty="0" smtClean="0"/>
              <a:t> "Halil", "Arslan", 25, "Yalova"</a:t>
            </a:r>
          </a:p>
          <a:p>
            <a:endParaRPr lang="tr-TR" sz="2000" dirty="0" smtClean="0"/>
          </a:p>
          <a:p>
            <a:r>
              <a:rPr lang="tr-TR" sz="2000" b="1" dirty="0" err="1" smtClean="0"/>
              <a:t>print</a:t>
            </a:r>
            <a:r>
              <a:rPr lang="tr-TR" sz="2000" dirty="0" smtClean="0"/>
              <a:t>("="*40)</a:t>
            </a:r>
          </a:p>
          <a:p>
            <a:r>
              <a:rPr lang="tr-TR" sz="2000" b="1" dirty="0" err="1" smtClean="0"/>
              <a:t>print</a:t>
            </a:r>
            <a:r>
              <a:rPr lang="tr-TR" sz="2000" dirty="0" smtClean="0"/>
              <a:t>("KİŞİSEL BİLGİ KARTI")</a:t>
            </a:r>
          </a:p>
          <a:p>
            <a:endParaRPr lang="tr-TR" sz="2000" dirty="0" smtClean="0"/>
          </a:p>
          <a:p>
            <a:r>
              <a:rPr lang="tr-TR" sz="2000" b="1" dirty="0" err="1" smtClean="0"/>
              <a:t>print</a:t>
            </a:r>
            <a:r>
              <a:rPr lang="tr-TR" sz="2000" dirty="0" smtClean="0"/>
              <a:t>("="*40)</a:t>
            </a:r>
          </a:p>
          <a:p>
            <a:r>
              <a:rPr lang="tr-TR" sz="2000" b="1" dirty="0" err="1" smtClean="0"/>
              <a:t>print</a:t>
            </a:r>
            <a:r>
              <a:rPr lang="tr-TR" sz="2000" dirty="0" smtClean="0"/>
              <a:t>(</a:t>
            </a:r>
            <a:r>
              <a:rPr lang="tr-TR" sz="2000" b="1" dirty="0" err="1" smtClean="0">
                <a:solidFill>
                  <a:schemeClr val="accent6">
                    <a:lumMod val="75000"/>
                  </a:schemeClr>
                </a:solidFill>
              </a:rPr>
              <a:t>f</a:t>
            </a:r>
            <a:r>
              <a:rPr lang="tr-TR" sz="2000" dirty="0" err="1" smtClean="0"/>
              <a:t>"Ad</a:t>
            </a:r>
            <a:r>
              <a:rPr lang="tr-TR" sz="2000" dirty="0" smtClean="0"/>
              <a:t> </a:t>
            </a:r>
            <a:r>
              <a:rPr lang="tr-TR" sz="2000" dirty="0" err="1" smtClean="0"/>
              <a:t>Soyad</a:t>
            </a:r>
            <a:r>
              <a:rPr lang="tr-TR" sz="2000" dirty="0" smtClean="0"/>
              <a:t>: </a:t>
            </a:r>
            <a:r>
              <a:rPr lang="tr-TR" sz="2000" b="1" dirty="0">
                <a:solidFill>
                  <a:schemeClr val="accent2"/>
                </a:solidFill>
              </a:rPr>
              <a:t>{</a:t>
            </a:r>
            <a:r>
              <a:rPr lang="tr-TR" sz="2000" dirty="0" smtClean="0">
                <a:solidFill>
                  <a:schemeClr val="accent1"/>
                </a:solidFill>
              </a:rPr>
              <a:t>ad</a:t>
            </a:r>
            <a:r>
              <a:rPr lang="tr-TR" sz="2000" b="1" dirty="0">
                <a:solidFill>
                  <a:schemeClr val="accent2"/>
                </a:solidFill>
              </a:rPr>
              <a:t>} {</a:t>
            </a:r>
            <a:r>
              <a:rPr lang="tr-TR" sz="2000" dirty="0" err="1" smtClean="0">
                <a:solidFill>
                  <a:schemeClr val="accent1"/>
                </a:solidFill>
              </a:rPr>
              <a:t>soyad</a:t>
            </a:r>
            <a:r>
              <a:rPr lang="tr-TR" sz="2000" b="1" dirty="0">
                <a:solidFill>
                  <a:schemeClr val="accent2"/>
                </a:solidFill>
              </a:rPr>
              <a:t>}</a:t>
            </a:r>
            <a:r>
              <a:rPr lang="tr-TR" sz="2000" dirty="0" smtClean="0"/>
              <a:t>")</a:t>
            </a:r>
          </a:p>
          <a:p>
            <a:r>
              <a:rPr lang="tr-TR" sz="2000" b="1" dirty="0" err="1" smtClean="0"/>
              <a:t>print</a:t>
            </a:r>
            <a:r>
              <a:rPr lang="tr-TR" sz="2000" dirty="0" smtClean="0"/>
              <a:t>(</a:t>
            </a:r>
            <a:r>
              <a:rPr lang="tr-TR" sz="2000" b="1" dirty="0" err="1" smtClean="0">
                <a:solidFill>
                  <a:schemeClr val="accent6">
                    <a:lumMod val="75000"/>
                  </a:schemeClr>
                </a:solidFill>
              </a:rPr>
              <a:t>f</a:t>
            </a:r>
            <a:r>
              <a:rPr lang="tr-TR" sz="2000" dirty="0" err="1" smtClean="0"/>
              <a:t>"Yaş</a:t>
            </a:r>
            <a:r>
              <a:rPr lang="tr-TR" sz="2000" dirty="0" smtClean="0"/>
              <a:t>: </a:t>
            </a:r>
            <a:r>
              <a:rPr lang="tr-TR" sz="2000" b="1" dirty="0">
                <a:solidFill>
                  <a:schemeClr val="accent2"/>
                </a:solidFill>
              </a:rPr>
              <a:t>{</a:t>
            </a:r>
            <a:r>
              <a:rPr lang="tr-TR" sz="2000" dirty="0" smtClean="0">
                <a:solidFill>
                  <a:schemeClr val="accent1"/>
                </a:solidFill>
              </a:rPr>
              <a:t>yas</a:t>
            </a:r>
            <a:r>
              <a:rPr lang="tr-TR" sz="2000" b="1" dirty="0">
                <a:solidFill>
                  <a:schemeClr val="accent2"/>
                </a:solidFill>
              </a:rPr>
              <a:t>}</a:t>
            </a:r>
            <a:r>
              <a:rPr lang="tr-TR" sz="2000" dirty="0" smtClean="0"/>
              <a:t>")</a:t>
            </a:r>
          </a:p>
          <a:p>
            <a:r>
              <a:rPr lang="tr-TR" sz="2000" b="1" dirty="0" err="1" smtClean="0"/>
              <a:t>print</a:t>
            </a:r>
            <a:r>
              <a:rPr lang="tr-TR" sz="2000" dirty="0" smtClean="0"/>
              <a:t>(</a:t>
            </a:r>
            <a:r>
              <a:rPr lang="tr-TR" sz="2000" b="1" dirty="0" err="1" smtClean="0">
                <a:solidFill>
                  <a:schemeClr val="accent6">
                    <a:lumMod val="75000"/>
                  </a:schemeClr>
                </a:solidFill>
              </a:rPr>
              <a:t>f</a:t>
            </a:r>
            <a:r>
              <a:rPr lang="tr-TR" sz="2000" dirty="0" err="1" smtClean="0"/>
              <a:t>"Şehir</a:t>
            </a:r>
            <a:r>
              <a:rPr lang="tr-TR" sz="2000" dirty="0" smtClean="0"/>
              <a:t>: </a:t>
            </a:r>
            <a:r>
              <a:rPr lang="tr-TR" sz="2000" b="1" dirty="0" smtClean="0">
                <a:solidFill>
                  <a:schemeClr val="accent2"/>
                </a:solidFill>
              </a:rPr>
              <a:t>{</a:t>
            </a:r>
            <a:r>
              <a:rPr lang="tr-TR" sz="2000" dirty="0" err="1" smtClean="0">
                <a:solidFill>
                  <a:schemeClr val="accent1"/>
                </a:solidFill>
              </a:rPr>
              <a:t>sehir</a:t>
            </a:r>
            <a:r>
              <a:rPr lang="tr-TR" sz="2000" b="1" dirty="0">
                <a:solidFill>
                  <a:schemeClr val="accent2"/>
                </a:solidFill>
              </a:rPr>
              <a:t>}</a:t>
            </a:r>
            <a:r>
              <a:rPr lang="tr-TR" sz="2000" dirty="0" smtClean="0"/>
              <a:t>")</a:t>
            </a:r>
          </a:p>
          <a:p>
            <a:r>
              <a:rPr lang="tr-TR" sz="2000" b="1" dirty="0" err="1" smtClean="0"/>
              <a:t>print</a:t>
            </a:r>
            <a:r>
              <a:rPr lang="tr-TR" sz="2000" dirty="0" smtClean="0"/>
              <a:t>("="*40)</a:t>
            </a:r>
          </a:p>
          <a:p>
            <a:endParaRPr lang="tr-TR" sz="2000" dirty="0" smtClean="0"/>
          </a:p>
          <a:p>
            <a:r>
              <a:rPr lang="tr-TR" sz="2000" b="1" dirty="0" err="1" smtClean="0"/>
              <a:t>if</a:t>
            </a:r>
            <a:r>
              <a:rPr lang="tr-TR" sz="2000" dirty="0" smtClean="0"/>
              <a:t> yas </a:t>
            </a:r>
            <a:r>
              <a:rPr lang="tr-TR" sz="2000" b="1" dirty="0" smtClean="0">
                <a:solidFill>
                  <a:schemeClr val="accent6">
                    <a:lumMod val="75000"/>
                  </a:schemeClr>
                </a:solidFill>
              </a:rPr>
              <a:t>&gt;=</a:t>
            </a:r>
            <a:r>
              <a:rPr lang="tr-TR" sz="2000" dirty="0" smtClean="0"/>
              <a:t> 18</a:t>
            </a:r>
            <a:r>
              <a:rPr lang="tr-TR" sz="2000" b="1" dirty="0" smtClean="0"/>
              <a:t>:</a:t>
            </a:r>
          </a:p>
          <a:p>
            <a:r>
              <a:rPr lang="tr-TR" sz="2000" dirty="0" smtClean="0"/>
              <a:t>    </a:t>
            </a:r>
            <a:r>
              <a:rPr lang="tr-TR" sz="2000" b="1" dirty="0" err="1" smtClean="0"/>
              <a:t>print</a:t>
            </a:r>
            <a:r>
              <a:rPr lang="tr-TR" sz="2000" dirty="0" smtClean="0"/>
              <a:t>("Durum: Yetişkin ✓")</a:t>
            </a:r>
          </a:p>
          <a:p>
            <a:r>
              <a:rPr lang="tr-TR" sz="2000" b="1" dirty="0" smtClean="0"/>
              <a:t>else:</a:t>
            </a:r>
          </a:p>
          <a:p>
            <a:r>
              <a:rPr lang="tr-TR" sz="2000" dirty="0" smtClean="0"/>
              <a:t>    </a:t>
            </a:r>
            <a:r>
              <a:rPr lang="tr-TR" sz="2000" b="1" dirty="0" err="1" smtClean="0"/>
              <a:t>print</a:t>
            </a:r>
            <a:r>
              <a:rPr lang="tr-TR" sz="2000" dirty="0" smtClean="0"/>
              <a:t>("Durum: Reşit değil")</a:t>
            </a:r>
            <a:endParaRPr lang="tr-TR" sz="2000" dirty="0"/>
          </a:p>
        </p:txBody>
      </p:sp>
      <p:pic>
        <p:nvPicPr>
          <p:cNvPr id="5" name="Resim 4"/>
          <p:cNvPicPr>
            <a:picLocks noChangeAspect="1"/>
          </p:cNvPicPr>
          <p:nvPr/>
        </p:nvPicPr>
        <p:blipFill>
          <a:blip r:embed="rId2"/>
          <a:stretch>
            <a:fillRect/>
          </a:stretch>
        </p:blipFill>
        <p:spPr>
          <a:xfrm>
            <a:off x="6781800" y="3777014"/>
            <a:ext cx="3820058" cy="2572109"/>
          </a:xfrm>
          <a:prstGeom prst="rect">
            <a:avLst/>
          </a:prstGeom>
        </p:spPr>
      </p:pic>
      <p:sp>
        <p:nvSpPr>
          <p:cNvPr id="9"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spTree>
    <p:extLst>
      <p:ext uri="{BB962C8B-B14F-4D97-AF65-F5344CB8AC3E}">
        <p14:creationId xmlns:p14="http://schemas.microsoft.com/office/powerpoint/2010/main" val="26194895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618488" y="3968496"/>
            <a:ext cx="9380220" cy="62865"/>
          </a:xfrm>
          <a:custGeom>
            <a:avLst/>
            <a:gdLst/>
            <a:ahLst/>
            <a:cxnLst/>
            <a:rect l="l" t="t" r="r" b="b"/>
            <a:pathLst>
              <a:path w="9380220" h="62864">
                <a:moveTo>
                  <a:pt x="9380219" y="0"/>
                </a:moveTo>
                <a:lnTo>
                  <a:pt x="0" y="0"/>
                </a:lnTo>
                <a:lnTo>
                  <a:pt x="0" y="62483"/>
                </a:lnTo>
                <a:lnTo>
                  <a:pt x="9380219" y="62483"/>
                </a:lnTo>
                <a:lnTo>
                  <a:pt x="9380219" y="0"/>
                </a:lnTo>
                <a:close/>
              </a:path>
            </a:pathLst>
          </a:custGeom>
          <a:solidFill>
            <a:srgbClr val="F88556"/>
          </a:solidFill>
        </p:spPr>
        <p:txBody>
          <a:bodyPr wrap="square" lIns="0" tIns="0" rIns="0" bIns="0" rtlCol="0"/>
          <a:lstStyle/>
          <a:p>
            <a:endParaRPr/>
          </a:p>
        </p:txBody>
      </p:sp>
      <p:sp>
        <p:nvSpPr>
          <p:cNvPr id="4" name="object 4"/>
          <p:cNvSpPr txBox="1"/>
          <p:nvPr/>
        </p:nvSpPr>
        <p:spPr>
          <a:xfrm>
            <a:off x="1618488" y="3163900"/>
            <a:ext cx="9302877" cy="766235"/>
          </a:xfrm>
          <a:prstGeom prst="rect">
            <a:avLst/>
          </a:prstGeom>
        </p:spPr>
        <p:txBody>
          <a:bodyPr vert="horz" wrap="square" lIns="0" tIns="12065" rIns="0" bIns="0" rtlCol="0">
            <a:spAutoFit/>
          </a:bodyPr>
          <a:lstStyle/>
          <a:p>
            <a:pPr marL="12700" algn="r">
              <a:lnSpc>
                <a:spcPct val="100000"/>
              </a:lnSpc>
              <a:spcBef>
                <a:spcPts val="95"/>
              </a:spcBef>
            </a:pPr>
            <a:r>
              <a:rPr lang="tr-TR" sz="4900" dirty="0" smtClean="0">
                <a:solidFill>
                  <a:srgbClr val="FFFFFF"/>
                </a:solidFill>
                <a:latin typeface="Arial"/>
                <a:cs typeface="Arial"/>
              </a:rPr>
              <a:t>Uygulama Ödevleri</a:t>
            </a:r>
            <a:endParaRPr sz="4900" dirty="0">
              <a:latin typeface="Arial"/>
              <a:cs typeface="Arial"/>
            </a:endParaRPr>
          </a:p>
        </p:txBody>
      </p:sp>
      <p:sp>
        <p:nvSpPr>
          <p:cNvPr id="5" name="object 5"/>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7" name="Slayt Numarası Yer Tutucusu 11"/>
          <p:cNvSpPr>
            <a:spLocks noGrp="1"/>
          </p:cNvSpPr>
          <p:nvPr>
            <p:ph type="sldNum" sz="quarter" idx="7"/>
          </p:nvPr>
        </p:nvSpPr>
        <p:spPr>
          <a:xfrm>
            <a:off x="184900" y="228600"/>
            <a:ext cx="577100" cy="307777"/>
          </a:xfrm>
        </p:spPr>
        <p:txBody>
          <a:bodyPr/>
          <a:lstStyle/>
          <a:p>
            <a:r>
              <a:rPr lang="tr-TR" sz="2000" b="1" dirty="0" smtClean="0">
                <a:solidFill>
                  <a:schemeClr val="bg1"/>
                </a:solidFill>
              </a:rPr>
              <a:t>7</a:t>
            </a:r>
            <a:endParaRPr lang="tr-TR" sz="2000" b="1" dirty="0">
              <a:solidFill>
                <a:schemeClr val="bg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dirty="0" smtClean="0">
                <a:solidFill>
                  <a:schemeClr val="accent6">
                    <a:lumMod val="75000"/>
                  </a:schemeClr>
                </a:solidFill>
              </a:rPr>
              <a:t>ENDÜSTRİ</a:t>
            </a:r>
            <a:r>
              <a:rPr lang="tr-TR" sz="2600" dirty="0" smtClean="0"/>
              <a:t> </a:t>
            </a:r>
            <a:br>
              <a:rPr lang="tr-TR" sz="2600" dirty="0" smtClean="0"/>
            </a:br>
            <a:r>
              <a:rPr lang="tr-TR" sz="2600" dirty="0" smtClean="0"/>
              <a:t># </a:t>
            </a:r>
            <a:r>
              <a:rPr lang="tr-TR" sz="2600" dirty="0"/>
              <a:t>CNC Torna Tezgahı Kesici Takım </a:t>
            </a:r>
            <a:r>
              <a:rPr lang="tr-TR" sz="2600" dirty="0" smtClean="0"/>
              <a:t>Ömrü Takibi</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8</a:t>
            </a:fld>
            <a:endParaRPr lang="tr-TR" sz="2000" b="1" dirty="0">
              <a:solidFill>
                <a:schemeClr val="bg1"/>
              </a:solidFill>
            </a:endParaRPr>
          </a:p>
        </p:txBody>
      </p:sp>
      <p:sp>
        <p:nvSpPr>
          <p:cNvPr id="9"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sp>
        <p:nvSpPr>
          <p:cNvPr id="3" name="Dikdörtgen 2"/>
          <p:cNvSpPr/>
          <p:nvPr/>
        </p:nvSpPr>
        <p:spPr>
          <a:xfrm>
            <a:off x="1338072" y="1997839"/>
            <a:ext cx="9813290" cy="2246769"/>
          </a:xfrm>
          <a:prstGeom prst="rect">
            <a:avLst/>
          </a:prstGeom>
        </p:spPr>
        <p:txBody>
          <a:bodyPr wrap="square">
            <a:spAutoFit/>
          </a:bodyPr>
          <a:lstStyle/>
          <a:p>
            <a:r>
              <a:rPr lang="tr-TR" sz="2000" b="1" dirty="0" smtClean="0">
                <a:solidFill>
                  <a:schemeClr val="accent6">
                    <a:lumMod val="75000"/>
                  </a:schemeClr>
                </a:solidFill>
              </a:rPr>
              <a:t>Gerçek Senaryo: </a:t>
            </a:r>
            <a:r>
              <a:rPr lang="tr-TR" sz="2000" dirty="0" smtClean="0"/>
              <a:t>Bir otomotiv yan sanayi fabrikasında CNC torna tezgahlarında kullanılan kesici takımlar belirli iş parçası sayısından sonra değiştirilmelidir. Takım 500 parçadan fazla kullanıldıysa veya kesme hızı 180 m/</a:t>
            </a:r>
            <a:r>
              <a:rPr lang="tr-TR" sz="2000" dirty="0" err="1" smtClean="0"/>
              <a:t>dk'yı</a:t>
            </a:r>
            <a:r>
              <a:rPr lang="tr-TR" sz="2000" dirty="0" smtClean="0"/>
              <a:t> geçtiyse takım değişimi gerekir. Ayrıca her iki durum da varsa acil duruş yapılmalıdır.</a:t>
            </a:r>
          </a:p>
          <a:p>
            <a:endParaRPr lang="tr-TR" sz="2000" dirty="0" smtClean="0"/>
          </a:p>
          <a:p>
            <a:r>
              <a:rPr lang="tr-TR" sz="2000" b="1" dirty="0" smtClean="0">
                <a:solidFill>
                  <a:schemeClr val="accent6">
                    <a:lumMod val="75000"/>
                  </a:schemeClr>
                </a:solidFill>
              </a:rPr>
              <a:t>Değişkenler:</a:t>
            </a:r>
            <a:r>
              <a:rPr lang="tr-TR" sz="2000" dirty="0" smtClean="0"/>
              <a:t> </a:t>
            </a:r>
            <a:r>
              <a:rPr lang="tr-TR" sz="2000" dirty="0" err="1" smtClean="0"/>
              <a:t>tezgah_no</a:t>
            </a:r>
            <a:r>
              <a:rPr lang="tr-TR" sz="2000" dirty="0" smtClean="0"/>
              <a:t>, </a:t>
            </a:r>
            <a:r>
              <a:rPr lang="tr-TR" sz="2000" dirty="0" err="1" smtClean="0"/>
              <a:t>islenen_parca</a:t>
            </a:r>
            <a:r>
              <a:rPr lang="tr-TR" sz="2000" dirty="0" smtClean="0"/>
              <a:t>, </a:t>
            </a:r>
            <a:r>
              <a:rPr lang="tr-TR" sz="2000" dirty="0" err="1" smtClean="0"/>
              <a:t>kesme_hizi</a:t>
            </a:r>
            <a:r>
              <a:rPr lang="tr-TR" sz="2000" dirty="0" smtClean="0"/>
              <a:t>, </a:t>
            </a:r>
            <a:r>
              <a:rPr lang="tr-TR" sz="2000" dirty="0" err="1" smtClean="0"/>
              <a:t>titresim</a:t>
            </a:r>
            <a:r>
              <a:rPr lang="tr-TR" sz="2000" dirty="0" smtClean="0"/>
              <a:t>, durum, </a:t>
            </a:r>
            <a:r>
              <a:rPr lang="tr-TR" sz="2000" dirty="0" err="1" smtClean="0"/>
              <a:t>takim_omru</a:t>
            </a:r>
            <a:r>
              <a:rPr lang="tr-TR" sz="2000" dirty="0" smtClean="0"/>
              <a:t>,</a:t>
            </a:r>
          </a:p>
          <a:p>
            <a:r>
              <a:rPr lang="tr-TR" sz="2000" dirty="0" err="1" smtClean="0"/>
              <a:t>bakım_kodu</a:t>
            </a:r>
            <a:endParaRPr lang="tr-TR" sz="2000" dirty="0"/>
          </a:p>
        </p:txBody>
      </p:sp>
    </p:spTree>
    <p:extLst>
      <p:ext uri="{BB962C8B-B14F-4D97-AF65-F5344CB8AC3E}">
        <p14:creationId xmlns:p14="http://schemas.microsoft.com/office/powerpoint/2010/main" val="23294770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dirty="0" smtClean="0">
                <a:solidFill>
                  <a:schemeClr val="accent6">
                    <a:lumMod val="75000"/>
                  </a:schemeClr>
                </a:solidFill>
              </a:rPr>
              <a:t>ENDÜSTRİ</a:t>
            </a:r>
            <a:r>
              <a:rPr lang="tr-TR" sz="2600" dirty="0" smtClean="0"/>
              <a:t> </a:t>
            </a:r>
            <a:br>
              <a:rPr lang="tr-TR" sz="2600" dirty="0" smtClean="0"/>
            </a:br>
            <a:r>
              <a:rPr lang="tr-TR" sz="2600" dirty="0" smtClean="0"/>
              <a:t># </a:t>
            </a:r>
            <a:r>
              <a:rPr lang="tr-TR" sz="2600" dirty="0"/>
              <a:t>CNC Torna Tezgahı Kesici Takım </a:t>
            </a:r>
            <a:r>
              <a:rPr lang="tr-TR" sz="2600" dirty="0" smtClean="0"/>
              <a:t>Ömrü Takibi</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9</a:t>
            </a:fld>
            <a:endParaRPr lang="tr-TR" sz="2000" b="1" dirty="0">
              <a:solidFill>
                <a:schemeClr val="bg1"/>
              </a:solidFill>
            </a:endParaRPr>
          </a:p>
        </p:txBody>
      </p:sp>
      <p:sp>
        <p:nvSpPr>
          <p:cNvPr id="9"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pic>
        <p:nvPicPr>
          <p:cNvPr id="7" name="Resim 6"/>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552337" y="1908922"/>
            <a:ext cx="4701616" cy="4025976"/>
          </a:xfrm>
          <a:prstGeom prst="rect">
            <a:avLst/>
          </a:prstGeom>
        </p:spPr>
      </p:pic>
      <p:pic>
        <p:nvPicPr>
          <p:cNvPr id="10" name="Resim 9"/>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6400800" y="1908922"/>
            <a:ext cx="4615337" cy="4744799"/>
          </a:xfrm>
          <a:prstGeom prst="rect">
            <a:avLst/>
          </a:prstGeom>
        </p:spPr>
      </p:pic>
    </p:spTree>
    <p:extLst>
      <p:ext uri="{BB962C8B-B14F-4D97-AF65-F5344CB8AC3E}">
        <p14:creationId xmlns:p14="http://schemas.microsoft.com/office/powerpoint/2010/main" val="22761045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dirty="0" smtClean="0">
                <a:solidFill>
                  <a:schemeClr val="accent6">
                    <a:lumMod val="75000"/>
                  </a:schemeClr>
                </a:solidFill>
              </a:rPr>
              <a:t>ENDÜSTRİ</a:t>
            </a:r>
            <a:r>
              <a:rPr lang="tr-TR" sz="2600" dirty="0" smtClean="0"/>
              <a:t> </a:t>
            </a:r>
            <a:br>
              <a:rPr lang="tr-TR" sz="2600" dirty="0" smtClean="0"/>
            </a:br>
            <a:r>
              <a:rPr lang="tr-TR" sz="2600" dirty="0" smtClean="0"/>
              <a:t># </a:t>
            </a:r>
            <a:r>
              <a:rPr lang="tr-TR" sz="2600" dirty="0"/>
              <a:t>CNC Torna Tezgahı Kesici Takım </a:t>
            </a:r>
            <a:r>
              <a:rPr lang="tr-TR" sz="2600" dirty="0" smtClean="0"/>
              <a:t>Ömrü Takibi</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10</a:t>
            </a:fld>
            <a:endParaRPr lang="tr-TR" sz="2000" b="1" dirty="0">
              <a:solidFill>
                <a:schemeClr val="bg1"/>
              </a:solidFill>
            </a:endParaRPr>
          </a:p>
        </p:txBody>
      </p:sp>
      <p:sp>
        <p:nvSpPr>
          <p:cNvPr id="9"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pic>
        <p:nvPicPr>
          <p:cNvPr id="2" name="Resim 1"/>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2257948" y="1905000"/>
            <a:ext cx="7973538" cy="4324954"/>
          </a:xfrm>
          <a:prstGeom prst="rect">
            <a:avLst/>
          </a:prstGeom>
        </p:spPr>
      </p:pic>
    </p:spTree>
    <p:extLst>
      <p:ext uri="{BB962C8B-B14F-4D97-AF65-F5344CB8AC3E}">
        <p14:creationId xmlns:p14="http://schemas.microsoft.com/office/powerpoint/2010/main" val="8682070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dirty="0" smtClean="0">
                <a:solidFill>
                  <a:schemeClr val="accent6">
                    <a:lumMod val="75000"/>
                  </a:schemeClr>
                </a:solidFill>
              </a:rPr>
              <a:t>ENDÜSTRİ</a:t>
            </a:r>
            <a:r>
              <a:rPr lang="tr-TR" sz="2600" dirty="0" smtClean="0"/>
              <a:t> </a:t>
            </a:r>
            <a:br>
              <a:rPr lang="tr-TR" sz="2600" dirty="0" smtClean="0"/>
            </a:br>
            <a:r>
              <a:rPr lang="tr-TR" sz="2600" dirty="0" smtClean="0"/>
              <a:t># </a:t>
            </a:r>
            <a:r>
              <a:rPr lang="tr-TR" sz="2600" dirty="0"/>
              <a:t>CNC Torna Tezgahı Kesici Takım </a:t>
            </a:r>
            <a:r>
              <a:rPr lang="tr-TR" sz="2600" dirty="0" smtClean="0"/>
              <a:t>Ömrü Takibi</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11</a:t>
            </a:fld>
            <a:endParaRPr lang="tr-TR" sz="2000" b="1" dirty="0">
              <a:solidFill>
                <a:schemeClr val="bg1"/>
              </a:solidFill>
            </a:endParaRPr>
          </a:p>
        </p:txBody>
      </p:sp>
      <p:sp>
        <p:nvSpPr>
          <p:cNvPr id="9"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pic>
        <p:nvPicPr>
          <p:cNvPr id="3" name="Resim 2"/>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4343400" y="1506516"/>
            <a:ext cx="3798554" cy="5320316"/>
          </a:xfrm>
          <a:prstGeom prst="rect">
            <a:avLst/>
          </a:prstGeom>
        </p:spPr>
      </p:pic>
    </p:spTree>
    <p:extLst>
      <p:ext uri="{BB962C8B-B14F-4D97-AF65-F5344CB8AC3E}">
        <p14:creationId xmlns:p14="http://schemas.microsoft.com/office/powerpoint/2010/main" val="12351986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12</a:t>
            </a:fld>
            <a:endParaRPr lang="tr-TR" sz="2000" b="1" dirty="0">
              <a:solidFill>
                <a:schemeClr val="bg1"/>
              </a:solidFill>
            </a:endParaRPr>
          </a:p>
        </p:txBody>
      </p:sp>
      <p:sp>
        <p:nvSpPr>
          <p:cNvPr id="2" name="Dikdörtgen 1"/>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2. ENDÜSTRİ</a:t>
            </a:r>
          </a:p>
          <a:p>
            <a:r>
              <a:rPr lang="tr-TR" sz="2000" b="1" dirty="0" smtClean="0"/>
              <a:t># Şişe Dolum Hattı Basınç ve Sıcaklık Kontrolü</a:t>
            </a:r>
          </a:p>
          <a:p>
            <a:endParaRPr lang="tr-TR" sz="2000" dirty="0" smtClean="0"/>
          </a:p>
          <a:p>
            <a:r>
              <a:rPr lang="tr-TR" sz="2000" b="1" dirty="0" smtClean="0">
                <a:solidFill>
                  <a:schemeClr val="accent6">
                    <a:lumMod val="75000"/>
                  </a:schemeClr>
                </a:solidFill>
              </a:rPr>
              <a:t>Gerçek Senaryo:</a:t>
            </a:r>
            <a:r>
              <a:rPr lang="tr-TR" sz="2000" dirty="0" smtClean="0"/>
              <a:t> Meşrubat fabrikasında PET şişe dolum hattında CO2 basıncı ve sıvı sıcaklığı sürekli izlenir. Basınç 3-4 bar arası, sıcaklık 2-6°C arası olmalı. Bu değerlerin dışına çıkılırsa hattın durdurulması, ürün kaybı veya kalite sorunları oluşur.</a:t>
            </a:r>
          </a:p>
          <a:p>
            <a:endParaRPr lang="tr-TR" sz="2000" dirty="0" smtClean="0"/>
          </a:p>
          <a:p>
            <a:r>
              <a:rPr lang="tr-TR" sz="2000" b="1" dirty="0" smtClean="0">
                <a:solidFill>
                  <a:schemeClr val="accent1">
                    <a:lumMod val="75000"/>
                  </a:schemeClr>
                </a:solidFill>
              </a:rPr>
              <a:t>Değişkenler:</a:t>
            </a:r>
            <a:r>
              <a:rPr lang="tr-TR" sz="2000" dirty="0" smtClean="0"/>
              <a:t> </a:t>
            </a:r>
            <a:r>
              <a:rPr lang="tr-TR" sz="2000" dirty="0" err="1" smtClean="0"/>
              <a:t>hat_no</a:t>
            </a:r>
            <a:r>
              <a:rPr lang="tr-TR" sz="2000" dirty="0" smtClean="0"/>
              <a:t>, </a:t>
            </a:r>
            <a:r>
              <a:rPr lang="tr-TR" sz="2000" dirty="0" err="1" smtClean="0"/>
              <a:t>basinc</a:t>
            </a:r>
            <a:r>
              <a:rPr lang="tr-TR" sz="2000" dirty="0" smtClean="0"/>
              <a:t>, </a:t>
            </a:r>
            <a:r>
              <a:rPr lang="tr-TR" sz="2000" dirty="0" err="1" smtClean="0"/>
              <a:t>sicaklik</a:t>
            </a:r>
            <a:r>
              <a:rPr lang="tr-TR" sz="2000" dirty="0" smtClean="0"/>
              <a:t>, </a:t>
            </a:r>
            <a:r>
              <a:rPr lang="tr-TR" sz="2000" dirty="0" err="1" smtClean="0"/>
              <a:t>dolum_hizi</a:t>
            </a:r>
            <a:r>
              <a:rPr lang="tr-TR" sz="2000" dirty="0" smtClean="0"/>
              <a:t>, </a:t>
            </a:r>
            <a:r>
              <a:rPr lang="tr-TR" sz="2000" dirty="0" err="1" smtClean="0"/>
              <a:t>basinc_gercek</a:t>
            </a:r>
            <a:r>
              <a:rPr lang="tr-TR" sz="2000" dirty="0" smtClean="0"/>
              <a:t>, kalite, </a:t>
            </a:r>
            <a:r>
              <a:rPr lang="tr-TR" sz="2000" dirty="0" err="1" smtClean="0"/>
              <a:t>hat_durum</a:t>
            </a:r>
            <a:r>
              <a:rPr lang="tr-TR" sz="2000" dirty="0" smtClean="0"/>
              <a:t>, </a:t>
            </a:r>
            <a:r>
              <a:rPr lang="tr-TR" sz="2000" dirty="0" err="1" smtClean="0"/>
              <a:t>hiz_tavsiye</a:t>
            </a:r>
            <a:endParaRPr lang="tr-TR" sz="2000" dirty="0"/>
          </a:p>
        </p:txBody>
      </p:sp>
    </p:spTree>
    <p:extLst>
      <p:ext uri="{BB962C8B-B14F-4D97-AF65-F5344CB8AC3E}">
        <p14:creationId xmlns:p14="http://schemas.microsoft.com/office/powerpoint/2010/main" val="34435878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13</a:t>
            </a:fld>
            <a:endParaRPr lang="tr-TR" sz="2000" b="1" dirty="0">
              <a:solidFill>
                <a:schemeClr val="bg1"/>
              </a:solidFill>
            </a:endParaRPr>
          </a:p>
        </p:txBody>
      </p:sp>
      <p:sp>
        <p:nvSpPr>
          <p:cNvPr id="3" name="Dikdörtgen 2"/>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3. SAVUNMA SANAYİ</a:t>
            </a:r>
          </a:p>
          <a:p>
            <a:r>
              <a:rPr lang="tr-TR" sz="2000" b="1" dirty="0" smtClean="0"/>
              <a:t># Radar Tespit ve Sınıflandırma Sistemi</a:t>
            </a:r>
          </a:p>
          <a:p>
            <a:endParaRPr lang="tr-TR" sz="2000" b="1" dirty="0" smtClean="0"/>
          </a:p>
          <a:p>
            <a:r>
              <a:rPr lang="tr-TR" sz="2000" b="1" dirty="0" smtClean="0">
                <a:solidFill>
                  <a:schemeClr val="accent6">
                    <a:lumMod val="75000"/>
                  </a:schemeClr>
                </a:solidFill>
              </a:rPr>
              <a:t>Gerçek Senaryo: </a:t>
            </a:r>
            <a:r>
              <a:rPr lang="tr-TR" sz="2000" dirty="0" smtClean="0"/>
              <a:t>Hava savunma sisteminde radar tarafından tespit edilen hedefler mesafe, hız ve sinyal gücüne göre sınıflandırılır. 50 km'den yakın ve 800 km/s'den hızlı hedefler füze olabilir ve acil müdahale gerekir. Yavaş ve uzak hedefler ticari uçak olabilir.</a:t>
            </a:r>
          </a:p>
          <a:p>
            <a:endParaRPr lang="tr-TR" sz="2000" dirty="0" smtClean="0"/>
          </a:p>
          <a:p>
            <a:r>
              <a:rPr lang="tr-TR" sz="2000" b="1" dirty="0" smtClean="0">
                <a:solidFill>
                  <a:schemeClr val="accent1">
                    <a:lumMod val="75000"/>
                  </a:schemeClr>
                </a:solidFill>
              </a:rPr>
              <a:t>Değişkenler: </a:t>
            </a:r>
            <a:r>
              <a:rPr lang="tr-TR" sz="2000" dirty="0" err="1" smtClean="0"/>
              <a:t>hedef_id</a:t>
            </a:r>
            <a:r>
              <a:rPr lang="tr-TR" sz="2000" dirty="0" smtClean="0"/>
              <a:t>, mesafe, </a:t>
            </a:r>
            <a:r>
              <a:rPr lang="tr-TR" sz="2000" dirty="0" err="1" smtClean="0"/>
              <a:t>hiz</a:t>
            </a:r>
            <a:r>
              <a:rPr lang="tr-TR" sz="2000" dirty="0" smtClean="0"/>
              <a:t>, </a:t>
            </a:r>
            <a:r>
              <a:rPr lang="tr-TR" sz="2000" dirty="0" err="1" smtClean="0"/>
              <a:t>sinyal_gucu</a:t>
            </a:r>
            <a:endParaRPr lang="tr-TR" sz="2000" dirty="0"/>
          </a:p>
        </p:txBody>
      </p:sp>
    </p:spTree>
    <p:extLst>
      <p:ext uri="{BB962C8B-B14F-4D97-AF65-F5344CB8AC3E}">
        <p14:creationId xmlns:p14="http://schemas.microsoft.com/office/powerpoint/2010/main" val="2097622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14</a:t>
            </a:fld>
            <a:endParaRPr lang="tr-TR" sz="2000" b="1" dirty="0">
              <a:solidFill>
                <a:schemeClr val="bg1"/>
              </a:solidFill>
            </a:endParaRPr>
          </a:p>
        </p:txBody>
      </p:sp>
      <p:sp>
        <p:nvSpPr>
          <p:cNvPr id="2" name="Dikdörtgen 1"/>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4. SAVUNMA SANAYİ</a:t>
            </a:r>
          </a:p>
          <a:p>
            <a:r>
              <a:rPr lang="tr-TR" sz="2000" b="1" dirty="0" smtClean="0"/>
              <a:t># Askeri Araç Yakıt ve Bakım Yönetimi</a:t>
            </a:r>
          </a:p>
          <a:p>
            <a:endParaRPr lang="tr-TR" sz="2000" b="1" dirty="0" smtClean="0"/>
          </a:p>
          <a:p>
            <a:r>
              <a:rPr lang="tr-TR" sz="2000" b="1" dirty="0" smtClean="0">
                <a:solidFill>
                  <a:schemeClr val="accent6">
                    <a:lumMod val="75000"/>
                  </a:schemeClr>
                </a:solidFill>
              </a:rPr>
              <a:t>Gerçek Senaryo: </a:t>
            </a:r>
            <a:r>
              <a:rPr lang="tr-TR" sz="2000" dirty="0" smtClean="0"/>
              <a:t>Saha operasyonunda askeri araçların yakıt seviyesi ve son bakımdan beri geçen gün sayısı kontrol edilir. Yakıt %30'un altındaysa veya 15 günden fazla bakım yapılmamışsa araç sahaya çıkamaz. Her iki durum da varsa acil bakım gerekir.</a:t>
            </a:r>
          </a:p>
          <a:p>
            <a:endParaRPr lang="tr-TR" sz="2000" b="1" dirty="0" smtClean="0"/>
          </a:p>
          <a:p>
            <a:r>
              <a:rPr lang="tr-TR" sz="2000" b="1" dirty="0" smtClean="0">
                <a:solidFill>
                  <a:schemeClr val="accent1">
                    <a:lumMod val="75000"/>
                  </a:schemeClr>
                </a:solidFill>
              </a:rPr>
              <a:t>Değişkenler: </a:t>
            </a:r>
            <a:r>
              <a:rPr lang="tr-TR" sz="2000" dirty="0" err="1" smtClean="0"/>
              <a:t>arac_plaka</a:t>
            </a:r>
            <a:r>
              <a:rPr lang="tr-TR" sz="2000" dirty="0" smtClean="0"/>
              <a:t>, </a:t>
            </a:r>
            <a:r>
              <a:rPr lang="tr-TR" sz="2000" dirty="0" err="1" smtClean="0"/>
              <a:t>yakit_seviye</a:t>
            </a:r>
            <a:r>
              <a:rPr lang="tr-TR" sz="2000" dirty="0" smtClean="0"/>
              <a:t>, </a:t>
            </a:r>
            <a:r>
              <a:rPr lang="tr-TR" sz="2000" dirty="0" err="1" smtClean="0"/>
              <a:t>son_bakim_gun</a:t>
            </a:r>
            <a:r>
              <a:rPr lang="tr-TR" sz="2000" dirty="0" smtClean="0"/>
              <a:t>, </a:t>
            </a:r>
            <a:r>
              <a:rPr lang="tr-TR" sz="2000" dirty="0" err="1" smtClean="0"/>
              <a:t>lastik_dis</a:t>
            </a:r>
            <a:endParaRPr lang="tr-TR" sz="2000" dirty="0"/>
          </a:p>
        </p:txBody>
      </p:sp>
    </p:spTree>
    <p:extLst>
      <p:ext uri="{BB962C8B-B14F-4D97-AF65-F5344CB8AC3E}">
        <p14:creationId xmlns:p14="http://schemas.microsoft.com/office/powerpoint/2010/main" val="32952816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15</a:t>
            </a:fld>
            <a:endParaRPr lang="tr-TR" sz="2000" b="1" dirty="0">
              <a:solidFill>
                <a:schemeClr val="bg1"/>
              </a:solidFill>
            </a:endParaRPr>
          </a:p>
        </p:txBody>
      </p:sp>
      <p:sp>
        <p:nvSpPr>
          <p:cNvPr id="2" name="Dikdörtgen 1"/>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5. SİBER GÜVENLİK</a:t>
            </a:r>
          </a:p>
          <a:p>
            <a:r>
              <a:rPr lang="tr-TR" sz="2000" b="1" dirty="0" smtClean="0"/>
              <a:t># APT Saldırı Tespit ve Önleme Sistemi</a:t>
            </a:r>
          </a:p>
          <a:p>
            <a:endParaRPr lang="tr-TR" sz="2000" dirty="0" smtClean="0"/>
          </a:p>
          <a:p>
            <a:r>
              <a:rPr lang="tr-TR" sz="2000" b="1" dirty="0" smtClean="0">
                <a:solidFill>
                  <a:schemeClr val="accent6">
                    <a:lumMod val="75000"/>
                  </a:schemeClr>
                </a:solidFill>
              </a:rPr>
              <a:t>Gerçek Senaryo: </a:t>
            </a:r>
            <a:r>
              <a:rPr lang="tr-TR" sz="2000" dirty="0" smtClean="0"/>
              <a:t>Kurumsal ağda şüpheli aktivite tespiti yapılıyor. Bir IP'den 100'den fazla farklı porta tarama veya 1000'den fazla başarısız </a:t>
            </a:r>
            <a:r>
              <a:rPr lang="tr-TR" sz="2000" dirty="0" err="1" smtClean="0"/>
              <a:t>authentication</a:t>
            </a:r>
            <a:r>
              <a:rPr lang="tr-TR" sz="2000" dirty="0" smtClean="0"/>
              <a:t> denemesi varsa port </a:t>
            </a:r>
            <a:r>
              <a:rPr lang="tr-TR" sz="2000" dirty="0" err="1" smtClean="0"/>
              <a:t>scanning</a:t>
            </a:r>
            <a:r>
              <a:rPr lang="tr-TR" sz="2000" dirty="0" smtClean="0"/>
              <a:t> veya </a:t>
            </a:r>
            <a:r>
              <a:rPr lang="tr-TR" sz="2000" dirty="0" err="1" smtClean="0"/>
              <a:t>brute</a:t>
            </a:r>
            <a:r>
              <a:rPr lang="tr-TR" sz="2000" dirty="0" smtClean="0"/>
              <a:t> </a:t>
            </a:r>
            <a:r>
              <a:rPr lang="tr-TR" sz="2000" dirty="0" err="1" smtClean="0"/>
              <a:t>force</a:t>
            </a:r>
            <a:r>
              <a:rPr lang="tr-TR" sz="2000" dirty="0" smtClean="0"/>
              <a:t> saldırısı olabilir. Gece saatlerinde (22-06) yüksek veri transferi de şüpheli.</a:t>
            </a:r>
          </a:p>
          <a:p>
            <a:endParaRPr lang="tr-TR" sz="2000" dirty="0" smtClean="0"/>
          </a:p>
          <a:p>
            <a:r>
              <a:rPr lang="tr-TR" sz="2000" b="1" dirty="0" smtClean="0">
                <a:solidFill>
                  <a:schemeClr val="accent1">
                    <a:lumMod val="75000"/>
                  </a:schemeClr>
                </a:solidFill>
              </a:rPr>
              <a:t>Değişkenler: </a:t>
            </a:r>
            <a:r>
              <a:rPr lang="tr-TR" sz="2000" dirty="0" err="1" smtClean="0"/>
              <a:t>ip_son_oktet</a:t>
            </a:r>
            <a:r>
              <a:rPr lang="tr-TR" sz="2000" dirty="0" smtClean="0"/>
              <a:t>, </a:t>
            </a:r>
            <a:r>
              <a:rPr lang="tr-TR" sz="2000" dirty="0" err="1" smtClean="0"/>
              <a:t>port_tarama</a:t>
            </a:r>
            <a:r>
              <a:rPr lang="tr-TR" sz="2000" dirty="0" smtClean="0"/>
              <a:t>, </a:t>
            </a:r>
            <a:r>
              <a:rPr lang="tr-TR" sz="2000" dirty="0" err="1" smtClean="0"/>
              <a:t>basarisiz_auth</a:t>
            </a:r>
            <a:r>
              <a:rPr lang="tr-TR" sz="2000" dirty="0" smtClean="0"/>
              <a:t>, saat, </a:t>
            </a:r>
            <a:r>
              <a:rPr lang="tr-TR" sz="2000" dirty="0" err="1" smtClean="0"/>
              <a:t>veri_mb</a:t>
            </a:r>
            <a:endParaRPr lang="tr-TR" sz="2000" dirty="0"/>
          </a:p>
        </p:txBody>
      </p:sp>
    </p:spTree>
    <p:extLst>
      <p:ext uri="{BB962C8B-B14F-4D97-AF65-F5344CB8AC3E}">
        <p14:creationId xmlns:p14="http://schemas.microsoft.com/office/powerpoint/2010/main" val="30836397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16</a:t>
            </a:fld>
            <a:endParaRPr lang="tr-TR" sz="2000" b="1" dirty="0">
              <a:solidFill>
                <a:schemeClr val="bg1"/>
              </a:solidFill>
            </a:endParaRPr>
          </a:p>
        </p:txBody>
      </p:sp>
      <p:sp>
        <p:nvSpPr>
          <p:cNvPr id="2" name="Dikdörtgen 1"/>
          <p:cNvSpPr/>
          <p:nvPr/>
        </p:nvSpPr>
        <p:spPr>
          <a:xfrm>
            <a:off x="1338072" y="2040681"/>
            <a:ext cx="9813290" cy="3170099"/>
          </a:xfrm>
          <a:prstGeom prst="rect">
            <a:avLst/>
          </a:prstGeom>
        </p:spPr>
        <p:txBody>
          <a:bodyPr wrap="square">
            <a:spAutoFit/>
          </a:bodyPr>
          <a:lstStyle/>
          <a:p>
            <a:r>
              <a:rPr lang="tr-TR" sz="2000" b="1" dirty="0" smtClean="0">
                <a:solidFill>
                  <a:schemeClr val="accent6">
                    <a:lumMod val="75000"/>
                  </a:schemeClr>
                </a:solidFill>
              </a:rPr>
              <a:t>6. SİBER GÜVENLİK</a:t>
            </a:r>
          </a:p>
          <a:p>
            <a:r>
              <a:rPr lang="tr-TR" sz="2000" b="1" dirty="0" smtClean="0"/>
              <a:t># </a:t>
            </a:r>
            <a:r>
              <a:rPr lang="tr-TR" sz="2000" b="1" dirty="0" err="1" smtClean="0"/>
              <a:t>Phishing</a:t>
            </a:r>
            <a:r>
              <a:rPr lang="tr-TR" sz="2000" b="1" dirty="0" smtClean="0"/>
              <a:t> Mail Tespit Motoru</a:t>
            </a:r>
          </a:p>
          <a:p>
            <a:endParaRPr lang="tr-TR" sz="2000" b="1" dirty="0" smtClean="0"/>
          </a:p>
          <a:p>
            <a:r>
              <a:rPr lang="tr-TR" sz="2000" b="1" dirty="0" smtClean="0">
                <a:solidFill>
                  <a:schemeClr val="accent6">
                    <a:lumMod val="75000"/>
                  </a:schemeClr>
                </a:solidFill>
              </a:rPr>
              <a:t>Gerçek Senaryo: </a:t>
            </a:r>
            <a:r>
              <a:rPr lang="tr-TR" sz="2000" dirty="0" smtClean="0"/>
              <a:t>Şirket mail sunucusuna gelen maillerden şüpheli olanlar tespit ediliyor. Mail şüpheli kelime içeriyorsa, bilinmeyen gönderenden geliyorsa ve ek dosya varsa </a:t>
            </a:r>
            <a:r>
              <a:rPr lang="tr-TR" sz="2000" dirty="0" err="1" smtClean="0"/>
              <a:t>phishing</a:t>
            </a:r>
            <a:r>
              <a:rPr lang="tr-TR" sz="2000" dirty="0" smtClean="0"/>
              <a:t> olabilir. Ayrıca acil para talebi içeren mailler direkt karantinaya alınır.</a:t>
            </a:r>
          </a:p>
          <a:p>
            <a:endParaRPr lang="tr-TR" sz="2000" dirty="0" smtClean="0"/>
          </a:p>
          <a:p>
            <a:r>
              <a:rPr lang="tr-TR" sz="2000" b="1" dirty="0" smtClean="0">
                <a:solidFill>
                  <a:schemeClr val="accent1">
                    <a:lumMod val="75000"/>
                  </a:schemeClr>
                </a:solidFill>
              </a:rPr>
              <a:t>Değişkenler: </a:t>
            </a:r>
            <a:r>
              <a:rPr lang="tr-TR" sz="2000" dirty="0" err="1" smtClean="0"/>
              <a:t>mail_id</a:t>
            </a:r>
            <a:r>
              <a:rPr lang="tr-TR" sz="2000" dirty="0" smtClean="0"/>
              <a:t>, </a:t>
            </a:r>
            <a:r>
              <a:rPr lang="tr-TR" sz="2000" dirty="0" err="1" smtClean="0"/>
              <a:t>supheli_kelime_sayisi</a:t>
            </a:r>
            <a:r>
              <a:rPr lang="tr-TR" sz="2000" dirty="0" smtClean="0"/>
              <a:t>, </a:t>
            </a:r>
            <a:r>
              <a:rPr lang="tr-TR" sz="2000" dirty="0" err="1" smtClean="0"/>
              <a:t>bilinmeyen_gonderen</a:t>
            </a:r>
            <a:r>
              <a:rPr lang="tr-TR" sz="2000" dirty="0" smtClean="0"/>
              <a:t>, </a:t>
            </a:r>
            <a:r>
              <a:rPr lang="tr-TR" sz="2000" dirty="0" err="1" smtClean="0"/>
              <a:t>ek_dosya</a:t>
            </a:r>
            <a:r>
              <a:rPr lang="tr-TR" sz="2000" dirty="0" smtClean="0"/>
              <a:t>, </a:t>
            </a:r>
            <a:r>
              <a:rPr lang="tr-TR" sz="2000" dirty="0" err="1" smtClean="0"/>
              <a:t>link_sayisi</a:t>
            </a:r>
            <a:endParaRPr lang="tr-TR" sz="2000" dirty="0"/>
          </a:p>
        </p:txBody>
      </p:sp>
    </p:spTree>
    <p:extLst>
      <p:ext uri="{BB962C8B-B14F-4D97-AF65-F5344CB8AC3E}">
        <p14:creationId xmlns:p14="http://schemas.microsoft.com/office/powerpoint/2010/main" val="41229898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17</a:t>
            </a:fld>
            <a:endParaRPr lang="tr-TR" sz="2000" b="1" dirty="0">
              <a:solidFill>
                <a:schemeClr val="bg1"/>
              </a:solidFill>
            </a:endParaRPr>
          </a:p>
        </p:txBody>
      </p:sp>
      <p:sp>
        <p:nvSpPr>
          <p:cNvPr id="2" name="Dikdörtgen 1"/>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7. OTOMOTİV SANAYİ</a:t>
            </a:r>
          </a:p>
          <a:p>
            <a:r>
              <a:rPr lang="tr-TR" sz="2000" b="1" dirty="0" smtClean="0"/>
              <a:t># Fren Sistemi ABS Arıza Teşhis</a:t>
            </a:r>
          </a:p>
          <a:p>
            <a:endParaRPr lang="tr-TR" sz="2000" dirty="0" smtClean="0"/>
          </a:p>
          <a:p>
            <a:r>
              <a:rPr lang="tr-TR" sz="2000" b="1" dirty="0" smtClean="0">
                <a:solidFill>
                  <a:schemeClr val="accent6">
                    <a:lumMod val="75000"/>
                  </a:schemeClr>
                </a:solidFill>
              </a:rPr>
              <a:t>Gerçek Senaryo:</a:t>
            </a:r>
            <a:r>
              <a:rPr lang="tr-TR" sz="2000" dirty="0" smtClean="0">
                <a:solidFill>
                  <a:schemeClr val="accent6">
                    <a:lumMod val="75000"/>
                  </a:schemeClr>
                </a:solidFill>
              </a:rPr>
              <a:t> </a:t>
            </a:r>
            <a:r>
              <a:rPr lang="tr-TR" sz="2000" dirty="0" smtClean="0"/>
              <a:t>Servis istasyonunda araç fren sisteminin teşhisi yapılıyor. ABS </a:t>
            </a:r>
            <a:r>
              <a:rPr lang="tr-TR" sz="2000" dirty="0" err="1" smtClean="0"/>
              <a:t>sensör</a:t>
            </a:r>
            <a:r>
              <a:rPr lang="tr-TR" sz="2000" dirty="0" smtClean="0"/>
              <a:t> hatası, fren balata kalınlığı ve fren hidroliği basıncı kontrol ediliyor. Balata 3 mm'den ince veya basınç 90 </a:t>
            </a:r>
            <a:r>
              <a:rPr lang="tr-TR" sz="2000" dirty="0" err="1" smtClean="0"/>
              <a:t>bar'ın</a:t>
            </a:r>
            <a:r>
              <a:rPr lang="tr-TR" sz="2000" dirty="0" smtClean="0"/>
              <a:t> altındaysa araç trafiğe çıkamaz.</a:t>
            </a:r>
          </a:p>
          <a:p>
            <a:endParaRPr lang="tr-TR" sz="2000" dirty="0" smtClean="0"/>
          </a:p>
          <a:p>
            <a:r>
              <a:rPr lang="tr-TR" sz="2000" b="1" dirty="0" smtClean="0">
                <a:solidFill>
                  <a:schemeClr val="accent1">
                    <a:lumMod val="75000"/>
                  </a:schemeClr>
                </a:solidFill>
              </a:rPr>
              <a:t>Değişkenler: </a:t>
            </a:r>
            <a:r>
              <a:rPr lang="tr-TR" sz="2000" dirty="0" err="1" smtClean="0"/>
              <a:t>arac_id</a:t>
            </a:r>
            <a:r>
              <a:rPr lang="tr-TR" sz="2000" dirty="0" smtClean="0"/>
              <a:t>, </a:t>
            </a:r>
            <a:r>
              <a:rPr lang="tr-TR" sz="2000" dirty="0" err="1" smtClean="0"/>
              <a:t>abs_hata_kodu</a:t>
            </a:r>
            <a:r>
              <a:rPr lang="tr-TR" sz="2000" dirty="0" smtClean="0"/>
              <a:t>, </a:t>
            </a:r>
            <a:r>
              <a:rPr lang="tr-TR" sz="2000" dirty="0" err="1" smtClean="0"/>
              <a:t>balata_kalinlik</a:t>
            </a:r>
            <a:r>
              <a:rPr lang="tr-TR" sz="2000" dirty="0" smtClean="0"/>
              <a:t>, </a:t>
            </a:r>
            <a:r>
              <a:rPr lang="tr-TR" sz="2000" dirty="0" err="1" smtClean="0"/>
              <a:t>hidrolik_basinc</a:t>
            </a:r>
            <a:r>
              <a:rPr lang="tr-TR" sz="2000" dirty="0" smtClean="0"/>
              <a:t>, </a:t>
            </a:r>
            <a:r>
              <a:rPr lang="tr-TR" sz="2000" dirty="0" err="1" smtClean="0"/>
              <a:t>fren_diski_yuzey</a:t>
            </a:r>
            <a:endParaRPr lang="tr-TR" sz="2000" dirty="0"/>
          </a:p>
        </p:txBody>
      </p:sp>
    </p:spTree>
    <p:extLst>
      <p:ext uri="{BB962C8B-B14F-4D97-AF65-F5344CB8AC3E}">
        <p14:creationId xmlns:p14="http://schemas.microsoft.com/office/powerpoint/2010/main" val="35457371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18</a:t>
            </a:fld>
            <a:endParaRPr lang="tr-TR" sz="2000" b="1" dirty="0">
              <a:solidFill>
                <a:schemeClr val="bg1"/>
              </a:solidFill>
            </a:endParaRPr>
          </a:p>
        </p:txBody>
      </p:sp>
      <p:sp>
        <p:nvSpPr>
          <p:cNvPr id="2" name="Dikdörtgen 1"/>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8. OTOMOTİV SANAYİ</a:t>
            </a:r>
          </a:p>
          <a:p>
            <a:r>
              <a:rPr lang="tr-TR" sz="2000" b="1" dirty="0" smtClean="0"/>
              <a:t># Elektrikli Araç Batarya Sağlık Yönetimi (BMS)</a:t>
            </a:r>
          </a:p>
          <a:p>
            <a:endParaRPr lang="tr-TR" sz="2000" dirty="0" smtClean="0"/>
          </a:p>
          <a:p>
            <a:r>
              <a:rPr lang="tr-TR" sz="2000" b="1" dirty="0" smtClean="0">
                <a:solidFill>
                  <a:schemeClr val="accent6">
                    <a:lumMod val="75000"/>
                  </a:schemeClr>
                </a:solidFill>
              </a:rPr>
              <a:t>Gerçek Senaryo: </a:t>
            </a:r>
            <a:r>
              <a:rPr lang="tr-TR" sz="2000" dirty="0" smtClean="0"/>
              <a:t>Elektrikli araçta batarya yönetim sistemi (BMS) batarya sağlığını izliyor. Şarj döngü sayısı 800'ü aştıysa veya hücre voltaj farkı 50 </a:t>
            </a:r>
            <a:r>
              <a:rPr lang="tr-TR" sz="2000" dirty="0" err="1" smtClean="0"/>
              <a:t>mV'dan</a:t>
            </a:r>
            <a:r>
              <a:rPr lang="tr-TR" sz="2000" dirty="0" smtClean="0"/>
              <a:t> fazlaysa batarya performansı düşer. Sıcaklık 45°C'yi geçerse güvenlik riski oluşur.</a:t>
            </a:r>
          </a:p>
          <a:p>
            <a:endParaRPr lang="tr-TR" sz="2000" dirty="0" smtClean="0"/>
          </a:p>
          <a:p>
            <a:r>
              <a:rPr lang="tr-TR" sz="2000" b="1" dirty="0" smtClean="0">
                <a:solidFill>
                  <a:schemeClr val="accent1">
                    <a:lumMod val="75000"/>
                  </a:schemeClr>
                </a:solidFill>
              </a:rPr>
              <a:t>Değişkenler: </a:t>
            </a:r>
            <a:r>
              <a:rPr lang="tr-TR" sz="2000" dirty="0" err="1" smtClean="0"/>
              <a:t>arac_plaka</a:t>
            </a:r>
            <a:r>
              <a:rPr lang="tr-TR" sz="2000" dirty="0" smtClean="0"/>
              <a:t>, </a:t>
            </a:r>
            <a:r>
              <a:rPr lang="tr-TR" sz="2000" dirty="0" err="1" smtClean="0"/>
              <a:t>sarj_dongusu</a:t>
            </a:r>
            <a:r>
              <a:rPr lang="tr-TR" sz="2000" dirty="0" smtClean="0"/>
              <a:t>, </a:t>
            </a:r>
            <a:r>
              <a:rPr lang="tr-TR" sz="2000" dirty="0" err="1" smtClean="0"/>
              <a:t>voltaj_farki</a:t>
            </a:r>
            <a:r>
              <a:rPr lang="tr-TR" sz="2000" dirty="0" smtClean="0"/>
              <a:t>, </a:t>
            </a:r>
            <a:r>
              <a:rPr lang="tr-TR" sz="2000" dirty="0" err="1" smtClean="0"/>
              <a:t>batarya_sicaklik</a:t>
            </a:r>
            <a:r>
              <a:rPr lang="tr-TR" sz="2000" dirty="0" smtClean="0"/>
              <a:t>, </a:t>
            </a:r>
            <a:r>
              <a:rPr lang="tr-TR" sz="2000" dirty="0" err="1" smtClean="0"/>
              <a:t>kalan_kapasite</a:t>
            </a:r>
            <a:endParaRPr lang="tr-TR" sz="2000" dirty="0"/>
          </a:p>
        </p:txBody>
      </p:sp>
    </p:spTree>
    <p:extLst>
      <p:ext uri="{BB962C8B-B14F-4D97-AF65-F5344CB8AC3E}">
        <p14:creationId xmlns:p14="http://schemas.microsoft.com/office/powerpoint/2010/main" val="34985045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19</a:t>
            </a:fld>
            <a:endParaRPr lang="tr-TR" sz="2000" b="1" dirty="0">
              <a:solidFill>
                <a:schemeClr val="bg1"/>
              </a:solidFill>
            </a:endParaRPr>
          </a:p>
        </p:txBody>
      </p:sp>
      <p:sp>
        <p:nvSpPr>
          <p:cNvPr id="2" name="Dikdörtgen 1"/>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9. GİYİM SEKTÖRÜ</a:t>
            </a:r>
          </a:p>
          <a:p>
            <a:r>
              <a:rPr lang="tr-TR" sz="2000" b="1" dirty="0" smtClean="0"/>
              <a:t># Mağaza Stok ve Beden Uygunluk Sistemi</a:t>
            </a:r>
          </a:p>
          <a:p>
            <a:endParaRPr lang="tr-TR" sz="2000" dirty="0" smtClean="0"/>
          </a:p>
          <a:p>
            <a:r>
              <a:rPr lang="tr-TR" sz="2000" b="1" dirty="0" smtClean="0">
                <a:solidFill>
                  <a:schemeClr val="accent6">
                    <a:lumMod val="75000"/>
                  </a:schemeClr>
                </a:solidFill>
              </a:rPr>
              <a:t>Gerçek Senaryo: </a:t>
            </a:r>
            <a:r>
              <a:rPr lang="tr-TR" sz="2000" dirty="0" smtClean="0"/>
              <a:t>Bir giyim mağazasında müşteri istediği ürünü deneyip beğeniyor ancak kendi bedeni stokta yoksa, satış elemanı sistemden diğer şubelerdeki stok durumunu kontrol ediyor. Eğer 3'ten fazla şubede varsa transfer, 1-2 şubede varsa rezervasyon, hiç yoksa tedarikçiden sipariş veriliyor.</a:t>
            </a:r>
          </a:p>
          <a:p>
            <a:endParaRPr lang="tr-TR" sz="2000" dirty="0" smtClean="0"/>
          </a:p>
          <a:p>
            <a:r>
              <a:rPr lang="tr-TR" sz="2000" b="1" dirty="0" smtClean="0">
                <a:solidFill>
                  <a:schemeClr val="accent1">
                    <a:lumMod val="75000"/>
                  </a:schemeClr>
                </a:solidFill>
              </a:rPr>
              <a:t>Değişkenler: </a:t>
            </a:r>
            <a:r>
              <a:rPr lang="tr-TR" sz="2000" dirty="0" err="1" smtClean="0"/>
              <a:t>urun_kodu</a:t>
            </a:r>
            <a:r>
              <a:rPr lang="tr-TR" sz="2000" dirty="0" smtClean="0"/>
              <a:t>, </a:t>
            </a:r>
            <a:r>
              <a:rPr lang="tr-TR" sz="2000" dirty="0" err="1" smtClean="0"/>
              <a:t>musteri_beden</a:t>
            </a:r>
            <a:r>
              <a:rPr lang="tr-TR" sz="2000" dirty="0" smtClean="0"/>
              <a:t>, </a:t>
            </a:r>
            <a:r>
              <a:rPr lang="tr-TR" sz="2000" dirty="0" err="1" smtClean="0"/>
              <a:t>bu_subede_stok</a:t>
            </a:r>
            <a:r>
              <a:rPr lang="tr-TR" sz="2000" dirty="0" smtClean="0"/>
              <a:t>, </a:t>
            </a:r>
            <a:r>
              <a:rPr lang="tr-TR" sz="2000" dirty="0" err="1" smtClean="0"/>
              <a:t>diger_sube_sayisi</a:t>
            </a:r>
            <a:r>
              <a:rPr lang="tr-TR" sz="2000" dirty="0" smtClean="0"/>
              <a:t>, fiyat</a:t>
            </a:r>
            <a:endParaRPr lang="tr-TR" sz="2000" dirty="0"/>
          </a:p>
        </p:txBody>
      </p:sp>
    </p:spTree>
    <p:extLst>
      <p:ext uri="{BB962C8B-B14F-4D97-AF65-F5344CB8AC3E}">
        <p14:creationId xmlns:p14="http://schemas.microsoft.com/office/powerpoint/2010/main" val="17053267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20</a:t>
            </a:fld>
            <a:endParaRPr lang="tr-TR" sz="2000" b="1" dirty="0">
              <a:solidFill>
                <a:schemeClr val="bg1"/>
              </a:solidFill>
            </a:endParaRPr>
          </a:p>
        </p:txBody>
      </p:sp>
      <p:sp>
        <p:nvSpPr>
          <p:cNvPr id="2" name="Dikdörtgen 1"/>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10. GİYİM SEKTÖRÜ</a:t>
            </a:r>
          </a:p>
          <a:p>
            <a:r>
              <a:rPr lang="tr-TR" sz="2000" b="1" dirty="0" smtClean="0"/>
              <a:t># Online Sipariş İade ve Değişim Sistemi</a:t>
            </a:r>
          </a:p>
          <a:p>
            <a:endParaRPr lang="tr-TR" sz="2000" b="1" dirty="0" smtClean="0">
              <a:solidFill>
                <a:schemeClr val="accent6">
                  <a:lumMod val="75000"/>
                </a:schemeClr>
              </a:solidFill>
            </a:endParaRPr>
          </a:p>
          <a:p>
            <a:r>
              <a:rPr lang="tr-TR" sz="2000" b="1" dirty="0" smtClean="0">
                <a:solidFill>
                  <a:schemeClr val="accent6">
                    <a:lumMod val="75000"/>
                  </a:schemeClr>
                </a:solidFill>
              </a:rPr>
              <a:t>Gerçek Senaryo: </a:t>
            </a:r>
            <a:r>
              <a:rPr lang="tr-TR" sz="2000" dirty="0" smtClean="0"/>
              <a:t>E-ticaret sitesinden gelen iade taleplerinde, ürünün kullanılmamış ve etiketli olması, iade süresinin 14 gün içinde olması ve fatura ile birlikte gelmesi kontrol ediliyor. Tüm şartlar sağlanırsa iade, sadece beden değişimi istiyorsa ve stok varsa değişim yapılıyor.</a:t>
            </a:r>
          </a:p>
          <a:p>
            <a:endParaRPr lang="tr-TR" sz="2000" dirty="0" smtClean="0"/>
          </a:p>
          <a:p>
            <a:r>
              <a:rPr lang="tr-TR" sz="2000" b="1" dirty="0" smtClean="0">
                <a:solidFill>
                  <a:schemeClr val="accent1">
                    <a:lumMod val="75000"/>
                  </a:schemeClr>
                </a:solidFill>
              </a:rPr>
              <a:t>Değişkenler: </a:t>
            </a:r>
            <a:r>
              <a:rPr lang="tr-TR" sz="2000" dirty="0" err="1" smtClean="0"/>
              <a:t>siparis_no</a:t>
            </a:r>
            <a:r>
              <a:rPr lang="tr-TR" sz="2000" dirty="0" smtClean="0"/>
              <a:t>, </a:t>
            </a:r>
            <a:r>
              <a:rPr lang="tr-TR" sz="2000" dirty="0" err="1" smtClean="0"/>
              <a:t>iade_gun</a:t>
            </a:r>
            <a:r>
              <a:rPr lang="tr-TR" sz="2000" dirty="0" smtClean="0"/>
              <a:t>, </a:t>
            </a:r>
            <a:r>
              <a:rPr lang="tr-TR" sz="2000" dirty="0" err="1" smtClean="0"/>
              <a:t>etiket_durumu</a:t>
            </a:r>
            <a:r>
              <a:rPr lang="tr-TR" sz="2000" dirty="0" smtClean="0"/>
              <a:t>, </a:t>
            </a:r>
            <a:r>
              <a:rPr lang="tr-TR" sz="2000" dirty="0" err="1" smtClean="0"/>
              <a:t>kullanim_izi</a:t>
            </a:r>
            <a:r>
              <a:rPr lang="tr-TR" sz="2000" dirty="0" smtClean="0"/>
              <a:t>, </a:t>
            </a:r>
            <a:r>
              <a:rPr lang="tr-TR" sz="2000" dirty="0" err="1" smtClean="0"/>
              <a:t>fatura_var</a:t>
            </a:r>
            <a:r>
              <a:rPr lang="tr-TR" sz="2000" dirty="0" smtClean="0"/>
              <a:t>, </a:t>
            </a:r>
            <a:r>
              <a:rPr lang="tr-TR" sz="2000" dirty="0" err="1" smtClean="0"/>
              <a:t>islem_tipi</a:t>
            </a:r>
            <a:endParaRPr lang="tr-TR" sz="2000" dirty="0"/>
          </a:p>
        </p:txBody>
      </p:sp>
    </p:spTree>
    <p:extLst>
      <p:ext uri="{BB962C8B-B14F-4D97-AF65-F5344CB8AC3E}">
        <p14:creationId xmlns:p14="http://schemas.microsoft.com/office/powerpoint/2010/main" val="29480911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21</a:t>
            </a:fld>
            <a:endParaRPr lang="tr-TR" sz="2000" b="1" dirty="0">
              <a:solidFill>
                <a:schemeClr val="bg1"/>
              </a:solidFill>
            </a:endParaRPr>
          </a:p>
        </p:txBody>
      </p:sp>
      <p:sp>
        <p:nvSpPr>
          <p:cNvPr id="2" name="Dikdörtgen 1"/>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11. DİYETİSYEN</a:t>
            </a:r>
          </a:p>
          <a:p>
            <a:r>
              <a:rPr lang="tr-TR" sz="2000" b="1" dirty="0" smtClean="0"/>
              <a:t># Kişiye Özel Günlük Kalori ve Makro Hesaplama</a:t>
            </a:r>
          </a:p>
          <a:p>
            <a:endParaRPr lang="tr-TR" sz="2000" dirty="0" smtClean="0"/>
          </a:p>
          <a:p>
            <a:r>
              <a:rPr lang="tr-TR" sz="2000" b="1" dirty="0" smtClean="0">
                <a:solidFill>
                  <a:schemeClr val="accent6">
                    <a:lumMod val="75000"/>
                  </a:schemeClr>
                </a:solidFill>
              </a:rPr>
              <a:t>Gerçek Senaryo: </a:t>
            </a:r>
            <a:r>
              <a:rPr lang="tr-TR" sz="2000" dirty="0" smtClean="0"/>
              <a:t>Diyetisyen muayenehanesinde danışan için günlük kalori ihtiyacı</a:t>
            </a:r>
          </a:p>
          <a:p>
            <a:r>
              <a:rPr lang="tr-TR" sz="2000" dirty="0" smtClean="0"/>
              <a:t>hesaplanıyor. Kişinin kilosu, boyu, yaşı ve aktivite seviyesine göre bazal metabolizma</a:t>
            </a:r>
          </a:p>
          <a:p>
            <a:r>
              <a:rPr lang="tr-TR" sz="2000" dirty="0" smtClean="0"/>
              <a:t>hesaplanıp, hedefe göre (kilo verme, koruma, alma) kalori miktarı belirleniyor. 30+ yaş ve hareketsizse uyarı veriliyor.</a:t>
            </a:r>
          </a:p>
          <a:p>
            <a:endParaRPr lang="tr-TR" sz="2000" dirty="0" smtClean="0"/>
          </a:p>
          <a:p>
            <a:r>
              <a:rPr lang="tr-TR" sz="2000" b="1" dirty="0" smtClean="0">
                <a:solidFill>
                  <a:schemeClr val="accent1">
                    <a:lumMod val="75000"/>
                  </a:schemeClr>
                </a:solidFill>
              </a:rPr>
              <a:t>Değişkenler: </a:t>
            </a:r>
            <a:r>
              <a:rPr lang="tr-TR" sz="2000" dirty="0" err="1" smtClean="0"/>
              <a:t>danisan_id</a:t>
            </a:r>
            <a:r>
              <a:rPr lang="tr-TR" sz="2000" dirty="0" smtClean="0"/>
              <a:t>, kilo, boy, yas, aktivite, hedef, </a:t>
            </a:r>
            <a:r>
              <a:rPr lang="tr-TR" sz="2000" dirty="0" err="1" smtClean="0"/>
              <a:t>bazal_metabolizma</a:t>
            </a:r>
            <a:endParaRPr lang="tr-TR" sz="2000" dirty="0"/>
          </a:p>
        </p:txBody>
      </p:sp>
    </p:spTree>
    <p:extLst>
      <p:ext uri="{BB962C8B-B14F-4D97-AF65-F5344CB8AC3E}">
        <p14:creationId xmlns:p14="http://schemas.microsoft.com/office/powerpoint/2010/main" val="7975288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22</a:t>
            </a:fld>
            <a:endParaRPr lang="tr-TR" sz="2000" b="1" dirty="0">
              <a:solidFill>
                <a:schemeClr val="bg1"/>
              </a:solidFill>
            </a:endParaRPr>
          </a:p>
        </p:txBody>
      </p:sp>
      <p:sp>
        <p:nvSpPr>
          <p:cNvPr id="2" name="Dikdörtgen 1"/>
          <p:cNvSpPr/>
          <p:nvPr/>
        </p:nvSpPr>
        <p:spPr>
          <a:xfrm>
            <a:off x="1338072" y="2040681"/>
            <a:ext cx="9813290" cy="2862322"/>
          </a:xfrm>
          <a:prstGeom prst="rect">
            <a:avLst/>
          </a:prstGeom>
        </p:spPr>
        <p:txBody>
          <a:bodyPr wrap="square">
            <a:spAutoFit/>
          </a:bodyPr>
          <a:lstStyle/>
          <a:p>
            <a:r>
              <a:rPr lang="tr-TR" sz="2000" b="1" dirty="0" smtClean="0">
                <a:solidFill>
                  <a:schemeClr val="accent6">
                    <a:lumMod val="75000"/>
                  </a:schemeClr>
                </a:solidFill>
              </a:rPr>
              <a:t>12. DİYETİSYEN</a:t>
            </a:r>
          </a:p>
          <a:p>
            <a:r>
              <a:rPr lang="tr-TR" sz="2000" b="1" dirty="0" smtClean="0"/>
              <a:t># Hastalık Durumuna Göre Özel Diyet Planı</a:t>
            </a:r>
          </a:p>
          <a:p>
            <a:endParaRPr lang="tr-TR" sz="2000" dirty="0" smtClean="0"/>
          </a:p>
          <a:p>
            <a:r>
              <a:rPr lang="tr-TR" sz="2000" b="1" dirty="0" smtClean="0">
                <a:solidFill>
                  <a:schemeClr val="accent6">
                    <a:lumMod val="75000"/>
                  </a:schemeClr>
                </a:solidFill>
              </a:rPr>
              <a:t>Gerçek Senaryo: </a:t>
            </a:r>
            <a:r>
              <a:rPr lang="tr-TR" sz="2000" dirty="0" smtClean="0"/>
              <a:t>Kronik hastalığı olan danışanlar için özel diyet planı hazırlanıyor. Diyabet varsa şeker kısıtlaması, tansiyon yüksekse tuz kısıtlaması, kolesterol yüksekse yağ kısıtlaması uygulanıyor. Birden fazla hastalık varsa daha sıkı kontrol gerekir.</a:t>
            </a:r>
          </a:p>
          <a:p>
            <a:endParaRPr lang="tr-TR" sz="2000" dirty="0" smtClean="0"/>
          </a:p>
          <a:p>
            <a:r>
              <a:rPr lang="tr-TR" sz="2000" b="1" dirty="0" smtClean="0">
                <a:solidFill>
                  <a:schemeClr val="accent1">
                    <a:lumMod val="75000"/>
                  </a:schemeClr>
                </a:solidFill>
              </a:rPr>
              <a:t>Değişkenler: </a:t>
            </a:r>
            <a:r>
              <a:rPr lang="tr-TR" sz="2000" dirty="0" err="1" smtClean="0"/>
              <a:t>danisan_id</a:t>
            </a:r>
            <a:r>
              <a:rPr lang="tr-TR" sz="2000" dirty="0" smtClean="0"/>
              <a:t>, diyabet, tansiyon, kolesterol, </a:t>
            </a:r>
            <a:r>
              <a:rPr lang="tr-TR" sz="2000" dirty="0" err="1" smtClean="0"/>
              <a:t>kan_sekeri</a:t>
            </a:r>
            <a:r>
              <a:rPr lang="tr-TR" sz="2000" dirty="0" smtClean="0"/>
              <a:t>, </a:t>
            </a:r>
            <a:r>
              <a:rPr lang="tr-TR" sz="2000" dirty="0" err="1" smtClean="0"/>
              <a:t>kan_basinci</a:t>
            </a:r>
            <a:endParaRPr lang="tr-TR" sz="2000" dirty="0"/>
          </a:p>
        </p:txBody>
      </p:sp>
    </p:spTree>
    <p:extLst>
      <p:ext uri="{BB962C8B-B14F-4D97-AF65-F5344CB8AC3E}">
        <p14:creationId xmlns:p14="http://schemas.microsoft.com/office/powerpoint/2010/main" val="17814792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23</a:t>
            </a:fld>
            <a:endParaRPr lang="tr-TR" sz="2000" b="1" dirty="0">
              <a:solidFill>
                <a:schemeClr val="bg1"/>
              </a:solidFill>
            </a:endParaRPr>
          </a:p>
        </p:txBody>
      </p:sp>
      <p:sp>
        <p:nvSpPr>
          <p:cNvPr id="3" name="Dikdörtgen 2"/>
          <p:cNvSpPr/>
          <p:nvPr/>
        </p:nvSpPr>
        <p:spPr>
          <a:xfrm>
            <a:off x="1338072" y="2040681"/>
            <a:ext cx="9813290" cy="3170099"/>
          </a:xfrm>
          <a:prstGeom prst="rect">
            <a:avLst/>
          </a:prstGeom>
        </p:spPr>
        <p:txBody>
          <a:bodyPr wrap="square">
            <a:spAutoFit/>
          </a:bodyPr>
          <a:lstStyle/>
          <a:p>
            <a:r>
              <a:rPr lang="tr-TR" sz="2000" b="1" dirty="0" smtClean="0">
                <a:solidFill>
                  <a:schemeClr val="accent6">
                    <a:lumMod val="75000"/>
                  </a:schemeClr>
                </a:solidFill>
              </a:rPr>
              <a:t>13. SAĞLIK SEKTÖRÜ</a:t>
            </a:r>
          </a:p>
          <a:p>
            <a:r>
              <a:rPr lang="tr-TR" sz="2000" b="1" dirty="0" smtClean="0"/>
              <a:t># Ameliyathane Öncelik ve Hazırlık Sistemi</a:t>
            </a:r>
          </a:p>
          <a:p>
            <a:endParaRPr lang="tr-TR" sz="2000" dirty="0" smtClean="0"/>
          </a:p>
          <a:p>
            <a:r>
              <a:rPr lang="tr-TR" sz="2000" b="1" dirty="0" smtClean="0">
                <a:solidFill>
                  <a:schemeClr val="accent6">
                    <a:lumMod val="75000"/>
                  </a:schemeClr>
                </a:solidFill>
              </a:rPr>
              <a:t>Gerçek Senaryo: </a:t>
            </a:r>
            <a:r>
              <a:rPr lang="tr-TR" sz="2000" dirty="0" smtClean="0"/>
              <a:t>Ameliyathaneye alınacak hastalar </a:t>
            </a:r>
            <a:r>
              <a:rPr lang="tr-TR" sz="2000" dirty="0" err="1" smtClean="0"/>
              <a:t>aciliyet</a:t>
            </a:r>
            <a:r>
              <a:rPr lang="tr-TR" sz="2000" dirty="0" smtClean="0"/>
              <a:t> durumuna, ameliyat süresine ve hasta riskine göre sıralanır. Acil vakalar (travma, kanama) hemen alınır, </a:t>
            </a:r>
            <a:r>
              <a:rPr lang="tr-TR" sz="2000" dirty="0" err="1" smtClean="0"/>
              <a:t>elektif</a:t>
            </a:r>
            <a:r>
              <a:rPr lang="tr-TR" sz="2000" dirty="0" smtClean="0"/>
              <a:t> ameliyatlar bekler. Hasta riski yüksekse (65+ yaş veya kronik hastalık) ek hazırlık gerekir. Ameliyat 3 saatten uzunsa ekip değişimi planlanır.</a:t>
            </a:r>
          </a:p>
          <a:p>
            <a:endParaRPr lang="tr-TR" sz="2000" dirty="0" smtClean="0"/>
          </a:p>
          <a:p>
            <a:r>
              <a:rPr lang="tr-TR" sz="2000" b="1" dirty="0" smtClean="0">
                <a:solidFill>
                  <a:schemeClr val="accent1">
                    <a:lumMod val="75000"/>
                  </a:schemeClr>
                </a:solidFill>
              </a:rPr>
              <a:t>Değişkenler: </a:t>
            </a:r>
            <a:r>
              <a:rPr lang="tr-TR" sz="2000" dirty="0" err="1" smtClean="0"/>
              <a:t>hasta_protokol</a:t>
            </a:r>
            <a:r>
              <a:rPr lang="tr-TR" sz="2000" dirty="0" smtClean="0"/>
              <a:t>, </a:t>
            </a:r>
            <a:r>
              <a:rPr lang="tr-TR" sz="2000" dirty="0" err="1" smtClean="0"/>
              <a:t>nabiz</a:t>
            </a:r>
            <a:r>
              <a:rPr lang="tr-TR" sz="2000" dirty="0" smtClean="0"/>
              <a:t>, solunum, </a:t>
            </a:r>
            <a:r>
              <a:rPr lang="tr-TR" sz="2000" dirty="0" err="1" smtClean="0"/>
              <a:t>bilinc</a:t>
            </a:r>
            <a:r>
              <a:rPr lang="tr-TR" sz="2000" dirty="0" smtClean="0"/>
              <a:t>, </a:t>
            </a:r>
            <a:r>
              <a:rPr lang="tr-TR" sz="2000" dirty="0" err="1" smtClean="0"/>
              <a:t>agri_skoru</a:t>
            </a:r>
            <a:r>
              <a:rPr lang="tr-TR" sz="2000" dirty="0" smtClean="0"/>
              <a:t>, </a:t>
            </a:r>
            <a:r>
              <a:rPr lang="tr-TR" sz="2000" dirty="0" err="1" smtClean="0"/>
              <a:t>ates</a:t>
            </a:r>
            <a:r>
              <a:rPr lang="tr-TR" sz="2000" dirty="0" smtClean="0"/>
              <a:t>, kategori, </a:t>
            </a:r>
            <a:r>
              <a:rPr lang="tr-TR" sz="2000" dirty="0" err="1" smtClean="0"/>
              <a:t>oncelik</a:t>
            </a:r>
            <a:r>
              <a:rPr lang="tr-TR" sz="2000" dirty="0" smtClean="0"/>
              <a:t>, bekleme, </a:t>
            </a:r>
            <a:r>
              <a:rPr lang="tr-TR" sz="2000" dirty="0" err="1" smtClean="0"/>
              <a:t>hekim_sayisi</a:t>
            </a:r>
            <a:endParaRPr lang="tr-TR" sz="2000" dirty="0"/>
          </a:p>
        </p:txBody>
      </p:sp>
    </p:spTree>
    <p:extLst>
      <p:ext uri="{BB962C8B-B14F-4D97-AF65-F5344CB8AC3E}">
        <p14:creationId xmlns:p14="http://schemas.microsoft.com/office/powerpoint/2010/main" val="30269647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24</a:t>
            </a:fld>
            <a:endParaRPr lang="tr-TR" sz="2000" b="1" dirty="0">
              <a:solidFill>
                <a:schemeClr val="bg1"/>
              </a:solidFill>
            </a:endParaRPr>
          </a:p>
        </p:txBody>
      </p:sp>
      <p:sp>
        <p:nvSpPr>
          <p:cNvPr id="2" name="Dikdörtgen 1"/>
          <p:cNvSpPr/>
          <p:nvPr/>
        </p:nvSpPr>
        <p:spPr>
          <a:xfrm>
            <a:off x="1338072" y="2040681"/>
            <a:ext cx="9813290" cy="3170099"/>
          </a:xfrm>
          <a:prstGeom prst="rect">
            <a:avLst/>
          </a:prstGeom>
        </p:spPr>
        <p:txBody>
          <a:bodyPr wrap="square">
            <a:spAutoFit/>
          </a:bodyPr>
          <a:lstStyle/>
          <a:p>
            <a:r>
              <a:rPr lang="tr-TR" sz="2000" b="1" dirty="0" smtClean="0">
                <a:solidFill>
                  <a:schemeClr val="accent6">
                    <a:lumMod val="75000"/>
                  </a:schemeClr>
                </a:solidFill>
              </a:rPr>
              <a:t>14. SAĞLIK SEKTÖRÜ</a:t>
            </a:r>
          </a:p>
          <a:p>
            <a:r>
              <a:rPr lang="tr-TR" sz="2000" b="1" dirty="0" smtClean="0"/>
              <a:t># İlaç Etkileşimi ve Doz Kontrol Sistemi</a:t>
            </a:r>
          </a:p>
          <a:p>
            <a:endParaRPr lang="tr-TR" sz="2000" dirty="0" smtClean="0"/>
          </a:p>
          <a:p>
            <a:r>
              <a:rPr lang="tr-TR" sz="2000" b="1" dirty="0" smtClean="0">
                <a:solidFill>
                  <a:schemeClr val="accent6">
                    <a:lumMod val="75000"/>
                  </a:schemeClr>
                </a:solidFill>
              </a:rPr>
              <a:t>Gerçek Senaryo: </a:t>
            </a:r>
            <a:r>
              <a:rPr lang="tr-TR" sz="2000" dirty="0" smtClean="0"/>
              <a:t>Hastaneye yatan hastalar için doktor tarafından ilaç reçetesi yazılırken, hastanın mevcut kullandığı ilaçlarla etkileşim kontrolü yapılır. Eğer hasta 65+ yaşındaysa ve 5'ten fazla ilaç kullanıyorsa </a:t>
            </a:r>
            <a:r>
              <a:rPr lang="tr-TR" sz="2000" dirty="0" err="1" smtClean="0"/>
              <a:t>polifarmasi</a:t>
            </a:r>
            <a:r>
              <a:rPr lang="tr-TR" sz="2000" dirty="0" smtClean="0"/>
              <a:t> riski vardır. Ayrıca böbrek fonksiyonuna göre doz ayarlaması gerekir.</a:t>
            </a:r>
          </a:p>
          <a:p>
            <a:endParaRPr lang="tr-TR" sz="2000" dirty="0" smtClean="0"/>
          </a:p>
          <a:p>
            <a:r>
              <a:rPr lang="tr-TR" sz="2000" b="1" dirty="0" smtClean="0">
                <a:solidFill>
                  <a:schemeClr val="accent1">
                    <a:lumMod val="75000"/>
                  </a:schemeClr>
                </a:solidFill>
              </a:rPr>
              <a:t>Değişkenler: </a:t>
            </a:r>
            <a:r>
              <a:rPr lang="tr-TR" sz="2000" dirty="0" err="1" smtClean="0"/>
              <a:t>hasta_tc_son</a:t>
            </a:r>
            <a:r>
              <a:rPr lang="tr-TR" sz="2000" dirty="0" smtClean="0"/>
              <a:t>, yas, </a:t>
            </a:r>
            <a:r>
              <a:rPr lang="tr-TR" sz="2000" dirty="0" err="1" smtClean="0"/>
              <a:t>kullanilan_ilac</a:t>
            </a:r>
            <a:r>
              <a:rPr lang="tr-TR" sz="2000" dirty="0" smtClean="0"/>
              <a:t>, </a:t>
            </a:r>
            <a:r>
              <a:rPr lang="tr-TR" sz="2000" dirty="0" err="1" smtClean="0"/>
              <a:t>bobrek_fonksiyon</a:t>
            </a:r>
            <a:r>
              <a:rPr lang="tr-TR" sz="2000" dirty="0" smtClean="0"/>
              <a:t>, </a:t>
            </a:r>
            <a:r>
              <a:rPr lang="tr-TR" sz="2000" dirty="0" err="1" smtClean="0"/>
              <a:t>kronik_hastalik</a:t>
            </a:r>
            <a:r>
              <a:rPr lang="tr-TR" sz="2000" dirty="0" smtClean="0"/>
              <a:t>,</a:t>
            </a:r>
          </a:p>
          <a:p>
            <a:r>
              <a:rPr lang="tr-TR" sz="2000" dirty="0" err="1" smtClean="0"/>
              <a:t>toplam_ilac</a:t>
            </a:r>
            <a:r>
              <a:rPr lang="tr-TR" sz="2000" dirty="0" smtClean="0"/>
              <a:t>, risk, onay, </a:t>
            </a:r>
            <a:r>
              <a:rPr lang="tr-TR" sz="2000" dirty="0" err="1" smtClean="0"/>
              <a:t>kontrol_suresi</a:t>
            </a:r>
            <a:r>
              <a:rPr lang="tr-TR" sz="2000" dirty="0" smtClean="0"/>
              <a:t>, </a:t>
            </a:r>
            <a:r>
              <a:rPr lang="tr-TR" sz="2000" dirty="0" err="1" smtClean="0"/>
              <a:t>doz_azaltma</a:t>
            </a:r>
            <a:endParaRPr lang="tr-TR" sz="2000" dirty="0"/>
          </a:p>
        </p:txBody>
      </p:sp>
    </p:spTree>
    <p:extLst>
      <p:ext uri="{BB962C8B-B14F-4D97-AF65-F5344CB8AC3E}">
        <p14:creationId xmlns:p14="http://schemas.microsoft.com/office/powerpoint/2010/main" val="9894948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25</a:t>
            </a:fld>
            <a:endParaRPr lang="tr-TR" sz="2000" b="1" dirty="0">
              <a:solidFill>
                <a:schemeClr val="bg1"/>
              </a:solidFill>
            </a:endParaRPr>
          </a:p>
        </p:txBody>
      </p:sp>
      <p:sp>
        <p:nvSpPr>
          <p:cNvPr id="2" name="Dikdörtgen 1"/>
          <p:cNvSpPr/>
          <p:nvPr/>
        </p:nvSpPr>
        <p:spPr>
          <a:xfrm>
            <a:off x="1338072" y="2040681"/>
            <a:ext cx="9813290" cy="3170099"/>
          </a:xfrm>
          <a:prstGeom prst="rect">
            <a:avLst/>
          </a:prstGeom>
        </p:spPr>
        <p:txBody>
          <a:bodyPr wrap="square">
            <a:spAutoFit/>
          </a:bodyPr>
          <a:lstStyle/>
          <a:p>
            <a:r>
              <a:rPr lang="tr-TR" sz="2000" b="1" dirty="0" smtClean="0">
                <a:solidFill>
                  <a:schemeClr val="accent6">
                    <a:lumMod val="75000"/>
                  </a:schemeClr>
                </a:solidFill>
              </a:rPr>
              <a:t>15. EĞİTİM SEKTÖRÜ</a:t>
            </a:r>
          </a:p>
          <a:p>
            <a:r>
              <a:rPr lang="tr-TR" sz="2000" b="1" dirty="0" smtClean="0"/>
              <a:t># Öğrenci Başarı Durum ve Ders Geçme Sistemi</a:t>
            </a:r>
          </a:p>
          <a:p>
            <a:endParaRPr lang="tr-TR" sz="2000" dirty="0" smtClean="0"/>
          </a:p>
          <a:p>
            <a:r>
              <a:rPr lang="tr-TR" sz="2000" b="1" dirty="0" smtClean="0">
                <a:solidFill>
                  <a:schemeClr val="accent6">
                    <a:lumMod val="75000"/>
                  </a:schemeClr>
                </a:solidFill>
              </a:rPr>
              <a:t>Gerçek Senaryo: </a:t>
            </a:r>
            <a:r>
              <a:rPr lang="tr-TR" sz="2000" dirty="0" smtClean="0"/>
              <a:t>Üniversitede öğrencinin dönem sonu notuna göre dersten geçip</a:t>
            </a:r>
          </a:p>
          <a:p>
            <a:r>
              <a:rPr lang="tr-TR" sz="2000" dirty="0" smtClean="0"/>
              <a:t>geçmediği ve akademik durumu belirlenir. Vize %40, final %60 etkilidir. Not ortalaması 50+ ise geçer, 40-49 arası bütünleme hakkı, 40 altı ise kalmıştır. Ayrıca devamsızlık %30'u geçerse direkt kalır.</a:t>
            </a:r>
          </a:p>
          <a:p>
            <a:endParaRPr lang="tr-TR" sz="2000" dirty="0" smtClean="0"/>
          </a:p>
          <a:p>
            <a:r>
              <a:rPr lang="tr-TR" sz="2000" b="1" dirty="0" smtClean="0">
                <a:solidFill>
                  <a:schemeClr val="accent1">
                    <a:lumMod val="75000"/>
                  </a:schemeClr>
                </a:solidFill>
              </a:rPr>
              <a:t>Değişkenler: </a:t>
            </a:r>
            <a:r>
              <a:rPr lang="tr-TR" sz="2000" dirty="0" err="1" smtClean="0"/>
              <a:t>ogrenci_no</a:t>
            </a:r>
            <a:r>
              <a:rPr lang="tr-TR" sz="2000" dirty="0" smtClean="0"/>
              <a:t>, </a:t>
            </a:r>
            <a:r>
              <a:rPr lang="tr-TR" sz="2000" dirty="0" err="1" smtClean="0"/>
              <a:t>vize_notu</a:t>
            </a:r>
            <a:r>
              <a:rPr lang="tr-TR" sz="2000" dirty="0" smtClean="0"/>
              <a:t>, </a:t>
            </a:r>
            <a:r>
              <a:rPr lang="tr-TR" sz="2000" dirty="0" err="1" smtClean="0"/>
              <a:t>final_notu</a:t>
            </a:r>
            <a:r>
              <a:rPr lang="tr-TR" sz="2000" dirty="0" smtClean="0"/>
              <a:t>, </a:t>
            </a:r>
            <a:r>
              <a:rPr lang="tr-TR" sz="2000" dirty="0" err="1" smtClean="0"/>
              <a:t>devamsizlik</a:t>
            </a:r>
            <a:r>
              <a:rPr lang="tr-TR" sz="2000" dirty="0" smtClean="0"/>
              <a:t>, </a:t>
            </a:r>
            <a:r>
              <a:rPr lang="tr-TR" sz="2000" dirty="0" err="1" smtClean="0"/>
              <a:t>odev_sayisi</a:t>
            </a:r>
            <a:r>
              <a:rPr lang="tr-TR" sz="2000" dirty="0" smtClean="0"/>
              <a:t>, </a:t>
            </a:r>
            <a:r>
              <a:rPr lang="tr-TR" sz="2000" dirty="0" err="1" smtClean="0"/>
              <a:t>toplam_odev</a:t>
            </a:r>
            <a:r>
              <a:rPr lang="tr-TR" sz="2000" dirty="0" smtClean="0"/>
              <a:t>, </a:t>
            </a:r>
            <a:r>
              <a:rPr lang="tr-TR" sz="2000" dirty="0" err="1" smtClean="0"/>
              <a:t>yil_ici</a:t>
            </a:r>
            <a:r>
              <a:rPr lang="tr-TR" sz="2000" dirty="0" smtClean="0"/>
              <a:t>, </a:t>
            </a:r>
            <a:r>
              <a:rPr lang="tr-TR" sz="2000" dirty="0" err="1" smtClean="0"/>
              <a:t>yil_sonu</a:t>
            </a:r>
            <a:r>
              <a:rPr lang="tr-TR" sz="2000" dirty="0" smtClean="0"/>
              <a:t>, </a:t>
            </a:r>
            <a:r>
              <a:rPr lang="tr-TR" sz="2000" dirty="0" err="1" smtClean="0"/>
              <a:t>donem_notu</a:t>
            </a:r>
            <a:r>
              <a:rPr lang="tr-TR" sz="2000" dirty="0" smtClean="0"/>
              <a:t>, </a:t>
            </a:r>
            <a:r>
              <a:rPr lang="tr-TR" sz="2000" dirty="0" err="1" smtClean="0"/>
              <a:t>odev_yuzdesi</a:t>
            </a:r>
            <a:endParaRPr lang="tr-TR" sz="2000" dirty="0"/>
          </a:p>
        </p:txBody>
      </p:sp>
    </p:spTree>
    <p:extLst>
      <p:ext uri="{BB962C8B-B14F-4D97-AF65-F5344CB8AC3E}">
        <p14:creationId xmlns:p14="http://schemas.microsoft.com/office/powerpoint/2010/main" val="26184537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Ödevler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26</a:t>
            </a:fld>
            <a:endParaRPr lang="tr-TR" sz="2000" b="1" dirty="0">
              <a:solidFill>
                <a:schemeClr val="bg1"/>
              </a:solidFill>
            </a:endParaRPr>
          </a:p>
        </p:txBody>
      </p:sp>
      <p:sp>
        <p:nvSpPr>
          <p:cNvPr id="2" name="Dikdörtgen 1"/>
          <p:cNvSpPr/>
          <p:nvPr/>
        </p:nvSpPr>
        <p:spPr>
          <a:xfrm>
            <a:off x="1338072" y="2040681"/>
            <a:ext cx="9813290" cy="3170099"/>
          </a:xfrm>
          <a:prstGeom prst="rect">
            <a:avLst/>
          </a:prstGeom>
        </p:spPr>
        <p:txBody>
          <a:bodyPr wrap="square">
            <a:spAutoFit/>
          </a:bodyPr>
          <a:lstStyle/>
          <a:p>
            <a:r>
              <a:rPr lang="tr-TR" sz="2000" b="1" dirty="0" smtClean="0">
                <a:solidFill>
                  <a:schemeClr val="accent6">
                    <a:lumMod val="75000"/>
                  </a:schemeClr>
                </a:solidFill>
              </a:rPr>
              <a:t>16. AKADEMİK</a:t>
            </a:r>
          </a:p>
          <a:p>
            <a:r>
              <a:rPr lang="tr-TR" sz="2000" b="1" dirty="0" smtClean="0"/>
              <a:t># Bilimsel Makale Hakem Değerlendirme Sistemi</a:t>
            </a:r>
          </a:p>
          <a:p>
            <a:endParaRPr lang="tr-TR" sz="2000" dirty="0" smtClean="0"/>
          </a:p>
          <a:p>
            <a:r>
              <a:rPr lang="tr-TR" sz="2000" b="1" dirty="0" smtClean="0">
                <a:solidFill>
                  <a:schemeClr val="accent6">
                    <a:lumMod val="75000"/>
                  </a:schemeClr>
                </a:solidFill>
              </a:rPr>
              <a:t>Gerçek Senaryo: </a:t>
            </a:r>
            <a:r>
              <a:rPr lang="tr-TR" sz="2000" dirty="0" smtClean="0"/>
              <a:t>Bilimsel dergilerde hakemler makaleleri orijinallik, metodoloji, literatür taraması ve yazım kalitesi açısından değerlendirir. Her kriter 25 puan üzerinden değerlendirilir. Toplam 70+ puan kabul, 50-69 arası revizyon, 50 altı ret kararı verilir. Ayrıca benzerlik oranı %20'yi geçerse intihal şüphesi rapor edilir.</a:t>
            </a:r>
          </a:p>
          <a:p>
            <a:endParaRPr lang="tr-TR" sz="2000" dirty="0" smtClean="0"/>
          </a:p>
          <a:p>
            <a:r>
              <a:rPr lang="tr-TR" sz="2000" b="1" dirty="0" smtClean="0">
                <a:solidFill>
                  <a:schemeClr val="accent1">
                    <a:lumMod val="75000"/>
                  </a:schemeClr>
                </a:solidFill>
              </a:rPr>
              <a:t>Değişkenler: </a:t>
            </a:r>
            <a:r>
              <a:rPr lang="tr-TR" sz="2000" dirty="0" err="1" smtClean="0"/>
              <a:t>makale_id</a:t>
            </a:r>
            <a:r>
              <a:rPr lang="tr-TR" sz="2000" dirty="0" smtClean="0"/>
              <a:t>, orijinallik, metodoloji, </a:t>
            </a:r>
            <a:r>
              <a:rPr lang="tr-TR" sz="2000" dirty="0" err="1" smtClean="0"/>
              <a:t>literatur</a:t>
            </a:r>
            <a:r>
              <a:rPr lang="tr-TR" sz="2000" dirty="0" smtClean="0"/>
              <a:t>, </a:t>
            </a:r>
            <a:r>
              <a:rPr lang="tr-TR" sz="2000" dirty="0" err="1" smtClean="0"/>
              <a:t>yazim</a:t>
            </a:r>
            <a:r>
              <a:rPr lang="tr-TR" sz="2000" dirty="0" smtClean="0"/>
              <a:t>, </a:t>
            </a:r>
            <a:r>
              <a:rPr lang="tr-TR" sz="2000" dirty="0" err="1" smtClean="0"/>
              <a:t>benzerlik_orani</a:t>
            </a:r>
            <a:r>
              <a:rPr lang="tr-TR" sz="2000" dirty="0" smtClean="0"/>
              <a:t>,</a:t>
            </a:r>
          </a:p>
          <a:p>
            <a:r>
              <a:rPr lang="tr-TR" sz="2000" dirty="0" err="1" smtClean="0"/>
              <a:t>yazar_deneyim</a:t>
            </a:r>
            <a:endParaRPr lang="tr-TR" sz="2000" dirty="0"/>
          </a:p>
        </p:txBody>
      </p:sp>
    </p:spTree>
    <p:extLst>
      <p:ext uri="{BB962C8B-B14F-4D97-AF65-F5344CB8AC3E}">
        <p14:creationId xmlns:p14="http://schemas.microsoft.com/office/powerpoint/2010/main" val="9561127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536377"/>
            <a:ext cx="9813290" cy="812402"/>
          </a:xfrm>
          <a:prstGeom prst="rect">
            <a:avLst/>
          </a:prstGeom>
        </p:spPr>
        <p:txBody>
          <a:bodyPr vert="horz" wrap="square" lIns="0" tIns="12065" rIns="0" bIns="0" rtlCol="0">
            <a:spAutoFit/>
          </a:bodyPr>
          <a:lstStyle/>
          <a:p>
            <a:pPr algn="r">
              <a:lnSpc>
                <a:spcPct val="100000"/>
              </a:lnSpc>
              <a:spcBef>
                <a:spcPts val="95"/>
              </a:spcBef>
            </a:pPr>
            <a:r>
              <a:rPr lang="tr-TR" sz="2600" spc="-10" dirty="0" smtClean="0"/>
              <a:t/>
            </a:r>
            <a:br>
              <a:rPr lang="tr-TR" sz="2600" spc="-10" dirty="0" smtClean="0"/>
            </a:br>
            <a:r>
              <a:rPr lang="tr-TR" sz="2600" spc="-10" dirty="0" smtClean="0"/>
              <a:t>Notlar</a:t>
            </a:r>
            <a:endParaRPr sz="2600"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27</a:t>
            </a:fld>
            <a:endParaRPr lang="tr-TR" sz="2000" b="1" dirty="0">
              <a:solidFill>
                <a:schemeClr val="bg1"/>
              </a:solidFill>
            </a:endParaRPr>
          </a:p>
        </p:txBody>
      </p:sp>
      <p:pic>
        <p:nvPicPr>
          <p:cNvPr id="3" name="Resim 2"/>
          <p:cNvPicPr>
            <a:picLocks noChangeAspect="1"/>
          </p:cNvPicPr>
          <p:nvPr/>
        </p:nvPicPr>
        <p:blipFill>
          <a:blip r:embed="rId2"/>
          <a:stretch>
            <a:fillRect/>
          </a:stretch>
        </p:blipFill>
        <p:spPr>
          <a:xfrm>
            <a:off x="5486400" y="1506416"/>
            <a:ext cx="5409212" cy="5306006"/>
          </a:xfrm>
          <a:prstGeom prst="rect">
            <a:avLst/>
          </a:prstGeom>
        </p:spPr>
      </p:pic>
      <p:sp>
        <p:nvSpPr>
          <p:cNvPr id="7" name="Dikdörtgen 6"/>
          <p:cNvSpPr/>
          <p:nvPr/>
        </p:nvSpPr>
        <p:spPr>
          <a:xfrm>
            <a:off x="1338072" y="1752600"/>
            <a:ext cx="4072128" cy="2031325"/>
          </a:xfrm>
          <a:prstGeom prst="rect">
            <a:avLst/>
          </a:prstGeom>
        </p:spPr>
        <p:txBody>
          <a:bodyPr wrap="square">
            <a:spAutoFit/>
          </a:bodyPr>
          <a:lstStyle/>
          <a:p>
            <a:r>
              <a:rPr lang="tr-TR" dirty="0" smtClean="0"/>
              <a:t>Cevapları yazabilmek için inceleyiniz.</a:t>
            </a:r>
          </a:p>
          <a:p>
            <a:endParaRPr lang="tr-TR" dirty="0" smtClean="0">
              <a:hlinkClick r:id="rId3"/>
            </a:endParaRPr>
          </a:p>
          <a:p>
            <a:r>
              <a:rPr lang="tr-TR" dirty="0" smtClean="0">
                <a:hlinkClick r:id="rId3"/>
              </a:rPr>
              <a:t>https://mermaid.live</a:t>
            </a:r>
            <a:endParaRPr lang="tr-TR" dirty="0" smtClean="0"/>
          </a:p>
          <a:p>
            <a:r>
              <a:rPr lang="tr-TR" dirty="0" smtClean="0"/>
              <a:t>- </a:t>
            </a:r>
          </a:p>
          <a:p>
            <a:r>
              <a:rPr lang="tr-TR" dirty="0" smtClean="0">
                <a:hlinkClick r:id="rId4"/>
              </a:rPr>
              <a:t>https://halilce.github.io/</a:t>
            </a:r>
          </a:p>
          <a:p>
            <a:r>
              <a:rPr lang="tr-TR" dirty="0" err="1" smtClean="0">
                <a:hlinkClick r:id="rId4"/>
              </a:rPr>
              <a:t>unicoursecatalog</a:t>
            </a:r>
            <a:r>
              <a:rPr lang="tr-TR" dirty="0" smtClean="0">
                <a:hlinkClick r:id="rId4"/>
              </a:rPr>
              <a:t>/index.html</a:t>
            </a:r>
            <a:endParaRPr lang="tr-TR" dirty="0" smtClean="0"/>
          </a:p>
          <a:p>
            <a:endParaRPr lang="tr-TR" dirty="0"/>
          </a:p>
        </p:txBody>
      </p:sp>
    </p:spTree>
    <p:extLst>
      <p:ext uri="{BB962C8B-B14F-4D97-AF65-F5344CB8AC3E}">
        <p14:creationId xmlns:p14="http://schemas.microsoft.com/office/powerpoint/2010/main" val="4022045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777</TotalTime>
  <Words>1279</Words>
  <Application>Microsoft Office PowerPoint</Application>
  <PresentationFormat>Geniş ekran</PresentationFormat>
  <Paragraphs>207</Paragraphs>
  <Slides>27</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27</vt:i4>
      </vt:variant>
    </vt:vector>
  </HeadingPairs>
  <TitlesOfParts>
    <vt:vector size="30" baseType="lpstr">
      <vt:lpstr>Arial</vt:lpstr>
      <vt:lpstr>Calibri</vt:lpstr>
      <vt:lpstr>Office Theme</vt:lpstr>
      <vt:lpstr>Uygulamalı  Koşul Yapıları</vt:lpstr>
      <vt:lpstr>Koşullar</vt:lpstr>
      <vt:lpstr>Kilo Endeksi Hesabı</vt:lpstr>
      <vt:lpstr>Kilo Endeksi Hesabı</vt:lpstr>
      <vt:lpstr>Pozitif 3’e Bölünebilen Sayı</vt:lpstr>
      <vt:lpstr>Kimlik Kartı</vt:lpstr>
      <vt:lpstr>PowerPoint Sunusu</vt:lpstr>
      <vt:lpstr>ENDÜSTRİ  # CNC Torna Tezgahı Kesici Takım Ömrü Takibi</vt:lpstr>
      <vt:lpstr>ENDÜSTRİ  # CNC Torna Tezgahı Kesici Takım Ömrü Takibi</vt:lpstr>
      <vt:lpstr>ENDÜSTRİ  # CNC Torna Tezgahı Kesici Takım Ömrü Takibi</vt:lpstr>
      <vt:lpstr>ENDÜSTRİ  # CNC Torna Tezgahı Kesici Takım Ömrü Takibi</vt:lpstr>
      <vt:lpstr> Ödevler</vt:lpstr>
      <vt:lpstr> Ödevler</vt:lpstr>
      <vt:lpstr> Ödevler</vt:lpstr>
      <vt:lpstr> Ödevler</vt:lpstr>
      <vt:lpstr> Ödevler</vt:lpstr>
      <vt:lpstr> Ödevler</vt:lpstr>
      <vt:lpstr> Ödevler</vt:lpstr>
      <vt:lpstr> Ödevler</vt:lpstr>
      <vt:lpstr> Ödevler</vt:lpstr>
      <vt:lpstr> Ödevler</vt:lpstr>
      <vt:lpstr> Ödevler</vt:lpstr>
      <vt:lpstr> Ödevler</vt:lpstr>
      <vt:lpstr> Ödevler</vt:lpstr>
      <vt:lpstr> Ödevler</vt:lpstr>
      <vt:lpstr> Ödevler</vt:lpstr>
      <vt:lpstr> Notlar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Bilgisayar Donanımı</dc:title>
  <dc:creator>Erkan Kaynak</dc:creator>
  <cp:lastModifiedBy>Halil Arslan</cp:lastModifiedBy>
  <cp:revision>58</cp:revision>
  <dcterms:created xsi:type="dcterms:W3CDTF">2025-10-19T18:39:34Z</dcterms:created>
  <dcterms:modified xsi:type="dcterms:W3CDTF">2025-11-09T10:37:17Z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2025-09-22T00:00:00Z</vt:filetime>
  </property>
  <property fmtid="{D5CDD505-2E9C-101B-9397-08002B2CF9AE}" pid="3" name="Creator">
    <vt:lpwstr>Microsoft® PowerPoint® 2016</vt:lpwstr>
  </property>
  <property fmtid="{D5CDD505-2E9C-101B-9397-08002B2CF9AE}" pid="4" name="LastSaved">
    <vt:filetime>2025-10-19T00:00:00Z</vt:filetime>
  </property>
  <property fmtid="{D5CDD505-2E9C-101B-9397-08002B2CF9AE}" pid="5" name="Producer">
    <vt:lpwstr>Microsoft® PowerPoint® 2016</vt:lpwstr>
  </property>
</Properties>
</file>