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90" r:id="rId16"/>
    <p:sldId id="263" r:id="rId17"/>
    <p:sldId id="264" r:id="rId18"/>
    <p:sldId id="284" r:id="rId19"/>
    <p:sldId id="285" r:id="rId20"/>
    <p:sldId id="286" r:id="rId21"/>
    <p:sldId id="287" r:id="rId22"/>
    <p:sldId id="288" r:id="rId23"/>
    <p:sldId id="289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78" y="9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3180" cy="6858000"/>
          </a:xfrm>
          <a:custGeom>
            <a:avLst/>
            <a:gdLst/>
            <a:ahLst/>
            <a:cxnLst/>
            <a:rect l="l" t="t" r="r" b="b"/>
            <a:pathLst>
              <a:path w="43180" h="6858000">
                <a:moveTo>
                  <a:pt x="0" y="6858000"/>
                </a:moveTo>
                <a:lnTo>
                  <a:pt x="42671" y="6858000"/>
                </a:lnTo>
                <a:lnTo>
                  <a:pt x="426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52591" y="778891"/>
            <a:ext cx="5277484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3180" cy="6858000"/>
          </a:xfrm>
          <a:custGeom>
            <a:avLst/>
            <a:gdLst/>
            <a:ahLst/>
            <a:cxnLst/>
            <a:rect l="l" t="t" r="r" b="b"/>
            <a:pathLst>
              <a:path w="43180" h="6858000">
                <a:moveTo>
                  <a:pt x="0" y="6858000"/>
                </a:moveTo>
                <a:lnTo>
                  <a:pt x="42671" y="6858000"/>
                </a:lnTo>
                <a:lnTo>
                  <a:pt x="426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6350" cy="6858000"/>
          </a:xfrm>
          <a:custGeom>
            <a:avLst/>
            <a:gdLst/>
            <a:ahLst/>
            <a:cxnLst/>
            <a:rect l="l" t="t" r="r" b="b"/>
            <a:pathLst>
              <a:path w="6350" h="6858000">
                <a:moveTo>
                  <a:pt x="0" y="6858000"/>
                </a:moveTo>
                <a:lnTo>
                  <a:pt x="6096" y="6858000"/>
                </a:lnTo>
                <a:lnTo>
                  <a:pt x="609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7740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2C241F">
              <a:alpha val="9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3936" y="778891"/>
            <a:ext cx="8487537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8180" y="1559813"/>
            <a:ext cx="9581515" cy="4777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8007350" cy="6858000"/>
            <a:chOff x="961644" y="0"/>
            <a:chExt cx="8007350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7364" y="0"/>
              <a:ext cx="7934325" cy="6858000"/>
            </a:xfrm>
            <a:custGeom>
              <a:avLst/>
              <a:gdLst/>
              <a:ahLst/>
              <a:cxnLst/>
              <a:rect l="l" t="t" r="r" b="b"/>
              <a:pathLst>
                <a:path w="7934325" h="6858000">
                  <a:moveTo>
                    <a:pt x="79339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933944" y="6858000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41308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74496" y="2088896"/>
            <a:ext cx="294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487932" y="2193163"/>
            <a:ext cx="6972046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tr-TR" sz="6000" b="0" spc="-3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Döngüler</a:t>
            </a:r>
            <a:endParaRPr sz="600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3825" y="4997727"/>
            <a:ext cx="4526915" cy="52257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95"/>
              </a:spcBef>
            </a:pPr>
            <a:r>
              <a:rPr lang="tr-TR" sz="2400" spc="-1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Döngüler (</a:t>
            </a:r>
            <a:r>
              <a:rPr lang="tr-TR" dirty="0" err="1" smtClean="0">
                <a:latin typeface="+mn-lt"/>
              </a:rPr>
              <a:t>loop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9290" y="1801234"/>
            <a:ext cx="7821116" cy="46679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Döngüler (</a:t>
            </a:r>
            <a:r>
              <a:rPr lang="tr-TR" dirty="0" err="1" smtClean="0">
                <a:latin typeface="+mn-lt"/>
              </a:rPr>
              <a:t>loop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7627" y="1915465"/>
            <a:ext cx="7135221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94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Döngüler (</a:t>
            </a:r>
            <a:r>
              <a:rPr lang="tr-TR" dirty="0" err="1" smtClean="0">
                <a:latin typeface="+mn-lt"/>
              </a:rPr>
              <a:t>loop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2838" y="1909923"/>
            <a:ext cx="7344800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174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Döngüler (</a:t>
            </a:r>
            <a:r>
              <a:rPr lang="tr-TR" dirty="0" err="1" smtClean="0">
                <a:latin typeface="+mn-lt"/>
              </a:rPr>
              <a:t>loop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6457" y="1974987"/>
            <a:ext cx="7678222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98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Alıştırmalar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 rotWithShape="1">
          <a:blip r:embed="rId5"/>
          <a:srcRect t="23509" r="7720"/>
          <a:stretch/>
        </p:blipFill>
        <p:spPr>
          <a:xfrm>
            <a:off x="1264712" y="2302324"/>
            <a:ext cx="3414350" cy="2514601"/>
          </a:xfrm>
          <a:prstGeom prst="rect">
            <a:avLst/>
          </a:prstGeom>
        </p:spPr>
      </p:pic>
      <p:pic>
        <p:nvPicPr>
          <p:cNvPr id="17" name="Resim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4244" y="2204299"/>
            <a:ext cx="6454466" cy="342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649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Döngüler (</a:t>
            </a:r>
            <a:r>
              <a:rPr lang="tr-TR" dirty="0" err="1" smtClean="0">
                <a:latin typeface="+mn-lt"/>
              </a:rPr>
              <a:t>loop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5233" y="1763827"/>
            <a:ext cx="7240010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66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Döngüler (</a:t>
            </a:r>
            <a:r>
              <a:rPr lang="tr-TR" dirty="0" err="1" smtClean="0">
                <a:latin typeface="+mn-lt"/>
              </a:rPr>
              <a:t>loop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707" y="1714260"/>
            <a:ext cx="5096586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66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Döngüler (</a:t>
            </a:r>
            <a:r>
              <a:rPr lang="tr-TR" dirty="0" err="1" smtClean="0">
                <a:latin typeface="+mn-lt"/>
              </a:rPr>
              <a:t>loop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9774" y="1763827"/>
            <a:ext cx="4172532" cy="4239217"/>
          </a:xfrm>
          <a:prstGeom prst="rect">
            <a:avLst/>
          </a:prstGeom>
        </p:spPr>
      </p:pic>
      <p:pic>
        <p:nvPicPr>
          <p:cNvPr id="17" name="Resim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7236" y="1537412"/>
            <a:ext cx="3048425" cy="4544059"/>
          </a:xfrm>
          <a:prstGeom prst="rect">
            <a:avLst/>
          </a:prstGeom>
        </p:spPr>
      </p:pic>
      <p:pic>
        <p:nvPicPr>
          <p:cNvPr id="18" name="Resim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1833" y="3317046"/>
            <a:ext cx="4509529" cy="339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980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Döngüler (</a:t>
            </a:r>
            <a:r>
              <a:rPr lang="tr-TR" dirty="0" err="1" smtClean="0">
                <a:latin typeface="+mn-lt"/>
              </a:rPr>
              <a:t>loop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0469" y="1555829"/>
            <a:ext cx="7249537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95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Döngüler (</a:t>
            </a:r>
            <a:r>
              <a:rPr lang="tr-TR" dirty="0" err="1" smtClean="0">
                <a:latin typeface="+mn-lt"/>
              </a:rPr>
              <a:t>loop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7680" y="1784198"/>
            <a:ext cx="6735115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530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Döngüler (</a:t>
            </a:r>
            <a:r>
              <a:rPr lang="tr-TR" dirty="0" err="1" smtClean="0">
                <a:latin typeface="+mn-lt"/>
              </a:rPr>
              <a:t>loop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5650" y="1560592"/>
            <a:ext cx="7297168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536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Döngüler (</a:t>
            </a:r>
            <a:r>
              <a:rPr lang="tr-TR" dirty="0" err="1" smtClean="0">
                <a:latin typeface="+mn-lt"/>
              </a:rPr>
              <a:t>loop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948" y="1665382"/>
            <a:ext cx="7525800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099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Döngüler (</a:t>
            </a:r>
            <a:r>
              <a:rPr lang="tr-TR" dirty="0" err="1" smtClean="0">
                <a:latin typeface="+mn-lt"/>
              </a:rPr>
              <a:t>loop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1864" y="1683007"/>
            <a:ext cx="7506748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8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Notlar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sp>
        <p:nvSpPr>
          <p:cNvPr id="16" name="Dikdörtgen 15"/>
          <p:cNvSpPr/>
          <p:nvPr/>
        </p:nvSpPr>
        <p:spPr>
          <a:xfrm>
            <a:off x="1452404" y="2286000"/>
            <a:ext cx="958462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3200" b="1" dirty="0" err="1" smtClean="0">
                <a:latin typeface="+mn-lt"/>
              </a:rPr>
              <a:t>while</a:t>
            </a:r>
            <a:r>
              <a:rPr lang="tr-TR" sz="3200" b="1" dirty="0" smtClean="0">
                <a:latin typeface="+mn-lt"/>
              </a:rPr>
              <a:t> döngüsü:</a:t>
            </a:r>
            <a:r>
              <a:rPr lang="tr-TR" sz="3200" dirty="0" smtClean="0">
                <a:latin typeface="+mn-lt"/>
              </a:rPr>
              <a:t> Koşul sağlandığı sürece çalışır</a:t>
            </a:r>
          </a:p>
          <a:p>
            <a:r>
              <a:rPr lang="tr-TR" sz="3200" dirty="0" smtClean="0">
                <a:latin typeface="+mn-lt"/>
              </a:rPr>
              <a:t/>
            </a:r>
            <a:br>
              <a:rPr lang="tr-TR" sz="3200" dirty="0" smtClean="0">
                <a:latin typeface="+mn-lt"/>
              </a:rPr>
            </a:br>
            <a:r>
              <a:rPr lang="tr-TR" sz="3200" b="1" dirty="0" err="1" smtClean="0">
                <a:latin typeface="+mn-lt"/>
              </a:rPr>
              <a:t>for</a:t>
            </a:r>
            <a:r>
              <a:rPr lang="tr-TR" sz="3200" b="1" dirty="0" smtClean="0">
                <a:latin typeface="+mn-lt"/>
              </a:rPr>
              <a:t> döngüsü:</a:t>
            </a:r>
            <a:r>
              <a:rPr lang="tr-TR" sz="3200" dirty="0" smtClean="0">
                <a:latin typeface="+mn-lt"/>
              </a:rPr>
              <a:t> Belirli bir dizi üzerinde </a:t>
            </a:r>
            <a:r>
              <a:rPr lang="tr-TR" sz="3200" dirty="0" err="1" smtClean="0">
                <a:latin typeface="+mn-lt"/>
              </a:rPr>
              <a:t>iterasyon</a:t>
            </a:r>
            <a:r>
              <a:rPr lang="tr-TR" sz="3200" dirty="0" smtClean="0">
                <a:latin typeface="+mn-lt"/>
              </a:rPr>
              <a:t> yapar</a:t>
            </a:r>
          </a:p>
          <a:p>
            <a:r>
              <a:rPr lang="tr-TR" sz="3200" dirty="0" smtClean="0">
                <a:latin typeface="+mn-lt"/>
              </a:rPr>
              <a:t/>
            </a:r>
            <a:br>
              <a:rPr lang="tr-TR" sz="3200" dirty="0" smtClean="0">
                <a:latin typeface="+mn-lt"/>
              </a:rPr>
            </a:br>
            <a:r>
              <a:rPr lang="tr-TR" sz="3200" b="1" dirty="0" smtClean="0">
                <a:latin typeface="+mn-lt"/>
              </a:rPr>
              <a:t>break:</a:t>
            </a:r>
            <a:r>
              <a:rPr lang="tr-TR" sz="3200" dirty="0" smtClean="0">
                <a:latin typeface="+mn-lt"/>
              </a:rPr>
              <a:t> Döngüden tamamen çıkar</a:t>
            </a:r>
          </a:p>
          <a:p>
            <a:r>
              <a:rPr lang="tr-TR" sz="3200" dirty="0" smtClean="0">
                <a:latin typeface="+mn-lt"/>
              </a:rPr>
              <a:t/>
            </a:r>
            <a:br>
              <a:rPr lang="tr-TR" sz="3200" dirty="0" smtClean="0">
                <a:latin typeface="+mn-lt"/>
              </a:rPr>
            </a:br>
            <a:r>
              <a:rPr lang="tr-TR" sz="3200" b="1" dirty="0" err="1" smtClean="0">
                <a:latin typeface="+mn-lt"/>
              </a:rPr>
              <a:t>continue</a:t>
            </a:r>
            <a:r>
              <a:rPr lang="tr-TR" sz="3200" b="1" dirty="0" smtClean="0">
                <a:latin typeface="+mn-lt"/>
              </a:rPr>
              <a:t>:</a:t>
            </a:r>
            <a:r>
              <a:rPr lang="tr-TR" sz="3200" dirty="0" smtClean="0">
                <a:latin typeface="+mn-lt"/>
              </a:rPr>
              <a:t> Döngünün geri kalanını atlar, başa döner</a:t>
            </a:r>
            <a:endParaRPr lang="tr-TR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64415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81936" y="3089224"/>
            <a:ext cx="923353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tr-TR" sz="490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Alıştırmalar</a:t>
            </a:r>
            <a:endParaRPr sz="49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31</a:t>
            </a:r>
            <a:endParaRPr sz="180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465390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Şifre Doğrulama Sistemi (</a:t>
            </a:r>
            <a:r>
              <a:rPr lang="tr-TR" dirty="0" err="1">
                <a:latin typeface="+mn-lt"/>
              </a:rPr>
              <a:t>while</a:t>
            </a:r>
            <a:r>
              <a:rPr lang="tr-TR" dirty="0">
                <a:latin typeface="+mn-lt"/>
              </a:rPr>
              <a:t> + break)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7" name="Resi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4467" y="1680980"/>
            <a:ext cx="6418575" cy="498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48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Şifre Doğrulama Sistemi (</a:t>
            </a:r>
            <a:r>
              <a:rPr lang="tr-TR" dirty="0" err="1">
                <a:latin typeface="+mn-lt"/>
              </a:rPr>
              <a:t>while</a:t>
            </a:r>
            <a:r>
              <a:rPr lang="tr-TR" dirty="0">
                <a:latin typeface="+mn-lt"/>
              </a:rPr>
              <a:t> + break)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784" y="1766655"/>
            <a:ext cx="7392432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25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en-US" dirty="0" err="1">
                <a:latin typeface="+mn-lt"/>
              </a:rPr>
              <a:t>Asal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Sayı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Bulucu</a:t>
            </a:r>
            <a:r>
              <a:rPr lang="en-US" dirty="0">
                <a:latin typeface="+mn-lt"/>
              </a:rPr>
              <a:t> (for + continue + break)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916" y="1639341"/>
            <a:ext cx="6769430" cy="5042357"/>
          </a:xfrm>
          <a:prstGeom prst="rect">
            <a:avLst/>
          </a:prstGeom>
        </p:spPr>
      </p:pic>
      <p:pic>
        <p:nvPicPr>
          <p:cNvPr id="17" name="Resim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0072" y="2363966"/>
            <a:ext cx="5017614" cy="366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735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en-US" dirty="0" err="1">
                <a:latin typeface="+mn-lt"/>
              </a:rPr>
              <a:t>Asal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Sayı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Bulucu</a:t>
            </a:r>
            <a:r>
              <a:rPr lang="en-US" dirty="0">
                <a:latin typeface="+mn-lt"/>
              </a:rPr>
              <a:t> (for + continue + break)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0446" y="2093185"/>
            <a:ext cx="3829584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72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239774" y="778891"/>
            <a:ext cx="979169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en-US" dirty="0" err="1">
                <a:latin typeface="+mn-lt"/>
              </a:rPr>
              <a:t>Öğrenci</a:t>
            </a:r>
            <a:r>
              <a:rPr lang="en-US" dirty="0">
                <a:latin typeface="+mn-lt"/>
              </a:rPr>
              <a:t> Not </a:t>
            </a:r>
            <a:r>
              <a:rPr lang="en-US" dirty="0" err="1">
                <a:latin typeface="+mn-lt"/>
              </a:rPr>
              <a:t>Ortalaması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Hesaplama</a:t>
            </a: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(</a:t>
            </a:r>
            <a:r>
              <a:rPr lang="tr-TR" dirty="0" smtClean="0">
                <a:latin typeface="+mn-lt"/>
              </a:rPr>
              <a:t>w </a:t>
            </a:r>
            <a:r>
              <a:rPr lang="en-US" dirty="0" smtClean="0">
                <a:latin typeface="+mn-lt"/>
              </a:rPr>
              <a:t>+</a:t>
            </a:r>
            <a:r>
              <a:rPr lang="tr-TR" dirty="0" smtClean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b</a:t>
            </a:r>
            <a:r>
              <a:rPr lang="tr-TR" dirty="0" smtClean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+</a:t>
            </a:r>
            <a:r>
              <a:rPr lang="tr-TR" dirty="0" smtClean="0">
                <a:latin typeface="+mn-lt"/>
              </a:rPr>
              <a:t> c</a:t>
            </a:r>
            <a:r>
              <a:rPr lang="en-US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1582207"/>
            <a:ext cx="6344163" cy="5053965"/>
          </a:xfrm>
          <a:prstGeom prst="rect">
            <a:avLst/>
          </a:prstGeom>
        </p:spPr>
      </p:pic>
      <p:pic>
        <p:nvPicPr>
          <p:cNvPr id="17" name="Resim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7017" y="1722606"/>
            <a:ext cx="4226783" cy="489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31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239774" y="778891"/>
            <a:ext cx="979169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en-US" dirty="0" err="1">
                <a:latin typeface="+mn-lt"/>
              </a:rPr>
              <a:t>Öğrenci</a:t>
            </a:r>
            <a:r>
              <a:rPr lang="en-US" dirty="0">
                <a:latin typeface="+mn-lt"/>
              </a:rPr>
              <a:t> Not </a:t>
            </a:r>
            <a:r>
              <a:rPr lang="en-US" dirty="0" err="1">
                <a:latin typeface="+mn-lt"/>
              </a:rPr>
              <a:t>Ortalaması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Hesaplama</a:t>
            </a: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(</a:t>
            </a:r>
            <a:r>
              <a:rPr lang="tr-TR" dirty="0" smtClean="0">
                <a:latin typeface="+mn-lt"/>
              </a:rPr>
              <a:t>w </a:t>
            </a:r>
            <a:r>
              <a:rPr lang="en-US" dirty="0" smtClean="0">
                <a:latin typeface="+mn-lt"/>
              </a:rPr>
              <a:t>+</a:t>
            </a:r>
            <a:r>
              <a:rPr lang="tr-TR" dirty="0" smtClean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b</a:t>
            </a:r>
            <a:r>
              <a:rPr lang="tr-TR" dirty="0" smtClean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+</a:t>
            </a:r>
            <a:r>
              <a:rPr lang="tr-TR" dirty="0" smtClean="0">
                <a:latin typeface="+mn-lt"/>
              </a:rPr>
              <a:t> c</a:t>
            </a:r>
            <a:r>
              <a:rPr lang="en-US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748940"/>
            <a:ext cx="4921548" cy="5032860"/>
          </a:xfrm>
          <a:prstGeom prst="rect">
            <a:avLst/>
          </a:prstGeom>
        </p:spPr>
      </p:pic>
      <p:pic>
        <p:nvPicPr>
          <p:cNvPr id="17" name="Resim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3784" y="1699144"/>
            <a:ext cx="3547578" cy="4963564"/>
          </a:xfrm>
          <a:prstGeom prst="rect">
            <a:avLst/>
          </a:prstGeom>
        </p:spPr>
      </p:pic>
      <p:pic>
        <p:nvPicPr>
          <p:cNvPr id="18" name="Resim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8600" y="2819208"/>
            <a:ext cx="3307865" cy="205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71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239774" y="778891"/>
            <a:ext cx="979169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en-US" dirty="0" err="1">
                <a:latin typeface="+mn-lt"/>
              </a:rPr>
              <a:t>Öğrenci</a:t>
            </a:r>
            <a:r>
              <a:rPr lang="en-US" dirty="0">
                <a:latin typeface="+mn-lt"/>
              </a:rPr>
              <a:t> Not </a:t>
            </a:r>
            <a:r>
              <a:rPr lang="en-US" dirty="0" err="1">
                <a:latin typeface="+mn-lt"/>
              </a:rPr>
              <a:t>Ortalaması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Hesaplama</a:t>
            </a: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(</a:t>
            </a:r>
            <a:r>
              <a:rPr lang="tr-TR" dirty="0" smtClean="0">
                <a:latin typeface="+mn-lt"/>
              </a:rPr>
              <a:t>w </a:t>
            </a:r>
            <a:r>
              <a:rPr lang="en-US" dirty="0" smtClean="0">
                <a:latin typeface="+mn-lt"/>
              </a:rPr>
              <a:t>+</a:t>
            </a:r>
            <a:r>
              <a:rPr lang="tr-TR" dirty="0" smtClean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b</a:t>
            </a:r>
            <a:r>
              <a:rPr lang="tr-TR" dirty="0" smtClean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+</a:t>
            </a:r>
            <a:r>
              <a:rPr lang="tr-TR" dirty="0" smtClean="0">
                <a:latin typeface="+mn-lt"/>
              </a:rPr>
              <a:t> c</a:t>
            </a:r>
            <a:r>
              <a:rPr lang="en-US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167254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175</Words>
  <Application>Microsoft Office PowerPoint</Application>
  <PresentationFormat>Geniş ekran</PresentationFormat>
  <Paragraphs>74</Paragraphs>
  <Slides>23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28" baseType="lpstr">
      <vt:lpstr>Arial</vt:lpstr>
      <vt:lpstr>Calibri</vt:lpstr>
      <vt:lpstr>Lucida Sans Unicode</vt:lpstr>
      <vt:lpstr>Microsoft Sans Serif</vt:lpstr>
      <vt:lpstr>Office Theme</vt:lpstr>
      <vt:lpstr>Döngüler</vt:lpstr>
      <vt:lpstr>Döngüler (loop)</vt:lpstr>
      <vt:lpstr>Döngüler (loop)</vt:lpstr>
      <vt:lpstr>Döngüler (loop)</vt:lpstr>
      <vt:lpstr>Döngüler (loop)</vt:lpstr>
      <vt:lpstr>Alıştırmalar</vt:lpstr>
      <vt:lpstr>Döngüler (loop)</vt:lpstr>
      <vt:lpstr>Döngüler (loop)</vt:lpstr>
      <vt:lpstr>Döngüler (loop)</vt:lpstr>
      <vt:lpstr>Döngüler (loop)</vt:lpstr>
      <vt:lpstr>Döngüler (loop)</vt:lpstr>
      <vt:lpstr>Döngüler (loop)</vt:lpstr>
      <vt:lpstr>Döngüler (loop)</vt:lpstr>
      <vt:lpstr>Döngüler (loop)</vt:lpstr>
      <vt:lpstr>Notlar</vt:lpstr>
      <vt:lpstr>PowerPoint Sunusu</vt:lpstr>
      <vt:lpstr>Şifre Doğrulama Sistemi (while + break)</vt:lpstr>
      <vt:lpstr>Şifre Doğrulama Sistemi (while + break)</vt:lpstr>
      <vt:lpstr>Asal Sayı Bulucu (for + continue + break)</vt:lpstr>
      <vt:lpstr>Asal Sayı Bulucu (for + continue + break)</vt:lpstr>
      <vt:lpstr>Öğrenci Not Ortalaması Hesaplama (w + b + c)</vt:lpstr>
      <vt:lpstr>Öğrenci Not Ortalaması Hesaplama (w + b + c)</vt:lpstr>
      <vt:lpstr>Öğrenci Not Ortalaması Hesaplama (w + b + c)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Esin Ünal</dc:creator>
  <cp:lastModifiedBy>Halil Arslan</cp:lastModifiedBy>
  <cp:revision>83</cp:revision>
  <dcterms:created xsi:type="dcterms:W3CDTF">2025-10-19T19:10:34Z</dcterms:created>
  <dcterms:modified xsi:type="dcterms:W3CDTF">2026-01-03T22:05:27Z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2016</vt:lpwstr>
  </property>
</Properties>
</file>