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41054" y="778891"/>
            <a:ext cx="209003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3058" y="778891"/>
            <a:ext cx="714336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16888"/>
            <a:ext cx="9582150" cy="425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07363" y="0"/>
            <a:ext cx="7961630" cy="6858000"/>
            <a:chOff x="1007363" y="0"/>
            <a:chExt cx="7961630" cy="6858000"/>
          </a:xfrm>
        </p:grpSpPr>
        <p:sp>
          <p:nvSpPr>
            <p:cNvPr id="9" name="object 9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13153" y="2121865"/>
            <a:ext cx="68478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solidFill>
                  <a:srgbClr val="FFFFFF"/>
                </a:solidFill>
                <a:latin typeface="Arial"/>
                <a:cs typeface="Arial"/>
              </a:rPr>
              <a:t>Bilgisayar</a:t>
            </a:r>
            <a:r>
              <a:rPr sz="6000" b="0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0" b="0" spc="-10" dirty="0">
                <a:solidFill>
                  <a:srgbClr val="FFFFFF"/>
                </a:solidFill>
                <a:latin typeface="Arial"/>
                <a:cs typeface="Arial"/>
              </a:rPr>
              <a:t>Donanımı</a:t>
            </a:r>
            <a:endParaRPr sz="6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Arial"/>
                <a:cs typeface="Arial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Arial"/>
                <a:cs typeface="Arial"/>
              </a:rPr>
              <a:t>. Gör. Halil ARSLAN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549140"/>
            <a:chOff x="1338072" y="1411224"/>
            <a:chExt cx="9813290" cy="454914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5" y="2042116"/>
              <a:ext cx="3704628" cy="391824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90315">
              <a:lnSpc>
                <a:spcPct val="100000"/>
              </a:lnSpc>
              <a:spcBef>
                <a:spcPts val="95"/>
              </a:spcBef>
            </a:pPr>
            <a:r>
              <a:rPr dirty="0"/>
              <a:t>Donanım</a:t>
            </a:r>
            <a:r>
              <a:rPr spc="-165" dirty="0"/>
              <a:t> </a:t>
            </a:r>
            <a:r>
              <a:rPr spc="-10" dirty="0"/>
              <a:t>Nedir?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2973" y="1818864"/>
            <a:ext cx="5780405" cy="3963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algn="just">
              <a:lnSpc>
                <a:spcPct val="120000"/>
              </a:lnSpc>
              <a:spcBef>
                <a:spcPts val="95"/>
              </a:spcBef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Donanım</a:t>
            </a:r>
            <a:r>
              <a:rPr sz="2000" b="1" i="1" spc="37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(hardware)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,</a:t>
            </a:r>
            <a:r>
              <a:rPr sz="2000" spc="3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000" spc="3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000" spc="3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fiziksel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bileşenlerini</a:t>
            </a:r>
            <a:r>
              <a:rPr sz="20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ifade</a:t>
            </a:r>
            <a:r>
              <a:rPr sz="20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eder.</a:t>
            </a:r>
            <a:r>
              <a:rPr sz="20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0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bileşenler,</a:t>
            </a:r>
            <a:r>
              <a:rPr sz="2000" spc="2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bilgisayarın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çalışabilmesi</a:t>
            </a:r>
            <a:r>
              <a:rPr sz="2000" spc="20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2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yazılımları</a:t>
            </a:r>
            <a:r>
              <a:rPr sz="2000" spc="20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çalıştırabilmesi</a:t>
            </a:r>
            <a:r>
              <a:rPr sz="2000" spc="2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için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gereklidir.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585"/>
              </a:spcBef>
            </a:pP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Donanım,</a:t>
            </a:r>
            <a:r>
              <a:rPr sz="2000" spc="3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0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cihazın</a:t>
            </a:r>
            <a:r>
              <a:rPr sz="20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dışarıdan</a:t>
            </a:r>
            <a:r>
              <a:rPr sz="20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görülen,</a:t>
            </a:r>
            <a:r>
              <a:rPr sz="2000" spc="3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elle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tutulabilen</a:t>
            </a:r>
            <a:r>
              <a:rPr sz="20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parçalarını</a:t>
            </a:r>
            <a:r>
              <a:rPr sz="20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içerir.</a:t>
            </a:r>
            <a:endParaRPr sz="2000">
              <a:latin typeface="Arial"/>
              <a:cs typeface="Arial"/>
            </a:endParaRPr>
          </a:p>
          <a:p>
            <a:pPr marL="12700" marR="5080" algn="just">
              <a:lnSpc>
                <a:spcPct val="120000"/>
              </a:lnSpc>
              <a:spcBef>
                <a:spcPts val="1095"/>
              </a:spcBef>
            </a:pP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r>
              <a:rPr sz="2000" spc="4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4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yazılımın</a:t>
            </a:r>
            <a:r>
              <a:rPr sz="2000" spc="4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etkileşimi,</a:t>
            </a:r>
            <a:r>
              <a:rPr sz="2000" spc="4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bilgisayarın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işlevselliğini</a:t>
            </a:r>
            <a:r>
              <a:rPr sz="2000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performansını</a:t>
            </a:r>
            <a:r>
              <a:rPr sz="20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belirler.</a:t>
            </a:r>
            <a:r>
              <a:rPr sz="2000" spc="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000" spc="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nedenle,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r>
              <a:rPr sz="2000" spc="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bilgisi,</a:t>
            </a:r>
            <a:r>
              <a:rPr sz="2000" spc="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temel</a:t>
            </a:r>
            <a:r>
              <a:rPr sz="2000" spc="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bilgi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teknolojileri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dersinin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önemli</a:t>
            </a:r>
            <a:r>
              <a:rPr sz="20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 parçasıdır.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55670">
              <a:lnSpc>
                <a:spcPct val="100000"/>
              </a:lnSpc>
              <a:spcBef>
                <a:spcPts val="95"/>
              </a:spcBef>
            </a:pPr>
            <a:r>
              <a:rPr dirty="0"/>
              <a:t>Donanım</a:t>
            </a:r>
            <a:r>
              <a:rPr spc="-165" dirty="0"/>
              <a:t> </a:t>
            </a:r>
            <a:r>
              <a:rPr spc="-10" dirty="0"/>
              <a:t>Çeşitleri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405382"/>
            <a:ext cx="4284345" cy="497840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310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spc="-30" dirty="0">
                <a:solidFill>
                  <a:srgbClr val="2C241F"/>
                </a:solidFill>
                <a:latin typeface="Arial"/>
                <a:cs typeface="Arial"/>
              </a:rPr>
              <a:t>Temel</a:t>
            </a:r>
            <a:r>
              <a:rPr sz="19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Arial"/>
                <a:cs typeface="Arial"/>
              </a:rPr>
              <a:t>Bileşenler</a:t>
            </a:r>
            <a:r>
              <a:rPr sz="19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Arial"/>
                <a:cs typeface="Arial"/>
              </a:rPr>
              <a:t>(Sistem</a:t>
            </a:r>
            <a:r>
              <a:rPr sz="19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Arial"/>
                <a:cs typeface="Arial"/>
              </a:rPr>
              <a:t>Bileşenleri)</a:t>
            </a:r>
            <a:endParaRPr sz="19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02005" algn="l"/>
              </a:tabLst>
            </a:pPr>
            <a:r>
              <a:rPr sz="1700" spc="-25" dirty="0">
                <a:solidFill>
                  <a:srgbClr val="2C241F"/>
                </a:solidFill>
                <a:latin typeface="Arial"/>
                <a:cs typeface="Arial"/>
              </a:rPr>
              <a:t>CPU</a:t>
            </a:r>
            <a:endParaRPr sz="17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02005" algn="l"/>
              </a:tabLst>
            </a:pPr>
            <a:r>
              <a:rPr sz="1700" spc="-10" dirty="0">
                <a:solidFill>
                  <a:srgbClr val="2C241F"/>
                </a:solidFill>
                <a:latin typeface="Arial"/>
                <a:cs typeface="Arial"/>
              </a:rPr>
              <a:t>Anakart</a:t>
            </a:r>
            <a:endParaRPr sz="17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02005" algn="l"/>
              </a:tabLst>
            </a:pPr>
            <a:r>
              <a:rPr sz="1700" dirty="0">
                <a:solidFill>
                  <a:srgbClr val="2C241F"/>
                </a:solidFill>
                <a:latin typeface="Arial"/>
                <a:cs typeface="Arial"/>
              </a:rPr>
              <a:t>RAM</a:t>
            </a:r>
            <a:r>
              <a:rPr sz="17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C241F"/>
                </a:solidFill>
                <a:latin typeface="Arial"/>
                <a:cs typeface="Arial"/>
              </a:rPr>
              <a:t>Bellek,</a:t>
            </a:r>
            <a:r>
              <a:rPr sz="17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C241F"/>
                </a:solidFill>
                <a:latin typeface="Arial"/>
                <a:cs typeface="Arial"/>
              </a:rPr>
              <a:t>ROM</a:t>
            </a:r>
            <a:r>
              <a:rPr sz="17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Arial"/>
                <a:cs typeface="Arial"/>
              </a:rPr>
              <a:t>Bellek</a:t>
            </a:r>
            <a:endParaRPr sz="17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090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02005" algn="l"/>
              </a:tabLst>
            </a:pPr>
            <a:r>
              <a:rPr sz="17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17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endParaRPr sz="17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10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02005" algn="l"/>
              </a:tabLst>
            </a:pPr>
            <a:r>
              <a:rPr sz="1700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17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endParaRPr sz="17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02005" algn="l"/>
              </a:tabLst>
            </a:pPr>
            <a:r>
              <a:rPr sz="1700" spc="-20" dirty="0">
                <a:solidFill>
                  <a:srgbClr val="2C241F"/>
                </a:solidFill>
                <a:latin typeface="Arial"/>
                <a:cs typeface="Arial"/>
              </a:rPr>
              <a:t>Kasa</a:t>
            </a:r>
            <a:endParaRPr sz="17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095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02005" algn="l"/>
              </a:tabLst>
            </a:pPr>
            <a:r>
              <a:rPr sz="17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17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Arial"/>
                <a:cs typeface="Arial"/>
              </a:rPr>
              <a:t>Kaynağı</a:t>
            </a:r>
            <a:endParaRPr sz="17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2C241F"/>
                </a:solidFill>
                <a:latin typeface="Arial"/>
                <a:cs typeface="Arial"/>
              </a:rPr>
              <a:t>Giriş</a:t>
            </a:r>
            <a:r>
              <a:rPr sz="19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Arial"/>
                <a:cs typeface="Arial"/>
              </a:rPr>
              <a:t>Birimleri</a:t>
            </a:r>
            <a:endParaRPr sz="19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2C241F"/>
                </a:solidFill>
                <a:latin typeface="Arial"/>
                <a:cs typeface="Arial"/>
              </a:rPr>
              <a:t>Çıkış</a:t>
            </a:r>
            <a:r>
              <a:rPr sz="19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Arial"/>
                <a:cs typeface="Arial"/>
              </a:rPr>
              <a:t>Birimleri</a:t>
            </a:r>
            <a:endParaRPr sz="19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19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Arial"/>
                <a:cs typeface="Arial"/>
              </a:rPr>
              <a:t>Birimleri</a:t>
            </a:r>
            <a:endParaRPr sz="19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09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2C241F"/>
                </a:solidFill>
                <a:latin typeface="Arial"/>
                <a:cs typeface="Arial"/>
              </a:rPr>
              <a:t>Ağ</a:t>
            </a:r>
            <a:r>
              <a:rPr sz="19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Arial"/>
                <a:cs typeface="Arial"/>
              </a:rPr>
              <a:t>donanımı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4391" y="2865120"/>
            <a:ext cx="4693920" cy="26395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98645" y="3163900"/>
            <a:ext cx="652272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dirty="0">
                <a:solidFill>
                  <a:srgbClr val="FFFFFF"/>
                </a:solidFill>
                <a:latin typeface="Arial"/>
                <a:cs typeface="Arial"/>
              </a:rPr>
              <a:t>SİSTEM</a:t>
            </a:r>
            <a:r>
              <a:rPr sz="49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00" spc="-10" dirty="0">
                <a:solidFill>
                  <a:srgbClr val="FFFFFF"/>
                </a:solidFill>
                <a:latin typeface="Arial"/>
                <a:cs typeface="Arial"/>
              </a:rPr>
              <a:t>BİLEŞENLERİ</a:t>
            </a:r>
            <a:endParaRPr sz="4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0431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65" dirty="0"/>
              <a:t> </a:t>
            </a:r>
            <a:r>
              <a:rPr dirty="0"/>
              <a:t>İşlemci</a:t>
            </a:r>
            <a:r>
              <a:rPr spc="-65" dirty="0"/>
              <a:t> </a:t>
            </a:r>
            <a:r>
              <a:rPr spc="-25" dirty="0"/>
              <a:t>-CPU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14009" y="1585721"/>
            <a:ext cx="1282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Processing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9119" y="1585721"/>
            <a:ext cx="633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Unit),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1525747"/>
            <a:ext cx="1651000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57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İşlemciler</a:t>
            </a:r>
            <a:endParaRPr sz="20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7342" y="1525747"/>
            <a:ext cx="1084580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891540" algn="l"/>
              </a:tabLst>
            </a:pP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(CPU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2C241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  <a:p>
            <a:pPr marL="28194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"beyni"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8065" y="1525747"/>
            <a:ext cx="868044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28575" algn="r"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Central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3258" y="1890561"/>
            <a:ext cx="2068195" cy="7581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580"/>
              </a:spcBef>
              <a:tabLst>
                <a:tab pos="922019" algn="l"/>
                <a:tab pos="1773555" algn="l"/>
              </a:tabLst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kabul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edilir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4"/>
              </a:spcBef>
              <a:tabLst>
                <a:tab pos="821055" algn="l"/>
              </a:tabLst>
            </a:pP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tüm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işlemlerin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8180" y="2257145"/>
            <a:ext cx="3815079" cy="126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>
              <a:lnSpc>
                <a:spcPct val="120000"/>
              </a:lnSpc>
              <a:spcBef>
                <a:spcPts val="100"/>
              </a:spcBef>
              <a:tabLst>
                <a:tab pos="2108200" algn="l"/>
              </a:tabLst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bilgisayarda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gerçekleştirilen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yürütülmesinden</a:t>
            </a:r>
            <a:r>
              <a:rPr sz="20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sorumludur.</a:t>
            </a:r>
            <a:endParaRPr sz="20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58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539240" algn="l"/>
                <a:tab pos="2687320" algn="l"/>
                <a:tab pos="3423285" algn="l"/>
              </a:tabLst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İşlemci,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girdileri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alır,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0397" y="3188919"/>
            <a:ext cx="789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girdiler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0311" y="3188919"/>
            <a:ext cx="100139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üzerinde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86508" y="3555238"/>
            <a:ext cx="411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hesaplamalar</a:t>
            </a:r>
            <a:r>
              <a:rPr sz="20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yapar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çıktılar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 üretir.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79420" y="1472183"/>
            <a:ext cx="8503920" cy="3848100"/>
            <a:chOff x="2979420" y="1472183"/>
            <a:chExt cx="8503920" cy="384810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0835" y="1472183"/>
              <a:ext cx="4032504" cy="251599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5908" y="1667255"/>
              <a:ext cx="3462528" cy="19461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87040" y="4488179"/>
              <a:ext cx="1438910" cy="824865"/>
            </a:xfrm>
            <a:custGeom>
              <a:avLst/>
              <a:gdLst/>
              <a:ahLst/>
              <a:cxnLst/>
              <a:rect l="l" t="t" r="r" b="b"/>
              <a:pathLst>
                <a:path w="1438910" h="824864">
                  <a:moveTo>
                    <a:pt x="1301242" y="0"/>
                  </a:moveTo>
                  <a:lnTo>
                    <a:pt x="137414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4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4" y="824484"/>
                  </a:lnTo>
                  <a:lnTo>
                    <a:pt x="1301242" y="824484"/>
                  </a:lnTo>
                  <a:lnTo>
                    <a:pt x="1344696" y="817483"/>
                  </a:lnTo>
                  <a:lnTo>
                    <a:pt x="1382420" y="797986"/>
                  </a:lnTo>
                  <a:lnTo>
                    <a:pt x="1412158" y="768248"/>
                  </a:lnTo>
                  <a:lnTo>
                    <a:pt x="1431655" y="730524"/>
                  </a:lnTo>
                  <a:lnTo>
                    <a:pt x="1438656" y="687070"/>
                  </a:lnTo>
                  <a:lnTo>
                    <a:pt x="1438656" y="137414"/>
                  </a:lnTo>
                  <a:lnTo>
                    <a:pt x="1431655" y="93959"/>
                  </a:lnTo>
                  <a:lnTo>
                    <a:pt x="1412158" y="56235"/>
                  </a:lnTo>
                  <a:lnTo>
                    <a:pt x="1382420" y="26497"/>
                  </a:lnTo>
                  <a:lnTo>
                    <a:pt x="1344696" y="7000"/>
                  </a:lnTo>
                  <a:lnTo>
                    <a:pt x="1301242" y="0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87040" y="4488179"/>
              <a:ext cx="1438910" cy="824865"/>
            </a:xfrm>
            <a:custGeom>
              <a:avLst/>
              <a:gdLst/>
              <a:ahLst/>
              <a:cxnLst/>
              <a:rect l="l" t="t" r="r" b="b"/>
              <a:pathLst>
                <a:path w="1438910" h="824864">
                  <a:moveTo>
                    <a:pt x="0" y="137414"/>
                  </a:moveTo>
                  <a:lnTo>
                    <a:pt x="7000" y="93959"/>
                  </a:lnTo>
                  <a:lnTo>
                    <a:pt x="26497" y="56235"/>
                  </a:lnTo>
                  <a:lnTo>
                    <a:pt x="56235" y="26497"/>
                  </a:lnTo>
                  <a:lnTo>
                    <a:pt x="93959" y="7000"/>
                  </a:lnTo>
                  <a:lnTo>
                    <a:pt x="137414" y="0"/>
                  </a:lnTo>
                  <a:lnTo>
                    <a:pt x="1301242" y="0"/>
                  </a:lnTo>
                  <a:lnTo>
                    <a:pt x="1344696" y="7000"/>
                  </a:lnTo>
                  <a:lnTo>
                    <a:pt x="1382420" y="26497"/>
                  </a:lnTo>
                  <a:lnTo>
                    <a:pt x="1412158" y="56235"/>
                  </a:lnTo>
                  <a:lnTo>
                    <a:pt x="1431655" y="93959"/>
                  </a:lnTo>
                  <a:lnTo>
                    <a:pt x="1438656" y="137414"/>
                  </a:lnTo>
                  <a:lnTo>
                    <a:pt x="1438656" y="687070"/>
                  </a:lnTo>
                  <a:lnTo>
                    <a:pt x="1431655" y="730524"/>
                  </a:lnTo>
                  <a:lnTo>
                    <a:pt x="1412158" y="768248"/>
                  </a:lnTo>
                  <a:lnTo>
                    <a:pt x="1382420" y="797986"/>
                  </a:lnTo>
                  <a:lnTo>
                    <a:pt x="1344696" y="817483"/>
                  </a:lnTo>
                  <a:lnTo>
                    <a:pt x="1301242" y="824484"/>
                  </a:lnTo>
                  <a:lnTo>
                    <a:pt x="137414" y="824484"/>
                  </a:lnTo>
                  <a:lnTo>
                    <a:pt x="93959" y="817483"/>
                  </a:lnTo>
                  <a:lnTo>
                    <a:pt x="56235" y="797986"/>
                  </a:lnTo>
                  <a:lnTo>
                    <a:pt x="26497" y="768248"/>
                  </a:lnTo>
                  <a:lnTo>
                    <a:pt x="7000" y="730524"/>
                  </a:lnTo>
                  <a:lnTo>
                    <a:pt x="0" y="687070"/>
                  </a:lnTo>
                  <a:lnTo>
                    <a:pt x="0" y="137414"/>
                  </a:lnTo>
                  <a:close/>
                </a:path>
              </a:pathLst>
            </a:custGeom>
            <a:ln w="15240">
              <a:solidFill>
                <a:srgbClr val="AD25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23335" y="4640021"/>
            <a:ext cx="768985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GİRİŞ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(INPUT)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90032" y="4477511"/>
            <a:ext cx="1463040" cy="847725"/>
            <a:chOff x="5590032" y="4477511"/>
            <a:chExt cx="1463040" cy="847725"/>
          </a:xfrm>
        </p:grpSpPr>
        <p:sp>
          <p:nvSpPr>
            <p:cNvPr id="22" name="object 22"/>
            <p:cNvSpPr/>
            <p:nvPr/>
          </p:nvSpPr>
          <p:spPr>
            <a:xfrm>
              <a:off x="5601462" y="4488941"/>
              <a:ext cx="1440180" cy="824865"/>
            </a:xfrm>
            <a:custGeom>
              <a:avLst/>
              <a:gdLst/>
              <a:ahLst/>
              <a:cxnLst/>
              <a:rect l="l" t="t" r="r" b="b"/>
              <a:pathLst>
                <a:path w="1440179" h="824864">
                  <a:moveTo>
                    <a:pt x="1302765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69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3" y="824483"/>
                  </a:lnTo>
                  <a:lnTo>
                    <a:pt x="1302765" y="824483"/>
                  </a:lnTo>
                  <a:lnTo>
                    <a:pt x="1346220" y="817483"/>
                  </a:lnTo>
                  <a:lnTo>
                    <a:pt x="1383944" y="797986"/>
                  </a:lnTo>
                  <a:lnTo>
                    <a:pt x="1413682" y="768248"/>
                  </a:lnTo>
                  <a:lnTo>
                    <a:pt x="1433179" y="730524"/>
                  </a:lnTo>
                  <a:lnTo>
                    <a:pt x="1440180" y="687069"/>
                  </a:lnTo>
                  <a:lnTo>
                    <a:pt x="1440180" y="137413"/>
                  </a:lnTo>
                  <a:lnTo>
                    <a:pt x="1433179" y="93959"/>
                  </a:lnTo>
                  <a:lnTo>
                    <a:pt x="1413682" y="56235"/>
                  </a:lnTo>
                  <a:lnTo>
                    <a:pt x="1383944" y="26497"/>
                  </a:lnTo>
                  <a:lnTo>
                    <a:pt x="1346220" y="7000"/>
                  </a:lnTo>
                  <a:lnTo>
                    <a:pt x="1302765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01462" y="4488941"/>
              <a:ext cx="1440180" cy="824865"/>
            </a:xfrm>
            <a:custGeom>
              <a:avLst/>
              <a:gdLst/>
              <a:ahLst/>
              <a:cxnLst/>
              <a:rect l="l" t="t" r="r" b="b"/>
              <a:pathLst>
                <a:path w="1440179" h="824864">
                  <a:moveTo>
                    <a:pt x="0" y="137413"/>
                  </a:moveTo>
                  <a:lnTo>
                    <a:pt x="7000" y="93959"/>
                  </a:lnTo>
                  <a:lnTo>
                    <a:pt x="26497" y="56235"/>
                  </a:lnTo>
                  <a:lnTo>
                    <a:pt x="56235" y="26497"/>
                  </a:lnTo>
                  <a:lnTo>
                    <a:pt x="93959" y="7000"/>
                  </a:lnTo>
                  <a:lnTo>
                    <a:pt x="137413" y="0"/>
                  </a:lnTo>
                  <a:lnTo>
                    <a:pt x="1302765" y="0"/>
                  </a:lnTo>
                  <a:lnTo>
                    <a:pt x="1346220" y="7000"/>
                  </a:lnTo>
                  <a:lnTo>
                    <a:pt x="1383944" y="26497"/>
                  </a:lnTo>
                  <a:lnTo>
                    <a:pt x="1413682" y="56235"/>
                  </a:lnTo>
                  <a:lnTo>
                    <a:pt x="1433179" y="93959"/>
                  </a:lnTo>
                  <a:lnTo>
                    <a:pt x="1440180" y="137413"/>
                  </a:lnTo>
                  <a:lnTo>
                    <a:pt x="1440180" y="687069"/>
                  </a:lnTo>
                  <a:lnTo>
                    <a:pt x="1433179" y="730524"/>
                  </a:lnTo>
                  <a:lnTo>
                    <a:pt x="1413682" y="768248"/>
                  </a:lnTo>
                  <a:lnTo>
                    <a:pt x="1383944" y="797986"/>
                  </a:lnTo>
                  <a:lnTo>
                    <a:pt x="1346220" y="817483"/>
                  </a:lnTo>
                  <a:lnTo>
                    <a:pt x="1302765" y="824483"/>
                  </a:lnTo>
                  <a:lnTo>
                    <a:pt x="137413" y="824483"/>
                  </a:lnTo>
                  <a:lnTo>
                    <a:pt x="93959" y="817483"/>
                  </a:lnTo>
                  <a:lnTo>
                    <a:pt x="56235" y="797986"/>
                  </a:lnTo>
                  <a:lnTo>
                    <a:pt x="26497" y="768248"/>
                  </a:lnTo>
                  <a:lnTo>
                    <a:pt x="7000" y="730524"/>
                  </a:lnTo>
                  <a:lnTo>
                    <a:pt x="0" y="687069"/>
                  </a:lnTo>
                  <a:lnTo>
                    <a:pt x="0" y="137413"/>
                  </a:lnTo>
                  <a:close/>
                </a:path>
              </a:pathLst>
            </a:custGeom>
            <a:ln w="228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45860" y="4640021"/>
            <a:ext cx="115189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İŞLEM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(PROCESS)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414004" y="4480559"/>
            <a:ext cx="1454150" cy="840105"/>
            <a:chOff x="8414004" y="4480559"/>
            <a:chExt cx="1454150" cy="840105"/>
          </a:xfrm>
        </p:grpSpPr>
        <p:sp>
          <p:nvSpPr>
            <p:cNvPr id="26" name="object 26"/>
            <p:cNvSpPr/>
            <p:nvPr/>
          </p:nvSpPr>
          <p:spPr>
            <a:xfrm>
              <a:off x="8421624" y="4488179"/>
              <a:ext cx="1438910" cy="824865"/>
            </a:xfrm>
            <a:custGeom>
              <a:avLst/>
              <a:gdLst/>
              <a:ahLst/>
              <a:cxnLst/>
              <a:rect l="l" t="t" r="r" b="b"/>
              <a:pathLst>
                <a:path w="1438909" h="824864">
                  <a:moveTo>
                    <a:pt x="1301242" y="0"/>
                  </a:moveTo>
                  <a:lnTo>
                    <a:pt x="137414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4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4" y="824484"/>
                  </a:lnTo>
                  <a:lnTo>
                    <a:pt x="1301242" y="824484"/>
                  </a:lnTo>
                  <a:lnTo>
                    <a:pt x="1344696" y="817483"/>
                  </a:lnTo>
                  <a:lnTo>
                    <a:pt x="1382420" y="797986"/>
                  </a:lnTo>
                  <a:lnTo>
                    <a:pt x="1412158" y="768248"/>
                  </a:lnTo>
                  <a:lnTo>
                    <a:pt x="1431655" y="730524"/>
                  </a:lnTo>
                  <a:lnTo>
                    <a:pt x="1438655" y="687070"/>
                  </a:lnTo>
                  <a:lnTo>
                    <a:pt x="1438655" y="137414"/>
                  </a:lnTo>
                  <a:lnTo>
                    <a:pt x="1431655" y="93959"/>
                  </a:lnTo>
                  <a:lnTo>
                    <a:pt x="1412158" y="56235"/>
                  </a:lnTo>
                  <a:lnTo>
                    <a:pt x="1382420" y="26497"/>
                  </a:lnTo>
                  <a:lnTo>
                    <a:pt x="1344696" y="7000"/>
                  </a:lnTo>
                  <a:lnTo>
                    <a:pt x="1301242" y="0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21624" y="4488179"/>
              <a:ext cx="1438910" cy="824865"/>
            </a:xfrm>
            <a:custGeom>
              <a:avLst/>
              <a:gdLst/>
              <a:ahLst/>
              <a:cxnLst/>
              <a:rect l="l" t="t" r="r" b="b"/>
              <a:pathLst>
                <a:path w="1438909" h="824864">
                  <a:moveTo>
                    <a:pt x="0" y="137414"/>
                  </a:moveTo>
                  <a:lnTo>
                    <a:pt x="7000" y="93959"/>
                  </a:lnTo>
                  <a:lnTo>
                    <a:pt x="26497" y="56235"/>
                  </a:lnTo>
                  <a:lnTo>
                    <a:pt x="56235" y="26497"/>
                  </a:lnTo>
                  <a:lnTo>
                    <a:pt x="93959" y="7000"/>
                  </a:lnTo>
                  <a:lnTo>
                    <a:pt x="137414" y="0"/>
                  </a:lnTo>
                  <a:lnTo>
                    <a:pt x="1301242" y="0"/>
                  </a:lnTo>
                  <a:lnTo>
                    <a:pt x="1344696" y="7000"/>
                  </a:lnTo>
                  <a:lnTo>
                    <a:pt x="1382420" y="26497"/>
                  </a:lnTo>
                  <a:lnTo>
                    <a:pt x="1412158" y="56235"/>
                  </a:lnTo>
                  <a:lnTo>
                    <a:pt x="1431655" y="93959"/>
                  </a:lnTo>
                  <a:lnTo>
                    <a:pt x="1438655" y="137414"/>
                  </a:lnTo>
                  <a:lnTo>
                    <a:pt x="1438655" y="687070"/>
                  </a:lnTo>
                  <a:lnTo>
                    <a:pt x="1431655" y="730524"/>
                  </a:lnTo>
                  <a:lnTo>
                    <a:pt x="1412158" y="768248"/>
                  </a:lnTo>
                  <a:lnTo>
                    <a:pt x="1382420" y="797986"/>
                  </a:lnTo>
                  <a:lnTo>
                    <a:pt x="1344696" y="817483"/>
                  </a:lnTo>
                  <a:lnTo>
                    <a:pt x="1301242" y="824484"/>
                  </a:lnTo>
                  <a:lnTo>
                    <a:pt x="137414" y="824484"/>
                  </a:lnTo>
                  <a:lnTo>
                    <a:pt x="93959" y="817483"/>
                  </a:lnTo>
                  <a:lnTo>
                    <a:pt x="56235" y="797986"/>
                  </a:lnTo>
                  <a:lnTo>
                    <a:pt x="26497" y="768248"/>
                  </a:lnTo>
                  <a:lnTo>
                    <a:pt x="7000" y="730524"/>
                  </a:lnTo>
                  <a:lnTo>
                    <a:pt x="0" y="687070"/>
                  </a:lnTo>
                  <a:lnTo>
                    <a:pt x="0" y="137414"/>
                  </a:lnTo>
                  <a:close/>
                </a:path>
              </a:pathLst>
            </a:custGeom>
            <a:ln w="15240">
              <a:solidFill>
                <a:srgbClr val="AD25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645397" y="4640021"/>
            <a:ext cx="992505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ÇIKTI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(OUTPUT)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19737" y="5963221"/>
            <a:ext cx="1693545" cy="849630"/>
            <a:chOff x="5519737" y="5963221"/>
            <a:chExt cx="1693545" cy="849630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500" y="5967984"/>
              <a:ext cx="1684020" cy="83972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524500" y="5967984"/>
              <a:ext cx="1684020" cy="840105"/>
            </a:xfrm>
            <a:custGeom>
              <a:avLst/>
              <a:gdLst/>
              <a:ahLst/>
              <a:cxnLst/>
              <a:rect l="l" t="t" r="r" b="b"/>
              <a:pathLst>
                <a:path w="1684020" h="840104">
                  <a:moveTo>
                    <a:pt x="1684020" y="139953"/>
                  </a:moveTo>
                  <a:lnTo>
                    <a:pt x="1653945" y="177158"/>
                  </a:lnTo>
                  <a:lnTo>
                    <a:pt x="1602956" y="199948"/>
                  </a:lnTo>
                  <a:lnTo>
                    <a:pt x="1529987" y="220665"/>
                  </a:lnTo>
                  <a:lnTo>
                    <a:pt x="1486004" y="230123"/>
                  </a:lnTo>
                  <a:lnTo>
                    <a:pt x="1437417" y="238915"/>
                  </a:lnTo>
                  <a:lnTo>
                    <a:pt x="1384524" y="246991"/>
                  </a:lnTo>
                  <a:lnTo>
                    <a:pt x="1327622" y="254303"/>
                  </a:lnTo>
                  <a:lnTo>
                    <a:pt x="1267008" y="260799"/>
                  </a:lnTo>
                  <a:lnTo>
                    <a:pt x="1202979" y="266432"/>
                  </a:lnTo>
                  <a:lnTo>
                    <a:pt x="1135832" y="271151"/>
                  </a:lnTo>
                  <a:lnTo>
                    <a:pt x="1065865" y="274908"/>
                  </a:lnTo>
                  <a:lnTo>
                    <a:pt x="993374" y="277653"/>
                  </a:lnTo>
                  <a:lnTo>
                    <a:pt x="918656" y="279336"/>
                  </a:lnTo>
                  <a:lnTo>
                    <a:pt x="842010" y="279907"/>
                  </a:lnTo>
                  <a:lnTo>
                    <a:pt x="765363" y="279336"/>
                  </a:lnTo>
                  <a:lnTo>
                    <a:pt x="690645" y="277653"/>
                  </a:lnTo>
                  <a:lnTo>
                    <a:pt x="618154" y="274908"/>
                  </a:lnTo>
                  <a:lnTo>
                    <a:pt x="548187" y="271151"/>
                  </a:lnTo>
                  <a:lnTo>
                    <a:pt x="481040" y="266432"/>
                  </a:lnTo>
                  <a:lnTo>
                    <a:pt x="417011" y="260799"/>
                  </a:lnTo>
                  <a:lnTo>
                    <a:pt x="356397" y="254303"/>
                  </a:lnTo>
                  <a:lnTo>
                    <a:pt x="299495" y="246991"/>
                  </a:lnTo>
                  <a:lnTo>
                    <a:pt x="246602" y="238915"/>
                  </a:lnTo>
                  <a:lnTo>
                    <a:pt x="198015" y="230123"/>
                  </a:lnTo>
                  <a:lnTo>
                    <a:pt x="154032" y="220665"/>
                  </a:lnTo>
                  <a:lnTo>
                    <a:pt x="114949" y="210590"/>
                  </a:lnTo>
                  <a:lnTo>
                    <a:pt x="52673" y="188787"/>
                  </a:lnTo>
                  <a:lnTo>
                    <a:pt x="13564" y="165110"/>
                  </a:lnTo>
                  <a:lnTo>
                    <a:pt x="3440" y="152692"/>
                  </a:lnTo>
                  <a:lnTo>
                    <a:pt x="0" y="139953"/>
                  </a:lnTo>
                </a:path>
                <a:path w="1684020" h="840104">
                  <a:moveTo>
                    <a:pt x="0" y="139953"/>
                  </a:moveTo>
                  <a:lnTo>
                    <a:pt x="30074" y="102749"/>
                  </a:lnTo>
                  <a:lnTo>
                    <a:pt x="81063" y="79959"/>
                  </a:lnTo>
                  <a:lnTo>
                    <a:pt x="154032" y="59242"/>
                  </a:lnTo>
                  <a:lnTo>
                    <a:pt x="198015" y="49784"/>
                  </a:lnTo>
                  <a:lnTo>
                    <a:pt x="246602" y="40992"/>
                  </a:lnTo>
                  <a:lnTo>
                    <a:pt x="299495" y="32916"/>
                  </a:lnTo>
                  <a:lnTo>
                    <a:pt x="356397" y="25604"/>
                  </a:lnTo>
                  <a:lnTo>
                    <a:pt x="417011" y="19108"/>
                  </a:lnTo>
                  <a:lnTo>
                    <a:pt x="481040" y="13475"/>
                  </a:lnTo>
                  <a:lnTo>
                    <a:pt x="548187" y="8756"/>
                  </a:lnTo>
                  <a:lnTo>
                    <a:pt x="618154" y="4999"/>
                  </a:lnTo>
                  <a:lnTo>
                    <a:pt x="690645" y="2254"/>
                  </a:lnTo>
                  <a:lnTo>
                    <a:pt x="765363" y="571"/>
                  </a:lnTo>
                  <a:lnTo>
                    <a:pt x="842010" y="0"/>
                  </a:lnTo>
                  <a:lnTo>
                    <a:pt x="918656" y="571"/>
                  </a:lnTo>
                  <a:lnTo>
                    <a:pt x="993374" y="2254"/>
                  </a:lnTo>
                  <a:lnTo>
                    <a:pt x="1065865" y="4999"/>
                  </a:lnTo>
                  <a:lnTo>
                    <a:pt x="1135832" y="8756"/>
                  </a:lnTo>
                  <a:lnTo>
                    <a:pt x="1202979" y="13475"/>
                  </a:lnTo>
                  <a:lnTo>
                    <a:pt x="1267008" y="19108"/>
                  </a:lnTo>
                  <a:lnTo>
                    <a:pt x="1327622" y="25604"/>
                  </a:lnTo>
                  <a:lnTo>
                    <a:pt x="1384524" y="32916"/>
                  </a:lnTo>
                  <a:lnTo>
                    <a:pt x="1437417" y="40992"/>
                  </a:lnTo>
                  <a:lnTo>
                    <a:pt x="1486004" y="49784"/>
                  </a:lnTo>
                  <a:lnTo>
                    <a:pt x="1529987" y="59242"/>
                  </a:lnTo>
                  <a:lnTo>
                    <a:pt x="1569070" y="69317"/>
                  </a:lnTo>
                  <a:lnTo>
                    <a:pt x="1631346" y="91120"/>
                  </a:lnTo>
                  <a:lnTo>
                    <a:pt x="1670455" y="114797"/>
                  </a:lnTo>
                  <a:lnTo>
                    <a:pt x="1684020" y="139953"/>
                  </a:lnTo>
                  <a:lnTo>
                    <a:pt x="1684020" y="699769"/>
                  </a:lnTo>
                  <a:lnTo>
                    <a:pt x="1653945" y="736974"/>
                  </a:lnTo>
                  <a:lnTo>
                    <a:pt x="1602956" y="759764"/>
                  </a:lnTo>
                  <a:lnTo>
                    <a:pt x="1529987" y="780482"/>
                  </a:lnTo>
                  <a:lnTo>
                    <a:pt x="1486004" y="789940"/>
                  </a:lnTo>
                  <a:lnTo>
                    <a:pt x="1437417" y="798732"/>
                  </a:lnTo>
                  <a:lnTo>
                    <a:pt x="1384524" y="806808"/>
                  </a:lnTo>
                  <a:lnTo>
                    <a:pt x="1327622" y="814119"/>
                  </a:lnTo>
                  <a:lnTo>
                    <a:pt x="1267008" y="820615"/>
                  </a:lnTo>
                  <a:lnTo>
                    <a:pt x="1202979" y="826248"/>
                  </a:lnTo>
                  <a:lnTo>
                    <a:pt x="1135832" y="830968"/>
                  </a:lnTo>
                  <a:lnTo>
                    <a:pt x="1065865" y="834724"/>
                  </a:lnTo>
                  <a:lnTo>
                    <a:pt x="993374" y="837469"/>
                  </a:lnTo>
                  <a:lnTo>
                    <a:pt x="918656" y="839152"/>
                  </a:lnTo>
                  <a:lnTo>
                    <a:pt x="842010" y="839723"/>
                  </a:lnTo>
                  <a:lnTo>
                    <a:pt x="765363" y="839152"/>
                  </a:lnTo>
                  <a:lnTo>
                    <a:pt x="690645" y="837469"/>
                  </a:lnTo>
                  <a:lnTo>
                    <a:pt x="618154" y="834724"/>
                  </a:lnTo>
                  <a:lnTo>
                    <a:pt x="548187" y="830968"/>
                  </a:lnTo>
                  <a:lnTo>
                    <a:pt x="481040" y="826248"/>
                  </a:lnTo>
                  <a:lnTo>
                    <a:pt x="417011" y="820615"/>
                  </a:lnTo>
                  <a:lnTo>
                    <a:pt x="356397" y="814119"/>
                  </a:lnTo>
                  <a:lnTo>
                    <a:pt x="299495" y="806808"/>
                  </a:lnTo>
                  <a:lnTo>
                    <a:pt x="246602" y="798732"/>
                  </a:lnTo>
                  <a:lnTo>
                    <a:pt x="198015" y="789940"/>
                  </a:lnTo>
                  <a:lnTo>
                    <a:pt x="154032" y="780482"/>
                  </a:lnTo>
                  <a:lnTo>
                    <a:pt x="114949" y="770407"/>
                  </a:lnTo>
                  <a:lnTo>
                    <a:pt x="52673" y="748604"/>
                  </a:lnTo>
                  <a:lnTo>
                    <a:pt x="13564" y="724926"/>
                  </a:lnTo>
                  <a:lnTo>
                    <a:pt x="0" y="699769"/>
                  </a:lnTo>
                  <a:lnTo>
                    <a:pt x="0" y="139953"/>
                  </a:lnTo>
                  <a:close/>
                </a:path>
              </a:pathLst>
            </a:custGeom>
            <a:ln w="9144">
              <a:solidFill>
                <a:srgbClr val="EB9D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93994" y="6197295"/>
            <a:ext cx="11544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DEPOLAMA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(STORAGE)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732020" y="4645152"/>
            <a:ext cx="3301365" cy="1294130"/>
            <a:chOff x="4732020" y="4645152"/>
            <a:chExt cx="3301365" cy="1294130"/>
          </a:xfrm>
        </p:grpSpPr>
        <p:sp>
          <p:nvSpPr>
            <p:cNvPr id="34" name="object 34"/>
            <p:cNvSpPr/>
            <p:nvPr/>
          </p:nvSpPr>
          <p:spPr>
            <a:xfrm>
              <a:off x="4743450" y="4656582"/>
              <a:ext cx="558165" cy="388620"/>
            </a:xfrm>
            <a:custGeom>
              <a:avLst/>
              <a:gdLst/>
              <a:ahLst/>
              <a:cxnLst/>
              <a:rect l="l" t="t" r="r" b="b"/>
              <a:pathLst>
                <a:path w="558164" h="388620">
                  <a:moveTo>
                    <a:pt x="363474" y="0"/>
                  </a:moveTo>
                  <a:lnTo>
                    <a:pt x="363474" y="97155"/>
                  </a:lnTo>
                  <a:lnTo>
                    <a:pt x="0" y="97155"/>
                  </a:lnTo>
                  <a:lnTo>
                    <a:pt x="0" y="291465"/>
                  </a:lnTo>
                  <a:lnTo>
                    <a:pt x="363474" y="291465"/>
                  </a:lnTo>
                  <a:lnTo>
                    <a:pt x="363474" y="388620"/>
                  </a:lnTo>
                  <a:lnTo>
                    <a:pt x="557784" y="194310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F870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43450" y="4656582"/>
              <a:ext cx="558165" cy="388620"/>
            </a:xfrm>
            <a:custGeom>
              <a:avLst/>
              <a:gdLst/>
              <a:ahLst/>
              <a:cxnLst/>
              <a:rect l="l" t="t" r="r" b="b"/>
              <a:pathLst>
                <a:path w="558164" h="388620">
                  <a:moveTo>
                    <a:pt x="0" y="97155"/>
                  </a:moveTo>
                  <a:lnTo>
                    <a:pt x="363474" y="97155"/>
                  </a:lnTo>
                  <a:lnTo>
                    <a:pt x="363474" y="0"/>
                  </a:lnTo>
                  <a:lnTo>
                    <a:pt x="557784" y="194310"/>
                  </a:lnTo>
                  <a:lnTo>
                    <a:pt x="363474" y="388620"/>
                  </a:lnTo>
                  <a:lnTo>
                    <a:pt x="363474" y="291465"/>
                  </a:lnTo>
                  <a:lnTo>
                    <a:pt x="0" y="291465"/>
                  </a:lnTo>
                  <a:lnTo>
                    <a:pt x="0" y="97155"/>
                  </a:lnTo>
                  <a:close/>
                </a:path>
              </a:pathLst>
            </a:custGeom>
            <a:ln w="228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63790" y="4656582"/>
              <a:ext cx="558165" cy="388620"/>
            </a:xfrm>
            <a:custGeom>
              <a:avLst/>
              <a:gdLst/>
              <a:ahLst/>
              <a:cxnLst/>
              <a:rect l="l" t="t" r="r" b="b"/>
              <a:pathLst>
                <a:path w="558165" h="388620">
                  <a:moveTo>
                    <a:pt x="363474" y="0"/>
                  </a:moveTo>
                  <a:lnTo>
                    <a:pt x="363474" y="97155"/>
                  </a:lnTo>
                  <a:lnTo>
                    <a:pt x="0" y="97155"/>
                  </a:lnTo>
                  <a:lnTo>
                    <a:pt x="0" y="291465"/>
                  </a:lnTo>
                  <a:lnTo>
                    <a:pt x="363474" y="291465"/>
                  </a:lnTo>
                  <a:lnTo>
                    <a:pt x="363474" y="388620"/>
                  </a:lnTo>
                  <a:lnTo>
                    <a:pt x="557783" y="194310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F870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63790" y="4656582"/>
              <a:ext cx="558165" cy="388620"/>
            </a:xfrm>
            <a:custGeom>
              <a:avLst/>
              <a:gdLst/>
              <a:ahLst/>
              <a:cxnLst/>
              <a:rect l="l" t="t" r="r" b="b"/>
              <a:pathLst>
                <a:path w="558165" h="388620">
                  <a:moveTo>
                    <a:pt x="0" y="97155"/>
                  </a:moveTo>
                  <a:lnTo>
                    <a:pt x="363474" y="97155"/>
                  </a:lnTo>
                  <a:lnTo>
                    <a:pt x="363474" y="0"/>
                  </a:lnTo>
                  <a:lnTo>
                    <a:pt x="557783" y="194310"/>
                  </a:lnTo>
                  <a:lnTo>
                    <a:pt x="363474" y="388620"/>
                  </a:lnTo>
                  <a:lnTo>
                    <a:pt x="363474" y="291465"/>
                  </a:lnTo>
                  <a:lnTo>
                    <a:pt x="0" y="291465"/>
                  </a:lnTo>
                  <a:lnTo>
                    <a:pt x="0" y="97155"/>
                  </a:lnTo>
                  <a:close/>
                </a:path>
              </a:pathLst>
            </a:custGeom>
            <a:ln w="228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57188" y="5430012"/>
              <a:ext cx="311150" cy="452755"/>
            </a:xfrm>
            <a:custGeom>
              <a:avLst/>
              <a:gdLst/>
              <a:ahLst/>
              <a:cxnLst/>
              <a:rect l="l" t="t" r="r" b="b"/>
              <a:pathLst>
                <a:path w="311150" h="452754">
                  <a:moveTo>
                    <a:pt x="155447" y="0"/>
                  </a:moveTo>
                  <a:lnTo>
                    <a:pt x="0" y="155447"/>
                  </a:lnTo>
                  <a:lnTo>
                    <a:pt x="77723" y="155447"/>
                  </a:lnTo>
                  <a:lnTo>
                    <a:pt x="77723" y="452628"/>
                  </a:lnTo>
                  <a:lnTo>
                    <a:pt x="233171" y="452628"/>
                  </a:lnTo>
                  <a:lnTo>
                    <a:pt x="233171" y="155447"/>
                  </a:lnTo>
                  <a:lnTo>
                    <a:pt x="310895" y="155447"/>
                  </a:lnTo>
                  <a:lnTo>
                    <a:pt x="155447" y="0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57188" y="5430012"/>
              <a:ext cx="311150" cy="452755"/>
            </a:xfrm>
            <a:custGeom>
              <a:avLst/>
              <a:gdLst/>
              <a:ahLst/>
              <a:cxnLst/>
              <a:rect l="l" t="t" r="r" b="b"/>
              <a:pathLst>
                <a:path w="311150" h="452754">
                  <a:moveTo>
                    <a:pt x="77723" y="452628"/>
                  </a:moveTo>
                  <a:lnTo>
                    <a:pt x="77723" y="155447"/>
                  </a:lnTo>
                  <a:lnTo>
                    <a:pt x="0" y="155447"/>
                  </a:lnTo>
                  <a:lnTo>
                    <a:pt x="155447" y="0"/>
                  </a:lnTo>
                  <a:lnTo>
                    <a:pt x="310895" y="155447"/>
                  </a:lnTo>
                  <a:lnTo>
                    <a:pt x="233171" y="155447"/>
                  </a:lnTo>
                  <a:lnTo>
                    <a:pt x="233171" y="452628"/>
                  </a:lnTo>
                  <a:lnTo>
                    <a:pt x="77723" y="452628"/>
                  </a:lnTo>
                  <a:close/>
                </a:path>
              </a:pathLst>
            </a:custGeom>
            <a:ln w="15240">
              <a:solidFill>
                <a:srgbClr val="AD25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67984" y="5478780"/>
              <a:ext cx="311150" cy="452755"/>
            </a:xfrm>
            <a:custGeom>
              <a:avLst/>
              <a:gdLst/>
              <a:ahLst/>
              <a:cxnLst/>
              <a:rect l="l" t="t" r="r" b="b"/>
              <a:pathLst>
                <a:path w="311150" h="452754">
                  <a:moveTo>
                    <a:pt x="233171" y="0"/>
                  </a:moveTo>
                  <a:lnTo>
                    <a:pt x="77724" y="0"/>
                  </a:lnTo>
                  <a:lnTo>
                    <a:pt x="77724" y="297180"/>
                  </a:lnTo>
                  <a:lnTo>
                    <a:pt x="0" y="297180"/>
                  </a:lnTo>
                  <a:lnTo>
                    <a:pt x="155448" y="452628"/>
                  </a:lnTo>
                  <a:lnTo>
                    <a:pt x="310895" y="297180"/>
                  </a:lnTo>
                  <a:lnTo>
                    <a:pt x="233171" y="297180"/>
                  </a:lnTo>
                  <a:lnTo>
                    <a:pt x="233171" y="0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67984" y="5478780"/>
              <a:ext cx="311150" cy="452755"/>
            </a:xfrm>
            <a:custGeom>
              <a:avLst/>
              <a:gdLst/>
              <a:ahLst/>
              <a:cxnLst/>
              <a:rect l="l" t="t" r="r" b="b"/>
              <a:pathLst>
                <a:path w="311150" h="452754">
                  <a:moveTo>
                    <a:pt x="233171" y="0"/>
                  </a:moveTo>
                  <a:lnTo>
                    <a:pt x="233171" y="297180"/>
                  </a:lnTo>
                  <a:lnTo>
                    <a:pt x="310895" y="297180"/>
                  </a:lnTo>
                  <a:lnTo>
                    <a:pt x="155448" y="452628"/>
                  </a:lnTo>
                  <a:lnTo>
                    <a:pt x="0" y="297180"/>
                  </a:lnTo>
                  <a:lnTo>
                    <a:pt x="77724" y="297180"/>
                  </a:lnTo>
                  <a:lnTo>
                    <a:pt x="77724" y="0"/>
                  </a:lnTo>
                  <a:lnTo>
                    <a:pt x="233171" y="0"/>
                  </a:lnTo>
                  <a:close/>
                </a:path>
              </a:pathLst>
            </a:custGeom>
            <a:ln w="15240">
              <a:solidFill>
                <a:srgbClr val="AD25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6565">
              <a:lnSpc>
                <a:spcPct val="100000"/>
              </a:lnSpc>
              <a:spcBef>
                <a:spcPts val="95"/>
              </a:spcBef>
            </a:pPr>
            <a:r>
              <a:rPr dirty="0"/>
              <a:t>İşlemcinin</a:t>
            </a:r>
            <a:r>
              <a:rPr spc="-140" dirty="0"/>
              <a:t> </a:t>
            </a:r>
            <a:r>
              <a:rPr spc="-10" dirty="0"/>
              <a:t>Görevleri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9135" cy="497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6985" indent="-515620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AutoNum type="arabicPeriod"/>
              <a:tabLst>
                <a:tab pos="527685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Komutları</a:t>
            </a:r>
            <a:r>
              <a:rPr sz="2400" b="1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Yürütme:</a:t>
            </a:r>
            <a:r>
              <a:rPr sz="2400" b="1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Yazılımdan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gelen</a:t>
            </a:r>
            <a:r>
              <a:rPr sz="2400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talimatları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alır,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yorumlar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çalıştırır.</a:t>
            </a:r>
            <a:endParaRPr sz="2400">
              <a:latin typeface="Arial"/>
              <a:cs typeface="Arial"/>
            </a:endParaRPr>
          </a:p>
          <a:p>
            <a:pPr marL="527685" marR="6985" indent="-515620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AutoNum type="arabicPeriod"/>
              <a:tabLst>
                <a:tab pos="527685" algn="l"/>
                <a:tab pos="1226820" algn="l"/>
                <a:tab pos="2417445" algn="l"/>
                <a:tab pos="4351655" algn="l"/>
                <a:tab pos="4813300" algn="l"/>
                <a:tab pos="6258560" algn="l"/>
                <a:tab pos="7448550" algn="l"/>
                <a:tab pos="8674100" algn="l"/>
              </a:tabLst>
            </a:pP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İşleme: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Matematiksel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mantıksal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işlemler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yaparak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verileri işler.</a:t>
            </a:r>
            <a:endParaRPr sz="2400">
              <a:latin typeface="Arial"/>
              <a:cs typeface="Arial"/>
            </a:endParaRPr>
          </a:p>
          <a:p>
            <a:pPr marL="527685" marR="5715" indent="-515620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AutoNum type="arabicPeriod"/>
              <a:tabLst>
                <a:tab pos="527685" algn="l"/>
                <a:tab pos="1231265" algn="l"/>
                <a:tab pos="2664460" algn="l"/>
                <a:tab pos="3147695" algn="l"/>
                <a:tab pos="4476750" algn="l"/>
                <a:tab pos="5162550" algn="l"/>
                <a:tab pos="6102985" algn="l"/>
                <a:tab pos="6569075" algn="l"/>
                <a:tab pos="7392670" algn="l"/>
                <a:tab pos="9082405" algn="l"/>
              </a:tabLst>
            </a:pP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Transferi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Kontrol: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Ana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bellek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diğer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bileşenlerle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veri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alışverişini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düzenler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sistemin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uyumlu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çalışmasını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AutoNum type="arabicPeriod"/>
              <a:tabLst>
                <a:tab pos="527685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Program</a:t>
            </a:r>
            <a:r>
              <a:rPr sz="2400" b="1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Akışını</a:t>
            </a:r>
            <a:r>
              <a:rPr sz="2400" b="1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Yönetme: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Hangi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komutun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işleneceğini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takip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eder</a:t>
            </a:r>
            <a:endParaRPr sz="24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sırasını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belirler.</a:t>
            </a:r>
            <a:endParaRPr sz="24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AutoNum type="arabicPeriod" startAt="5"/>
              <a:tabLst>
                <a:tab pos="527685" algn="l"/>
                <a:tab pos="2256155" algn="l"/>
                <a:tab pos="3863975" algn="l"/>
                <a:tab pos="5659120" algn="l"/>
                <a:tab pos="6439535" algn="l"/>
                <a:tab pos="6982459" algn="l"/>
                <a:tab pos="7827009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Giriş/Çıkış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Yönetimi: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giriş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çıkış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birimlerinden</a:t>
            </a:r>
            <a:endParaRPr sz="24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(klavye,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fare,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yazıcı,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vb.)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gelen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75" dirty="0"/>
              <a:t> </a:t>
            </a:r>
            <a:r>
              <a:rPr dirty="0"/>
              <a:t>İşlemci</a:t>
            </a:r>
            <a:r>
              <a:rPr spc="-90" dirty="0"/>
              <a:t> </a:t>
            </a:r>
            <a:r>
              <a:rPr dirty="0"/>
              <a:t>Markaları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7865" cy="206248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INTEL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45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performanslı</a:t>
            </a:r>
            <a:r>
              <a:rPr sz="2400" spc="4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işlemcilerde</a:t>
            </a:r>
            <a:r>
              <a:rPr sz="2400" spc="4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uzun</a:t>
            </a:r>
            <a:r>
              <a:rPr sz="2400" spc="4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süredir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lider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olan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4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marka.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Intel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Core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i3,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i5,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i7,</a:t>
            </a:r>
            <a:r>
              <a:rPr sz="24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i9</a:t>
            </a:r>
            <a:r>
              <a:rPr sz="24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serileri</a:t>
            </a:r>
            <a:r>
              <a:rPr sz="24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popülerdir.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Ayrıca</a:t>
            </a:r>
            <a:r>
              <a:rPr sz="24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sunucular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için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Xeon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serisi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mevcuttur.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87723" y="3444271"/>
            <a:ext cx="4448810" cy="3304540"/>
            <a:chOff x="3887723" y="3444271"/>
            <a:chExt cx="4448810" cy="33045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3444271"/>
              <a:ext cx="4448556" cy="33040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2795" y="3639312"/>
              <a:ext cx="3878579" cy="273405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75" dirty="0"/>
              <a:t> </a:t>
            </a:r>
            <a:r>
              <a:rPr dirty="0"/>
              <a:t>İşlemci</a:t>
            </a:r>
            <a:r>
              <a:rPr spc="-90" dirty="0"/>
              <a:t> </a:t>
            </a:r>
            <a:r>
              <a:rPr dirty="0"/>
              <a:t>Markaları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9135" cy="250126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AMD</a:t>
            </a:r>
            <a:r>
              <a:rPr sz="2400" b="1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(Advanced</a:t>
            </a:r>
            <a:r>
              <a:rPr sz="2400" b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Micro</a:t>
            </a:r>
            <a:r>
              <a:rPr sz="2400" b="1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Devices)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Ryzen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serisi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bireysel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kullanıcılara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yönelik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üretirken,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sunucu</a:t>
            </a:r>
            <a:r>
              <a:rPr sz="2400" spc="5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tarafında</a:t>
            </a:r>
            <a:r>
              <a:rPr sz="2400" spc="5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EPYC</a:t>
            </a:r>
            <a:r>
              <a:rPr sz="2400" spc="5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serisiyle</a:t>
            </a:r>
            <a:r>
              <a:rPr sz="2400" spc="5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güçlü</a:t>
            </a:r>
            <a:r>
              <a:rPr sz="2400" spc="5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</a:t>
            </a:r>
            <a:r>
              <a:rPr sz="2400" spc="5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sunmaktadır.</a:t>
            </a:r>
            <a:r>
              <a:rPr sz="2400" spc="5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Son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yıllarda</a:t>
            </a:r>
            <a:r>
              <a:rPr sz="2400" spc="1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r>
              <a:rPr sz="2400" spc="1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spc="1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</a:t>
            </a:r>
            <a:r>
              <a:rPr sz="2400" spc="1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tutkunları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arasında</a:t>
            </a:r>
            <a:r>
              <a:rPr sz="2400" spc="1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popüler</a:t>
            </a:r>
            <a:r>
              <a:rPr sz="2400" spc="1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hale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gelmiştir.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5903" y="3837432"/>
            <a:ext cx="2665476" cy="26715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75" dirty="0"/>
              <a:t> </a:t>
            </a:r>
            <a:r>
              <a:rPr dirty="0"/>
              <a:t>İşlemci</a:t>
            </a:r>
            <a:r>
              <a:rPr spc="-90" dirty="0"/>
              <a:t> </a:t>
            </a:r>
            <a:r>
              <a:rPr dirty="0"/>
              <a:t>Markaları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7865" cy="206248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APPLE</a:t>
            </a:r>
            <a:r>
              <a:rPr sz="2400" b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SILICON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Apple,</a:t>
            </a:r>
            <a:r>
              <a:rPr sz="24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kendi</a:t>
            </a:r>
            <a:r>
              <a:rPr sz="24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cihazlarında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kullanmak</a:t>
            </a:r>
            <a:r>
              <a:rPr sz="2400" spc="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üzere</a:t>
            </a:r>
            <a:r>
              <a:rPr sz="2400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geliştirdiği</a:t>
            </a:r>
            <a:r>
              <a:rPr sz="24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M1,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M2,</a:t>
            </a:r>
            <a:r>
              <a:rPr sz="2400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M3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gibi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ARM</a:t>
            </a:r>
            <a:r>
              <a:rPr sz="2400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tabanlı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işlemcileri</a:t>
            </a:r>
            <a:r>
              <a:rPr sz="2400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</a:t>
            </a:r>
            <a:r>
              <a:rPr sz="2400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enerji</a:t>
            </a:r>
            <a:r>
              <a:rPr sz="2400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verimliliğinde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dikkat çekmektedir.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MacBook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iMac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cihazlarında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kullanılıyor.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46576" y="3590603"/>
            <a:ext cx="4573905" cy="3267710"/>
            <a:chOff x="3846576" y="3590603"/>
            <a:chExt cx="4573905" cy="32677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6576" y="3590603"/>
              <a:ext cx="4573651" cy="32673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1648" y="3785616"/>
              <a:ext cx="4003548" cy="278892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75" dirty="0"/>
              <a:t> </a:t>
            </a:r>
            <a:r>
              <a:rPr dirty="0"/>
              <a:t>İşlemci</a:t>
            </a:r>
            <a:r>
              <a:rPr spc="-90" dirty="0"/>
              <a:t> </a:t>
            </a:r>
            <a:r>
              <a:rPr dirty="0"/>
              <a:t>Markaları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50" dirty="0"/>
              <a:t>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8500" cy="250126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spc="-25" dirty="0">
                <a:solidFill>
                  <a:srgbClr val="2C241F"/>
                </a:solidFill>
                <a:latin typeface="Arial"/>
                <a:cs typeface="Arial"/>
              </a:rPr>
              <a:t>ARM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ARM</a:t>
            </a:r>
            <a:r>
              <a:rPr sz="2400" spc="5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Holdings</a:t>
            </a:r>
            <a:r>
              <a:rPr sz="2400" spc="5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kendi</a:t>
            </a:r>
            <a:r>
              <a:rPr sz="2400" spc="5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başına</a:t>
            </a:r>
            <a:r>
              <a:rPr sz="2400" spc="5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5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</a:t>
            </a:r>
            <a:r>
              <a:rPr sz="2400" spc="5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üreticisi</a:t>
            </a:r>
            <a:r>
              <a:rPr sz="2400" spc="5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olmamakla</a:t>
            </a:r>
            <a:r>
              <a:rPr sz="2400" spc="5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birlikte,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ARM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mimarisi</a:t>
            </a:r>
            <a:r>
              <a:rPr sz="2400" spc="25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dünya</a:t>
            </a:r>
            <a:r>
              <a:rPr sz="2400" spc="2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genelinde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birçok</a:t>
            </a:r>
            <a:r>
              <a:rPr sz="2400" spc="25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mobil</a:t>
            </a:r>
            <a:r>
              <a:rPr sz="2400" spc="2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cihazda</a:t>
            </a:r>
            <a:r>
              <a:rPr sz="2400" spc="2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kullanılan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işlemcilerin</a:t>
            </a:r>
            <a:r>
              <a:rPr sz="2400" spc="5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temelini</a:t>
            </a:r>
            <a:r>
              <a:rPr sz="2400" spc="5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oluşturur.</a:t>
            </a:r>
            <a:r>
              <a:rPr sz="2400" spc="5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mimariyi</a:t>
            </a:r>
            <a:r>
              <a:rPr sz="2400" spc="5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lisanslayan</a:t>
            </a:r>
            <a:r>
              <a:rPr sz="2400" spc="5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birçok</a:t>
            </a:r>
            <a:r>
              <a:rPr sz="2400" spc="5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şirket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(Apple,</a:t>
            </a:r>
            <a:r>
              <a:rPr sz="2400" spc="-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Qualcomm,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MediaTek,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vs.)</a:t>
            </a:r>
            <a:r>
              <a:rPr sz="2400" spc="-1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ARM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tabanlı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üretir.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2396" y="4055364"/>
            <a:ext cx="2904744" cy="25648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75" dirty="0"/>
              <a:t> </a:t>
            </a:r>
            <a:r>
              <a:rPr dirty="0"/>
              <a:t>İşlemci</a:t>
            </a:r>
            <a:r>
              <a:rPr spc="-90" dirty="0"/>
              <a:t> </a:t>
            </a:r>
            <a:r>
              <a:rPr dirty="0"/>
              <a:t>Markaları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50" dirty="0"/>
              <a:t>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872218" y="2169667"/>
            <a:ext cx="1159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325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bazı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2085" y="1376680"/>
            <a:ext cx="8220709" cy="16230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QUALCOMM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1105"/>
              </a:spcBef>
              <a:tabLst>
                <a:tab pos="1910080" algn="l"/>
                <a:tab pos="3484245" algn="l"/>
                <a:tab pos="4805680" algn="l"/>
                <a:tab pos="5768975" algn="l"/>
                <a:tab pos="712279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Snapdragon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işlemcileri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mobil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cihazlar,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tabletler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dizüstü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bilgisayarlarda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yaygın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kullanılmaktadır.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35552" y="3217125"/>
            <a:ext cx="4800600" cy="3352800"/>
            <a:chOff x="4035552" y="3217125"/>
            <a:chExt cx="4800600" cy="33528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5552" y="3217125"/>
              <a:ext cx="4800600" cy="3352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0624" y="3412236"/>
              <a:ext cx="4230624" cy="27828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363" y="170179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129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75" dirty="0"/>
              <a:t> </a:t>
            </a:r>
            <a:r>
              <a:rPr dirty="0"/>
              <a:t>İşlemci</a:t>
            </a:r>
            <a:r>
              <a:rPr spc="-90" dirty="0"/>
              <a:t> </a:t>
            </a:r>
            <a:r>
              <a:rPr dirty="0"/>
              <a:t>Markaları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50" dirty="0"/>
              <a:t>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6595" cy="16230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MEDIATEK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1105"/>
              </a:spcBef>
              <a:tabLst>
                <a:tab pos="1310640" algn="l"/>
                <a:tab pos="2204085" algn="l"/>
                <a:tab pos="3095625" algn="l"/>
                <a:tab pos="3867150" algn="l"/>
                <a:tab pos="5607685" algn="l"/>
                <a:tab pos="6651625" algn="l"/>
                <a:tab pos="7375525" algn="l"/>
                <a:tab pos="845439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bütçe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dostu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akıllı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telefonlarda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yaygın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olan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işlemci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üreticisi.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Dimensity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Helio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serisi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mobil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popülerdir.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49140" y="3395510"/>
            <a:ext cx="3270885" cy="3156585"/>
            <a:chOff x="4549140" y="3395510"/>
            <a:chExt cx="3270885" cy="31565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9140" y="3395510"/>
              <a:ext cx="3270504" cy="31562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4212" y="3590544"/>
              <a:ext cx="2700528" cy="258622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447030"/>
            <a:chOff x="1338072" y="1411224"/>
            <a:chExt cx="9813290" cy="54470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039" y="3803872"/>
              <a:ext cx="5091684" cy="3054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4111" y="3998975"/>
              <a:ext cx="4521708" cy="257708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507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165" dirty="0"/>
              <a:t> </a:t>
            </a:r>
            <a:r>
              <a:rPr dirty="0"/>
              <a:t>Anakart</a:t>
            </a:r>
            <a:r>
              <a:rPr spc="-30" dirty="0"/>
              <a:t> </a:t>
            </a:r>
            <a:r>
              <a:rPr spc="-10" dirty="0"/>
              <a:t>(Mainboard)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42085" y="1516888"/>
            <a:ext cx="958786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Anakart,</a:t>
            </a:r>
            <a:r>
              <a:rPr sz="2400" spc="459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4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merkezi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bileşenidir</a:t>
            </a:r>
            <a:r>
              <a:rPr sz="2400" spc="4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459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tüm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donanım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parçalarını</a:t>
            </a:r>
            <a:r>
              <a:rPr sz="2400" spc="48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birbirine</a:t>
            </a:r>
            <a:r>
              <a:rPr sz="2400" spc="49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bağlayan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platform</a:t>
            </a:r>
            <a:r>
              <a:rPr sz="2400" spc="49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işlev</a:t>
            </a:r>
            <a:r>
              <a:rPr sz="2400" spc="48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görür.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omurgası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düşünülebilir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çünkü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</a:t>
            </a:r>
            <a:r>
              <a:rPr sz="2400" spc="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(CPU),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bellek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(RAM),</a:t>
            </a:r>
            <a:r>
              <a:rPr sz="2400" spc="5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400" spc="5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birimleri</a:t>
            </a:r>
            <a:r>
              <a:rPr sz="2400" spc="5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(SSD/HDD),</a:t>
            </a:r>
            <a:r>
              <a:rPr sz="2400" spc="5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5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r>
              <a:rPr sz="2400" spc="5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(GPU)</a:t>
            </a:r>
            <a:r>
              <a:rPr sz="2400" spc="5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5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diğer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r>
              <a:rPr sz="2400" spc="-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bileşenlerinin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birbirleriyle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iletişim</a:t>
            </a:r>
            <a:r>
              <a:rPr sz="2400" spc="-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kurmasını</a:t>
            </a:r>
            <a:r>
              <a:rPr sz="2400" spc="-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9755">
              <a:lnSpc>
                <a:spcPct val="100000"/>
              </a:lnSpc>
              <a:spcBef>
                <a:spcPts val="95"/>
              </a:spcBef>
            </a:pPr>
            <a:r>
              <a:rPr dirty="0"/>
              <a:t>Anakartın</a:t>
            </a:r>
            <a:r>
              <a:rPr spc="-85" dirty="0"/>
              <a:t> </a:t>
            </a:r>
            <a:r>
              <a:rPr spc="-10" dirty="0"/>
              <a:t>Görevleri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33331"/>
            <a:ext cx="9591040" cy="4803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6415" marR="6350" indent="-514350" algn="just">
              <a:lnSpc>
                <a:spcPct val="110000"/>
              </a:lnSpc>
              <a:spcBef>
                <a:spcPts val="95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Bileşenleri</a:t>
            </a:r>
            <a:r>
              <a:rPr sz="2000" b="1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Bağlama:</a:t>
            </a:r>
            <a:r>
              <a:rPr sz="2000" b="1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Anakart,</a:t>
            </a:r>
            <a:r>
              <a:rPr sz="2000" spc="2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CPU,</a:t>
            </a:r>
            <a:r>
              <a:rPr sz="20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RAM,</a:t>
            </a:r>
            <a:r>
              <a:rPr sz="2000" spc="2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0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aygıtları,</a:t>
            </a:r>
            <a:r>
              <a:rPr sz="20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0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r>
              <a:rPr sz="20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ve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diğer</a:t>
            </a:r>
            <a:r>
              <a:rPr sz="2000" spc="2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donanımlar</a:t>
            </a:r>
            <a:r>
              <a:rPr sz="20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0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çeşitli</a:t>
            </a:r>
            <a:r>
              <a:rPr sz="20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yuvalar</a:t>
            </a:r>
            <a:r>
              <a:rPr sz="2000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bağlantı</a:t>
            </a:r>
            <a:r>
              <a:rPr sz="20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noktaları</a:t>
            </a:r>
            <a:r>
              <a:rPr sz="20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r>
              <a:rPr sz="20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000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bileşenler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anakarta</a:t>
            </a:r>
            <a:r>
              <a:rPr sz="20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monte</a:t>
            </a:r>
            <a:r>
              <a:rPr sz="20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edilir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birbirleriyle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alışverişi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yapar.</a:t>
            </a:r>
            <a:endParaRPr sz="2000">
              <a:latin typeface="Arial"/>
              <a:cs typeface="Arial"/>
            </a:endParaRPr>
          </a:p>
          <a:p>
            <a:pPr marL="526415" marR="6985" indent="-514350" algn="just">
              <a:lnSpc>
                <a:spcPct val="110000"/>
              </a:lnSpc>
              <a:spcBef>
                <a:spcPts val="1105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b="1" spc="4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Akışı</a:t>
            </a:r>
            <a:r>
              <a:rPr sz="2000" b="1" spc="3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spc="4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İletişim:</a:t>
            </a:r>
            <a:r>
              <a:rPr sz="2000" b="1" spc="4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</a:t>
            </a:r>
            <a:r>
              <a:rPr sz="2000" spc="4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üzerindeki</a:t>
            </a:r>
            <a:r>
              <a:rPr sz="2000" spc="4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yollar</a:t>
            </a:r>
            <a:r>
              <a:rPr sz="2000" spc="3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(bus)</a:t>
            </a:r>
            <a:r>
              <a:rPr sz="2000" spc="4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4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devreler,</a:t>
            </a:r>
            <a:r>
              <a:rPr sz="2000" spc="3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donanım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bileşenleri</a:t>
            </a:r>
            <a:r>
              <a:rPr sz="2000" spc="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arasında</a:t>
            </a:r>
            <a:r>
              <a:rPr sz="2000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akışını</a:t>
            </a:r>
            <a:r>
              <a:rPr sz="2000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sağlar. Anakart,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CPU</a:t>
            </a:r>
            <a:r>
              <a:rPr sz="2000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000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RAM</a:t>
            </a:r>
            <a:r>
              <a:rPr sz="2000" spc="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arasında,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CPU</a:t>
            </a:r>
            <a:r>
              <a:rPr sz="2000" spc="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ile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0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birimleri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arasında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diğer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donanımlar</a:t>
            </a:r>
            <a:r>
              <a:rPr sz="20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arasında</a:t>
            </a:r>
            <a:r>
              <a:rPr sz="20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trafiğini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yönetir.</a:t>
            </a:r>
            <a:endParaRPr sz="2000">
              <a:latin typeface="Arial"/>
              <a:cs typeface="Arial"/>
            </a:endParaRPr>
          </a:p>
          <a:p>
            <a:pPr marL="526415" marR="6985" indent="-514350" algn="just">
              <a:lnSpc>
                <a:spcPct val="110000"/>
              </a:lnSpc>
              <a:spcBef>
                <a:spcPts val="1090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Elektrik</a:t>
            </a:r>
            <a:r>
              <a:rPr sz="2000" b="1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Dağıtımı:</a:t>
            </a:r>
            <a:r>
              <a:rPr sz="2000" b="1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0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kaynağından</a:t>
            </a:r>
            <a:r>
              <a:rPr sz="2000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gelen</a:t>
            </a:r>
            <a:r>
              <a:rPr sz="2000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elektrik</a:t>
            </a:r>
            <a:r>
              <a:rPr sz="20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enerjisi,</a:t>
            </a:r>
            <a:r>
              <a:rPr sz="20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</a:t>
            </a:r>
            <a:r>
              <a:rPr sz="20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üzerinden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tüm</a:t>
            </a:r>
            <a:r>
              <a:rPr sz="2000" spc="-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bileşenlere  dağıtılır.  Anakart,</a:t>
            </a:r>
            <a:r>
              <a:rPr sz="2000" spc="-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bileşenlere</a:t>
            </a:r>
            <a:r>
              <a:rPr sz="2000" spc="-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doğru  miktarda  güç  sağlar</a:t>
            </a:r>
            <a:r>
              <a:rPr sz="2000" spc="-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ve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bunların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düzgün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çalışmasını</a:t>
            </a:r>
            <a:r>
              <a:rPr sz="20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000">
              <a:latin typeface="Arial"/>
              <a:cs typeface="Arial"/>
            </a:endParaRPr>
          </a:p>
          <a:p>
            <a:pPr marL="526415" marR="5080" indent="-514350" algn="just">
              <a:lnSpc>
                <a:spcPct val="110000"/>
              </a:lnSpc>
              <a:spcBef>
                <a:spcPts val="1110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BIOS/UEFI: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Anakart,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BIOS</a:t>
            </a:r>
            <a:r>
              <a:rPr sz="20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(Basic Input/Output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System)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veya daha</a:t>
            </a:r>
            <a:r>
              <a:rPr sz="2000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modern</a:t>
            </a:r>
            <a:r>
              <a:rPr sz="20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olan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UEFI</a:t>
            </a:r>
            <a:r>
              <a:rPr sz="2000" spc="1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(Unified</a:t>
            </a:r>
            <a:r>
              <a:rPr sz="2000" spc="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Extensible</a:t>
            </a:r>
            <a:r>
              <a:rPr sz="2000" spc="1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Firmware</a:t>
            </a:r>
            <a:r>
              <a:rPr sz="2000" spc="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Interface)</a:t>
            </a:r>
            <a:r>
              <a:rPr sz="2000" spc="1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yazılımına</a:t>
            </a:r>
            <a:r>
              <a:rPr sz="2000" spc="1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sahip</a:t>
            </a:r>
            <a:r>
              <a:rPr sz="2000" spc="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olur.</a:t>
            </a:r>
            <a:r>
              <a:rPr sz="2000" spc="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000" spc="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yazılım,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000" spc="4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açılışında</a:t>
            </a:r>
            <a:r>
              <a:rPr sz="2000" spc="4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donanımın</a:t>
            </a:r>
            <a:r>
              <a:rPr sz="2000" spc="4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düzgün</a:t>
            </a:r>
            <a:r>
              <a:rPr sz="2000" spc="4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çalışmasını</a:t>
            </a:r>
            <a:r>
              <a:rPr sz="2000" spc="4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kontrol</a:t>
            </a:r>
            <a:r>
              <a:rPr sz="2000" spc="4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eder</a:t>
            </a:r>
            <a:r>
              <a:rPr sz="2000" spc="4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4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işletim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sistemini</a:t>
            </a:r>
            <a:r>
              <a:rPr sz="20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başlatır.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0375">
              <a:lnSpc>
                <a:spcPct val="100000"/>
              </a:lnSpc>
              <a:spcBef>
                <a:spcPts val="95"/>
              </a:spcBef>
            </a:pPr>
            <a:r>
              <a:rPr dirty="0"/>
              <a:t>Anakartın</a:t>
            </a:r>
            <a:r>
              <a:rPr spc="-80" dirty="0"/>
              <a:t> </a:t>
            </a:r>
            <a:r>
              <a:rPr dirty="0"/>
              <a:t>Bileşenleri</a:t>
            </a:r>
            <a:r>
              <a:rPr spc="-65" dirty="0"/>
              <a:t> </a:t>
            </a:r>
            <a:r>
              <a:rPr dirty="0"/>
              <a:t>ve</a:t>
            </a:r>
            <a:r>
              <a:rPr spc="-145" dirty="0"/>
              <a:t> </a:t>
            </a:r>
            <a:r>
              <a:rPr spc="-10" dirty="0"/>
              <a:t>Yuvaları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33331"/>
            <a:ext cx="9590405" cy="4803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6415" marR="5080" indent="-514350" algn="just">
              <a:lnSpc>
                <a:spcPct val="110000"/>
              </a:lnSpc>
              <a:spcBef>
                <a:spcPts val="95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CPU</a:t>
            </a:r>
            <a:r>
              <a:rPr sz="2000" b="1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Yuvası</a:t>
            </a:r>
            <a:r>
              <a:rPr sz="2000" b="1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(Socket):</a:t>
            </a:r>
            <a:r>
              <a:rPr sz="2000" b="1" spc="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İşlemcinin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monte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edildiği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yuvadır. Farklı</a:t>
            </a:r>
            <a:r>
              <a:rPr sz="20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anakartlar,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farklı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CPU</a:t>
            </a:r>
            <a:r>
              <a:rPr sz="2000" spc="2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yuva</a:t>
            </a:r>
            <a:r>
              <a:rPr sz="2000" spc="2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tiplerini</a:t>
            </a:r>
            <a:r>
              <a:rPr sz="2000" spc="2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destekler,</a:t>
            </a:r>
            <a:r>
              <a:rPr sz="20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000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nedenle</a:t>
            </a:r>
            <a:r>
              <a:rPr sz="2000" spc="2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</a:t>
            </a:r>
            <a:r>
              <a:rPr sz="2000" spc="2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0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işlemcinin</a:t>
            </a:r>
            <a:r>
              <a:rPr sz="2000" spc="2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uyumlu</a:t>
            </a:r>
            <a:r>
              <a:rPr sz="2000" spc="2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olması 	gerekir.</a:t>
            </a:r>
            <a:r>
              <a:rPr sz="20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Örneğin,</a:t>
            </a:r>
            <a:r>
              <a:rPr sz="20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Intel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-1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AMD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işlemciler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0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farklı</a:t>
            </a:r>
            <a:r>
              <a:rPr sz="20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soket</a:t>
            </a:r>
            <a:r>
              <a:rPr sz="20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tipleri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vardır.</a:t>
            </a:r>
            <a:endParaRPr sz="2000">
              <a:latin typeface="Arial"/>
              <a:cs typeface="Arial"/>
            </a:endParaRPr>
          </a:p>
          <a:p>
            <a:pPr marL="526415" marR="5080" indent="-514350" algn="just">
              <a:lnSpc>
                <a:spcPct val="110000"/>
              </a:lnSpc>
              <a:spcBef>
                <a:spcPts val="1105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RAM</a:t>
            </a:r>
            <a:r>
              <a:rPr sz="2000" b="1" spc="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Yuvaları</a:t>
            </a:r>
            <a:r>
              <a:rPr sz="2000" b="1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(DIMM</a:t>
            </a:r>
            <a:r>
              <a:rPr sz="2000" b="1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Slots):</a:t>
            </a:r>
            <a:r>
              <a:rPr sz="2000" b="1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Anakart,</a:t>
            </a:r>
            <a:r>
              <a:rPr sz="20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000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iki</a:t>
            </a:r>
            <a:r>
              <a:rPr sz="20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0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dört</a:t>
            </a:r>
            <a:r>
              <a:rPr sz="2000" spc="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adet</a:t>
            </a:r>
            <a:r>
              <a:rPr sz="20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RAM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yuvasına</a:t>
            </a:r>
            <a:r>
              <a:rPr sz="20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sahip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olur.  RAM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modülleri  bu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yuvalara</a:t>
            </a:r>
            <a:r>
              <a:rPr sz="20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takılır</a:t>
            </a:r>
            <a:r>
              <a:rPr sz="2000" spc="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işlemci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0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RAM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arasındaki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transferini</a:t>
            </a:r>
            <a:r>
              <a:rPr sz="20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000">
              <a:latin typeface="Arial"/>
              <a:cs typeface="Arial"/>
            </a:endParaRPr>
          </a:p>
          <a:p>
            <a:pPr marL="526415" marR="5080" indent="-514350" algn="just">
              <a:lnSpc>
                <a:spcPct val="110000"/>
              </a:lnSpc>
              <a:spcBef>
                <a:spcPts val="1090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PCIe</a:t>
            </a:r>
            <a:r>
              <a:rPr sz="2000" b="1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Yuvaları:</a:t>
            </a:r>
            <a:r>
              <a:rPr sz="2000" b="1" spc="1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0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r>
              <a:rPr sz="20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(GPU),</a:t>
            </a:r>
            <a:r>
              <a:rPr sz="20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000" spc="1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kartı,</a:t>
            </a:r>
            <a:r>
              <a:rPr sz="2000" spc="1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ağ</a:t>
            </a:r>
            <a:r>
              <a:rPr sz="2000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r>
              <a:rPr sz="20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000" spc="1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genişleme</a:t>
            </a:r>
            <a:r>
              <a:rPr sz="2000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kartlarının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takılabileceği</a:t>
            </a:r>
            <a:r>
              <a:rPr sz="2000" spc="4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yuvalardır.</a:t>
            </a:r>
            <a:r>
              <a:rPr sz="2000" spc="3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r>
              <a:rPr sz="2000" spc="4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PCIe</a:t>
            </a:r>
            <a:r>
              <a:rPr sz="2000" spc="4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x16</a:t>
            </a:r>
            <a:r>
              <a:rPr sz="2000" spc="4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yuvası,</a:t>
            </a:r>
            <a:r>
              <a:rPr sz="2000" spc="4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000" spc="3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kartlarının</a:t>
            </a:r>
            <a:r>
              <a:rPr sz="2000" spc="3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takıldığı 	yerdir.</a:t>
            </a:r>
            <a:endParaRPr sz="2000">
              <a:latin typeface="Arial"/>
              <a:cs typeface="Arial"/>
            </a:endParaRPr>
          </a:p>
          <a:p>
            <a:pPr marL="526415" marR="6350" indent="-514350" algn="just">
              <a:lnSpc>
                <a:spcPct val="110000"/>
              </a:lnSpc>
              <a:spcBef>
                <a:spcPts val="1110"/>
              </a:spcBef>
              <a:buClr>
                <a:srgbClr val="F88556"/>
              </a:buClr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Bağlantıları</a:t>
            </a:r>
            <a:r>
              <a:rPr sz="2000" b="1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(SATA,</a:t>
            </a:r>
            <a:r>
              <a:rPr sz="2000" b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M.2):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Hard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disk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(HDD),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katı</a:t>
            </a:r>
            <a:r>
              <a:rPr sz="20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hal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sürücüleri</a:t>
            </a:r>
            <a:r>
              <a:rPr sz="20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(SSD)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000" spc="3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000" spc="3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birimlerinin</a:t>
            </a:r>
            <a:r>
              <a:rPr sz="2000" spc="3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anakarta</a:t>
            </a:r>
            <a:r>
              <a:rPr sz="2000" spc="3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bağlanması</a:t>
            </a:r>
            <a:r>
              <a:rPr sz="2000" spc="3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000" spc="3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kullanılan</a:t>
            </a:r>
            <a:r>
              <a:rPr sz="2000" spc="3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bağlantı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noktalarıdır.</a:t>
            </a:r>
            <a:r>
              <a:rPr sz="2000" spc="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M.2</a:t>
            </a:r>
            <a:r>
              <a:rPr sz="2000" spc="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bağlantıları</a:t>
            </a:r>
            <a:r>
              <a:rPr sz="20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000" spc="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yeni</a:t>
            </a:r>
            <a:r>
              <a:rPr sz="2000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hızlıdır,</a:t>
            </a:r>
            <a:r>
              <a:rPr sz="2000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000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NVMe</a:t>
            </a:r>
            <a:r>
              <a:rPr sz="2000" spc="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SSD'ler</a:t>
            </a:r>
            <a:r>
              <a:rPr sz="2000" spc="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için 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0375">
              <a:lnSpc>
                <a:spcPct val="100000"/>
              </a:lnSpc>
              <a:spcBef>
                <a:spcPts val="95"/>
              </a:spcBef>
            </a:pPr>
            <a:r>
              <a:rPr dirty="0"/>
              <a:t>Anakartın</a:t>
            </a:r>
            <a:r>
              <a:rPr spc="-80" dirty="0"/>
              <a:t> </a:t>
            </a:r>
            <a:r>
              <a:rPr dirty="0"/>
              <a:t>Bileşenleri</a:t>
            </a:r>
            <a:r>
              <a:rPr spc="-65" dirty="0"/>
              <a:t> </a:t>
            </a:r>
            <a:r>
              <a:rPr dirty="0"/>
              <a:t>ve</a:t>
            </a:r>
            <a:r>
              <a:rPr spc="-145" dirty="0"/>
              <a:t> </a:t>
            </a:r>
            <a:r>
              <a:rPr spc="-10" dirty="0"/>
              <a:t>Yuvaları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25747"/>
            <a:ext cx="9591040" cy="1994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6415" marR="5715" indent="-514350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90000"/>
              <a:buAutoNum type="arabicPeriod" startAt="5"/>
              <a:tabLst>
                <a:tab pos="5276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000" b="1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Bağlantıları:</a:t>
            </a:r>
            <a:r>
              <a:rPr sz="2000" b="1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000" spc="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kaynağından</a:t>
            </a:r>
            <a:r>
              <a:rPr sz="2000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gelen</a:t>
            </a:r>
            <a:r>
              <a:rPr sz="20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kabloların</a:t>
            </a:r>
            <a:r>
              <a:rPr sz="2000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bağlandığı</a:t>
            </a:r>
            <a:r>
              <a:rPr sz="2000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soketlerdir.</a:t>
            </a:r>
            <a:r>
              <a:rPr sz="2000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24-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pin</a:t>
            </a:r>
            <a:r>
              <a:rPr sz="2000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ATX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000" spc="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bağlantısı</a:t>
            </a:r>
            <a:r>
              <a:rPr sz="20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ana</a:t>
            </a:r>
            <a:r>
              <a:rPr sz="20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gücü</a:t>
            </a:r>
            <a:r>
              <a:rPr sz="20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sağlar,</a:t>
            </a:r>
            <a:r>
              <a:rPr sz="2000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8-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pin</a:t>
            </a:r>
            <a:r>
              <a:rPr sz="2000" spc="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CPU</a:t>
            </a:r>
            <a:r>
              <a:rPr sz="20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000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bağlantısı</a:t>
            </a:r>
            <a:r>
              <a:rPr sz="20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ise</a:t>
            </a:r>
            <a:r>
              <a:rPr sz="20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işlemciye 	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gerekli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gücü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iletir.</a:t>
            </a:r>
            <a:endParaRPr sz="20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AutoNum type="arabicPeriod" startAt="5"/>
              <a:tabLst>
                <a:tab pos="527685" algn="l"/>
                <a:tab pos="1936114" algn="l"/>
                <a:tab pos="2581910" algn="l"/>
                <a:tab pos="3694429" algn="l"/>
                <a:tab pos="4921885" algn="l"/>
                <a:tab pos="5555615" algn="l"/>
                <a:tab pos="6726555" algn="l"/>
                <a:tab pos="7219950" algn="l"/>
                <a:tab pos="7842250" algn="l"/>
                <a:tab pos="9053830" algn="l"/>
              </a:tabLst>
            </a:pP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Giriş-Çıkış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(I/O)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Portları: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Anakartın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arka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kısmında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yer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alan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portlardır.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USB</a:t>
            </a:r>
            <a:endParaRPr sz="20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portları,</a:t>
            </a:r>
            <a:r>
              <a:rPr sz="20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HDMI,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Ethernet,</a:t>
            </a:r>
            <a:r>
              <a:rPr sz="20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girişleri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bağlantılar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burada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bulunur.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7197" y="4059682"/>
            <a:ext cx="2957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0685" algn="l"/>
                <a:tab pos="2661285" algn="l"/>
              </a:tabLst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bileşenlerinin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uyumlu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085" y="3633571"/>
            <a:ext cx="959040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80"/>
              </a:spcBef>
              <a:tabLst>
                <a:tab pos="514984" algn="l"/>
                <a:tab pos="1454785" algn="l"/>
                <a:tab pos="2101850" algn="l"/>
                <a:tab pos="3465829" algn="l"/>
                <a:tab pos="4732020" algn="l"/>
                <a:tab pos="5800725" algn="l"/>
                <a:tab pos="7227570" algn="l"/>
                <a:tab pos="7675245" algn="l"/>
                <a:tab pos="9140190" algn="l"/>
              </a:tabLst>
            </a:pPr>
            <a:r>
              <a:rPr sz="1800" b="1" spc="-25" dirty="0">
                <a:solidFill>
                  <a:srgbClr val="F88556"/>
                </a:solidFill>
                <a:latin typeface="Arial"/>
                <a:cs typeface="Arial"/>
              </a:rPr>
              <a:t>7.</a:t>
            </a:r>
            <a:r>
              <a:rPr sz="1800" b="1" dirty="0">
                <a:solidFill>
                  <a:srgbClr val="F88556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Yonga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Seti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(Chipset):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Anakartın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merkezi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işlemcisidir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tüm</a:t>
            </a:r>
            <a:endParaRPr sz="2000">
              <a:latin typeface="Arial"/>
              <a:cs typeface="Arial"/>
            </a:endParaRPr>
          </a:p>
          <a:p>
            <a:pPr marR="6350" algn="r">
              <a:lnSpc>
                <a:spcPct val="100000"/>
              </a:lnSpc>
              <a:spcBef>
                <a:spcPts val="480"/>
              </a:spcBef>
              <a:tabLst>
                <a:tab pos="963294" algn="l"/>
                <a:tab pos="2416810" algn="l"/>
                <a:tab pos="3337560" algn="l"/>
                <a:tab pos="4220210" algn="l"/>
                <a:tab pos="4857115" algn="l"/>
              </a:tabLst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şekilde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çalışmasını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Yonga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seti,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bileşenler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7197" y="4364710"/>
            <a:ext cx="907415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  <a:tabLst>
                <a:tab pos="1326515" algn="l"/>
                <a:tab pos="1878330" algn="l"/>
                <a:tab pos="2763520" algn="l"/>
                <a:tab pos="3725545" algn="l"/>
                <a:tab pos="4500880" algn="l"/>
                <a:tab pos="5828665" algn="l"/>
                <a:tab pos="6517640" algn="l"/>
                <a:tab pos="7351395" algn="l"/>
                <a:tab pos="8453120" algn="l"/>
              </a:tabLst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arasındaki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akışını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yönetir.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Farklı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anakartlar,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farklı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yonga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setlerine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sahip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olabilir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performansı</a:t>
            </a:r>
            <a:r>
              <a:rPr sz="20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özellikleri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etkiler.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267325"/>
            <a:chOff x="1338072" y="1411224"/>
            <a:chExt cx="9813290" cy="526732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1951" y="1880523"/>
              <a:ext cx="8609023" cy="47976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0375">
              <a:lnSpc>
                <a:spcPct val="100000"/>
              </a:lnSpc>
              <a:spcBef>
                <a:spcPts val="95"/>
              </a:spcBef>
            </a:pPr>
            <a:r>
              <a:rPr dirty="0"/>
              <a:t>Anakartın</a:t>
            </a:r>
            <a:r>
              <a:rPr spc="-80" dirty="0"/>
              <a:t> </a:t>
            </a:r>
            <a:r>
              <a:rPr dirty="0"/>
              <a:t>Bileşenleri</a:t>
            </a:r>
            <a:r>
              <a:rPr spc="-65" dirty="0"/>
              <a:t> </a:t>
            </a:r>
            <a:r>
              <a:rPr dirty="0"/>
              <a:t>ve</a:t>
            </a:r>
            <a:r>
              <a:rPr spc="-145" dirty="0"/>
              <a:t> </a:t>
            </a:r>
            <a:r>
              <a:rPr spc="-10" dirty="0"/>
              <a:t>Yuvaları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45" dirty="0"/>
              <a:t> </a:t>
            </a:r>
            <a:r>
              <a:rPr dirty="0"/>
              <a:t>RAM</a:t>
            </a:r>
            <a:r>
              <a:rPr spc="-45" dirty="0"/>
              <a:t> </a:t>
            </a:r>
            <a:r>
              <a:rPr spc="-10" dirty="0"/>
              <a:t>(Random</a:t>
            </a:r>
            <a:r>
              <a:rPr spc="-165" dirty="0"/>
              <a:t> </a:t>
            </a:r>
            <a:r>
              <a:rPr dirty="0"/>
              <a:t>Access</a:t>
            </a:r>
            <a:r>
              <a:rPr spc="-45" dirty="0"/>
              <a:t> </a:t>
            </a:r>
            <a:r>
              <a:rPr spc="-10" dirty="0"/>
              <a:t>Memory)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19022" y="1816989"/>
            <a:ext cx="9709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292860" algn="l"/>
                <a:tab pos="3014980" algn="l"/>
                <a:tab pos="3754120" algn="l"/>
                <a:tab pos="4662805" algn="l"/>
                <a:tab pos="6133465" algn="l"/>
                <a:tab pos="7636509" algn="l"/>
                <a:tab pos="8866505" algn="l"/>
              </a:tabLst>
            </a:pP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RAM,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kısa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süreli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belleğidir.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açıkken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veriler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7350" y="2255901"/>
            <a:ext cx="9370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1750" algn="l"/>
                <a:tab pos="2557780" algn="l"/>
                <a:tab pos="3710304" algn="l"/>
                <a:tab pos="4761865" algn="l"/>
                <a:tab pos="6948805" algn="l"/>
                <a:tab pos="7611745" algn="l"/>
                <a:tab pos="8290559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burada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tutulur,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ancak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cihaz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kapandığında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ya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yeniden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9022" y="2480614"/>
            <a:ext cx="9710420" cy="2063114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350520" algn="just">
              <a:lnSpc>
                <a:spcPct val="100000"/>
              </a:lnSpc>
              <a:spcBef>
                <a:spcPts val="1785"/>
              </a:spcBef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başlatıldığında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silinir.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İşlemci,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RAM'e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diğer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400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birimlerine</a:t>
            </a:r>
            <a:r>
              <a:rPr sz="2400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(sabit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disk</a:t>
            </a:r>
            <a:r>
              <a:rPr sz="2400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gibi)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göre</a:t>
            </a:r>
            <a:r>
              <a:rPr sz="2400" spc="1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çok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5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spc="5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erişir.</a:t>
            </a:r>
            <a:r>
              <a:rPr sz="2400" spc="5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5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yüzden</a:t>
            </a:r>
            <a:r>
              <a:rPr sz="2400" spc="5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aktif</a:t>
            </a:r>
            <a:r>
              <a:rPr sz="2400" spc="5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kullanılan</a:t>
            </a:r>
            <a:r>
              <a:rPr sz="2400" spc="5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programlar</a:t>
            </a:r>
            <a:r>
              <a:rPr sz="2400" spc="5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RAM'de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tutulur.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9543" y="4267200"/>
            <a:ext cx="3858767" cy="244754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95"/>
              </a:spcBef>
            </a:pPr>
            <a:r>
              <a:rPr dirty="0"/>
              <a:t>RAM</a:t>
            </a:r>
            <a:r>
              <a:rPr spc="-55" dirty="0"/>
              <a:t> </a:t>
            </a:r>
            <a:r>
              <a:rPr spc="-10" dirty="0"/>
              <a:t>(Random</a:t>
            </a:r>
            <a:r>
              <a:rPr spc="-160" dirty="0"/>
              <a:t> </a:t>
            </a:r>
            <a:r>
              <a:rPr dirty="0"/>
              <a:t>Access</a:t>
            </a:r>
            <a:r>
              <a:rPr spc="-50" dirty="0"/>
              <a:t> </a:t>
            </a:r>
            <a:r>
              <a:rPr spc="-10" dirty="0"/>
              <a:t>Memory)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2785" cy="2360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35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Çalışma</a:t>
            </a:r>
            <a:r>
              <a:rPr sz="2400" b="1" spc="5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Prensibi:</a:t>
            </a:r>
            <a:r>
              <a:rPr sz="2400" b="1" spc="5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RAM,</a:t>
            </a:r>
            <a:r>
              <a:rPr sz="2400" spc="5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işlemcinin</a:t>
            </a:r>
            <a:r>
              <a:rPr sz="2400" spc="5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anlık</a:t>
            </a:r>
            <a:r>
              <a:rPr sz="2400" spc="5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5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ihtiyaç</a:t>
            </a:r>
            <a:r>
              <a:rPr sz="2400" spc="5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duyduğu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talimatlara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hızlıca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erişmesini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Örneğin,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program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çalıştırıldığında,</a:t>
            </a:r>
            <a:r>
              <a:rPr sz="2400" spc="2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programın</a:t>
            </a:r>
            <a:r>
              <a:rPr sz="2400" spc="20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</a:t>
            </a:r>
            <a:r>
              <a:rPr sz="2400" spc="20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RAM'e</a:t>
            </a:r>
            <a:r>
              <a:rPr sz="2400" spc="20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yüklenir,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böylece</a:t>
            </a:r>
            <a:r>
              <a:rPr sz="2400" spc="20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işlemci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hızla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verilere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erişebilir.</a:t>
            </a:r>
            <a:endParaRPr sz="2400">
              <a:latin typeface="Arial"/>
              <a:cs typeface="Arial"/>
            </a:endParaRPr>
          </a:p>
          <a:p>
            <a:pPr marL="350520" indent="-33782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Boyut</a:t>
            </a:r>
            <a:r>
              <a:rPr sz="2400" b="1" spc="2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b="1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Performans:</a:t>
            </a:r>
            <a:r>
              <a:rPr sz="2400" b="1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RAM'in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kapasitesi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(örneğin,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8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GB,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16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GB)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6508" y="3852795"/>
            <a:ext cx="619188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  <a:tabLst>
                <a:tab pos="1969770" algn="l"/>
                <a:tab pos="2554605" algn="l"/>
                <a:tab pos="2954020" algn="l"/>
                <a:tab pos="3641090" algn="l"/>
                <a:tab pos="4043679" algn="l"/>
                <a:tab pos="4571365" algn="l"/>
                <a:tab pos="4929505" algn="l"/>
                <a:tab pos="541718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aynı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anda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kaç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programı çalıştırabileceğini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etkiler.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fazla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RAM,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6193" y="3852795"/>
            <a:ext cx="2872740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6530">
              <a:lnSpc>
                <a:spcPct val="120000"/>
              </a:lnSpc>
              <a:spcBef>
                <a:spcPts val="95"/>
              </a:spcBef>
              <a:tabLst>
                <a:tab pos="1062355" algn="l"/>
                <a:tab pos="1160145" algn="l"/>
                <a:tab pos="190817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6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şekilde birden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fazla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6508" y="4803775"/>
            <a:ext cx="387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sorunsuz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çalışmasını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7220">
              <a:lnSpc>
                <a:spcPct val="100000"/>
              </a:lnSpc>
              <a:spcBef>
                <a:spcPts val="95"/>
              </a:spcBef>
            </a:pPr>
            <a:r>
              <a:rPr dirty="0"/>
              <a:t>RAM</a:t>
            </a:r>
            <a:r>
              <a:rPr spc="-55" dirty="0"/>
              <a:t> </a:t>
            </a:r>
            <a:r>
              <a:rPr spc="-10" dirty="0"/>
              <a:t>(Random</a:t>
            </a:r>
            <a:r>
              <a:rPr spc="-160" dirty="0"/>
              <a:t> </a:t>
            </a:r>
            <a:r>
              <a:rPr dirty="0"/>
              <a:t>Access</a:t>
            </a:r>
            <a:r>
              <a:rPr spc="-50" dirty="0"/>
              <a:t> </a:t>
            </a:r>
            <a:r>
              <a:rPr spc="-10" dirty="0"/>
              <a:t>Memory)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8688705" cy="40773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Özetle: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Çok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çalışan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bellektir.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Bilgiler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geçici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tutulur.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kapanması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durumunda</a:t>
            </a:r>
            <a:r>
              <a:rPr sz="2400" spc="-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bilgiler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silinir.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Yazılabilir,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okunabilir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içerisindeki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değiştirilebilir.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çalışması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gereklidir.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Günümüzde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8GB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–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64GB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arası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kişisel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kullanım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seçilebilir.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699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55" dirty="0"/>
              <a:t> </a:t>
            </a:r>
            <a:r>
              <a:rPr dirty="0"/>
              <a:t>ROM</a:t>
            </a:r>
            <a:r>
              <a:rPr spc="-60" dirty="0"/>
              <a:t> </a:t>
            </a:r>
            <a:r>
              <a:rPr dirty="0"/>
              <a:t>(Read</a:t>
            </a:r>
            <a:r>
              <a:rPr spc="-30" dirty="0"/>
              <a:t> </a:t>
            </a:r>
            <a:r>
              <a:rPr dirty="0"/>
              <a:t>Only</a:t>
            </a:r>
            <a:r>
              <a:rPr spc="-50" dirty="0"/>
              <a:t> </a:t>
            </a:r>
            <a:r>
              <a:rPr spc="-10" dirty="0"/>
              <a:t>Memory)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8500" cy="2660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temel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bileşenlerinden</a:t>
            </a:r>
            <a:r>
              <a:rPr sz="2400" spc="1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biridir</a:t>
            </a:r>
            <a:r>
              <a:rPr sz="2400" spc="1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verilerin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kalıcı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olarak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depolandığı</a:t>
            </a:r>
            <a:r>
              <a:rPr sz="2400" spc="5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5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bellek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türüdür.</a:t>
            </a:r>
            <a:r>
              <a:rPr sz="2400" spc="5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ROM</a:t>
            </a:r>
            <a:r>
              <a:rPr sz="2400" spc="5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belleği,</a:t>
            </a:r>
            <a:r>
              <a:rPr sz="2400" spc="5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enerji</a:t>
            </a:r>
            <a:r>
              <a:rPr sz="2400" spc="5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kesildiğinde</a:t>
            </a:r>
            <a:r>
              <a:rPr sz="2400" spc="5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bile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verilerin</a:t>
            </a:r>
            <a:r>
              <a:rPr sz="2400" spc="25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kaybolmamasını</a:t>
            </a:r>
            <a:r>
              <a:rPr sz="2400" spc="25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sağlar</a:t>
            </a:r>
            <a:r>
              <a:rPr sz="2400" spc="2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25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2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nedenle</a:t>
            </a:r>
            <a:r>
              <a:rPr sz="2400" spc="2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r>
              <a:rPr sz="2400" spc="2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sistem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yazılımları</a:t>
            </a:r>
            <a:r>
              <a:rPr sz="2400" spc="29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firmware</a:t>
            </a:r>
            <a:r>
              <a:rPr sz="2400" spc="29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(donanım</a:t>
            </a:r>
            <a:r>
              <a:rPr sz="2400" spc="30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yazılımı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-</a:t>
            </a:r>
            <a:r>
              <a:rPr sz="2400" spc="29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cihazın</a:t>
            </a:r>
            <a:r>
              <a:rPr sz="2400" spc="29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içerisindeki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parçaların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birbiriyle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iletişim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kurmasın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sağlar)</a:t>
            </a:r>
            <a:r>
              <a:rPr sz="2400" spc="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kritik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bilgiler</a:t>
            </a:r>
            <a:r>
              <a:rPr sz="2400" spc="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için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1135" y="3860291"/>
            <a:ext cx="4619244" cy="261213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1565">
              <a:lnSpc>
                <a:spcPct val="100000"/>
              </a:lnSpc>
              <a:spcBef>
                <a:spcPts val="95"/>
              </a:spcBef>
            </a:pPr>
            <a:r>
              <a:rPr dirty="0"/>
              <a:t>ROM</a:t>
            </a:r>
            <a:r>
              <a:rPr spc="-85" dirty="0"/>
              <a:t> </a:t>
            </a:r>
            <a:r>
              <a:rPr dirty="0"/>
              <a:t>Bellek</a:t>
            </a:r>
            <a:r>
              <a:rPr spc="-95" dirty="0"/>
              <a:t> </a:t>
            </a:r>
            <a:r>
              <a:rPr spc="-10" dirty="0"/>
              <a:t>Kullanım</a:t>
            </a:r>
            <a:r>
              <a:rPr spc="-185" dirty="0"/>
              <a:t> </a:t>
            </a:r>
            <a:r>
              <a:rPr spc="-10" dirty="0"/>
              <a:t>Alanları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1515" cy="4834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BIOS/UEFI:</a:t>
            </a:r>
            <a:r>
              <a:rPr sz="2400" b="1" spc="3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açılışında</a:t>
            </a:r>
            <a:r>
              <a:rPr sz="2400" spc="3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gerekli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olan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temel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sistem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yazılımları</a:t>
            </a:r>
            <a:r>
              <a:rPr sz="2400" spc="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burada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depolanır.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yazılım,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r>
              <a:rPr sz="2400" spc="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bileşenlerinin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tanınması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işletim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sisteminin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başlatılması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gereklidir.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Firmware:</a:t>
            </a:r>
            <a:r>
              <a:rPr sz="2400" b="1" spc="48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Cihazların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(örneğin,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yazıcılar,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routerlar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4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diğer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elektronik</a:t>
            </a:r>
            <a:r>
              <a:rPr sz="2400" spc="4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cihazlar)</a:t>
            </a:r>
            <a:r>
              <a:rPr sz="2400" spc="4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temel</a:t>
            </a:r>
            <a:r>
              <a:rPr sz="2400" spc="4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işlevselliğini</a:t>
            </a:r>
            <a:r>
              <a:rPr sz="2400" spc="4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sağlayan</a:t>
            </a:r>
            <a:r>
              <a:rPr sz="2400" spc="4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yazılımlar</a:t>
            </a:r>
            <a:r>
              <a:rPr sz="2400" spc="4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burada saklanır.</a:t>
            </a:r>
            <a:endParaRPr sz="2400">
              <a:latin typeface="Arial"/>
              <a:cs typeface="Arial"/>
            </a:endParaRPr>
          </a:p>
          <a:p>
            <a:pPr marL="350520" indent="-337820" algn="just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b="1" spc="1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Kartları:</a:t>
            </a:r>
            <a:r>
              <a:rPr sz="2400" b="1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Eski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konsollarında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kullanılan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endParaRPr sz="2400">
              <a:latin typeface="Arial"/>
              <a:cs typeface="Arial"/>
            </a:endParaRPr>
          </a:p>
          <a:p>
            <a:pPr marL="350520" algn="just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ROM</a:t>
            </a:r>
            <a:r>
              <a:rPr sz="2400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belleğinde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depolanır.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Gömülü</a:t>
            </a:r>
            <a:r>
              <a:rPr sz="2400" b="1" spc="3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Sistemler:</a:t>
            </a:r>
            <a:r>
              <a:rPr sz="2400" b="1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Birçok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gömülü</a:t>
            </a:r>
            <a:r>
              <a:rPr sz="2400" spc="3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sistem,</a:t>
            </a:r>
            <a:r>
              <a:rPr sz="2400" spc="3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yazılımlarını</a:t>
            </a:r>
            <a:r>
              <a:rPr sz="2400" spc="3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işletim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sistemlerini</a:t>
            </a:r>
            <a:r>
              <a:rPr sz="2400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ROM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belleğinde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saklar.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95"/>
              </a:spcBef>
            </a:pPr>
            <a:r>
              <a:rPr dirty="0"/>
              <a:t>ROM</a:t>
            </a:r>
            <a:r>
              <a:rPr spc="-60" dirty="0"/>
              <a:t> </a:t>
            </a:r>
            <a:r>
              <a:rPr dirty="0"/>
              <a:t>(Read</a:t>
            </a:r>
            <a:r>
              <a:rPr spc="-60" dirty="0"/>
              <a:t> </a:t>
            </a:r>
            <a:r>
              <a:rPr dirty="0"/>
              <a:t>Only</a:t>
            </a:r>
            <a:r>
              <a:rPr spc="-50" dirty="0"/>
              <a:t> </a:t>
            </a:r>
            <a:r>
              <a:rPr spc="-10" dirty="0"/>
              <a:t>Memory)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7230" cy="379857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Özetle: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Sadece</a:t>
            </a:r>
            <a:r>
              <a:rPr sz="2400" spc="-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okunabilir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bellektir.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Üzerindeki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bilgiler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değiştirilemez,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silinemez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yeni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eklenemez.</a:t>
            </a:r>
            <a:endParaRPr sz="2400">
              <a:latin typeface="Arial"/>
              <a:cs typeface="Arial"/>
            </a:endParaRPr>
          </a:p>
          <a:p>
            <a:pPr marL="356870" marR="6350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  <a:tab pos="1263650" algn="l"/>
                <a:tab pos="3394710" algn="l"/>
                <a:tab pos="4487545" algn="l"/>
                <a:tab pos="6210935" algn="l"/>
                <a:tab pos="6747509" algn="l"/>
                <a:tab pos="762127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Cihaz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kapatıldığında,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elektrik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kesildiğinde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vb.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enerji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kesilmelerinde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üzerindeki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kaybolmaz.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  <a:tab pos="177292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Cihazlara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gömülü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2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şekilde</a:t>
            </a:r>
            <a:r>
              <a:rPr sz="2400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gelir</a:t>
            </a:r>
            <a:r>
              <a:rPr sz="2400" spc="2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cihazın</a:t>
            </a:r>
            <a:r>
              <a:rPr sz="24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çalışması</a:t>
            </a:r>
            <a:r>
              <a:rPr sz="2400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2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gerekli</a:t>
            </a:r>
            <a:endParaRPr sz="24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bilgileri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depolar.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42765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5" dirty="0"/>
              <a:t> </a:t>
            </a:r>
            <a:r>
              <a:rPr dirty="0"/>
              <a:t>Ekran</a:t>
            </a:r>
            <a:r>
              <a:rPr spc="-5" dirty="0"/>
              <a:t> </a:t>
            </a:r>
            <a:r>
              <a:rPr spc="-20" dirty="0"/>
              <a:t>Kartı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786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4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kartı,</a:t>
            </a:r>
            <a:r>
              <a:rPr sz="2400" spc="4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bilgisayarda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</a:t>
            </a:r>
            <a:r>
              <a:rPr sz="2400" spc="5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işlemlerini</a:t>
            </a:r>
            <a:r>
              <a:rPr sz="2400" spc="5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gerçekleştiren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donanım birimidir.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İşlem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Birimi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(GPU)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barındırır</a:t>
            </a:r>
            <a:r>
              <a:rPr sz="24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görüntülerin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monitörde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doğru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 şekilde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gösterilmesini sağlar.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Özellikle oyun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oynama,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düzenleme,</a:t>
            </a:r>
            <a:r>
              <a:rPr sz="2400" spc="2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3D</a:t>
            </a:r>
            <a:r>
              <a:rPr sz="2400" spc="2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modelleme</a:t>
            </a:r>
            <a:r>
              <a:rPr sz="2400" spc="2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yoğun</a:t>
            </a:r>
            <a:r>
              <a:rPr sz="2400" spc="2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işlemler</a:t>
            </a:r>
            <a:r>
              <a:rPr sz="2400" spc="2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kritik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parçadır.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0091" y="3666744"/>
            <a:ext cx="4888992" cy="28422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6610">
              <a:lnSpc>
                <a:spcPct val="100000"/>
              </a:lnSpc>
              <a:spcBef>
                <a:spcPts val="95"/>
              </a:spcBef>
            </a:pPr>
            <a:r>
              <a:rPr dirty="0"/>
              <a:t>Ekran</a:t>
            </a:r>
            <a:r>
              <a:rPr spc="-45" dirty="0"/>
              <a:t> </a:t>
            </a:r>
            <a:r>
              <a:rPr dirty="0"/>
              <a:t>Kartı</a:t>
            </a:r>
            <a:r>
              <a:rPr spc="-20" dirty="0"/>
              <a:t> </a:t>
            </a:r>
            <a:r>
              <a:rPr spc="-10" dirty="0"/>
              <a:t>Türleri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6595" cy="36582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49250" indent="-336550" algn="just">
              <a:lnSpc>
                <a:spcPct val="100000"/>
              </a:lnSpc>
              <a:spcBef>
                <a:spcPts val="1780"/>
              </a:spcBef>
              <a:buAutoNum type="arabicPeriod"/>
              <a:tabLst>
                <a:tab pos="34925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Entegre</a:t>
            </a:r>
            <a:r>
              <a:rPr sz="2400" b="1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(Paylaşımlı)</a:t>
            </a:r>
            <a:r>
              <a:rPr sz="24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b="1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Kartları:</a:t>
            </a:r>
            <a:endParaRPr sz="2400">
              <a:latin typeface="Arial"/>
              <a:cs typeface="Arial"/>
            </a:endParaRPr>
          </a:p>
          <a:p>
            <a:pPr marL="356870" marR="5080" lvl="1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Ana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işlemciye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entegre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edilmiş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birimleridir.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Genellikle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günlük</a:t>
            </a:r>
            <a:r>
              <a:rPr sz="2400" spc="1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kullanım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(web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tarayıcıları,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izleme,</a:t>
            </a:r>
            <a:r>
              <a:rPr sz="2400" spc="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ofis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yazılımları)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için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yeterlidir.</a:t>
            </a:r>
            <a:endParaRPr sz="2400">
              <a:latin typeface="Arial"/>
              <a:cs typeface="Arial"/>
            </a:endParaRPr>
          </a:p>
          <a:p>
            <a:pPr marL="356235" lvl="1" indent="-337820" algn="just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235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Avantajları: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düşük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tüketimi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maliyet.</a:t>
            </a:r>
            <a:endParaRPr sz="2400">
              <a:latin typeface="Arial"/>
              <a:cs typeface="Arial"/>
            </a:endParaRPr>
          </a:p>
          <a:p>
            <a:pPr marL="356870" marR="5715" lvl="1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Dezavantajları: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210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gücü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gerektiren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oyunlar</a:t>
            </a:r>
            <a:r>
              <a:rPr sz="2400" spc="220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profesyonel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işleme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uygulamaları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yetersiz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kalır.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6610">
              <a:lnSpc>
                <a:spcPct val="100000"/>
              </a:lnSpc>
              <a:spcBef>
                <a:spcPts val="95"/>
              </a:spcBef>
            </a:pPr>
            <a:r>
              <a:rPr dirty="0"/>
              <a:t>Ekran</a:t>
            </a:r>
            <a:r>
              <a:rPr spc="-45" dirty="0"/>
              <a:t> </a:t>
            </a:r>
            <a:r>
              <a:rPr dirty="0"/>
              <a:t>Kartı</a:t>
            </a:r>
            <a:r>
              <a:rPr spc="-20" dirty="0"/>
              <a:t> </a:t>
            </a:r>
            <a:r>
              <a:rPr spc="-10" dirty="0"/>
              <a:t>Türleri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376680"/>
            <a:ext cx="9588500" cy="379857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780"/>
              </a:spcBef>
              <a:buAutoNum type="arabicPeriod" startAt="2"/>
              <a:tabLst>
                <a:tab pos="34925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Bağımsız</a:t>
            </a:r>
            <a:r>
              <a:rPr sz="2400" b="1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(Paylaşımsız)</a:t>
            </a:r>
            <a:r>
              <a:rPr sz="2400" b="1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b="1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Kartları:</a:t>
            </a:r>
            <a:endParaRPr sz="2400">
              <a:latin typeface="Arial"/>
              <a:cs typeface="Arial"/>
            </a:endParaRPr>
          </a:p>
          <a:p>
            <a:pPr marL="356870" marR="5080" lvl="1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anakartına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ayrı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2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takılan,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kendi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belleği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GPU’su</a:t>
            </a:r>
            <a:r>
              <a:rPr sz="2400" spc="-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bulunan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kartlarıdır.</a:t>
            </a:r>
            <a:endParaRPr sz="2400">
              <a:latin typeface="Arial"/>
              <a:cs typeface="Arial"/>
            </a:endParaRPr>
          </a:p>
          <a:p>
            <a:pPr marL="356870" lvl="1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Oyun,</a:t>
            </a:r>
            <a:r>
              <a:rPr sz="2400" spc="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tasarım,</a:t>
            </a:r>
            <a:r>
              <a:rPr sz="2400" spc="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düzenleme,</a:t>
            </a:r>
            <a:r>
              <a:rPr sz="2400" spc="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yapay</a:t>
            </a:r>
            <a:r>
              <a:rPr sz="2400" spc="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zeka</a:t>
            </a:r>
            <a:r>
              <a:rPr sz="24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çalışmaları</a:t>
            </a:r>
            <a:r>
              <a:rPr sz="24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endParaRPr sz="24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yoğun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gerektiren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uygulamalarda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  <a:p>
            <a:pPr marL="356870" lvl="1" indent="-338455">
              <a:lnSpc>
                <a:spcPct val="100000"/>
              </a:lnSpc>
              <a:spcBef>
                <a:spcPts val="167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Avantajları: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genişletilebilirlik.</a:t>
            </a:r>
            <a:endParaRPr sz="2400">
              <a:latin typeface="Arial"/>
              <a:cs typeface="Arial"/>
            </a:endParaRPr>
          </a:p>
          <a:p>
            <a:pPr marL="356870" lvl="1" indent="-338455">
              <a:lnSpc>
                <a:spcPct val="100000"/>
              </a:lnSpc>
              <a:spcBef>
                <a:spcPts val="168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Dezavantajları: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fazla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enerji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tüketir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maliyeti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yüksektir.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0075">
              <a:lnSpc>
                <a:spcPct val="100000"/>
              </a:lnSpc>
              <a:spcBef>
                <a:spcPts val="95"/>
              </a:spcBef>
            </a:pPr>
            <a:r>
              <a:rPr dirty="0"/>
              <a:t>Ekran</a:t>
            </a:r>
            <a:r>
              <a:rPr spc="-70" dirty="0"/>
              <a:t> </a:t>
            </a:r>
            <a:r>
              <a:rPr dirty="0"/>
              <a:t>Kartının</a:t>
            </a:r>
            <a:r>
              <a:rPr spc="-4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85721"/>
            <a:ext cx="9581515" cy="4958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İşlem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Birimi</a:t>
            </a:r>
            <a:r>
              <a:rPr sz="2000" b="1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(GPU):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18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kartının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merkezi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bileşenidir.</a:t>
            </a:r>
            <a:endParaRPr sz="18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2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Görüntü</a:t>
            </a:r>
            <a:r>
              <a:rPr sz="18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işlemlerini,</a:t>
            </a:r>
            <a:r>
              <a:rPr sz="18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hesaplamaları</a:t>
            </a:r>
            <a:r>
              <a:rPr sz="18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18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grafiklerin</a:t>
            </a:r>
            <a:r>
              <a:rPr sz="18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oluşturulmasını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yönetir.</a:t>
            </a:r>
            <a:endParaRPr sz="18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55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000" b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RAM</a:t>
            </a:r>
            <a:r>
              <a:rPr sz="2000" b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(VRAM):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18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kartının 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belleğidir.</a:t>
            </a:r>
            <a:endParaRPr sz="18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2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18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verilerini</a:t>
            </a:r>
            <a:r>
              <a:rPr sz="18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geçici</a:t>
            </a:r>
            <a:r>
              <a:rPr sz="18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depolar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18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GPU'nun</a:t>
            </a:r>
            <a:r>
              <a:rPr sz="18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erişimini</a:t>
            </a:r>
            <a:r>
              <a:rPr sz="18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18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3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18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çözünürlüklerde</a:t>
            </a:r>
            <a:r>
              <a:rPr sz="18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18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18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dosyalarında daha</a:t>
            </a:r>
            <a:r>
              <a:rPr sz="18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fazla</a:t>
            </a:r>
            <a:r>
              <a:rPr sz="18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VRAM</a:t>
            </a:r>
            <a:r>
              <a:rPr sz="18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gereklidir.</a:t>
            </a:r>
            <a:endParaRPr sz="18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4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Güncel</a:t>
            </a:r>
            <a:r>
              <a:rPr sz="18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18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kartlarında</a:t>
            </a:r>
            <a:r>
              <a:rPr sz="18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18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4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GB</a:t>
            </a:r>
            <a:r>
              <a:rPr sz="18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-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24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GB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VRAM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bulunur.</a:t>
            </a:r>
            <a:endParaRPr sz="18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53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Soğutma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Sistemi: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  <a:tab pos="1864360" algn="l"/>
                <a:tab pos="2714625" algn="l"/>
                <a:tab pos="4124325" algn="l"/>
                <a:tab pos="5052695" algn="l"/>
                <a:tab pos="6133465" algn="l"/>
                <a:tab pos="6718934" algn="l"/>
                <a:tab pos="7913370" algn="l"/>
                <a:tab pos="9224645" algn="l"/>
              </a:tabLst>
            </a:pP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GPU'nun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performanslı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işlemler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sırasında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aşırı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ısınmasını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engellemek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spc="-2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endParaRPr sz="1800">
              <a:latin typeface="Arial"/>
              <a:cs typeface="Arial"/>
            </a:endParaRPr>
          </a:p>
          <a:p>
            <a:pPr marL="802005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fanlar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18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C241F"/>
                </a:solidFill>
                <a:latin typeface="Arial"/>
                <a:cs typeface="Arial"/>
              </a:rPr>
              <a:t>soğutucular</a:t>
            </a:r>
            <a:r>
              <a:rPr sz="18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Arial"/>
                <a:cs typeface="Arial"/>
              </a:rPr>
              <a:t>bulunur.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Ekran</a:t>
            </a:r>
            <a:r>
              <a:rPr spc="-95" dirty="0"/>
              <a:t> </a:t>
            </a:r>
            <a:r>
              <a:rPr dirty="0"/>
              <a:t>Kartlarının</a:t>
            </a:r>
            <a:r>
              <a:rPr spc="-60" dirty="0"/>
              <a:t> </a:t>
            </a:r>
            <a:r>
              <a:rPr spc="-10" dirty="0"/>
              <a:t>Kullanım</a:t>
            </a:r>
            <a:r>
              <a:rPr spc="-195" dirty="0"/>
              <a:t> </a:t>
            </a:r>
            <a:r>
              <a:rPr spc="-10" dirty="0"/>
              <a:t>Alanları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2150" cy="5274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715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Oyun:</a:t>
            </a:r>
            <a:r>
              <a:rPr sz="2400" b="1" spc="5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r>
              <a:rPr sz="2400" spc="5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AAA</a:t>
            </a:r>
            <a:r>
              <a:rPr sz="2400" spc="4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oyunlarda</a:t>
            </a:r>
            <a:r>
              <a:rPr sz="2400" spc="5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5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çözünürlük,</a:t>
            </a:r>
            <a:r>
              <a:rPr sz="2400" spc="5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kare</a:t>
            </a:r>
            <a:r>
              <a:rPr sz="2400" spc="5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hızı</a:t>
            </a:r>
            <a:r>
              <a:rPr sz="2400" spc="5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detayları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güçlü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kartları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gerekir.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Profesyonel</a:t>
            </a:r>
            <a:r>
              <a:rPr sz="2400" b="1" spc="1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b="1" spc="1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İşleme:</a:t>
            </a:r>
            <a:r>
              <a:rPr sz="2400" b="1" spc="1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3D</a:t>
            </a:r>
            <a:r>
              <a:rPr sz="2400" spc="1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modelleme,</a:t>
            </a:r>
            <a:r>
              <a:rPr sz="2400" spc="1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düzenleme,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mimari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çizimler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CAD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yazılımları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performansı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kritik önemdedir.</a:t>
            </a:r>
            <a:endParaRPr sz="2400">
              <a:latin typeface="Arial"/>
              <a:cs typeface="Arial"/>
            </a:endParaRPr>
          </a:p>
          <a:p>
            <a:pPr marL="350520" marR="5715" indent="-338455" algn="just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Yapay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Zeka  ve  Bilimsel</a:t>
            </a:r>
            <a:r>
              <a:rPr sz="2400" b="1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Hesaplamalar: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GPU’lar,  paralel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yetenekleri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nedeniyle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yapay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zeka  eğitimi,  makine  öğrenmesi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işlemleri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alanlarda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  <a:p>
            <a:pPr marL="350520" marR="635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Kripto</a:t>
            </a:r>
            <a:r>
              <a:rPr sz="2400" b="1" spc="1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Madenciliği:</a:t>
            </a:r>
            <a:r>
              <a:rPr sz="2400" b="1" spc="1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1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kartları,</a:t>
            </a:r>
            <a:r>
              <a:rPr sz="2400" spc="1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kripto</a:t>
            </a:r>
            <a:r>
              <a:rPr sz="2400" spc="1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para</a:t>
            </a:r>
            <a:r>
              <a:rPr sz="2400" spc="1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madenciliğinde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hesaplamaları</a:t>
            </a:r>
            <a:r>
              <a:rPr sz="2400" spc="3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hızlıca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yapabilme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yetenekleri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sayesinde kullanılır.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227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30" dirty="0"/>
              <a:t> </a:t>
            </a:r>
            <a:r>
              <a:rPr dirty="0"/>
              <a:t>Ekran</a:t>
            </a:r>
            <a:r>
              <a:rPr spc="-55" dirty="0"/>
              <a:t> </a:t>
            </a:r>
            <a:r>
              <a:rPr dirty="0"/>
              <a:t>Kartı</a:t>
            </a:r>
            <a:r>
              <a:rPr spc="-35" dirty="0"/>
              <a:t> </a:t>
            </a:r>
            <a:r>
              <a:rPr spc="-10" dirty="0"/>
              <a:t>Serileri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48688"/>
            <a:ext cx="9589135" cy="264096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349885" indent="-337185">
              <a:lnSpc>
                <a:spcPct val="100000"/>
              </a:lnSpc>
              <a:spcBef>
                <a:spcPts val="1785"/>
              </a:spcBef>
              <a:buAutoNum type="arabicPeriod"/>
              <a:tabLst>
                <a:tab pos="349885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NVIDIA</a:t>
            </a:r>
            <a:r>
              <a:rPr sz="2400" b="1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GeForce</a:t>
            </a:r>
            <a:r>
              <a:rPr sz="2400" b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RTX</a:t>
            </a:r>
            <a:r>
              <a:rPr sz="2400" b="1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Serisi:</a:t>
            </a:r>
            <a:endParaRPr sz="2400">
              <a:latin typeface="Arial"/>
              <a:cs typeface="Arial"/>
            </a:endParaRPr>
          </a:p>
          <a:p>
            <a:pPr marL="356870" marR="5080" lvl="1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  <a:tab pos="1123315" algn="l"/>
                <a:tab pos="1626235" algn="l"/>
                <a:tab pos="2504440" algn="l"/>
                <a:tab pos="2990850" algn="l"/>
                <a:tab pos="3758565" algn="l"/>
                <a:tab pos="4262120" algn="l"/>
                <a:tab pos="5136515" algn="l"/>
                <a:tab pos="5775325" algn="l"/>
                <a:tab pos="7349490" algn="l"/>
                <a:tab pos="8003540" algn="l"/>
                <a:tab pos="9048750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RTX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30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serisi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RTX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40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serisi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modellerle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ışın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izleme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(ray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tracing)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yapay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zeka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destekli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işlemleri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sunar.</a:t>
            </a:r>
            <a:endParaRPr sz="2400">
              <a:latin typeface="Arial"/>
              <a:cs typeface="Arial"/>
            </a:endParaRPr>
          </a:p>
          <a:p>
            <a:pPr marL="356870" marR="6350" lvl="1" indent="-338455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  <a:tab pos="1309370" algn="l"/>
                <a:tab pos="2297430" algn="l"/>
                <a:tab pos="3641090" algn="l"/>
                <a:tab pos="4610735" algn="l"/>
                <a:tab pos="6141085" algn="l"/>
                <a:tab pos="6772275" algn="l"/>
                <a:tab pos="8625205" algn="l"/>
              </a:tabLst>
            </a:pP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DLSS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(Deep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Learning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Super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Sampling)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teknolojilerle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yüksek çözünürlükte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performansı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iyileştirilir.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8055" y="3989870"/>
            <a:ext cx="2791857" cy="286514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227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30" dirty="0"/>
              <a:t> </a:t>
            </a:r>
            <a:r>
              <a:rPr dirty="0"/>
              <a:t>Ekran</a:t>
            </a:r>
            <a:r>
              <a:rPr spc="-55" dirty="0"/>
              <a:t> </a:t>
            </a:r>
            <a:r>
              <a:rPr dirty="0"/>
              <a:t>Kartı</a:t>
            </a:r>
            <a:r>
              <a:rPr spc="-35" dirty="0"/>
              <a:t> </a:t>
            </a:r>
            <a:r>
              <a:rPr spc="-10" dirty="0"/>
              <a:t>Serileri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429512"/>
            <a:ext cx="9587865" cy="264033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37185" indent="-324485">
              <a:lnSpc>
                <a:spcPct val="100000"/>
              </a:lnSpc>
              <a:spcBef>
                <a:spcPts val="1780"/>
              </a:spcBef>
              <a:buAutoNum type="arabicPeriod" startAt="2"/>
              <a:tabLst>
                <a:tab pos="337185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AMD</a:t>
            </a:r>
            <a:r>
              <a:rPr sz="2400" b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Radeon</a:t>
            </a:r>
            <a:r>
              <a:rPr sz="2400" b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RX</a:t>
            </a:r>
            <a:r>
              <a:rPr sz="2400" b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Serisi:</a:t>
            </a:r>
            <a:endParaRPr sz="2400">
              <a:latin typeface="Arial"/>
              <a:cs typeface="Arial"/>
            </a:endParaRPr>
          </a:p>
          <a:p>
            <a:pPr marL="356870" marR="5715" lvl="1" indent="-338455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  <a:tab pos="913130" algn="l"/>
                <a:tab pos="1725930" algn="l"/>
                <a:tab pos="2181225" algn="l"/>
                <a:tab pos="2992120" algn="l"/>
                <a:tab pos="3839210" algn="l"/>
                <a:tab pos="4278630" algn="l"/>
                <a:tab pos="4819650" algn="l"/>
                <a:tab pos="5816600" algn="l"/>
                <a:tab pos="6611620" algn="l"/>
                <a:tab pos="8370570" algn="l"/>
                <a:tab pos="8826500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RX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6000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7000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serisi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üst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seviye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performansı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enerji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verimliliği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sunar.</a:t>
            </a:r>
            <a:endParaRPr sz="2400">
              <a:latin typeface="Arial"/>
              <a:cs typeface="Arial"/>
            </a:endParaRPr>
          </a:p>
          <a:p>
            <a:pPr marL="356870" lvl="1" indent="-338455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FidelityFX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Super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Resolution</a:t>
            </a:r>
            <a:r>
              <a:rPr sz="2400" spc="2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(FSR)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teknolojisi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NVIDIA'nın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DLSS</a:t>
            </a:r>
            <a:endParaRPr sz="24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teknolojisine</a:t>
            </a:r>
            <a:r>
              <a:rPr sz="2400" spc="-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alternatif</a:t>
            </a:r>
            <a:r>
              <a:rPr sz="2400" spc="-1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sunar.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5006" y="3857207"/>
            <a:ext cx="2900689" cy="289984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2270">
              <a:lnSpc>
                <a:spcPct val="100000"/>
              </a:lnSpc>
              <a:spcBef>
                <a:spcPts val="95"/>
              </a:spcBef>
            </a:pPr>
            <a:r>
              <a:rPr dirty="0"/>
              <a:t>Güncel</a:t>
            </a:r>
            <a:r>
              <a:rPr spc="-30" dirty="0"/>
              <a:t> </a:t>
            </a:r>
            <a:r>
              <a:rPr dirty="0"/>
              <a:t>Ekran</a:t>
            </a:r>
            <a:r>
              <a:rPr spc="-55" dirty="0"/>
              <a:t> </a:t>
            </a:r>
            <a:r>
              <a:rPr dirty="0"/>
              <a:t>Kartı</a:t>
            </a:r>
            <a:r>
              <a:rPr spc="-35" dirty="0"/>
              <a:t> </a:t>
            </a:r>
            <a:r>
              <a:rPr spc="-10" dirty="0"/>
              <a:t>Serileri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4399" y="1337310"/>
            <a:ext cx="9590405" cy="36582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780"/>
              </a:spcBef>
              <a:buAutoNum type="arabicPeriod" startAt="3"/>
              <a:tabLst>
                <a:tab pos="34925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INTEL</a:t>
            </a:r>
            <a:r>
              <a:rPr sz="2400" b="1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Iris</a:t>
            </a:r>
            <a:r>
              <a:rPr sz="2400" b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Xe</a:t>
            </a: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Graphics</a:t>
            </a:r>
            <a:endParaRPr sz="2400">
              <a:latin typeface="Arial"/>
              <a:cs typeface="Arial"/>
            </a:endParaRPr>
          </a:p>
          <a:p>
            <a:pPr marL="356870" marR="5715" lvl="1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Intel'in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işlemcilerine</a:t>
            </a:r>
            <a:r>
              <a:rPr sz="2400" spc="3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entegre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edilmiş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(paylaşımlı)</a:t>
            </a:r>
            <a:r>
              <a:rPr sz="2400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birimidir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30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ultrabook'lar,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dizüstü</a:t>
            </a:r>
            <a:r>
              <a:rPr sz="2400" spc="30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bilgisayarlar</a:t>
            </a:r>
            <a:r>
              <a:rPr sz="2400" spc="3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ince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tasarımlı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cihazlarda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tercih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edilir.</a:t>
            </a:r>
            <a:endParaRPr sz="2400">
              <a:latin typeface="Arial"/>
              <a:cs typeface="Arial"/>
            </a:endParaRPr>
          </a:p>
          <a:p>
            <a:pPr marL="349250" indent="-336550">
              <a:lnSpc>
                <a:spcPct val="100000"/>
              </a:lnSpc>
              <a:spcBef>
                <a:spcPts val="1670"/>
              </a:spcBef>
              <a:buAutoNum type="arabicPeriod" startAt="4"/>
              <a:tabLst>
                <a:tab pos="34925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INTEL</a:t>
            </a:r>
            <a:r>
              <a:rPr sz="2400" b="1" spc="-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Arc</a:t>
            </a: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Serisi</a:t>
            </a:r>
            <a:endParaRPr sz="2400">
              <a:latin typeface="Arial"/>
              <a:cs typeface="Arial"/>
            </a:endParaRPr>
          </a:p>
          <a:p>
            <a:pPr marL="356870" marR="5080" lvl="1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Intel’in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yeni</a:t>
            </a:r>
            <a:r>
              <a:rPr sz="2400" spc="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çıkan</a:t>
            </a:r>
            <a:r>
              <a:rPr sz="2400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kartı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serisidir,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henüz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NVIDIA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AMD</a:t>
            </a:r>
            <a:r>
              <a:rPr sz="2400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kadar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yaygın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olmasa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bütçe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dostu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orta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segment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çözümler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sunar.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6195" y="5218174"/>
            <a:ext cx="2755744" cy="14473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61510">
              <a:lnSpc>
                <a:spcPct val="100000"/>
              </a:lnSpc>
              <a:spcBef>
                <a:spcPts val="95"/>
              </a:spcBef>
            </a:pPr>
            <a:r>
              <a:rPr dirty="0"/>
              <a:t>Çıkış</a:t>
            </a:r>
            <a:r>
              <a:rPr spc="-100" dirty="0"/>
              <a:t> </a:t>
            </a:r>
            <a:r>
              <a:rPr spc="-10" dirty="0"/>
              <a:t>Portları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dirty="0"/>
              <a:t>Ekran</a:t>
            </a:r>
            <a:r>
              <a:rPr spc="475" dirty="0"/>
              <a:t> </a:t>
            </a:r>
            <a:r>
              <a:rPr dirty="0"/>
              <a:t>kartının</a:t>
            </a:r>
            <a:r>
              <a:rPr spc="480" dirty="0"/>
              <a:t> </a:t>
            </a:r>
            <a:r>
              <a:rPr dirty="0"/>
              <a:t>çıkış</a:t>
            </a:r>
            <a:r>
              <a:rPr spc="484" dirty="0"/>
              <a:t> </a:t>
            </a:r>
            <a:r>
              <a:rPr dirty="0"/>
              <a:t>portları,</a:t>
            </a:r>
            <a:r>
              <a:rPr spc="484" dirty="0"/>
              <a:t> </a:t>
            </a:r>
            <a:r>
              <a:rPr dirty="0"/>
              <a:t>görüntünün</a:t>
            </a:r>
            <a:r>
              <a:rPr spc="480" dirty="0"/>
              <a:t> </a:t>
            </a:r>
            <a:r>
              <a:rPr dirty="0"/>
              <a:t>monitör,</a:t>
            </a:r>
            <a:r>
              <a:rPr spc="480" dirty="0"/>
              <a:t> </a:t>
            </a:r>
            <a:r>
              <a:rPr dirty="0"/>
              <a:t>televizyon</a:t>
            </a:r>
            <a:r>
              <a:rPr spc="480" dirty="0"/>
              <a:t> </a:t>
            </a:r>
            <a:r>
              <a:rPr spc="-20" dirty="0"/>
              <a:t>veya </a:t>
            </a:r>
            <a:r>
              <a:rPr dirty="0"/>
              <a:t>projektör</a:t>
            </a:r>
            <a:r>
              <a:rPr spc="-105" dirty="0"/>
              <a:t> </a:t>
            </a:r>
            <a:r>
              <a:rPr dirty="0"/>
              <a:t>gibi</a:t>
            </a:r>
            <a:r>
              <a:rPr spc="-90" dirty="0"/>
              <a:t> </a:t>
            </a:r>
            <a:r>
              <a:rPr dirty="0"/>
              <a:t>ekranlara</a:t>
            </a:r>
            <a:r>
              <a:rPr spc="-80" dirty="0"/>
              <a:t> </a:t>
            </a:r>
            <a:r>
              <a:rPr dirty="0"/>
              <a:t>aktarılmasını</a:t>
            </a:r>
            <a:r>
              <a:rPr spc="-80" dirty="0"/>
              <a:t> </a:t>
            </a:r>
            <a:r>
              <a:rPr dirty="0"/>
              <a:t>sağlayan</a:t>
            </a:r>
            <a:r>
              <a:rPr spc="-85" dirty="0"/>
              <a:t> </a:t>
            </a:r>
            <a:r>
              <a:rPr dirty="0"/>
              <a:t>bağlantı</a:t>
            </a:r>
            <a:r>
              <a:rPr spc="-85" dirty="0"/>
              <a:t> </a:t>
            </a:r>
            <a:r>
              <a:rPr spc="-10" dirty="0"/>
              <a:t>noktalarıdır.</a:t>
            </a:r>
          </a:p>
          <a:p>
            <a:pPr marL="350520" marR="5080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dirty="0"/>
              <a:t>Farklı</a:t>
            </a:r>
            <a:r>
              <a:rPr spc="105" dirty="0"/>
              <a:t>  </a:t>
            </a:r>
            <a:r>
              <a:rPr dirty="0"/>
              <a:t>ekran</a:t>
            </a:r>
            <a:r>
              <a:rPr spc="110" dirty="0"/>
              <a:t>  </a:t>
            </a:r>
            <a:r>
              <a:rPr dirty="0"/>
              <a:t>kartı</a:t>
            </a:r>
            <a:r>
              <a:rPr spc="105" dirty="0"/>
              <a:t>  </a:t>
            </a:r>
            <a:r>
              <a:rPr dirty="0"/>
              <a:t>modelleri</a:t>
            </a:r>
            <a:r>
              <a:rPr spc="114" dirty="0"/>
              <a:t>  </a:t>
            </a:r>
            <a:r>
              <a:rPr dirty="0"/>
              <a:t>ve</a:t>
            </a:r>
            <a:r>
              <a:rPr spc="114" dirty="0"/>
              <a:t>  </a:t>
            </a:r>
            <a:r>
              <a:rPr dirty="0"/>
              <a:t>nesilleri</a:t>
            </a:r>
            <a:r>
              <a:rPr spc="110" dirty="0"/>
              <a:t>  </a:t>
            </a:r>
            <a:r>
              <a:rPr dirty="0"/>
              <a:t>çeşitli</a:t>
            </a:r>
            <a:r>
              <a:rPr spc="114" dirty="0"/>
              <a:t>  </a:t>
            </a:r>
            <a:r>
              <a:rPr dirty="0"/>
              <a:t>bağlantı</a:t>
            </a:r>
            <a:r>
              <a:rPr spc="105" dirty="0"/>
              <a:t>  </a:t>
            </a:r>
            <a:r>
              <a:rPr spc="-10" dirty="0"/>
              <a:t>türlerini destekler.</a:t>
            </a:r>
            <a:r>
              <a:rPr spc="-65" dirty="0"/>
              <a:t> </a:t>
            </a:r>
            <a:r>
              <a:rPr dirty="0"/>
              <a:t>Her</a:t>
            </a:r>
            <a:r>
              <a:rPr spc="-55" dirty="0"/>
              <a:t> </a:t>
            </a:r>
            <a:r>
              <a:rPr dirty="0"/>
              <a:t>bir</a:t>
            </a:r>
            <a:r>
              <a:rPr spc="-60" dirty="0"/>
              <a:t> </a:t>
            </a:r>
            <a:r>
              <a:rPr dirty="0"/>
              <a:t>portun</a:t>
            </a:r>
            <a:r>
              <a:rPr spc="-60" dirty="0"/>
              <a:t> </a:t>
            </a:r>
            <a:r>
              <a:rPr dirty="0"/>
              <a:t>kendine</a:t>
            </a:r>
            <a:r>
              <a:rPr spc="-45" dirty="0"/>
              <a:t> </a:t>
            </a:r>
            <a:r>
              <a:rPr dirty="0"/>
              <a:t>özgü</a:t>
            </a:r>
            <a:r>
              <a:rPr spc="-65" dirty="0"/>
              <a:t> </a:t>
            </a:r>
            <a:r>
              <a:rPr dirty="0"/>
              <a:t>özellikleri</a:t>
            </a:r>
            <a:r>
              <a:rPr spc="-55" dirty="0"/>
              <a:t> </a:t>
            </a:r>
            <a:r>
              <a:rPr dirty="0"/>
              <a:t>ve</a:t>
            </a:r>
            <a:r>
              <a:rPr spc="-55" dirty="0"/>
              <a:t> </a:t>
            </a:r>
            <a:r>
              <a:rPr dirty="0"/>
              <a:t>kullanım</a:t>
            </a:r>
            <a:r>
              <a:rPr spc="-45" dirty="0"/>
              <a:t> </a:t>
            </a:r>
            <a:r>
              <a:rPr spc="-10" dirty="0"/>
              <a:t>alanları vardır.</a:t>
            </a:r>
          </a:p>
          <a:p>
            <a:pPr marL="350520" marR="635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dirty="0"/>
              <a:t>HDMI,</a:t>
            </a:r>
            <a:r>
              <a:rPr spc="30" dirty="0"/>
              <a:t>  </a:t>
            </a:r>
            <a:r>
              <a:rPr dirty="0"/>
              <a:t>DisplayPort,</a:t>
            </a:r>
            <a:r>
              <a:rPr spc="35" dirty="0"/>
              <a:t>  </a:t>
            </a:r>
            <a:r>
              <a:rPr dirty="0"/>
              <a:t>DVI,</a:t>
            </a:r>
            <a:r>
              <a:rPr spc="40" dirty="0"/>
              <a:t>  </a:t>
            </a:r>
            <a:r>
              <a:rPr dirty="0"/>
              <a:t>VGA,</a:t>
            </a:r>
            <a:r>
              <a:rPr spc="30" dirty="0"/>
              <a:t>  </a:t>
            </a:r>
            <a:r>
              <a:rPr dirty="0"/>
              <a:t>ThunderBolt</a:t>
            </a:r>
            <a:r>
              <a:rPr spc="40" dirty="0"/>
              <a:t>  </a:t>
            </a:r>
            <a:r>
              <a:rPr dirty="0"/>
              <a:t>günümüzde</a:t>
            </a:r>
            <a:r>
              <a:rPr spc="35" dirty="0"/>
              <a:t>  </a:t>
            </a:r>
            <a:r>
              <a:rPr dirty="0"/>
              <a:t>en</a:t>
            </a:r>
            <a:r>
              <a:rPr spc="35" dirty="0"/>
              <a:t>  </a:t>
            </a:r>
            <a:r>
              <a:rPr spc="-25" dirty="0"/>
              <a:t>çok </a:t>
            </a:r>
            <a:r>
              <a:rPr dirty="0"/>
              <a:t>kullanılan</a:t>
            </a:r>
            <a:r>
              <a:rPr spc="-105" dirty="0"/>
              <a:t> </a:t>
            </a:r>
            <a:r>
              <a:rPr spc="-10" dirty="0"/>
              <a:t>portlardır.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025390"/>
            <a:chOff x="1338072" y="1411224"/>
            <a:chExt cx="9813290" cy="502539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499" y="1949335"/>
              <a:ext cx="7194968" cy="44867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61510">
              <a:lnSpc>
                <a:spcPct val="100000"/>
              </a:lnSpc>
              <a:spcBef>
                <a:spcPts val="95"/>
              </a:spcBef>
            </a:pPr>
            <a:r>
              <a:rPr dirty="0"/>
              <a:t>Çıkış</a:t>
            </a:r>
            <a:r>
              <a:rPr spc="-100" dirty="0"/>
              <a:t> </a:t>
            </a:r>
            <a:r>
              <a:rPr spc="-10" dirty="0"/>
              <a:t>Portları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274310"/>
            <a:chOff x="1338072" y="1411224"/>
            <a:chExt cx="9813290" cy="527431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8435" y="4562879"/>
              <a:ext cx="3804564" cy="212246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3930">
              <a:lnSpc>
                <a:spcPct val="100000"/>
              </a:lnSpc>
              <a:spcBef>
                <a:spcPts val="95"/>
              </a:spcBef>
            </a:pPr>
            <a:r>
              <a:rPr dirty="0"/>
              <a:t>6. Ses</a:t>
            </a:r>
            <a:r>
              <a:rPr spc="-15" dirty="0"/>
              <a:t> </a:t>
            </a:r>
            <a:r>
              <a:rPr spc="-10" dirty="0"/>
              <a:t>Kartı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69029" y="1590294"/>
            <a:ext cx="735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9305" algn="l"/>
                <a:tab pos="1975485" algn="l"/>
                <a:tab pos="3991610" algn="l"/>
                <a:tab pos="5517515" algn="l"/>
                <a:tab pos="6160770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yeteneklerini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sağlayan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1516888"/>
            <a:ext cx="194183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Bilgisayarın bileşenidir.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2535805"/>
            <a:ext cx="9582785" cy="191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Hem analog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hem de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dijital ses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sinyallerini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işleyerek sesin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çıkışını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girişini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yönetir.</a:t>
            </a:r>
            <a:endParaRPr sz="2400">
              <a:latin typeface="Arial"/>
              <a:cs typeface="Arial"/>
            </a:endParaRPr>
          </a:p>
          <a:p>
            <a:pPr marL="350520" marR="5715" indent="-338455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kartları,</a:t>
            </a:r>
            <a:r>
              <a:rPr sz="24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oyun,</a:t>
            </a:r>
            <a:r>
              <a:rPr sz="24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müzik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prodüksiyonu,</a:t>
            </a:r>
            <a:r>
              <a:rPr sz="24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düzenleme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multimedya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uygulamaları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kritik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öneme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sahiptir.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57740" cy="3624579"/>
            <a:chOff x="1338072" y="1411224"/>
            <a:chExt cx="9857740" cy="3624579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0060" y="1940052"/>
              <a:ext cx="3095244" cy="30952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13400">
              <a:lnSpc>
                <a:spcPct val="100000"/>
              </a:lnSpc>
              <a:spcBef>
                <a:spcPts val="95"/>
              </a:spcBef>
            </a:pPr>
            <a:r>
              <a:rPr dirty="0"/>
              <a:t>7. </a:t>
            </a:r>
            <a:r>
              <a:rPr spc="-20" dirty="0"/>
              <a:t>Kasa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2085" y="1894789"/>
            <a:ext cx="62833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7030" algn="l"/>
                <a:tab pos="3549650" algn="l"/>
                <a:tab pos="4190365" algn="l"/>
                <a:tab pos="525272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bileşenlerini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araya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getiren,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2085" y="2120899"/>
            <a:ext cx="6282055" cy="118364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koruyan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düzenleyen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yapıdır.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1501140" algn="l"/>
                <a:tab pos="2632710" algn="l"/>
                <a:tab pos="3305810" algn="l"/>
                <a:tab pos="465836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kasası,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tüm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bileşenlerini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2085" y="3279394"/>
            <a:ext cx="6283960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(anakart,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işlemci,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RAM,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kartı,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güç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kaynağı,</a:t>
            </a:r>
            <a:r>
              <a:rPr sz="24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birimleri</a:t>
            </a:r>
            <a:r>
              <a:rPr sz="24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vb.)</a:t>
            </a:r>
            <a:r>
              <a:rPr sz="24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barındırır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ayrıca</a:t>
            </a:r>
            <a:r>
              <a:rPr sz="2400" spc="59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bileşenlerin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soğutulmasına,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bağlantısına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güvenliğine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yardımcı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olur.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65090"/>
            <a:chOff x="1338072" y="1411224"/>
            <a:chExt cx="9813290" cy="516509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8019" y="3666744"/>
              <a:ext cx="3572255" cy="290931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95"/>
              </a:spcBef>
            </a:pPr>
            <a:r>
              <a:rPr dirty="0"/>
              <a:t>8.</a:t>
            </a:r>
            <a:r>
              <a:rPr spc="-60" dirty="0"/>
              <a:t> </a:t>
            </a:r>
            <a:r>
              <a:rPr dirty="0"/>
              <a:t>Güç</a:t>
            </a:r>
            <a:r>
              <a:rPr spc="-65" dirty="0"/>
              <a:t> </a:t>
            </a:r>
            <a:r>
              <a:rPr dirty="0"/>
              <a:t>Kaynağı</a:t>
            </a:r>
            <a:r>
              <a:rPr spc="-65" dirty="0"/>
              <a:t> </a:t>
            </a:r>
            <a:r>
              <a:rPr dirty="0"/>
              <a:t>(Power</a:t>
            </a:r>
            <a:r>
              <a:rPr spc="-45" dirty="0"/>
              <a:t> </a:t>
            </a:r>
            <a:r>
              <a:rPr spc="-10" dirty="0"/>
              <a:t>Supply)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16888"/>
            <a:ext cx="9580245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SzPct val="89583"/>
              <a:buFont typeface="Wingdings"/>
              <a:buChar char=""/>
              <a:tabLst>
                <a:tab pos="350520" algn="l"/>
                <a:tab pos="434975" algn="l"/>
              </a:tabLst>
            </a:pPr>
            <a:r>
              <a:rPr sz="2400" dirty="0">
                <a:solidFill>
                  <a:srgbClr val="F88556"/>
                </a:solidFill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2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çalışması</a:t>
            </a:r>
            <a:r>
              <a:rPr sz="2400" spc="2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gerekli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elektrik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enerjisini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sağlayan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donanım  bileşenidir.  Bilgisayarın  içindeki  tüm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bileşenlere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gerekli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voltajları</a:t>
            </a:r>
            <a:r>
              <a:rPr sz="2400" spc="1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1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akımları</a:t>
            </a:r>
            <a:r>
              <a:rPr sz="2400" spc="1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r>
              <a:rPr sz="2400" spc="1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400" spc="1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kaynağının</a:t>
            </a:r>
            <a:r>
              <a:rPr sz="2400" spc="1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doğru</a:t>
            </a:r>
            <a:r>
              <a:rPr sz="2400" spc="1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çalışması,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sistemin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stabilitesi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performansı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açısından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kritik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öneme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sahiptir.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4355">
              <a:lnSpc>
                <a:spcPct val="100000"/>
              </a:lnSpc>
              <a:spcBef>
                <a:spcPts val="95"/>
              </a:spcBef>
            </a:pPr>
            <a:r>
              <a:rPr dirty="0"/>
              <a:t>Güç</a:t>
            </a:r>
            <a:r>
              <a:rPr spc="-110" dirty="0"/>
              <a:t> </a:t>
            </a:r>
            <a:r>
              <a:rPr dirty="0"/>
              <a:t>Kaynağının</a:t>
            </a:r>
            <a:r>
              <a:rPr spc="-90" dirty="0"/>
              <a:t> </a:t>
            </a:r>
            <a:r>
              <a:rPr spc="-10" dirty="0"/>
              <a:t>Görevleri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15790" y="1590294"/>
            <a:ext cx="6615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0515" algn="l"/>
                <a:tab pos="2352040" algn="l"/>
                <a:tab pos="3717925" algn="l"/>
                <a:tab pos="4352925" algn="l"/>
                <a:tab pos="5838825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Sağlama: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kaynağı,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AC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(alternatif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akım)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1516888"/>
            <a:ext cx="9578975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67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666239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Elektrik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Enerjisi</a:t>
            </a:r>
            <a:endParaRPr sz="24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  <a:tabLst>
                <a:tab pos="1870710" algn="l"/>
                <a:tab pos="2541270" algn="l"/>
                <a:tab pos="3653790" algn="l"/>
                <a:tab pos="4644390" algn="l"/>
                <a:tab pos="6264275" algn="l"/>
                <a:tab pos="827659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elektriğini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DC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(doğru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akım)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elektriğine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dönüştürerek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2255529"/>
            <a:ext cx="9581515" cy="220027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775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bileşenlerine</a:t>
            </a:r>
            <a:r>
              <a:rPr sz="2400" spc="-1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dağıtır.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313815" algn="l"/>
                <a:tab pos="3161030" algn="l"/>
                <a:tab pos="4077335" algn="l"/>
                <a:tab pos="5542280" algn="l"/>
                <a:tab pos="6357620" algn="l"/>
                <a:tab pos="7904480" algn="l"/>
                <a:tab pos="9108440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Voltaj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Dönüşümü: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Farklı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bileşenler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farklı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voltajlarda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çalıştığı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endParaRPr sz="24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kaynağı,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3.3V,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5V,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12V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çeşitli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voltaj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çıkışları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791335" algn="l"/>
                <a:tab pos="2284730" algn="l"/>
                <a:tab pos="3694429" algn="l"/>
                <a:tab pos="4473575" algn="l"/>
                <a:tab pos="5372735" algn="l"/>
                <a:tab pos="6118225" algn="l"/>
                <a:tab pos="6985634" algn="l"/>
                <a:tab pos="7462520" algn="l"/>
                <a:tab pos="8175625" algn="l"/>
                <a:tab pos="9093200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Güvenlik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Koruma: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Aşırı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akım,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aşırı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voltaj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kısa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devre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6508" y="4429315"/>
            <a:ext cx="9246235" cy="9048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667510" algn="l"/>
                <a:tab pos="2606675" algn="l"/>
                <a:tab pos="3903979" algn="l"/>
                <a:tab pos="6167120" algn="l"/>
                <a:tab pos="6750684" algn="l"/>
                <a:tab pos="877443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durumlara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karşı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koruma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mekanizmaları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donatılmıştır.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Bu,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bileşenlerin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hasar</a:t>
            </a:r>
            <a:r>
              <a:rPr sz="2400" spc="-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görmesini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engeller.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07533" y="3080080"/>
            <a:ext cx="55149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Arial"/>
                <a:cs typeface="Arial"/>
              </a:rPr>
              <a:t>GİRİŞ </a:t>
            </a:r>
            <a:r>
              <a:rPr sz="5400" spc="-10" dirty="0">
                <a:solidFill>
                  <a:srgbClr val="FFFFFF"/>
                </a:solidFill>
                <a:latin typeface="Arial"/>
                <a:cs typeface="Arial"/>
              </a:rPr>
              <a:t>BİRİMLERİ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66565">
              <a:lnSpc>
                <a:spcPct val="100000"/>
              </a:lnSpc>
              <a:spcBef>
                <a:spcPts val="95"/>
              </a:spcBef>
            </a:pPr>
            <a:r>
              <a:rPr dirty="0"/>
              <a:t>Giriş</a:t>
            </a:r>
            <a:r>
              <a:rPr spc="-80" dirty="0"/>
              <a:t> </a:t>
            </a:r>
            <a:r>
              <a:rPr spc="-10" dirty="0"/>
              <a:t>Birimleri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2785" cy="16230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7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Bilgisayara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girişi</a:t>
            </a:r>
            <a:r>
              <a:rPr sz="2400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yapılan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birimleridir.</a:t>
            </a:r>
            <a:endParaRPr sz="240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998345" algn="l"/>
                <a:tab pos="2777490" algn="l"/>
                <a:tab pos="3745229" algn="l"/>
                <a:tab pos="4439920" algn="l"/>
                <a:tab pos="5610860" algn="l"/>
                <a:tab pos="6223000" algn="l"/>
                <a:tab pos="7259955" algn="l"/>
                <a:tab pos="8025130" algn="l"/>
                <a:tab pos="926401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Kullanıcılar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sayı,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metin,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ses,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görüntü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verileri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Giriş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Birimleri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ile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ortamına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aktarırlar.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2067" y="3349753"/>
            <a:ext cx="5413344" cy="27538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55835" cy="5200015"/>
            <a:chOff x="1338072" y="1411224"/>
            <a:chExt cx="9855835" cy="520001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7563" y="4340352"/>
              <a:ext cx="4776216" cy="227076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399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20" dirty="0"/>
              <a:t> </a:t>
            </a:r>
            <a:r>
              <a:rPr spc="-10" dirty="0"/>
              <a:t>Klavye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16888"/>
            <a:ext cx="9583420" cy="249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283460" algn="l"/>
                <a:tab pos="3912870" algn="l"/>
                <a:tab pos="4792345" algn="l"/>
                <a:tab pos="6130290" algn="l"/>
                <a:tab pos="6621145" algn="l"/>
                <a:tab pos="7280909" algn="l"/>
                <a:tab pos="867092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Kullanıcıların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yazılı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komutlar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girmesini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sağlar.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Alfabetik,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numerik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tuşlar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fonksiyon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tuşları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bulunur.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Kablolu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-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kablosuz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bilgisayara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bağlanabilir.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074420" algn="l"/>
                <a:tab pos="1748789" algn="l"/>
                <a:tab pos="3357879" algn="l"/>
                <a:tab pos="4691380" algn="l"/>
                <a:tab pos="5296535" algn="l"/>
                <a:tab pos="6325235" algn="l"/>
                <a:tab pos="7369809" algn="l"/>
                <a:tab pos="9230995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Pek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çok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modelinde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Numerik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tuş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takımı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vardır.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Günümüzde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endParaRPr sz="24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takımın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yer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almadığı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kompakt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klavyeler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bulunmaktadır.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06265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Tuş</a:t>
            </a:r>
            <a:r>
              <a:rPr spc="-190" dirty="0"/>
              <a:t> </a:t>
            </a:r>
            <a:r>
              <a:rPr spc="-25" dirty="0"/>
              <a:t>Takımları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b="1" dirty="0">
                <a:latin typeface="Arial"/>
                <a:cs typeface="Arial"/>
              </a:rPr>
              <a:t>Alfabetik</a:t>
            </a:r>
            <a:r>
              <a:rPr b="1" spc="19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Tuşlar:</a:t>
            </a:r>
            <a:r>
              <a:rPr b="1" spc="210" dirty="0">
                <a:latin typeface="Arial"/>
                <a:cs typeface="Arial"/>
              </a:rPr>
              <a:t> </a:t>
            </a:r>
            <a:r>
              <a:rPr dirty="0"/>
              <a:t>Metin</a:t>
            </a:r>
            <a:r>
              <a:rPr spc="204" dirty="0"/>
              <a:t> </a:t>
            </a:r>
            <a:r>
              <a:rPr dirty="0"/>
              <a:t>yazmak</a:t>
            </a:r>
            <a:r>
              <a:rPr spc="210" dirty="0"/>
              <a:t> </a:t>
            </a:r>
            <a:r>
              <a:rPr dirty="0"/>
              <a:t>için</a:t>
            </a:r>
            <a:r>
              <a:rPr spc="200" dirty="0"/>
              <a:t> </a:t>
            </a:r>
            <a:r>
              <a:rPr dirty="0"/>
              <a:t>kullandığımız</a:t>
            </a:r>
            <a:r>
              <a:rPr spc="220" dirty="0"/>
              <a:t> </a:t>
            </a:r>
            <a:r>
              <a:rPr dirty="0"/>
              <a:t>tuş</a:t>
            </a:r>
            <a:r>
              <a:rPr spc="200" dirty="0"/>
              <a:t> </a:t>
            </a:r>
            <a:r>
              <a:rPr dirty="0"/>
              <a:t>takımıdır.</a:t>
            </a:r>
            <a:r>
              <a:rPr spc="200" dirty="0"/>
              <a:t> </a:t>
            </a:r>
            <a:r>
              <a:rPr spc="-50" dirty="0"/>
              <a:t>Q </a:t>
            </a:r>
            <a:r>
              <a:rPr dirty="0"/>
              <a:t>Klavyelerde</a:t>
            </a:r>
            <a:r>
              <a:rPr spc="235" dirty="0"/>
              <a:t> </a:t>
            </a:r>
            <a:r>
              <a:rPr dirty="0"/>
              <a:t>dizilim</a:t>
            </a:r>
            <a:r>
              <a:rPr spc="235" dirty="0"/>
              <a:t> </a:t>
            </a:r>
            <a:r>
              <a:rPr dirty="0"/>
              <a:t>QWERTY</a:t>
            </a:r>
            <a:r>
              <a:rPr spc="185" dirty="0"/>
              <a:t> </a:t>
            </a:r>
            <a:r>
              <a:rPr dirty="0"/>
              <a:t>şeklinde,</a:t>
            </a:r>
            <a:r>
              <a:rPr spc="240" dirty="0"/>
              <a:t> </a:t>
            </a:r>
            <a:r>
              <a:rPr dirty="0"/>
              <a:t>F</a:t>
            </a:r>
            <a:r>
              <a:rPr spc="225" dirty="0"/>
              <a:t> </a:t>
            </a:r>
            <a:r>
              <a:rPr dirty="0"/>
              <a:t>Klavyelerde</a:t>
            </a:r>
            <a:r>
              <a:rPr spc="240" dirty="0"/>
              <a:t> </a:t>
            </a:r>
            <a:r>
              <a:rPr dirty="0"/>
              <a:t>ise</a:t>
            </a:r>
            <a:r>
              <a:rPr spc="225" dirty="0"/>
              <a:t> </a:t>
            </a:r>
            <a:r>
              <a:rPr spc="-10" dirty="0"/>
              <a:t>FGĞIOD </a:t>
            </a:r>
            <a:r>
              <a:rPr dirty="0"/>
              <a:t>şeklide</a:t>
            </a:r>
            <a:r>
              <a:rPr spc="-90" dirty="0"/>
              <a:t> </a:t>
            </a:r>
            <a:r>
              <a:rPr dirty="0"/>
              <a:t>devam</a:t>
            </a:r>
            <a:r>
              <a:rPr spc="-95" dirty="0"/>
              <a:t> </a:t>
            </a:r>
            <a:r>
              <a:rPr spc="-10" dirty="0"/>
              <a:t>eder.</a:t>
            </a:r>
          </a:p>
          <a:p>
            <a:pPr marL="350520" marR="571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b="1" dirty="0">
                <a:latin typeface="Arial"/>
                <a:cs typeface="Arial"/>
              </a:rPr>
              <a:t>Sayısal</a:t>
            </a:r>
            <a:r>
              <a:rPr b="1" spc="484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Tuşlar:</a:t>
            </a:r>
            <a:r>
              <a:rPr b="1" spc="484" dirty="0">
                <a:latin typeface="Arial"/>
                <a:cs typeface="Arial"/>
              </a:rPr>
              <a:t> </a:t>
            </a:r>
            <a:r>
              <a:rPr dirty="0"/>
              <a:t>Klavyenin</a:t>
            </a:r>
            <a:r>
              <a:rPr spc="475" dirty="0"/>
              <a:t> </a:t>
            </a:r>
            <a:r>
              <a:rPr dirty="0"/>
              <a:t>üst</a:t>
            </a:r>
            <a:r>
              <a:rPr spc="480" dirty="0"/>
              <a:t> </a:t>
            </a:r>
            <a:r>
              <a:rPr dirty="0"/>
              <a:t>kısmında</a:t>
            </a:r>
            <a:r>
              <a:rPr spc="480" dirty="0"/>
              <a:t> </a:t>
            </a:r>
            <a:r>
              <a:rPr dirty="0"/>
              <a:t>ve</a:t>
            </a:r>
            <a:r>
              <a:rPr spc="484" dirty="0"/>
              <a:t> </a:t>
            </a:r>
            <a:r>
              <a:rPr dirty="0"/>
              <a:t>Numerik</a:t>
            </a:r>
            <a:r>
              <a:rPr spc="470" dirty="0"/>
              <a:t> </a:t>
            </a:r>
            <a:r>
              <a:rPr dirty="0"/>
              <a:t>kısımda</a:t>
            </a:r>
            <a:r>
              <a:rPr spc="480" dirty="0"/>
              <a:t> </a:t>
            </a:r>
            <a:r>
              <a:rPr spc="-25" dirty="0"/>
              <a:t>yer </a:t>
            </a:r>
            <a:r>
              <a:rPr dirty="0"/>
              <a:t>alırlar.</a:t>
            </a:r>
            <a:r>
              <a:rPr spc="130" dirty="0"/>
              <a:t>  </a:t>
            </a:r>
            <a:r>
              <a:rPr dirty="0"/>
              <a:t>Numerik</a:t>
            </a:r>
            <a:r>
              <a:rPr spc="135" dirty="0"/>
              <a:t>  </a:t>
            </a:r>
            <a:r>
              <a:rPr dirty="0"/>
              <a:t>tuşları</a:t>
            </a:r>
            <a:r>
              <a:rPr spc="125" dirty="0"/>
              <a:t>  </a:t>
            </a:r>
            <a:r>
              <a:rPr dirty="0"/>
              <a:t>kullanmak</a:t>
            </a:r>
            <a:r>
              <a:rPr spc="135" dirty="0"/>
              <a:t>  </a:t>
            </a:r>
            <a:r>
              <a:rPr dirty="0"/>
              <a:t>için</a:t>
            </a:r>
            <a:r>
              <a:rPr spc="135" dirty="0"/>
              <a:t>  </a:t>
            </a:r>
            <a:r>
              <a:rPr dirty="0"/>
              <a:t>çoğu</a:t>
            </a:r>
            <a:r>
              <a:rPr spc="130" dirty="0"/>
              <a:t>  </a:t>
            </a:r>
            <a:r>
              <a:rPr dirty="0"/>
              <a:t>zaman</a:t>
            </a:r>
            <a:r>
              <a:rPr spc="130" dirty="0"/>
              <a:t>  </a:t>
            </a:r>
            <a:r>
              <a:rPr dirty="0"/>
              <a:t>Num</a:t>
            </a:r>
            <a:r>
              <a:rPr spc="135" dirty="0"/>
              <a:t>  </a:t>
            </a:r>
            <a:r>
              <a:rPr spc="-20" dirty="0"/>
              <a:t>Lock </a:t>
            </a:r>
            <a:r>
              <a:rPr dirty="0"/>
              <a:t>kilidinin</a:t>
            </a:r>
            <a:r>
              <a:rPr spc="-15" dirty="0"/>
              <a:t> </a:t>
            </a:r>
            <a:r>
              <a:rPr dirty="0"/>
              <a:t>açık</a:t>
            </a:r>
            <a:r>
              <a:rPr spc="-55" dirty="0"/>
              <a:t> </a:t>
            </a:r>
            <a:r>
              <a:rPr dirty="0"/>
              <a:t>olması</a:t>
            </a:r>
            <a:r>
              <a:rPr spc="-55" dirty="0"/>
              <a:t> </a:t>
            </a:r>
            <a:r>
              <a:rPr spc="-10" dirty="0"/>
              <a:t>gerekir.</a:t>
            </a:r>
          </a:p>
          <a:p>
            <a:pPr marL="350520" marR="5715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b="1" dirty="0">
                <a:latin typeface="Arial"/>
                <a:cs typeface="Arial"/>
              </a:rPr>
              <a:t>Fonksiyon</a:t>
            </a:r>
            <a:r>
              <a:rPr b="1" spc="-20" dirty="0">
                <a:latin typeface="Arial"/>
                <a:cs typeface="Arial"/>
              </a:rPr>
              <a:t>  </a:t>
            </a:r>
            <a:r>
              <a:rPr b="1" dirty="0">
                <a:latin typeface="Arial"/>
                <a:cs typeface="Arial"/>
              </a:rPr>
              <a:t>Tuşları:</a:t>
            </a:r>
            <a:r>
              <a:rPr b="1" spc="-35" dirty="0">
                <a:latin typeface="Arial"/>
                <a:cs typeface="Arial"/>
              </a:rPr>
              <a:t>  </a:t>
            </a:r>
            <a:r>
              <a:rPr dirty="0"/>
              <a:t>Klavyenin</a:t>
            </a:r>
            <a:r>
              <a:rPr spc="-20" dirty="0"/>
              <a:t>  </a:t>
            </a:r>
            <a:r>
              <a:rPr dirty="0"/>
              <a:t>en</a:t>
            </a:r>
            <a:r>
              <a:rPr spc="-20" dirty="0"/>
              <a:t>  </a:t>
            </a:r>
            <a:r>
              <a:rPr dirty="0"/>
              <a:t>üst</a:t>
            </a:r>
            <a:r>
              <a:rPr spc="-30" dirty="0"/>
              <a:t>  </a:t>
            </a:r>
            <a:r>
              <a:rPr dirty="0"/>
              <a:t>kısmında</a:t>
            </a:r>
            <a:r>
              <a:rPr spc="-25" dirty="0"/>
              <a:t>  </a:t>
            </a:r>
            <a:r>
              <a:rPr dirty="0"/>
              <a:t>yer</a:t>
            </a:r>
            <a:r>
              <a:rPr spc="-25" dirty="0"/>
              <a:t>  </a:t>
            </a:r>
            <a:r>
              <a:rPr dirty="0"/>
              <a:t>alan</a:t>
            </a:r>
            <a:r>
              <a:rPr spc="-25" dirty="0"/>
              <a:t>  </a:t>
            </a:r>
            <a:r>
              <a:rPr spc="-10" dirty="0"/>
              <a:t>F1’den </a:t>
            </a:r>
            <a:r>
              <a:rPr dirty="0"/>
              <a:t>F12’ye</a:t>
            </a:r>
            <a:r>
              <a:rPr spc="-65" dirty="0"/>
              <a:t> </a:t>
            </a:r>
            <a:r>
              <a:rPr dirty="0"/>
              <a:t>kadar</a:t>
            </a:r>
            <a:r>
              <a:rPr spc="-50" dirty="0"/>
              <a:t> </a:t>
            </a:r>
            <a:r>
              <a:rPr spc="-10" dirty="0"/>
              <a:t>numaralandırılmış</a:t>
            </a:r>
            <a:r>
              <a:rPr spc="-50" dirty="0"/>
              <a:t> </a:t>
            </a:r>
            <a:r>
              <a:rPr spc="-10" dirty="0"/>
              <a:t>tuşlardır.</a:t>
            </a:r>
            <a:r>
              <a:rPr spc="-55" dirty="0"/>
              <a:t> </a:t>
            </a:r>
            <a:r>
              <a:rPr dirty="0"/>
              <a:t>Bu</a:t>
            </a:r>
            <a:r>
              <a:rPr spc="-60" dirty="0"/>
              <a:t> </a:t>
            </a:r>
            <a:r>
              <a:rPr spc="-10" dirty="0"/>
              <a:t>tuşlar,</a:t>
            </a:r>
            <a:r>
              <a:rPr spc="-65" dirty="0"/>
              <a:t> </a:t>
            </a:r>
            <a:r>
              <a:rPr dirty="0"/>
              <a:t>farklı</a:t>
            </a:r>
            <a:r>
              <a:rPr spc="-70" dirty="0"/>
              <a:t> </a:t>
            </a:r>
            <a:r>
              <a:rPr spc="-10" dirty="0"/>
              <a:t>programlar </a:t>
            </a:r>
            <a:r>
              <a:rPr dirty="0"/>
              <a:t>ve</a:t>
            </a:r>
            <a:r>
              <a:rPr spc="-65" dirty="0"/>
              <a:t> </a:t>
            </a:r>
            <a:r>
              <a:rPr dirty="0"/>
              <a:t>işlemler</a:t>
            </a:r>
            <a:r>
              <a:rPr spc="-50" dirty="0"/>
              <a:t> </a:t>
            </a:r>
            <a:r>
              <a:rPr dirty="0"/>
              <a:t>için</a:t>
            </a:r>
            <a:r>
              <a:rPr spc="-45" dirty="0"/>
              <a:t> </a:t>
            </a:r>
            <a:r>
              <a:rPr dirty="0"/>
              <a:t>kısa</a:t>
            </a:r>
            <a:r>
              <a:rPr spc="-55" dirty="0"/>
              <a:t> </a:t>
            </a:r>
            <a:r>
              <a:rPr dirty="0"/>
              <a:t>yollar</a:t>
            </a:r>
            <a:r>
              <a:rPr spc="-50" dirty="0"/>
              <a:t> </a:t>
            </a:r>
            <a:r>
              <a:rPr spc="-10" dirty="0"/>
              <a:t>sağlar.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8540">
              <a:lnSpc>
                <a:spcPct val="100000"/>
              </a:lnSpc>
              <a:spcBef>
                <a:spcPts val="95"/>
              </a:spcBef>
            </a:pPr>
            <a:r>
              <a:rPr dirty="0"/>
              <a:t>Özel</a:t>
            </a:r>
            <a:r>
              <a:rPr spc="-60" dirty="0"/>
              <a:t> </a:t>
            </a:r>
            <a:r>
              <a:rPr spc="-35" dirty="0"/>
              <a:t>Tuşlar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1515" cy="5114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Enter</a:t>
            </a:r>
            <a:r>
              <a:rPr sz="24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(Giriş)</a:t>
            </a:r>
            <a:r>
              <a:rPr sz="2400" b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Tuşu:</a:t>
            </a:r>
            <a:r>
              <a:rPr sz="24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komutları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çalıştırmak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sonraki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satıra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geçmek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Backspace:</a:t>
            </a:r>
            <a:r>
              <a:rPr sz="2400" b="1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İmlecin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solundaki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karakteri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siler.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Delete: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İmlecin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sağındaki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karakteri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siler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seçili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öğeleri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kaldırır.</a:t>
            </a:r>
            <a:endParaRPr sz="2400">
              <a:latin typeface="Arial"/>
              <a:cs typeface="Arial"/>
            </a:endParaRPr>
          </a:p>
          <a:p>
            <a:pPr marL="350520" marR="5715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187450" algn="l"/>
                <a:tab pos="2199640" algn="l"/>
                <a:tab pos="3129280" algn="l"/>
                <a:tab pos="4668520" algn="l"/>
                <a:tab pos="5546725" algn="l"/>
                <a:tab pos="6355715" algn="l"/>
                <a:tab pos="7215505" algn="l"/>
                <a:tab pos="8381365" algn="l"/>
              </a:tabLst>
            </a:pP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Tab: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İmleci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belirli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aralıklarla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sağa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taşır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formlar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arasında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gezinme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Caps</a:t>
            </a:r>
            <a:r>
              <a:rPr sz="2400" b="1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Lock:</a:t>
            </a:r>
            <a:r>
              <a:rPr sz="2400" b="1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harf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yazmayı</a:t>
            </a:r>
            <a:r>
              <a:rPr sz="2400" spc="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açar/kapatır.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Aktif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olduğunda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harf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tuşları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harfle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yazılır.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143000" algn="l"/>
                <a:tab pos="2769870" algn="l"/>
                <a:tab pos="4004310" algn="l"/>
                <a:tab pos="5474970" algn="l"/>
                <a:tab pos="6370955" algn="l"/>
                <a:tab pos="7895590" algn="l"/>
                <a:tab pos="9109710" algn="l"/>
              </a:tabLst>
            </a:pPr>
            <a:r>
              <a:rPr sz="2400" b="1" spc="-25" dirty="0">
                <a:solidFill>
                  <a:srgbClr val="2C241F"/>
                </a:solidFill>
                <a:latin typeface="Arial"/>
                <a:cs typeface="Arial"/>
              </a:rPr>
              <a:t>Esc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(Escape):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Mevcut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işlemden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menüden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çıkmak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endParaRPr sz="24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66964" y="778891"/>
            <a:ext cx="306578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Kontrol</a:t>
            </a:r>
            <a:r>
              <a:rPr spc="-100" dirty="0"/>
              <a:t> </a:t>
            </a:r>
            <a:r>
              <a:rPr spc="-20" dirty="0"/>
              <a:t>Tuşları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4434" y="1590294"/>
            <a:ext cx="6793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7744" algn="l"/>
                <a:tab pos="2260600" algn="l"/>
                <a:tab pos="4324350" algn="l"/>
                <a:tab pos="557720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Diğer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tuşlarla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kombinasyon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halinde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0070" y="2029459"/>
            <a:ext cx="6658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4675" algn="l"/>
                <a:tab pos="2970530" algn="l"/>
                <a:tab pos="4662805" algn="l"/>
                <a:tab pos="618680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kopyalama,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Ctrl+V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yapıştırma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komutları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1516888"/>
            <a:ext cx="267652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144905" algn="l"/>
                <a:tab pos="1791335" algn="l"/>
              </a:tabLst>
            </a:pP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Ctrl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(Control):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Örneğin,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Ctrl+C kullanılır.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2973768"/>
            <a:ext cx="9599295" cy="33782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0520" indent="-337820" algn="just">
              <a:lnSpc>
                <a:spcPct val="100000"/>
              </a:lnSpc>
              <a:spcBef>
                <a:spcPts val="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Alt</a:t>
            </a:r>
            <a:r>
              <a:rPr sz="2400" b="1" spc="1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(Alternate):</a:t>
            </a:r>
            <a:r>
              <a:rPr sz="2400" b="1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uygulama</a:t>
            </a:r>
            <a:r>
              <a:rPr sz="2400" spc="1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kısa</a:t>
            </a:r>
            <a:r>
              <a:rPr sz="2400" spc="1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yolları</a:t>
            </a:r>
            <a:r>
              <a:rPr sz="2400" spc="1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  <a:p>
            <a:pPr marL="350520" algn="just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Örneğin,</a:t>
            </a:r>
            <a:r>
              <a:rPr sz="2400" spc="-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Alt+Tab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açık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pencereler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arasında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geçiş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yapmayı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Shift:</a:t>
            </a:r>
            <a:r>
              <a:rPr sz="2400" b="1" spc="4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Tuşlara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spc="4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harf</a:t>
            </a:r>
            <a:r>
              <a:rPr sz="2400" spc="4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semboller</a:t>
            </a:r>
            <a:r>
              <a:rPr sz="2400" spc="4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ekler.</a:t>
            </a:r>
            <a:r>
              <a:rPr sz="2400" spc="4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Örneğin,</a:t>
            </a:r>
            <a:r>
              <a:rPr sz="2400" spc="4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Shift+A büyük</a:t>
            </a:r>
            <a:r>
              <a:rPr sz="2400" spc="-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</a:t>
            </a:r>
            <a:r>
              <a:rPr sz="2400" spc="-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yazar.</a:t>
            </a:r>
            <a:endParaRPr sz="2400">
              <a:latin typeface="Arial"/>
              <a:cs typeface="Arial"/>
            </a:endParaRPr>
          </a:p>
          <a:p>
            <a:pPr marL="350520" marR="2349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Tuşu: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4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işletim sisteminde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başlat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menüsünü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açar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4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çeşitli</a:t>
            </a:r>
            <a:r>
              <a:rPr sz="2400" spc="4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kısa</a:t>
            </a:r>
            <a:r>
              <a:rPr sz="2400" spc="4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yol</a:t>
            </a:r>
            <a:r>
              <a:rPr sz="2400" spc="4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kombinasyonlarıyla</a:t>
            </a:r>
            <a:r>
              <a:rPr sz="2400" spc="4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kullanılabilir</a:t>
            </a:r>
            <a:r>
              <a:rPr sz="2400" spc="4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(örneğin,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Windows+E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Gezgini'ni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açar).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6120">
              <a:lnSpc>
                <a:spcPct val="100000"/>
              </a:lnSpc>
              <a:spcBef>
                <a:spcPts val="95"/>
              </a:spcBef>
            </a:pPr>
            <a:r>
              <a:rPr dirty="0"/>
              <a:t>İşlem</a:t>
            </a:r>
            <a:r>
              <a:rPr spc="-95" dirty="0"/>
              <a:t> </a:t>
            </a:r>
            <a:r>
              <a:rPr spc="-25" dirty="0"/>
              <a:t>Tuşları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b="1" dirty="0">
                <a:latin typeface="Arial"/>
                <a:cs typeface="Arial"/>
              </a:rPr>
              <a:t>PrtScn</a:t>
            </a:r>
            <a:r>
              <a:rPr b="1" spc="2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(Print</a:t>
            </a:r>
            <a:r>
              <a:rPr b="1" spc="2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Screen):</a:t>
            </a:r>
            <a:r>
              <a:rPr b="1" spc="215" dirty="0">
                <a:latin typeface="Arial"/>
                <a:cs typeface="Arial"/>
              </a:rPr>
              <a:t> </a:t>
            </a:r>
            <a:r>
              <a:rPr dirty="0"/>
              <a:t>Ekranın</a:t>
            </a:r>
            <a:r>
              <a:rPr spc="215" dirty="0"/>
              <a:t> </a:t>
            </a:r>
            <a:r>
              <a:rPr dirty="0"/>
              <a:t>görüntüsünü</a:t>
            </a:r>
            <a:r>
              <a:rPr spc="225" dirty="0"/>
              <a:t> </a:t>
            </a:r>
            <a:r>
              <a:rPr dirty="0"/>
              <a:t>alır.</a:t>
            </a:r>
            <a:r>
              <a:rPr spc="215" dirty="0"/>
              <a:t> </a:t>
            </a:r>
            <a:r>
              <a:rPr dirty="0"/>
              <a:t>Genellikle</a:t>
            </a:r>
            <a:r>
              <a:rPr spc="220" dirty="0"/>
              <a:t> </a:t>
            </a:r>
            <a:r>
              <a:rPr spc="-10" dirty="0"/>
              <a:t>ekran </a:t>
            </a:r>
            <a:r>
              <a:rPr dirty="0"/>
              <a:t>görüntüsü</a:t>
            </a:r>
            <a:r>
              <a:rPr spc="-95" dirty="0"/>
              <a:t> </a:t>
            </a:r>
            <a:r>
              <a:rPr dirty="0"/>
              <a:t>kaydetmek</a:t>
            </a:r>
            <a:r>
              <a:rPr spc="-105" dirty="0"/>
              <a:t> </a:t>
            </a:r>
            <a:r>
              <a:rPr dirty="0"/>
              <a:t>için</a:t>
            </a:r>
            <a:r>
              <a:rPr spc="-95" dirty="0"/>
              <a:t> </a:t>
            </a:r>
            <a:r>
              <a:rPr spc="-10" dirty="0"/>
              <a:t>kullanılır.</a:t>
            </a:r>
          </a:p>
          <a:p>
            <a:pPr marL="350520" marR="5715" indent="-338455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b="1" dirty="0">
                <a:latin typeface="Arial"/>
                <a:cs typeface="Arial"/>
              </a:rPr>
              <a:t>Scroll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Lock: </a:t>
            </a:r>
            <a:r>
              <a:rPr dirty="0"/>
              <a:t>Bazı</a:t>
            </a:r>
            <a:r>
              <a:rPr spc="-30" dirty="0"/>
              <a:t> </a:t>
            </a:r>
            <a:r>
              <a:rPr dirty="0"/>
              <a:t>eski</a:t>
            </a:r>
            <a:r>
              <a:rPr spc="-15" dirty="0"/>
              <a:t> </a:t>
            </a:r>
            <a:r>
              <a:rPr dirty="0"/>
              <a:t>programlarda</a:t>
            </a:r>
            <a:r>
              <a:rPr spc="-10" dirty="0"/>
              <a:t> </a:t>
            </a:r>
            <a:r>
              <a:rPr dirty="0"/>
              <a:t>ekran</a:t>
            </a:r>
            <a:r>
              <a:rPr spc="-15" dirty="0"/>
              <a:t> </a:t>
            </a:r>
            <a:r>
              <a:rPr dirty="0"/>
              <a:t>kaydırma</a:t>
            </a:r>
            <a:r>
              <a:rPr spc="-5" dirty="0"/>
              <a:t> </a:t>
            </a:r>
            <a:r>
              <a:rPr dirty="0"/>
              <a:t>işlevini</a:t>
            </a:r>
            <a:r>
              <a:rPr spc="-10" dirty="0"/>
              <a:t> kontrol eder,</a:t>
            </a:r>
            <a:r>
              <a:rPr spc="-125" dirty="0"/>
              <a:t> </a:t>
            </a:r>
            <a:r>
              <a:rPr dirty="0"/>
              <a:t>modern</a:t>
            </a:r>
            <a:r>
              <a:rPr spc="-100" dirty="0"/>
              <a:t> </a:t>
            </a:r>
            <a:r>
              <a:rPr dirty="0"/>
              <a:t>sistemlerde</a:t>
            </a:r>
            <a:r>
              <a:rPr spc="-114" dirty="0"/>
              <a:t> </a:t>
            </a:r>
            <a:r>
              <a:rPr dirty="0"/>
              <a:t>pek</a:t>
            </a:r>
            <a:r>
              <a:rPr spc="-110" dirty="0"/>
              <a:t> </a:t>
            </a:r>
            <a:r>
              <a:rPr spc="-10" dirty="0"/>
              <a:t>kullanılmaz.</a:t>
            </a:r>
          </a:p>
          <a:p>
            <a:pPr marL="350520" marR="6985" indent="-338455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451100" algn="l"/>
                <a:tab pos="3159760" algn="l"/>
                <a:tab pos="3648710" algn="l"/>
                <a:tab pos="5104765" algn="l"/>
                <a:tab pos="5608955" algn="l"/>
                <a:tab pos="6182360" algn="l"/>
                <a:tab pos="7011670" algn="l"/>
                <a:tab pos="7753350" algn="l"/>
              </a:tabLst>
            </a:pPr>
            <a:r>
              <a:rPr b="1" spc="-10" dirty="0">
                <a:latin typeface="Arial"/>
                <a:cs typeface="Arial"/>
              </a:rPr>
              <a:t>Pause/Break:</a:t>
            </a:r>
            <a:r>
              <a:rPr b="1" dirty="0">
                <a:latin typeface="Arial"/>
                <a:cs typeface="Arial"/>
              </a:rPr>
              <a:t>	</a:t>
            </a:r>
            <a:r>
              <a:rPr spc="-25" dirty="0"/>
              <a:t>Çok</a:t>
            </a:r>
            <a:r>
              <a:rPr dirty="0"/>
              <a:t>	</a:t>
            </a:r>
            <a:r>
              <a:rPr spc="-25" dirty="0"/>
              <a:t>az</a:t>
            </a:r>
            <a:r>
              <a:rPr dirty="0"/>
              <a:t>	</a:t>
            </a:r>
            <a:r>
              <a:rPr spc="-10" dirty="0"/>
              <a:t>kullanılan</a:t>
            </a:r>
            <a:r>
              <a:rPr dirty="0"/>
              <a:t>	</a:t>
            </a:r>
            <a:r>
              <a:rPr spc="-25" dirty="0"/>
              <a:t>bir</a:t>
            </a:r>
            <a:r>
              <a:rPr dirty="0"/>
              <a:t>	</a:t>
            </a:r>
            <a:r>
              <a:rPr spc="-25" dirty="0"/>
              <a:t>tuş</a:t>
            </a:r>
            <a:r>
              <a:rPr dirty="0"/>
              <a:t>	</a:t>
            </a:r>
            <a:r>
              <a:rPr spc="-10" dirty="0"/>
              <a:t>olup,</a:t>
            </a:r>
            <a:r>
              <a:rPr dirty="0"/>
              <a:t>	</a:t>
            </a:r>
            <a:r>
              <a:rPr spc="-20" dirty="0"/>
              <a:t>bazı</a:t>
            </a:r>
            <a:r>
              <a:rPr dirty="0"/>
              <a:t>	</a:t>
            </a:r>
            <a:r>
              <a:rPr spc="-10" dirty="0"/>
              <a:t>programlarda </a:t>
            </a:r>
            <a:r>
              <a:rPr dirty="0"/>
              <a:t>işlemleri</a:t>
            </a:r>
            <a:r>
              <a:rPr spc="-70" dirty="0"/>
              <a:t> </a:t>
            </a:r>
            <a:r>
              <a:rPr dirty="0"/>
              <a:t>durdurmak</a:t>
            </a:r>
            <a:r>
              <a:rPr spc="-110" dirty="0"/>
              <a:t> </a:t>
            </a:r>
            <a:r>
              <a:rPr dirty="0"/>
              <a:t>için</a:t>
            </a:r>
            <a:r>
              <a:rPr spc="-90" dirty="0"/>
              <a:t> </a:t>
            </a:r>
            <a:r>
              <a:rPr spc="-10" dirty="0"/>
              <a:t>kullanılır.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209540"/>
            <a:chOff x="1338072" y="1411224"/>
            <a:chExt cx="9813290" cy="520954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9480" y="3008376"/>
              <a:ext cx="3610355" cy="361187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453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20" dirty="0"/>
              <a:t> Fare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2085" y="1516888"/>
            <a:ext cx="9587230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Ekrandaki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imleci</a:t>
            </a:r>
            <a:r>
              <a:rPr sz="24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hareket</a:t>
            </a:r>
            <a:r>
              <a:rPr sz="24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ettirmek</a:t>
            </a:r>
            <a:r>
              <a:rPr sz="24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nesnelerle</a:t>
            </a:r>
            <a:r>
              <a:rPr sz="2400" spc="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etkileşimde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bulunmak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Farede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sol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tıklama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tuşları</a:t>
            </a:r>
            <a:r>
              <a:rPr sz="2400" spc="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spc="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kaydırma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tekerleği</a:t>
            </a:r>
            <a:r>
              <a:rPr sz="2400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bulunur.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967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Teknik</a:t>
            </a:r>
            <a:r>
              <a:rPr spc="-190" dirty="0"/>
              <a:t> </a:t>
            </a:r>
            <a:r>
              <a:rPr spc="-10" dirty="0"/>
              <a:t>Özellikler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3420" cy="425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DPI:</a:t>
            </a:r>
            <a:r>
              <a:rPr sz="2400" b="1" spc="1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Farenin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hassasiyetini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ifade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eden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1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ölçümdür.</a:t>
            </a:r>
            <a:r>
              <a:rPr sz="2400" spc="1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inçlik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hareket</a:t>
            </a:r>
            <a:r>
              <a:rPr sz="2400" spc="2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sırasında</a:t>
            </a:r>
            <a:r>
              <a:rPr sz="2400" spc="2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farenin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kaç</a:t>
            </a:r>
            <a:r>
              <a:rPr sz="2400" spc="2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noktayı</a:t>
            </a:r>
            <a:r>
              <a:rPr sz="2400" spc="20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algılayabildiğini</a:t>
            </a:r>
            <a:r>
              <a:rPr sz="2400" spc="2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gösterir.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Düşük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DPI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hassasiyet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gerektiren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işlerde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iyi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iken,</a:t>
            </a:r>
            <a:r>
              <a:rPr sz="2400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3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DPI</a:t>
            </a:r>
            <a:r>
              <a:rPr sz="2400" spc="3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hızlı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reaksiyon</a:t>
            </a:r>
            <a:r>
              <a:rPr sz="2400" spc="-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gerektiren</a:t>
            </a:r>
            <a:r>
              <a:rPr sz="2400" spc="-1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durumlarda</a:t>
            </a:r>
            <a:r>
              <a:rPr sz="2400" spc="-1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avantajlıdır.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Optik</a:t>
            </a:r>
            <a:r>
              <a:rPr sz="2400" b="1" spc="4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Sensör:</a:t>
            </a:r>
            <a:r>
              <a:rPr sz="2400" b="1" spc="45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LED</a:t>
            </a:r>
            <a:r>
              <a:rPr sz="2400" spc="45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ışığı</a:t>
            </a:r>
            <a:r>
              <a:rPr sz="2400" spc="43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kullanarak</a:t>
            </a:r>
            <a:r>
              <a:rPr sz="2400" spc="4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yüzeydeki</a:t>
            </a:r>
            <a:r>
              <a:rPr sz="2400" spc="4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hareketleri</a:t>
            </a:r>
            <a:r>
              <a:rPr sz="2400" spc="4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algılar.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düzgün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mat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yüzeylerde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iyi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çalışır.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Lazer</a:t>
            </a:r>
            <a:r>
              <a:rPr sz="2400" b="1" spc="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Sensör:</a:t>
            </a:r>
            <a:r>
              <a:rPr sz="2400" b="1" spc="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Lazer</a:t>
            </a:r>
            <a:r>
              <a:rPr sz="2400" spc="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ışığı</a:t>
            </a:r>
            <a:r>
              <a:rPr sz="2400" spc="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kullanarak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fazla</a:t>
            </a:r>
            <a:r>
              <a:rPr sz="2400" spc="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hassasiyet</a:t>
            </a:r>
            <a:r>
              <a:rPr sz="2400" spc="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yüzey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çeşitliliği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Cam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parlak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yüzeylerde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bile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çalışabilir.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optik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farelere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hassastır.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70" dirty="0"/>
              <a:t> </a:t>
            </a:r>
            <a:r>
              <a:rPr dirty="0"/>
              <a:t>Diğer</a:t>
            </a:r>
            <a:r>
              <a:rPr spc="-70" dirty="0"/>
              <a:t> </a:t>
            </a:r>
            <a:r>
              <a:rPr dirty="0"/>
              <a:t>Giriş</a:t>
            </a:r>
            <a:r>
              <a:rPr spc="-60" dirty="0"/>
              <a:t> </a:t>
            </a:r>
            <a:r>
              <a:rPr spc="-10" dirty="0"/>
              <a:t>Birimleri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5747"/>
            <a:ext cx="9584055" cy="460883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57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708785" algn="l"/>
                <a:tab pos="3377565" algn="l"/>
                <a:tab pos="3975100" algn="l"/>
                <a:tab pos="5123180" algn="l"/>
                <a:tab pos="6540500" algn="l"/>
                <a:tab pos="8065770" algn="l"/>
                <a:tab pos="9017000" algn="l"/>
              </a:tabLst>
            </a:pP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Mikrofon: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Kullanıcıların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verilerini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bilgisayara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aktarmasını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Sesli</a:t>
            </a:r>
            <a:endParaRPr sz="20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komutlar,</a:t>
            </a:r>
            <a:r>
              <a:rPr sz="20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kaydı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000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görüntülü</a:t>
            </a:r>
            <a:r>
              <a:rPr sz="20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görüşmelerde</a:t>
            </a:r>
            <a:r>
              <a:rPr sz="20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00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Tarayıcı</a:t>
            </a:r>
            <a:r>
              <a:rPr sz="2000" b="1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(Scanner):</a:t>
            </a:r>
            <a:r>
              <a:rPr sz="2000" b="1" spc="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Kağıt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üzerindeki</a:t>
            </a:r>
            <a:r>
              <a:rPr sz="20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resim</a:t>
            </a:r>
            <a:r>
              <a:rPr sz="20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000" spc="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metin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000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bilgileri</a:t>
            </a:r>
            <a:r>
              <a:rPr sz="2000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dijital</a:t>
            </a:r>
            <a:r>
              <a:rPr sz="2000" spc="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formata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dönüştürerek</a:t>
            </a:r>
            <a:r>
              <a:rPr sz="20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bilgisayara</a:t>
            </a:r>
            <a:r>
              <a:rPr sz="20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aktarır.</a:t>
            </a:r>
            <a:endParaRPr sz="20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57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047115" algn="l"/>
                <a:tab pos="2141855" algn="l"/>
                <a:tab pos="3595370" algn="l"/>
                <a:tab pos="4676140" algn="l"/>
                <a:tab pos="5910580" algn="l"/>
                <a:tab pos="7290434" algn="l"/>
                <a:tab pos="8509635" algn="l"/>
              </a:tabLst>
            </a:pP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Web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Kamera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(Webcam):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Görüntü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yakalayıp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bilgisayara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aktararak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görüntülü</a:t>
            </a:r>
            <a:endParaRPr sz="20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sohbetler,</a:t>
            </a:r>
            <a:r>
              <a:rPr sz="20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0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kaydı</a:t>
            </a:r>
            <a:r>
              <a:rPr sz="20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diğer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medya</a:t>
            </a:r>
            <a:r>
              <a:rPr sz="20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uygulamalarında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000">
              <a:latin typeface="Arial"/>
              <a:cs typeface="Arial"/>
            </a:endParaRPr>
          </a:p>
          <a:p>
            <a:pPr marL="350520" indent="-337820" algn="just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000" b="1" spc="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Kumandaları</a:t>
            </a:r>
            <a:r>
              <a:rPr sz="2000" b="1" spc="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000" b="1" spc="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oynamak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000" spc="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tasarlanmış</a:t>
            </a:r>
            <a:r>
              <a:rPr sz="2000" spc="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özel</a:t>
            </a:r>
            <a:r>
              <a:rPr sz="2000" spc="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giriş</a:t>
            </a:r>
            <a:r>
              <a:rPr sz="2000" spc="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birimleridir.</a:t>
            </a:r>
            <a:endParaRPr sz="2000">
              <a:latin typeface="Arial"/>
              <a:cs typeface="Arial"/>
            </a:endParaRPr>
          </a:p>
          <a:p>
            <a:pPr marL="350520" algn="just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Kullanıcıların</a:t>
            </a:r>
            <a:r>
              <a:rPr sz="20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0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karakterlerini</a:t>
            </a:r>
            <a:r>
              <a:rPr sz="20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0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araçlarını</a:t>
            </a:r>
            <a:r>
              <a:rPr sz="20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kontrol</a:t>
            </a:r>
            <a:r>
              <a:rPr sz="20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etmelerini</a:t>
            </a:r>
            <a:r>
              <a:rPr sz="20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0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Dokunmatik</a:t>
            </a:r>
            <a:r>
              <a:rPr sz="2000" b="1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Yüzey</a:t>
            </a:r>
            <a:r>
              <a:rPr sz="2000" b="1" spc="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(Touchpad):</a:t>
            </a:r>
            <a:r>
              <a:rPr sz="2000" b="1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000" spc="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dizüstü</a:t>
            </a:r>
            <a:r>
              <a:rPr sz="20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bilgisayarlarda</a:t>
            </a:r>
            <a:r>
              <a:rPr sz="2000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bulunan,</a:t>
            </a:r>
            <a:r>
              <a:rPr sz="20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Arial"/>
                <a:cs typeface="Arial"/>
              </a:rPr>
              <a:t>fare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işlevini</a:t>
            </a:r>
            <a:r>
              <a:rPr sz="2000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yerine</a:t>
            </a:r>
            <a:r>
              <a:rPr sz="2000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getiren</a:t>
            </a:r>
            <a:r>
              <a:rPr sz="2000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0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yüzeydir.</a:t>
            </a:r>
            <a:r>
              <a:rPr sz="20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Parmağın</a:t>
            </a:r>
            <a:r>
              <a:rPr sz="20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yüzeyde</a:t>
            </a:r>
            <a:r>
              <a:rPr sz="20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hareket</a:t>
            </a:r>
            <a:r>
              <a:rPr sz="2000" spc="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ettirilmesiyle</a:t>
            </a:r>
            <a:r>
              <a:rPr sz="20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imleç </a:t>
            </a:r>
            <a:r>
              <a:rPr sz="2000" dirty="0">
                <a:solidFill>
                  <a:srgbClr val="2C241F"/>
                </a:solidFill>
                <a:latin typeface="Arial"/>
                <a:cs typeface="Arial"/>
              </a:rPr>
              <a:t>kontrol</a:t>
            </a:r>
            <a:r>
              <a:rPr sz="20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Arial"/>
                <a:cs typeface="Arial"/>
              </a:rPr>
              <a:t>edilir.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3733" y="3080080"/>
            <a:ext cx="54387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Arial"/>
                <a:cs typeface="Arial"/>
              </a:rPr>
              <a:t>ÇIKIŞ </a:t>
            </a:r>
            <a:r>
              <a:rPr sz="5400" spc="-10" dirty="0">
                <a:solidFill>
                  <a:srgbClr val="FFFFFF"/>
                </a:solidFill>
                <a:latin typeface="Arial"/>
                <a:cs typeface="Arial"/>
              </a:rPr>
              <a:t>BİRİMLERİ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886325"/>
            <a:chOff x="1338072" y="1411224"/>
            <a:chExt cx="9813290" cy="488632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4007" y="3750659"/>
              <a:ext cx="4901118" cy="25465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20845">
              <a:lnSpc>
                <a:spcPct val="100000"/>
              </a:lnSpc>
              <a:spcBef>
                <a:spcPts val="95"/>
              </a:spcBef>
            </a:pPr>
            <a:r>
              <a:rPr dirty="0"/>
              <a:t>Çıkış</a:t>
            </a:r>
            <a:r>
              <a:rPr spc="-100" dirty="0"/>
              <a:t> </a:t>
            </a:r>
            <a:r>
              <a:rPr spc="-10" dirty="0"/>
              <a:t>Birimleri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865630" algn="l"/>
                <a:tab pos="3650615" algn="l"/>
                <a:tab pos="4911090" algn="l"/>
                <a:tab pos="5508625" algn="l"/>
                <a:tab pos="6852920" algn="l"/>
                <a:tab pos="8381365" algn="l"/>
              </a:tabLst>
            </a:pPr>
            <a:r>
              <a:rPr spc="-10" dirty="0"/>
              <a:t>Bilgisayar</a:t>
            </a:r>
            <a:r>
              <a:rPr dirty="0"/>
              <a:t>	</a:t>
            </a:r>
            <a:r>
              <a:rPr spc="-10" dirty="0"/>
              <a:t>ortamındaki</a:t>
            </a:r>
            <a:r>
              <a:rPr dirty="0"/>
              <a:t>	</a:t>
            </a:r>
            <a:r>
              <a:rPr spc="-10" dirty="0"/>
              <a:t>verilerin</a:t>
            </a:r>
            <a:r>
              <a:rPr dirty="0"/>
              <a:t>	</a:t>
            </a:r>
            <a:r>
              <a:rPr spc="-25" dirty="0"/>
              <a:t>dış</a:t>
            </a:r>
            <a:r>
              <a:rPr dirty="0"/>
              <a:t>	</a:t>
            </a:r>
            <a:r>
              <a:rPr spc="-10" dirty="0"/>
              <a:t>dünyaya</a:t>
            </a:r>
            <a:r>
              <a:rPr dirty="0"/>
              <a:t>	</a:t>
            </a:r>
            <a:r>
              <a:rPr spc="-10" dirty="0"/>
              <a:t>aktarıldığı</a:t>
            </a:r>
            <a:r>
              <a:rPr dirty="0"/>
              <a:t>	</a:t>
            </a:r>
            <a:r>
              <a:rPr spc="-10" dirty="0"/>
              <a:t>donanım birimleridir.</a:t>
            </a:r>
          </a:p>
          <a:p>
            <a:pPr marL="350520" marR="5715" indent="-338455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842770" algn="l"/>
                <a:tab pos="3604895" algn="l"/>
                <a:tab pos="4605020" algn="l"/>
                <a:tab pos="5604510" algn="l"/>
                <a:tab pos="6329680" algn="l"/>
                <a:tab pos="7227570" algn="l"/>
                <a:tab pos="7874000" algn="l"/>
                <a:tab pos="8873490" algn="l"/>
              </a:tabLst>
            </a:pPr>
            <a:r>
              <a:rPr spc="-10" dirty="0"/>
              <a:t>Bilgisayar</a:t>
            </a:r>
            <a:r>
              <a:rPr dirty="0"/>
              <a:t>	</a:t>
            </a:r>
            <a:r>
              <a:rPr spc="-10" dirty="0"/>
              <a:t>ortamındaki</a:t>
            </a:r>
            <a:r>
              <a:rPr dirty="0"/>
              <a:t>	</a:t>
            </a:r>
            <a:r>
              <a:rPr spc="-10" dirty="0"/>
              <a:t>metin,</a:t>
            </a:r>
            <a:r>
              <a:rPr dirty="0"/>
              <a:t>	</a:t>
            </a:r>
            <a:r>
              <a:rPr spc="-10" dirty="0"/>
              <a:t>resim,</a:t>
            </a:r>
            <a:r>
              <a:rPr dirty="0"/>
              <a:t>	</a:t>
            </a:r>
            <a:r>
              <a:rPr spc="-20" dirty="0"/>
              <a:t>ses,</a:t>
            </a:r>
            <a:r>
              <a:rPr dirty="0"/>
              <a:t>	</a:t>
            </a:r>
            <a:r>
              <a:rPr spc="-10" dirty="0"/>
              <a:t>video</a:t>
            </a:r>
            <a:r>
              <a:rPr dirty="0"/>
              <a:t>	</a:t>
            </a:r>
            <a:r>
              <a:rPr spc="-20" dirty="0"/>
              <a:t>gibi</a:t>
            </a:r>
            <a:r>
              <a:rPr dirty="0"/>
              <a:t>	</a:t>
            </a:r>
            <a:r>
              <a:rPr spc="-10" dirty="0"/>
              <a:t>veriler</a:t>
            </a:r>
            <a:r>
              <a:rPr dirty="0"/>
              <a:t>	</a:t>
            </a:r>
            <a:r>
              <a:rPr spc="-10" dirty="0"/>
              <a:t>Çıkış </a:t>
            </a:r>
            <a:r>
              <a:rPr dirty="0"/>
              <a:t>Birimleri</a:t>
            </a:r>
            <a:r>
              <a:rPr spc="-60" dirty="0"/>
              <a:t> </a:t>
            </a:r>
            <a:r>
              <a:rPr dirty="0"/>
              <a:t>ile</a:t>
            </a:r>
            <a:r>
              <a:rPr spc="-60" dirty="0"/>
              <a:t> </a:t>
            </a:r>
            <a:r>
              <a:rPr dirty="0"/>
              <a:t>bir</a:t>
            </a:r>
            <a:r>
              <a:rPr spc="-60" dirty="0"/>
              <a:t> </a:t>
            </a:r>
            <a:r>
              <a:rPr dirty="0"/>
              <a:t>çıktı</a:t>
            </a:r>
            <a:r>
              <a:rPr spc="-95" dirty="0"/>
              <a:t> </a:t>
            </a:r>
            <a:r>
              <a:rPr dirty="0"/>
              <a:t>olarak</a:t>
            </a:r>
            <a:r>
              <a:rPr spc="-65" dirty="0"/>
              <a:t> </a:t>
            </a:r>
            <a:r>
              <a:rPr dirty="0"/>
              <a:t>kullanıcıya</a:t>
            </a:r>
            <a:r>
              <a:rPr spc="-45" dirty="0"/>
              <a:t> </a:t>
            </a:r>
            <a:r>
              <a:rPr spc="-10" dirty="0"/>
              <a:t>aktarılırlar.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49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041900"/>
            <a:chOff x="1338072" y="1411224"/>
            <a:chExt cx="9813290" cy="504190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1612" y="3241547"/>
              <a:ext cx="4149852" cy="321106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20" dirty="0"/>
              <a:t> </a:t>
            </a:r>
            <a:r>
              <a:rPr spc="-10" dirty="0"/>
              <a:t>Monitör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2085" y="1516888"/>
            <a:ext cx="9587230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görsel</a:t>
            </a:r>
            <a:r>
              <a:rPr sz="24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verilerini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kullanıcıya</a:t>
            </a:r>
            <a:r>
              <a:rPr sz="2400" spc="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sunan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ekrandır.</a:t>
            </a:r>
            <a:r>
              <a:rPr sz="2400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İşlenen</a:t>
            </a:r>
            <a:r>
              <a:rPr sz="2400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metin,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görüntü,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</a:t>
            </a:r>
            <a:r>
              <a:rPr sz="2400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videolar</a:t>
            </a:r>
            <a:r>
              <a:rPr sz="2400" spc="3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monitörde</a:t>
            </a:r>
            <a:r>
              <a:rPr sz="2400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gösterilir.</a:t>
            </a:r>
            <a:r>
              <a:rPr sz="2400" spc="3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Çözünürlük</a:t>
            </a:r>
            <a:r>
              <a:rPr sz="2400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boyut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özellikler,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monitörün</a:t>
            </a:r>
            <a:r>
              <a:rPr sz="2400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kalitesini</a:t>
            </a:r>
            <a:r>
              <a:rPr sz="2400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belirler.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967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Teknik</a:t>
            </a:r>
            <a:r>
              <a:rPr spc="-190" dirty="0"/>
              <a:t> </a:t>
            </a:r>
            <a:r>
              <a:rPr spc="-10" dirty="0"/>
              <a:t>Özellikler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8500" cy="423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Monitörlerin</a:t>
            </a:r>
            <a:r>
              <a:rPr sz="2400" spc="1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teknik</a:t>
            </a:r>
            <a:r>
              <a:rPr sz="2400" spc="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özellikleri,</a:t>
            </a:r>
            <a:r>
              <a:rPr sz="2400" spc="1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onların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performansını,</a:t>
            </a:r>
            <a:r>
              <a:rPr sz="2400" spc="1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</a:t>
            </a:r>
            <a:r>
              <a:rPr sz="2400" spc="1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kalitesini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kullanıcı</a:t>
            </a:r>
            <a:r>
              <a:rPr sz="2400" spc="3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deneyimini</a:t>
            </a:r>
            <a:r>
              <a:rPr sz="2400" spc="3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etkileyen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temel</a:t>
            </a:r>
            <a:r>
              <a:rPr sz="2400" spc="3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faktörlerdir.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monitörün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en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önemli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teknik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özellikleri:</a:t>
            </a:r>
            <a:endParaRPr sz="2400">
              <a:latin typeface="Arial"/>
              <a:cs typeface="Arial"/>
            </a:endParaRPr>
          </a:p>
          <a:p>
            <a:pPr marL="920750" indent="-45720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AutoNum type="arabicPeriod"/>
              <a:tabLst>
                <a:tab pos="92075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Çözünürlük</a:t>
            </a:r>
            <a:endParaRPr sz="2400">
              <a:latin typeface="Arial"/>
              <a:cs typeface="Arial"/>
            </a:endParaRPr>
          </a:p>
          <a:p>
            <a:pPr marL="920750" indent="-457200" algn="just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AutoNum type="arabicPeriod"/>
              <a:tabLst>
                <a:tab pos="92075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Boyutu</a:t>
            </a:r>
            <a:endParaRPr sz="2400">
              <a:latin typeface="Arial"/>
              <a:cs typeface="Arial"/>
            </a:endParaRPr>
          </a:p>
          <a:p>
            <a:pPr marL="920750" indent="-45720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AutoNum type="arabicPeriod"/>
              <a:tabLst>
                <a:tab pos="920750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Yenileme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Hızı</a:t>
            </a:r>
            <a:endParaRPr sz="2400">
              <a:latin typeface="Arial"/>
              <a:cs typeface="Arial"/>
            </a:endParaRPr>
          </a:p>
          <a:p>
            <a:pPr marL="920750" indent="-457200" algn="just">
              <a:lnSpc>
                <a:spcPct val="100000"/>
              </a:lnSpc>
              <a:spcBef>
                <a:spcPts val="1685"/>
              </a:spcBef>
              <a:buClr>
                <a:srgbClr val="F88556"/>
              </a:buClr>
              <a:buSzPct val="89583"/>
              <a:buAutoNum type="arabicPeriod"/>
              <a:tabLst>
                <a:tab pos="920750" algn="l"/>
              </a:tabLst>
            </a:pP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Tepki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Süresi</a:t>
            </a:r>
            <a:endParaRPr sz="2400">
              <a:latin typeface="Arial"/>
              <a:cs typeface="Arial"/>
            </a:endParaRPr>
          </a:p>
          <a:p>
            <a:pPr marL="920750" indent="-457200" algn="just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AutoNum type="arabicPeriod"/>
              <a:tabLst>
                <a:tab pos="92075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Panel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Türü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15820">
              <a:lnSpc>
                <a:spcPct val="100000"/>
              </a:lnSpc>
              <a:spcBef>
                <a:spcPts val="95"/>
              </a:spcBef>
            </a:pPr>
            <a:r>
              <a:rPr dirty="0"/>
              <a:t>Çözünürlük</a:t>
            </a:r>
            <a:r>
              <a:rPr spc="-240" dirty="0"/>
              <a:t> </a:t>
            </a:r>
            <a:r>
              <a:rPr spc="-10" dirty="0"/>
              <a:t>(Resolution)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8500" cy="365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Monitörde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görüntülenen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piksellerin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sayısını</a:t>
            </a:r>
            <a:r>
              <a:rPr sz="2400" spc="5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belirler.</a:t>
            </a:r>
            <a:r>
              <a:rPr sz="2400" spc="5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Yatay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dikey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piksel</a:t>
            </a:r>
            <a:r>
              <a:rPr sz="2400" spc="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sayıları</a:t>
            </a:r>
            <a:r>
              <a:rPr sz="2400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ifade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edilir</a:t>
            </a:r>
            <a:r>
              <a:rPr sz="24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(örneğin</a:t>
            </a:r>
            <a:r>
              <a:rPr sz="24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1920x1080).</a:t>
            </a:r>
            <a:r>
              <a:rPr sz="2400" spc="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Çözünürlük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arttıkça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kalitesi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detaylar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artar.</a:t>
            </a:r>
            <a:endParaRPr sz="2400">
              <a:latin typeface="Arial"/>
              <a:cs typeface="Arial"/>
            </a:endParaRPr>
          </a:p>
          <a:p>
            <a:pPr marL="356235" indent="-33782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235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HD: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1280x720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piksel</a:t>
            </a:r>
            <a:endParaRPr sz="2400">
              <a:latin typeface="Arial"/>
              <a:cs typeface="Arial"/>
            </a:endParaRPr>
          </a:p>
          <a:p>
            <a:pPr marL="356235" indent="-337820" algn="just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235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Full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HD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(FHD):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1920x1080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piksel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Quad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HD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(QHD):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2560x1440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piksel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4K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Ultra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HD: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3840x2160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piksel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25720"/>
            <a:chOff x="1338072" y="1411224"/>
            <a:chExt cx="9813290" cy="512572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1863" y="3396996"/>
              <a:ext cx="4376928" cy="31394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85900">
              <a:lnSpc>
                <a:spcPct val="100000"/>
              </a:lnSpc>
              <a:spcBef>
                <a:spcPts val="95"/>
              </a:spcBef>
            </a:pPr>
            <a:r>
              <a:rPr dirty="0"/>
              <a:t>Ekran</a:t>
            </a:r>
            <a:r>
              <a:rPr spc="-80" dirty="0"/>
              <a:t> </a:t>
            </a:r>
            <a:r>
              <a:rPr dirty="0"/>
              <a:t>Boyutu</a:t>
            </a:r>
            <a:r>
              <a:rPr spc="-75" dirty="0"/>
              <a:t> </a:t>
            </a:r>
            <a:r>
              <a:rPr dirty="0"/>
              <a:t>(Screen</a:t>
            </a:r>
            <a:r>
              <a:rPr spc="-60" dirty="0"/>
              <a:t> </a:t>
            </a:r>
            <a:r>
              <a:rPr spc="-10" dirty="0"/>
              <a:t>Size)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2085" y="1516888"/>
            <a:ext cx="9586595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Monitörün</a:t>
            </a:r>
            <a:r>
              <a:rPr sz="2400" spc="5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köşeden</a:t>
            </a:r>
            <a:r>
              <a:rPr sz="2400" spc="5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köşeye</a:t>
            </a:r>
            <a:r>
              <a:rPr sz="2400" spc="5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olan</a:t>
            </a:r>
            <a:r>
              <a:rPr sz="2400" spc="5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ölçüsüdür,</a:t>
            </a:r>
            <a:r>
              <a:rPr sz="2400" spc="5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inç</a:t>
            </a:r>
            <a:r>
              <a:rPr sz="2400" spc="5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cinsinden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ifade</a:t>
            </a:r>
            <a:r>
              <a:rPr sz="2400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edilir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(örneğin,</a:t>
            </a:r>
            <a:r>
              <a:rPr sz="2400" spc="3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24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inç,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27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inç).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ekranlar,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geniş</a:t>
            </a:r>
            <a:r>
              <a:rPr sz="2400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görüntüleme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alanı  sağlar,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ancak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çözünürlüğe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bağlı</a:t>
            </a:r>
            <a:r>
              <a:rPr sz="2400" spc="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görüntü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kalitesi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değişebilir.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41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Yenileme</a:t>
            </a:r>
            <a:r>
              <a:rPr spc="-125" dirty="0"/>
              <a:t> </a:t>
            </a:r>
            <a:r>
              <a:rPr dirty="0"/>
              <a:t>Hızı</a:t>
            </a:r>
            <a:r>
              <a:rPr spc="-120" dirty="0"/>
              <a:t> </a:t>
            </a:r>
            <a:r>
              <a:rPr dirty="0"/>
              <a:t>(Refresh</a:t>
            </a:r>
            <a:r>
              <a:rPr spc="-110" dirty="0"/>
              <a:t> </a:t>
            </a:r>
            <a:r>
              <a:rPr spc="-10" dirty="0"/>
              <a:t>Rate)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850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  <a:tabLst>
                <a:tab pos="995044" algn="l"/>
                <a:tab pos="1525905" algn="l"/>
                <a:tab pos="1826260" algn="l"/>
                <a:tab pos="2021205" algn="l"/>
                <a:tab pos="2809240" algn="l"/>
                <a:tab pos="3369945" algn="l"/>
                <a:tab pos="3400425" algn="l"/>
                <a:tab pos="4488815" algn="l"/>
                <a:tab pos="4589780" algn="l"/>
                <a:tab pos="5714365" algn="l"/>
                <a:tab pos="5842000" algn="l"/>
                <a:tab pos="6465570" algn="l"/>
                <a:tab pos="7319009" algn="l"/>
                <a:tab pos="7671434" algn="l"/>
                <a:tab pos="8488045" algn="l"/>
                <a:tab pos="925639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Monitörün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saniyede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ekrana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getirdiği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kare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sayısını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ifade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eder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Hertz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(Hz)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birimi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ölçülür.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yenileme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hızları,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2085" y="2468371"/>
            <a:ext cx="9587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2100" algn="l"/>
                <a:tab pos="2094230" algn="l"/>
                <a:tab pos="2861310" algn="l"/>
                <a:tab pos="4089400" algn="l"/>
                <a:tab pos="4976495" algn="l"/>
                <a:tab pos="6899909" algn="l"/>
                <a:tab pos="7788909" algn="l"/>
                <a:tab pos="923671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oyunlarda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hareket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eden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görüntülerde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pürüzsüz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085" y="2693670"/>
            <a:ext cx="9502775" cy="234124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deneyim</a:t>
            </a:r>
            <a:r>
              <a:rPr sz="2400" spc="-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60</a:t>
            </a:r>
            <a:r>
              <a:rPr sz="2400" b="1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Hz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Standart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yenileme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hızı.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120</a:t>
            </a:r>
            <a:r>
              <a:rPr sz="24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Hz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144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Hz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performanslı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grafiklerde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yaygın.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240</a:t>
            </a:r>
            <a:r>
              <a:rPr sz="2400" b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Hz</a:t>
            </a:r>
            <a:r>
              <a:rPr sz="2400" b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b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üstü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Profesyonel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monitörlerinde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bulunur.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821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Tepki</a:t>
            </a:r>
            <a:r>
              <a:rPr spc="-105" dirty="0"/>
              <a:t> </a:t>
            </a:r>
            <a:r>
              <a:rPr dirty="0"/>
              <a:t>Süresi</a:t>
            </a:r>
            <a:r>
              <a:rPr spc="-100" dirty="0"/>
              <a:t> </a:t>
            </a:r>
            <a:r>
              <a:rPr dirty="0"/>
              <a:t>(Response</a:t>
            </a:r>
            <a:r>
              <a:rPr spc="-95" dirty="0"/>
              <a:t> </a:t>
            </a:r>
            <a:r>
              <a:rPr spc="-10" dirty="0"/>
              <a:t>Time)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64785" y="1590294"/>
            <a:ext cx="6266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  <a:tab pos="1673860" algn="l"/>
                <a:tab pos="2964815" algn="l"/>
                <a:tab pos="4575810" algn="l"/>
                <a:tab pos="593090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rengini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diğerine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değiştirme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süresidir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2085" y="1516888"/>
            <a:ext cx="9585960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1571625" algn="l"/>
                <a:tab pos="211264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Monitörün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pikselin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1619885" algn="l"/>
                <a:tab pos="2495550" algn="l"/>
                <a:tab pos="4050029" algn="l"/>
                <a:tab pos="5284470" algn="l"/>
                <a:tab pos="6412230" algn="l"/>
                <a:tab pos="7322184" algn="l"/>
                <a:tab pos="848677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milisaniye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(ms)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cinsinden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ölçülür.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Düşük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tepki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süresi,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özellikle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085" y="2255529"/>
            <a:ext cx="7705725" cy="1761489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oyunlarda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hareketli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sahnelerde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bulanıklığı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azaltır.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1-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5</a:t>
            </a:r>
            <a:r>
              <a:rPr sz="24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ms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Oyun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monitörleri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ideal.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5-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10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ms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kullanım</a:t>
            </a:r>
            <a:r>
              <a:rPr sz="2400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uygun.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9995">
              <a:lnSpc>
                <a:spcPct val="100000"/>
              </a:lnSpc>
              <a:spcBef>
                <a:spcPts val="95"/>
              </a:spcBef>
            </a:pPr>
            <a:r>
              <a:rPr dirty="0"/>
              <a:t>Panel</a:t>
            </a:r>
            <a:r>
              <a:rPr spc="-100" dirty="0"/>
              <a:t> </a:t>
            </a:r>
            <a:r>
              <a:rPr dirty="0"/>
              <a:t>ve</a:t>
            </a:r>
            <a:r>
              <a:rPr spc="-195" dirty="0"/>
              <a:t> </a:t>
            </a:r>
            <a:r>
              <a:rPr spc="-10" dirty="0"/>
              <a:t>Aydınlatma</a:t>
            </a:r>
            <a:r>
              <a:rPr spc="-85" dirty="0"/>
              <a:t> </a:t>
            </a:r>
            <a:r>
              <a:rPr dirty="0"/>
              <a:t>Türü</a:t>
            </a:r>
            <a:r>
              <a:rPr spc="-90" dirty="0"/>
              <a:t> </a:t>
            </a:r>
            <a:r>
              <a:rPr spc="-25" dirty="0"/>
              <a:t>(1)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9135" cy="425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Monitörün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görüntüleme</a:t>
            </a:r>
            <a:r>
              <a:rPr sz="24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paneli</a:t>
            </a:r>
            <a:r>
              <a:rPr sz="24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teknolojisi,</a:t>
            </a:r>
            <a:r>
              <a:rPr sz="2400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renk</a:t>
            </a:r>
            <a:r>
              <a:rPr sz="24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kalitesini,</a:t>
            </a:r>
            <a:r>
              <a:rPr sz="2400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görüş</a:t>
            </a:r>
            <a:r>
              <a:rPr sz="2400" spc="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açısını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tepki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süresini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etkiler.</a:t>
            </a:r>
            <a:endParaRPr sz="2400">
              <a:latin typeface="Arial"/>
              <a:cs typeface="Arial"/>
            </a:endParaRPr>
          </a:p>
          <a:p>
            <a:pPr marL="356870" marR="6350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LED</a:t>
            </a:r>
            <a:r>
              <a:rPr sz="2400" b="1" spc="20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monitörler,</a:t>
            </a:r>
            <a:r>
              <a:rPr sz="2400" spc="2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LCD</a:t>
            </a:r>
            <a:r>
              <a:rPr sz="2400" spc="20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ekranlara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arka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aydınlatma</a:t>
            </a:r>
            <a:r>
              <a:rPr sz="2400" spc="2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sağlayan</a:t>
            </a:r>
            <a:r>
              <a:rPr sz="2400" spc="2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teknolojidir.</a:t>
            </a:r>
            <a:r>
              <a:rPr sz="2400" spc="1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LED,</a:t>
            </a:r>
            <a:r>
              <a:rPr sz="2400" spc="1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floresan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arka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aydınlatma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kullanan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eski</a:t>
            </a:r>
            <a:r>
              <a:rPr sz="2400" spc="1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LCD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teknolojilerine</a:t>
            </a:r>
            <a:r>
              <a:rPr sz="2400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göre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enerji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verimli,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ince</a:t>
            </a:r>
            <a:r>
              <a:rPr sz="2400" spc="3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3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parlak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ekranlar</a:t>
            </a:r>
            <a:r>
              <a:rPr sz="2400" spc="-1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356870" marR="508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QLED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,</a:t>
            </a:r>
            <a:r>
              <a:rPr sz="2400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LED</a:t>
            </a:r>
            <a:r>
              <a:rPr sz="2400" spc="2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arka</a:t>
            </a:r>
            <a:r>
              <a:rPr sz="2400" spc="2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aydınlatma</a:t>
            </a:r>
            <a:r>
              <a:rPr sz="2400" spc="2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spc="2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birlikte</a:t>
            </a:r>
            <a:r>
              <a:rPr sz="2400" spc="2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Quantum</a:t>
            </a:r>
            <a:r>
              <a:rPr sz="2400" b="1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Dot</a:t>
            </a:r>
            <a:r>
              <a:rPr sz="2400" b="1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teknolojisini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kullanan</a:t>
            </a:r>
            <a:r>
              <a:rPr sz="2400" spc="4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45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panel</a:t>
            </a:r>
            <a:r>
              <a:rPr sz="2400" spc="4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türüdür.</a:t>
            </a:r>
            <a:r>
              <a:rPr sz="2400" spc="45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Işığı</a:t>
            </a:r>
            <a:r>
              <a:rPr sz="2400" spc="4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4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hassas</a:t>
            </a:r>
            <a:r>
              <a:rPr sz="2400" spc="4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şekilde</a:t>
            </a:r>
            <a:r>
              <a:rPr sz="2400" spc="4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filtreleyerek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parlak,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zengin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renkler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iyi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kontrast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sunar.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9995">
              <a:lnSpc>
                <a:spcPct val="100000"/>
              </a:lnSpc>
              <a:spcBef>
                <a:spcPts val="95"/>
              </a:spcBef>
            </a:pPr>
            <a:r>
              <a:rPr dirty="0"/>
              <a:t>Panel</a:t>
            </a:r>
            <a:r>
              <a:rPr spc="-100" dirty="0"/>
              <a:t> </a:t>
            </a:r>
            <a:r>
              <a:rPr dirty="0"/>
              <a:t>ve</a:t>
            </a:r>
            <a:r>
              <a:rPr spc="-195" dirty="0"/>
              <a:t> </a:t>
            </a:r>
            <a:r>
              <a:rPr spc="-10" dirty="0"/>
              <a:t>Aydınlatma</a:t>
            </a:r>
            <a:r>
              <a:rPr spc="-85" dirty="0"/>
              <a:t> </a:t>
            </a:r>
            <a:r>
              <a:rPr dirty="0"/>
              <a:t>Türü</a:t>
            </a:r>
            <a:r>
              <a:rPr spc="-90" dirty="0"/>
              <a:t> </a:t>
            </a:r>
            <a:r>
              <a:rPr spc="-25" dirty="0"/>
              <a:t>(2)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985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b="1" dirty="0">
                <a:latin typeface="Arial"/>
                <a:cs typeface="Arial"/>
              </a:rPr>
              <a:t>OLED</a:t>
            </a:r>
            <a:r>
              <a:rPr b="1" spc="-10" dirty="0">
                <a:latin typeface="Arial"/>
                <a:cs typeface="Arial"/>
              </a:rPr>
              <a:t>  </a:t>
            </a:r>
            <a:r>
              <a:rPr b="1" dirty="0">
                <a:latin typeface="Arial"/>
                <a:cs typeface="Arial"/>
              </a:rPr>
              <a:t>paneller</a:t>
            </a:r>
            <a:r>
              <a:rPr dirty="0"/>
              <a:t>,</a:t>
            </a:r>
            <a:r>
              <a:rPr spc="-5" dirty="0"/>
              <a:t>  </a:t>
            </a:r>
            <a:r>
              <a:rPr dirty="0"/>
              <a:t>her</a:t>
            </a:r>
            <a:r>
              <a:rPr spc="-5" dirty="0"/>
              <a:t>  </a:t>
            </a:r>
            <a:r>
              <a:rPr dirty="0"/>
              <a:t>pikselin  kendi</a:t>
            </a:r>
            <a:r>
              <a:rPr spc="-5" dirty="0"/>
              <a:t>  </a:t>
            </a:r>
            <a:r>
              <a:rPr dirty="0"/>
              <a:t>ışığını</a:t>
            </a:r>
            <a:r>
              <a:rPr spc="-5" dirty="0"/>
              <a:t>  </a:t>
            </a:r>
            <a:r>
              <a:rPr dirty="0"/>
              <a:t>yayabilmesi</a:t>
            </a:r>
            <a:r>
              <a:rPr spc="-10" dirty="0"/>
              <a:t>  özelliğine </a:t>
            </a:r>
            <a:r>
              <a:rPr dirty="0"/>
              <a:t>sahiptir,</a:t>
            </a:r>
            <a:r>
              <a:rPr spc="229" dirty="0"/>
              <a:t>  </a:t>
            </a:r>
            <a:r>
              <a:rPr dirty="0"/>
              <a:t>bu</a:t>
            </a:r>
            <a:r>
              <a:rPr spc="229" dirty="0"/>
              <a:t>  </a:t>
            </a:r>
            <a:r>
              <a:rPr dirty="0"/>
              <a:t>da</a:t>
            </a:r>
            <a:r>
              <a:rPr spc="229" dirty="0"/>
              <a:t>  </a:t>
            </a:r>
            <a:r>
              <a:rPr dirty="0"/>
              <a:t>bağımsız</a:t>
            </a:r>
            <a:r>
              <a:rPr spc="235" dirty="0"/>
              <a:t>  </a:t>
            </a:r>
            <a:r>
              <a:rPr dirty="0"/>
              <a:t>olarak</a:t>
            </a:r>
            <a:r>
              <a:rPr spc="235" dirty="0"/>
              <a:t>  </a:t>
            </a:r>
            <a:r>
              <a:rPr dirty="0"/>
              <a:t>açılıp</a:t>
            </a:r>
            <a:r>
              <a:rPr spc="235" dirty="0"/>
              <a:t>  </a:t>
            </a:r>
            <a:r>
              <a:rPr dirty="0"/>
              <a:t>kapanabilen</a:t>
            </a:r>
            <a:r>
              <a:rPr spc="235" dirty="0"/>
              <a:t>  </a:t>
            </a:r>
            <a:r>
              <a:rPr spc="-10" dirty="0"/>
              <a:t>piksellerle </a:t>
            </a:r>
            <a:r>
              <a:rPr dirty="0"/>
              <a:t>mükemmel</a:t>
            </a:r>
            <a:r>
              <a:rPr spc="-75" dirty="0"/>
              <a:t> </a:t>
            </a:r>
            <a:r>
              <a:rPr dirty="0"/>
              <a:t>siyahlar</a:t>
            </a:r>
            <a:r>
              <a:rPr spc="-45" dirty="0"/>
              <a:t> </a:t>
            </a:r>
            <a:r>
              <a:rPr dirty="0"/>
              <a:t>ve</a:t>
            </a:r>
            <a:r>
              <a:rPr spc="-70" dirty="0"/>
              <a:t> </a:t>
            </a:r>
            <a:r>
              <a:rPr dirty="0"/>
              <a:t>yüksek</a:t>
            </a:r>
            <a:r>
              <a:rPr spc="-75" dirty="0"/>
              <a:t> </a:t>
            </a:r>
            <a:r>
              <a:rPr dirty="0"/>
              <a:t>kontrast</a:t>
            </a:r>
            <a:r>
              <a:rPr spc="-75" dirty="0"/>
              <a:t> </a:t>
            </a:r>
            <a:r>
              <a:rPr dirty="0"/>
              <a:t>oranları</a:t>
            </a:r>
            <a:r>
              <a:rPr spc="-60" dirty="0"/>
              <a:t> </a:t>
            </a:r>
            <a:r>
              <a:rPr spc="-10" dirty="0"/>
              <a:t>sağlar.</a:t>
            </a: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b="1" dirty="0">
                <a:latin typeface="Arial"/>
                <a:cs typeface="Arial"/>
              </a:rPr>
              <a:t>IPS</a:t>
            </a:r>
            <a:r>
              <a:rPr b="1" spc="4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(In-</a:t>
            </a:r>
            <a:r>
              <a:rPr b="1" dirty="0">
                <a:latin typeface="Arial"/>
                <a:cs typeface="Arial"/>
              </a:rPr>
              <a:t>Plane</a:t>
            </a:r>
            <a:r>
              <a:rPr b="1" spc="4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Switching)</a:t>
            </a:r>
            <a:r>
              <a:rPr b="1" spc="4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paneller</a:t>
            </a:r>
            <a:r>
              <a:rPr dirty="0"/>
              <a:t>,</a:t>
            </a:r>
            <a:r>
              <a:rPr spc="434" dirty="0"/>
              <a:t> </a:t>
            </a:r>
            <a:r>
              <a:rPr dirty="0"/>
              <a:t>geniş</a:t>
            </a:r>
            <a:r>
              <a:rPr spc="434" dirty="0"/>
              <a:t> </a:t>
            </a:r>
            <a:r>
              <a:rPr dirty="0"/>
              <a:t>görüş</a:t>
            </a:r>
            <a:r>
              <a:rPr spc="425" dirty="0"/>
              <a:t> </a:t>
            </a:r>
            <a:r>
              <a:rPr dirty="0"/>
              <a:t>açısı</a:t>
            </a:r>
            <a:r>
              <a:rPr spc="420" dirty="0"/>
              <a:t> </a:t>
            </a:r>
            <a:r>
              <a:rPr dirty="0"/>
              <a:t>ve</a:t>
            </a:r>
            <a:r>
              <a:rPr spc="434" dirty="0"/>
              <a:t> </a:t>
            </a:r>
            <a:r>
              <a:rPr dirty="0"/>
              <a:t>iyi</a:t>
            </a:r>
            <a:r>
              <a:rPr spc="434" dirty="0"/>
              <a:t> </a:t>
            </a:r>
            <a:r>
              <a:rPr spc="-20" dirty="0"/>
              <a:t>renk </a:t>
            </a:r>
            <a:r>
              <a:rPr dirty="0"/>
              <a:t>doğruluğu</a:t>
            </a:r>
            <a:r>
              <a:rPr spc="-35" dirty="0"/>
              <a:t> </a:t>
            </a:r>
            <a:r>
              <a:rPr dirty="0"/>
              <a:t>sağlarken,</a:t>
            </a:r>
            <a:r>
              <a:rPr spc="-50" dirty="0"/>
              <a:t> </a:t>
            </a:r>
            <a:r>
              <a:rPr dirty="0"/>
              <a:t>arka</a:t>
            </a:r>
            <a:r>
              <a:rPr spc="-45" dirty="0"/>
              <a:t> </a:t>
            </a:r>
            <a:r>
              <a:rPr dirty="0"/>
              <a:t>aydınlatmada</a:t>
            </a:r>
            <a:r>
              <a:rPr spc="-40" dirty="0"/>
              <a:t> </a:t>
            </a:r>
            <a:r>
              <a:rPr dirty="0"/>
              <a:t>LED</a:t>
            </a:r>
            <a:r>
              <a:rPr spc="-45" dirty="0"/>
              <a:t> </a:t>
            </a:r>
            <a:r>
              <a:rPr dirty="0"/>
              <a:t>teknolojisi</a:t>
            </a:r>
            <a:r>
              <a:rPr spc="-50" dirty="0"/>
              <a:t> </a:t>
            </a:r>
            <a:r>
              <a:rPr spc="-10" dirty="0"/>
              <a:t>kullanılarak </a:t>
            </a:r>
            <a:r>
              <a:rPr dirty="0"/>
              <a:t>parlaklık</a:t>
            </a:r>
            <a:r>
              <a:rPr spc="509" dirty="0"/>
              <a:t> </a:t>
            </a:r>
            <a:r>
              <a:rPr dirty="0"/>
              <a:t>ve</a:t>
            </a:r>
            <a:r>
              <a:rPr spc="505" dirty="0"/>
              <a:t> </a:t>
            </a:r>
            <a:r>
              <a:rPr dirty="0"/>
              <a:t>enerji</a:t>
            </a:r>
            <a:r>
              <a:rPr spc="505" dirty="0"/>
              <a:t> </a:t>
            </a:r>
            <a:r>
              <a:rPr dirty="0"/>
              <a:t>verimliliği</a:t>
            </a:r>
            <a:r>
              <a:rPr spc="515" dirty="0"/>
              <a:t> </a:t>
            </a:r>
            <a:r>
              <a:rPr dirty="0"/>
              <a:t>artırılır.</a:t>
            </a:r>
            <a:r>
              <a:rPr spc="505" dirty="0"/>
              <a:t> </a:t>
            </a:r>
            <a:r>
              <a:rPr dirty="0"/>
              <a:t>Genellikle</a:t>
            </a:r>
            <a:r>
              <a:rPr spc="509" dirty="0"/>
              <a:t> </a:t>
            </a:r>
            <a:r>
              <a:rPr dirty="0"/>
              <a:t>profesyonel</a:t>
            </a:r>
            <a:r>
              <a:rPr spc="505" dirty="0"/>
              <a:t> </a:t>
            </a:r>
            <a:r>
              <a:rPr spc="-10" dirty="0"/>
              <a:t>grafik </a:t>
            </a:r>
            <a:r>
              <a:rPr dirty="0"/>
              <a:t>tasarımcılar</a:t>
            </a:r>
            <a:r>
              <a:rPr spc="70" dirty="0"/>
              <a:t>  </a:t>
            </a:r>
            <a:r>
              <a:rPr dirty="0"/>
              <a:t>veya</a:t>
            </a:r>
            <a:r>
              <a:rPr spc="60" dirty="0"/>
              <a:t>  </a:t>
            </a:r>
            <a:r>
              <a:rPr dirty="0"/>
              <a:t>geniş</a:t>
            </a:r>
            <a:r>
              <a:rPr spc="65" dirty="0"/>
              <a:t>  </a:t>
            </a:r>
            <a:r>
              <a:rPr dirty="0"/>
              <a:t>görüş</a:t>
            </a:r>
            <a:r>
              <a:rPr spc="65" dirty="0"/>
              <a:t>  </a:t>
            </a:r>
            <a:r>
              <a:rPr dirty="0"/>
              <a:t>açısına</a:t>
            </a:r>
            <a:r>
              <a:rPr spc="70" dirty="0"/>
              <a:t>  </a:t>
            </a:r>
            <a:r>
              <a:rPr dirty="0"/>
              <a:t>ihtiyaç</a:t>
            </a:r>
            <a:r>
              <a:rPr spc="65" dirty="0"/>
              <a:t>  </a:t>
            </a:r>
            <a:r>
              <a:rPr dirty="0"/>
              <a:t>duyan</a:t>
            </a:r>
            <a:r>
              <a:rPr spc="70" dirty="0"/>
              <a:t>  </a:t>
            </a:r>
            <a:r>
              <a:rPr spc="-10" dirty="0"/>
              <a:t>kullanıcılar </a:t>
            </a:r>
            <a:r>
              <a:rPr dirty="0"/>
              <a:t>tarafından</a:t>
            </a:r>
            <a:r>
              <a:rPr spc="-55" dirty="0"/>
              <a:t> </a:t>
            </a:r>
            <a:r>
              <a:rPr dirty="0"/>
              <a:t>tercih</a:t>
            </a:r>
            <a:r>
              <a:rPr spc="-65" dirty="0"/>
              <a:t> </a:t>
            </a:r>
            <a:r>
              <a:rPr spc="-10" dirty="0"/>
              <a:t>edilir.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55670">
              <a:lnSpc>
                <a:spcPct val="100000"/>
              </a:lnSpc>
              <a:spcBef>
                <a:spcPts val="95"/>
              </a:spcBef>
            </a:pPr>
            <a:r>
              <a:rPr dirty="0"/>
              <a:t>Bağlantı</a:t>
            </a:r>
            <a:r>
              <a:rPr spc="-114" dirty="0"/>
              <a:t> </a:t>
            </a:r>
            <a:r>
              <a:rPr spc="-10" dirty="0"/>
              <a:t>Noktaları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16888"/>
            <a:ext cx="9587865" cy="481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Monitörün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hangi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cihazlarla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kullanılabileceğini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hangi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bağlantı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türlerini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desteklediğini</a:t>
            </a:r>
            <a:r>
              <a:rPr sz="2400" spc="-1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gösterir.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HDMI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1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çözünürlüklü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iletimi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DisplayPort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çözünürlük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yenileme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hızları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sunar.</a:t>
            </a:r>
            <a:endParaRPr sz="2400">
              <a:latin typeface="Arial"/>
              <a:cs typeface="Arial"/>
            </a:endParaRPr>
          </a:p>
          <a:p>
            <a:pPr marL="356870" marR="6985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  <a:tab pos="1109345" algn="l"/>
                <a:tab pos="2611120" algn="l"/>
                <a:tab pos="3313429" algn="l"/>
                <a:tab pos="5171440" algn="l"/>
                <a:tab pos="5654675" algn="l"/>
                <a:tab pos="7782559" algn="l"/>
                <a:tab pos="9233535" algn="l"/>
              </a:tabLst>
            </a:pP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DVI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eski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monitörlerde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bilgisayarlarda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kullanılan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bağlantı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noktasıdır.</a:t>
            </a:r>
            <a:endParaRPr sz="2400">
              <a:latin typeface="Arial"/>
              <a:cs typeface="Arial"/>
            </a:endParaRPr>
          </a:p>
          <a:p>
            <a:pPr marL="356870" indent="-338455">
              <a:lnSpc>
                <a:spcPct val="100000"/>
              </a:lnSpc>
              <a:spcBef>
                <a:spcPts val="168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VGA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1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Analog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sinyal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ileten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eski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standarttır.</a:t>
            </a:r>
            <a:endParaRPr sz="2400">
              <a:latin typeface="Arial"/>
              <a:cs typeface="Arial"/>
            </a:endParaRPr>
          </a:p>
          <a:p>
            <a:pPr marL="356870" marR="3888104" indent="-338455">
              <a:lnSpc>
                <a:spcPts val="4560"/>
              </a:lnSpc>
              <a:spcBef>
                <a:spcPts val="22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439420" algn="l"/>
              </a:tabLst>
            </a:pPr>
            <a:r>
              <a:rPr sz="2400" b="1" spc="-25" dirty="0">
                <a:solidFill>
                  <a:srgbClr val="2C241F"/>
                </a:solidFill>
                <a:latin typeface="Arial"/>
                <a:cs typeface="Arial"/>
              </a:rPr>
              <a:t>USB-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Yeni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nesil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bağlantı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standardı, 	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hem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hem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aktarımı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3463" y="4316074"/>
            <a:ext cx="3202332" cy="19969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58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349240"/>
            <a:chOff x="1338072" y="1411224"/>
            <a:chExt cx="9813290" cy="534924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7895" y="3520438"/>
              <a:ext cx="4320540" cy="324002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5211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90" dirty="0"/>
              <a:t> </a:t>
            </a:r>
            <a:r>
              <a:rPr spc="-30" dirty="0"/>
              <a:t>Yazıcı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16888"/>
            <a:ext cx="9581515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236345" algn="l"/>
                <a:tab pos="2493645" algn="l"/>
                <a:tab pos="4126229" algn="l"/>
                <a:tab pos="5420360" algn="l"/>
                <a:tab pos="6474460" algn="l"/>
                <a:tab pos="7682230" algn="l"/>
                <a:tab pos="8277859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Dijital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ortamda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oluşturulan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belgeleri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kağıda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dökmek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kullanılan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aygıttır.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3246247"/>
            <a:ext cx="149860" cy="207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10"/>
              </a:spcBef>
            </a:pP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25"/>
              </a:spcBef>
            </a:pP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59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053965"/>
            <a:chOff x="1338072" y="1411224"/>
            <a:chExt cx="9813290" cy="505396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4095" y="3938016"/>
              <a:ext cx="2016252" cy="23896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8712" y="3604259"/>
              <a:ext cx="3849624" cy="286054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2435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105" dirty="0"/>
              <a:t> </a:t>
            </a:r>
            <a:r>
              <a:rPr spc="-20" dirty="0"/>
              <a:t>Hoparlör,</a:t>
            </a:r>
            <a:r>
              <a:rPr spc="-90" dirty="0"/>
              <a:t> </a:t>
            </a:r>
            <a:r>
              <a:rPr spc="-10" dirty="0"/>
              <a:t>Kulaklık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48180" y="1516888"/>
            <a:ext cx="9582785" cy="192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985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058035" algn="l"/>
                <a:tab pos="3121660" algn="l"/>
                <a:tab pos="3724910" algn="l"/>
                <a:tab pos="4991735" algn="l"/>
                <a:tab pos="6563359" algn="l"/>
                <a:tab pos="7421245" algn="l"/>
                <a:tab pos="855091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Bilgisayarın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işlediği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verilerini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kullanıcıya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ileten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aygıttır.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Kablolu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-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kablosuz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seçenekler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mevcuttur.</a:t>
            </a:r>
            <a:endParaRPr sz="240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7169784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Hoparlör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tercih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edilirken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ihtiyaca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göre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Çıkış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Gücü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(Watt)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bağlantı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tipine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bakılabilir.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218430"/>
            <a:chOff x="1338072" y="1411224"/>
            <a:chExt cx="9813290" cy="52184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9672" y="3500628"/>
              <a:ext cx="4187952" cy="312877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4795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105" dirty="0"/>
              <a:t> </a:t>
            </a:r>
            <a:r>
              <a:rPr dirty="0"/>
              <a:t>Projeksiyon</a:t>
            </a:r>
            <a:r>
              <a:rPr spc="-100" dirty="0"/>
              <a:t> </a:t>
            </a:r>
            <a:r>
              <a:rPr spc="-10" dirty="0"/>
              <a:t>Cihazı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16888"/>
            <a:ext cx="9580245" cy="148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5748020" algn="l"/>
                <a:tab pos="880364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Bilgisayardaki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görsel</a:t>
            </a:r>
            <a:r>
              <a:rPr sz="24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</a:t>
            </a:r>
            <a:r>
              <a:rPr sz="24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spc="2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yüzeye</a:t>
            </a:r>
            <a:r>
              <a:rPr sz="2400" spc="1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(genellikle</a:t>
            </a:r>
            <a:r>
              <a:rPr sz="2400" spc="2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duvar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perde)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yansıtarak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görüntüleyen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cihazdır.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Sunumlar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toplantılar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sıklıkla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kullanılır.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02278" y="3080080"/>
            <a:ext cx="74231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Arial"/>
                <a:cs typeface="Arial"/>
              </a:rPr>
              <a:t>DEPOLAMA</a:t>
            </a:r>
            <a:r>
              <a:rPr sz="5400" spc="-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Arial"/>
                <a:cs typeface="Arial"/>
              </a:rPr>
              <a:t>BİRİMLERİ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90240">
              <a:lnSpc>
                <a:spcPct val="100000"/>
              </a:lnSpc>
              <a:spcBef>
                <a:spcPts val="95"/>
              </a:spcBef>
            </a:pPr>
            <a:r>
              <a:rPr dirty="0"/>
              <a:t>Depolama</a:t>
            </a:r>
            <a:r>
              <a:rPr spc="-160" dirty="0"/>
              <a:t> </a:t>
            </a:r>
            <a:r>
              <a:rPr spc="-10" dirty="0"/>
              <a:t>Birimleri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2150" cy="206248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0520" indent="-337820" algn="just">
              <a:lnSpc>
                <a:spcPct val="100000"/>
              </a:lnSpc>
              <a:spcBef>
                <a:spcPts val="17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Bilgisayardaki</a:t>
            </a:r>
            <a:r>
              <a:rPr sz="2400" spc="4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verilerin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kalıcı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olarak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saklandığı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birimlerdir.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İşletim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sistemi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8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bilgisayardaki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uygulamalar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gerektiğinde</a:t>
            </a:r>
            <a:r>
              <a:rPr sz="2400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bu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birimlerdeki</a:t>
            </a:r>
            <a:r>
              <a:rPr sz="2400" spc="4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verilere</a:t>
            </a:r>
            <a:r>
              <a:rPr sz="2400" spc="3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erişebilir,</a:t>
            </a:r>
            <a:r>
              <a:rPr sz="2400" spc="3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değiştirebilir,</a:t>
            </a:r>
            <a:r>
              <a:rPr sz="2400" spc="4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silebilir</a:t>
            </a:r>
            <a:r>
              <a:rPr sz="2400" spc="40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400" spc="3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yeni</a:t>
            </a:r>
            <a:r>
              <a:rPr sz="2400" spc="3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 ekleyebilir.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0959" y="3537174"/>
            <a:ext cx="5170186" cy="27190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946005" cy="4657725"/>
            <a:chOff x="1338072" y="1411224"/>
            <a:chExt cx="9946005" cy="465772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6636" y="3614928"/>
              <a:ext cx="3147060" cy="24536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049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65" dirty="0"/>
              <a:t> </a:t>
            </a:r>
            <a:r>
              <a:rPr dirty="0"/>
              <a:t>Sabit</a:t>
            </a:r>
            <a:r>
              <a:rPr spc="-70" dirty="0"/>
              <a:t> </a:t>
            </a:r>
            <a:r>
              <a:rPr dirty="0"/>
              <a:t>Disk</a:t>
            </a:r>
            <a:r>
              <a:rPr spc="-85" dirty="0"/>
              <a:t> </a:t>
            </a:r>
            <a:r>
              <a:rPr dirty="0"/>
              <a:t>Sürücüsü</a:t>
            </a:r>
            <a:r>
              <a:rPr spc="-75" dirty="0"/>
              <a:t> </a:t>
            </a:r>
            <a:r>
              <a:rPr spc="-10" dirty="0"/>
              <a:t>(HDD)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21459"/>
            <a:ext cx="9580880" cy="434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364105" algn="l"/>
                <a:tab pos="2833370" algn="l"/>
                <a:tab pos="3778250" algn="l"/>
                <a:tab pos="5250815" algn="l"/>
                <a:tab pos="6517640" algn="l"/>
                <a:tab pos="7529830" algn="l"/>
                <a:tab pos="8608695" algn="l"/>
                <a:tab pos="9059545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Bilgisayardaki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en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birimidir.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İşletim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sistemi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tüm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programlar</a:t>
            </a:r>
            <a:r>
              <a:rPr sz="24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burada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depolanır.</a:t>
            </a:r>
            <a:endParaRPr sz="240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753235" algn="l"/>
                <a:tab pos="2477135" algn="l"/>
                <a:tab pos="4001135" algn="l"/>
                <a:tab pos="5575300" algn="l"/>
                <a:tab pos="6657340" algn="l"/>
                <a:tab pos="7927340" algn="l"/>
                <a:tab pos="871982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Manyetik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disk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teknolojisi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kullanarak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verileri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depolar.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dönen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diskler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(plakalar)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üzerinde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manyetik</a:t>
            </a:r>
            <a:r>
              <a:rPr sz="2400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alan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yazılır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okunur.</a:t>
            </a:r>
            <a:endParaRPr sz="2400">
              <a:latin typeface="Arial"/>
              <a:cs typeface="Arial"/>
            </a:endParaRPr>
          </a:p>
          <a:p>
            <a:pPr marL="350520" marR="3068320" indent="-338455">
              <a:lnSpc>
                <a:spcPct val="120000"/>
              </a:lnSpc>
              <a:spcBef>
                <a:spcPts val="66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155190" algn="l"/>
                <a:tab pos="3162935" algn="l"/>
                <a:tab pos="4664075" algn="l"/>
                <a:tab pos="6182360" algn="l"/>
              </a:tabLst>
            </a:pP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Avantajları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Büyük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kapasitesi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düşük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maliyet.</a:t>
            </a:r>
            <a:endParaRPr sz="2400">
              <a:latin typeface="Arial"/>
              <a:cs typeface="Arial"/>
            </a:endParaRPr>
          </a:p>
          <a:p>
            <a:pPr marL="350520" marR="3068320" indent="-338455" algn="just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Dezavantajları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Mekanik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parçaları</a:t>
            </a:r>
            <a:r>
              <a:rPr sz="2400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nedeniyle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1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yavaş</a:t>
            </a:r>
            <a:r>
              <a:rPr sz="2400" spc="1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spc="1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okuma/yazma</a:t>
            </a:r>
            <a:r>
              <a:rPr sz="2400" spc="1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hızları</a:t>
            </a:r>
            <a:r>
              <a:rPr sz="2400" spc="1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düşmelere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karşı</a:t>
            </a:r>
            <a:r>
              <a:rPr sz="2400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hassasiyet.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10126980" cy="5145405"/>
            <a:chOff x="1338072" y="1411224"/>
            <a:chExt cx="10126980" cy="514540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5112" y="4163568"/>
              <a:ext cx="3329940" cy="23926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5112" y="1732788"/>
              <a:ext cx="2973324" cy="252526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068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dirty="0"/>
              <a:t>Katı</a:t>
            </a:r>
            <a:r>
              <a:rPr spc="-40" dirty="0"/>
              <a:t> </a:t>
            </a:r>
            <a:r>
              <a:rPr dirty="0"/>
              <a:t>Hal</a:t>
            </a:r>
            <a:r>
              <a:rPr spc="-40" dirty="0"/>
              <a:t> </a:t>
            </a:r>
            <a:r>
              <a:rPr dirty="0"/>
              <a:t>Sürücüsü</a:t>
            </a:r>
            <a:r>
              <a:rPr spc="-50" dirty="0"/>
              <a:t> </a:t>
            </a:r>
            <a:r>
              <a:rPr spc="-10" dirty="0"/>
              <a:t>(SSD)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42085" y="1516888"/>
            <a:ext cx="6487160" cy="439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Flash</a:t>
            </a:r>
            <a:r>
              <a:rPr sz="2400" spc="5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bellek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teknolojisi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kullanarak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verileri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depolar.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Mekanik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parça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içermez,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</a:t>
            </a:r>
            <a:r>
              <a:rPr sz="2400" spc="5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Arial"/>
                <a:cs typeface="Arial"/>
              </a:rPr>
              <a:t>daha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dayanıklı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olmasını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sağlar.</a:t>
            </a:r>
            <a:endParaRPr sz="2400">
              <a:latin typeface="Arial"/>
              <a:cs typeface="Arial"/>
            </a:endParaRPr>
          </a:p>
          <a:p>
            <a:pPr marL="356235" indent="-33782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235" algn="l"/>
              </a:tabLst>
            </a:pP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Avantajları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3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spc="3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okuma/yazma</a:t>
            </a:r>
            <a:r>
              <a:rPr sz="2400" spc="3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hızları,</a:t>
            </a:r>
            <a:endParaRPr sz="2400">
              <a:latin typeface="Arial"/>
              <a:cs typeface="Arial"/>
            </a:endParaRPr>
          </a:p>
          <a:p>
            <a:pPr marL="356870" algn="just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düşük</a:t>
            </a:r>
            <a:r>
              <a:rPr sz="2400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güç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tüketimi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az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ısınma.</a:t>
            </a:r>
            <a:endParaRPr sz="2400">
              <a:latin typeface="Arial"/>
              <a:cs typeface="Arial"/>
            </a:endParaRPr>
          </a:p>
          <a:p>
            <a:pPr marL="356870" marR="5080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Dezavantajları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2400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pahalıdır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daha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az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yazma</a:t>
            </a:r>
            <a:r>
              <a:rPr sz="2400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döngüsüne</a:t>
            </a:r>
            <a:r>
              <a:rPr sz="2400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sahiptir.</a:t>
            </a:r>
            <a:endParaRPr sz="2400">
              <a:latin typeface="Arial"/>
              <a:cs typeface="Arial"/>
            </a:endParaRPr>
          </a:p>
          <a:p>
            <a:pPr marL="356870" marR="5715" indent="-338455" algn="just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SATA,</a:t>
            </a:r>
            <a:r>
              <a:rPr sz="2400" spc="1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NVMe,</a:t>
            </a:r>
            <a:r>
              <a:rPr sz="2400" spc="1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M2.,</a:t>
            </a:r>
            <a:r>
              <a:rPr sz="2400" spc="11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PCIe,</a:t>
            </a:r>
            <a:r>
              <a:rPr sz="2400" spc="13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U.2</a:t>
            </a:r>
            <a:r>
              <a:rPr sz="2400" spc="12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spc="12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türleri vardır.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199255"/>
            <a:chOff x="1338072" y="1411224"/>
            <a:chExt cx="9813290" cy="419925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0102" y="1875790"/>
              <a:ext cx="2381592" cy="373463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121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30" dirty="0"/>
              <a:t> </a:t>
            </a:r>
            <a:r>
              <a:rPr dirty="0"/>
              <a:t>Flash</a:t>
            </a:r>
            <a:r>
              <a:rPr spc="-40" dirty="0"/>
              <a:t> </a:t>
            </a:r>
            <a:r>
              <a:rPr spc="-25" dirty="0"/>
              <a:t>Disk-</a:t>
            </a:r>
            <a:r>
              <a:rPr dirty="0"/>
              <a:t>USB</a:t>
            </a:r>
            <a:r>
              <a:rPr spc="-25" dirty="0"/>
              <a:t> </a:t>
            </a:r>
            <a:r>
              <a:rPr dirty="0"/>
              <a:t>Flash</a:t>
            </a:r>
            <a:r>
              <a:rPr spc="-35" dirty="0"/>
              <a:t> </a:t>
            </a:r>
            <a:r>
              <a:rPr spc="-10" dirty="0"/>
              <a:t>Bellek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16888"/>
            <a:ext cx="673100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274445" algn="l"/>
                <a:tab pos="2404110" algn="l"/>
                <a:tab pos="3479800" algn="l"/>
                <a:tab pos="5151755" algn="l"/>
                <a:tab pos="565023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Flash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diskler,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verileri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depolamak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taşımak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4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kullanılan</a:t>
            </a:r>
            <a:r>
              <a:rPr sz="2400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taşınabilir</a:t>
            </a:r>
            <a:r>
              <a:rPr sz="24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bellek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aygıtlarıdır.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2535805"/>
            <a:ext cx="1804670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Genellikle bağlanırlar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8426" y="2535805"/>
            <a:ext cx="477075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060" marR="5080" indent="-86995">
              <a:lnSpc>
                <a:spcPct val="120000"/>
              </a:lnSpc>
              <a:spcBef>
                <a:spcPts val="95"/>
              </a:spcBef>
              <a:tabLst>
                <a:tab pos="684530" algn="l"/>
                <a:tab pos="917575" algn="l"/>
                <a:tab pos="1778635" algn="l"/>
                <a:tab pos="2370455" algn="l"/>
                <a:tab pos="2957195" algn="l"/>
                <a:tab pos="3484245" algn="l"/>
              </a:tabLst>
            </a:pP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USB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arabirimi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bilgisayarlara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hafıza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kapasitesi,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8180" y="3413505"/>
            <a:ext cx="6729095" cy="279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birkaç</a:t>
            </a:r>
            <a:r>
              <a:rPr sz="2400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gigabayttan</a:t>
            </a:r>
            <a:r>
              <a:rPr sz="2400" spc="3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(GB)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terabayta</a:t>
            </a:r>
            <a:r>
              <a:rPr sz="2400" spc="3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(TB)</a:t>
            </a:r>
            <a:r>
              <a:rPr sz="2400" spc="3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kadar değişir.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2400" spc="31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transferi</a:t>
            </a:r>
            <a:r>
              <a:rPr sz="2400" spc="32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dayanıklılığı</a:t>
            </a:r>
            <a:r>
              <a:rPr sz="2400" spc="320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ile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popülerdirler;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400" spc="1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sayede</a:t>
            </a:r>
            <a:r>
              <a:rPr sz="2400" spc="1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r>
              <a:rPr sz="2400" spc="1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yedekleme,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paylaşım</a:t>
            </a:r>
            <a:r>
              <a:rPr sz="2400" spc="5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spc="5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taşınabilirlik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açısından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pratik</a:t>
            </a:r>
            <a:r>
              <a:rPr sz="2400" spc="5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Arial"/>
                <a:cs typeface="Arial"/>
              </a:rPr>
              <a:t>bir </a:t>
            </a:r>
            <a:r>
              <a:rPr sz="2400" dirty="0">
                <a:solidFill>
                  <a:srgbClr val="2C241F"/>
                </a:solidFill>
                <a:latin typeface="Arial"/>
                <a:cs typeface="Arial"/>
              </a:rPr>
              <a:t>çözüm</a:t>
            </a:r>
            <a:r>
              <a:rPr sz="2400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Arial"/>
                <a:cs typeface="Arial"/>
              </a:rPr>
              <a:t>sunarlar.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solidFill>
                  <a:srgbClr val="F88556"/>
                </a:solidFill>
                <a:latin typeface="Microsoft Sans Serif"/>
                <a:cs typeface="Microsoft Sans Serif"/>
              </a:rPr>
              <a:t>,.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318000"/>
            <a:chOff x="1338072" y="1411224"/>
            <a:chExt cx="9813290" cy="431800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7003" y="5036820"/>
              <a:ext cx="1283207" cy="6918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7255" y="1638300"/>
              <a:ext cx="1821179" cy="7543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1952" y="3409188"/>
              <a:ext cx="1351788" cy="9555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8463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95" dirty="0"/>
              <a:t> </a:t>
            </a:r>
            <a:r>
              <a:rPr dirty="0"/>
              <a:t>Diğer</a:t>
            </a:r>
            <a:r>
              <a:rPr spc="-85" dirty="0"/>
              <a:t> </a:t>
            </a:r>
            <a:r>
              <a:rPr dirty="0"/>
              <a:t>Depolama</a:t>
            </a:r>
            <a:r>
              <a:rPr spc="-95" dirty="0"/>
              <a:t> </a:t>
            </a:r>
            <a:r>
              <a:rPr spc="-10" dirty="0"/>
              <a:t>Birimleri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48180" y="1520850"/>
            <a:ext cx="7623809" cy="473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762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SD</a:t>
            </a:r>
            <a:r>
              <a:rPr sz="2200" b="1" spc="2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Kart</a:t>
            </a:r>
            <a:r>
              <a:rPr sz="2200" b="1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(Hafıza</a:t>
            </a:r>
            <a:r>
              <a:rPr sz="2200" b="1" spc="2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Kartı):</a:t>
            </a:r>
            <a:r>
              <a:rPr sz="2200" b="1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Dijital</a:t>
            </a:r>
            <a:r>
              <a:rPr sz="22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cihazlarda</a:t>
            </a:r>
            <a:r>
              <a:rPr sz="22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200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depolamak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için</a:t>
            </a:r>
            <a:r>
              <a:rPr sz="2200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kullanılan</a:t>
            </a:r>
            <a:r>
              <a:rPr sz="2200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taşınabilir,</a:t>
            </a:r>
            <a:r>
              <a:rPr sz="2200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küçük</a:t>
            </a:r>
            <a:r>
              <a:rPr sz="2200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boyutlu</a:t>
            </a:r>
            <a:r>
              <a:rPr sz="2200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200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bellek</a:t>
            </a:r>
            <a:r>
              <a:rPr sz="2200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aygıtıdır.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Genellikle</a:t>
            </a:r>
            <a:r>
              <a:rPr sz="2200" spc="459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mobil</a:t>
            </a:r>
            <a:r>
              <a:rPr sz="2200" spc="4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cihazlar</a:t>
            </a:r>
            <a:r>
              <a:rPr sz="2200" spc="4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200" spc="459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fotoğraf</a:t>
            </a:r>
            <a:r>
              <a:rPr sz="2200" spc="4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makinelerinde kullanılır.</a:t>
            </a:r>
            <a:endParaRPr sz="22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Bulut</a:t>
            </a:r>
            <a:r>
              <a:rPr sz="2200" b="1" spc="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Depolama:</a:t>
            </a:r>
            <a:r>
              <a:rPr sz="2200" b="1" spc="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Verilerin</a:t>
            </a:r>
            <a:r>
              <a:rPr sz="2200" spc="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internet</a:t>
            </a:r>
            <a:r>
              <a:rPr sz="2200" spc="6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üzerinden</a:t>
            </a:r>
            <a:r>
              <a:rPr sz="2200" spc="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uzaktaki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sunucularda</a:t>
            </a:r>
            <a:r>
              <a:rPr sz="2200" spc="17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saklanmasını</a:t>
            </a:r>
            <a:r>
              <a:rPr sz="2200" spc="17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sağlayarak,</a:t>
            </a:r>
            <a:r>
              <a:rPr sz="2200" spc="170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herhangi</a:t>
            </a:r>
            <a:r>
              <a:rPr sz="2200" spc="180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200" spc="-25" dirty="0">
                <a:solidFill>
                  <a:srgbClr val="2C241F"/>
                </a:solidFill>
                <a:latin typeface="Arial"/>
                <a:cs typeface="Arial"/>
              </a:rPr>
              <a:t>bir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cihazdan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erişim</a:t>
            </a:r>
            <a:r>
              <a:rPr sz="22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imkanı</a:t>
            </a:r>
            <a:r>
              <a:rPr sz="22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sunan</a:t>
            </a:r>
            <a:r>
              <a:rPr sz="2200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2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hizmettir.</a:t>
            </a:r>
            <a:r>
              <a:rPr sz="22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Veriler,</a:t>
            </a:r>
            <a:r>
              <a:rPr sz="2200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200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C241F"/>
                </a:solidFill>
                <a:latin typeface="Arial"/>
                <a:cs typeface="Arial"/>
              </a:rPr>
              <a:t>web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tarayıcısı</a:t>
            </a:r>
            <a:r>
              <a:rPr sz="22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2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özel</a:t>
            </a:r>
            <a:r>
              <a:rPr sz="2200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uygulamalarla</a:t>
            </a:r>
            <a:r>
              <a:rPr sz="2200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erişilebilir.</a:t>
            </a:r>
            <a:endParaRPr sz="2200">
              <a:latin typeface="Arial"/>
              <a:cs typeface="Arial"/>
            </a:endParaRPr>
          </a:p>
          <a:p>
            <a:pPr marL="350520" marR="8255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spc="-20" dirty="0">
                <a:solidFill>
                  <a:srgbClr val="2C241F"/>
                </a:solidFill>
                <a:latin typeface="Arial"/>
                <a:cs typeface="Arial"/>
              </a:rPr>
              <a:t>CD/DVD/Blu-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Ray:</a:t>
            </a:r>
            <a:r>
              <a:rPr sz="2200" b="1" spc="3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Artık</a:t>
            </a:r>
            <a:r>
              <a:rPr sz="2200" spc="3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kullanımdan</a:t>
            </a:r>
            <a:r>
              <a:rPr sz="2200" spc="31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iyice</a:t>
            </a:r>
            <a:r>
              <a:rPr sz="2200" spc="3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kalkan</a:t>
            </a:r>
            <a:r>
              <a:rPr sz="2200" spc="31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spc="-25" dirty="0">
                <a:solidFill>
                  <a:srgbClr val="2C241F"/>
                </a:solidFill>
                <a:latin typeface="Arial"/>
                <a:cs typeface="Arial"/>
              </a:rPr>
              <a:t>bir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depolama</a:t>
            </a:r>
            <a:r>
              <a:rPr sz="2200" spc="4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teknolojisidir.</a:t>
            </a:r>
            <a:r>
              <a:rPr sz="2200" spc="4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200" spc="4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disklerin</a:t>
            </a:r>
            <a:r>
              <a:rPr sz="2200" spc="4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okunması</a:t>
            </a:r>
            <a:r>
              <a:rPr sz="2200" spc="45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200" spc="-20" dirty="0">
                <a:solidFill>
                  <a:srgbClr val="2C241F"/>
                </a:solidFill>
                <a:latin typeface="Arial"/>
                <a:cs typeface="Arial"/>
              </a:rPr>
              <a:t>için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bilgisayarda</a:t>
            </a:r>
            <a:r>
              <a:rPr sz="2200" spc="-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gerekli</a:t>
            </a:r>
            <a:r>
              <a:rPr sz="22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sürücünün</a:t>
            </a:r>
            <a:r>
              <a:rPr sz="2200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Arial"/>
                <a:cs typeface="Arial"/>
              </a:rPr>
              <a:t>olması</a:t>
            </a:r>
            <a:r>
              <a:rPr sz="2200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Arial"/>
                <a:cs typeface="Arial"/>
              </a:rPr>
              <a:t>gerekir.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67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2581</Words>
  <Application>Microsoft Office PowerPoint</Application>
  <PresentationFormat>Geniş ekran</PresentationFormat>
  <Paragraphs>532</Paragraphs>
  <Slides>67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67</vt:i4>
      </vt:variant>
    </vt:vector>
  </HeadingPairs>
  <TitlesOfParts>
    <vt:vector size="71" baseType="lpstr">
      <vt:lpstr>Arial</vt:lpstr>
      <vt:lpstr>Microsoft Sans Serif</vt:lpstr>
      <vt:lpstr>Wingdings</vt:lpstr>
      <vt:lpstr>Office Theme</vt:lpstr>
      <vt:lpstr>Bilgisayar Donanımı</vt:lpstr>
      <vt:lpstr>Donanım Nedir?</vt:lpstr>
      <vt:lpstr>Donanım Çeşitleri</vt:lpstr>
      <vt:lpstr>PowerPoint Sunusu</vt:lpstr>
      <vt:lpstr>1. İşlemci -CPU</vt:lpstr>
      <vt:lpstr>İşlemcinin Görevleri</vt:lpstr>
      <vt:lpstr>Güncel İşlemci Markaları - 1</vt:lpstr>
      <vt:lpstr>Güncel İşlemci Markaları - 2</vt:lpstr>
      <vt:lpstr>Güncel İşlemci Markaları - 3</vt:lpstr>
      <vt:lpstr>Güncel İşlemci Markaları - 4</vt:lpstr>
      <vt:lpstr>Güncel İşlemci Markaları - 5</vt:lpstr>
      <vt:lpstr>Güncel İşlemci Markaları - 6</vt:lpstr>
      <vt:lpstr>2. Anakart (Mainboard)</vt:lpstr>
      <vt:lpstr>Anakartın Görevleri</vt:lpstr>
      <vt:lpstr>Anakartın Bileşenleri ve Yuvaları</vt:lpstr>
      <vt:lpstr>Anakartın Bileşenleri ve Yuvaları</vt:lpstr>
      <vt:lpstr>Anakartın Bileşenleri ve Yuvaları</vt:lpstr>
      <vt:lpstr>3. RAM (Random Access Memory)</vt:lpstr>
      <vt:lpstr>RAM (Random Access Memory)</vt:lpstr>
      <vt:lpstr>RAM (Random Access Memory)</vt:lpstr>
      <vt:lpstr>4. ROM (Read Only Memory)</vt:lpstr>
      <vt:lpstr>ROM Bellek Kullanım Alanları</vt:lpstr>
      <vt:lpstr>ROM (Read Only Memory)</vt:lpstr>
      <vt:lpstr>5. Ekran Kartı</vt:lpstr>
      <vt:lpstr>Ekran Kartı Türleri</vt:lpstr>
      <vt:lpstr>Ekran Kartı Türleri</vt:lpstr>
      <vt:lpstr>Ekran Kartının Bileşenleri</vt:lpstr>
      <vt:lpstr>Ekran Kartlarının Kullanım Alanları</vt:lpstr>
      <vt:lpstr>Güncel Ekran Kartı Serileri</vt:lpstr>
      <vt:lpstr>Güncel Ekran Kartı Serileri</vt:lpstr>
      <vt:lpstr>Güncel Ekran Kartı Serileri</vt:lpstr>
      <vt:lpstr>Çıkış Portları</vt:lpstr>
      <vt:lpstr>Çıkış Portları</vt:lpstr>
      <vt:lpstr>6. Ses Kartı</vt:lpstr>
      <vt:lpstr>7. Kasa</vt:lpstr>
      <vt:lpstr>8. Güç Kaynağı (Power Supply)</vt:lpstr>
      <vt:lpstr>Güç Kaynağının Görevleri</vt:lpstr>
      <vt:lpstr>PowerPoint Sunusu</vt:lpstr>
      <vt:lpstr>Giriş Birimleri</vt:lpstr>
      <vt:lpstr>1. Klavye</vt:lpstr>
      <vt:lpstr>Tuş Takımları</vt:lpstr>
      <vt:lpstr>Özel Tuşlar</vt:lpstr>
      <vt:lpstr>Kontrol Tuşları</vt:lpstr>
      <vt:lpstr>İşlem Tuşları</vt:lpstr>
      <vt:lpstr>2. Fare</vt:lpstr>
      <vt:lpstr>Teknik Özellikler</vt:lpstr>
      <vt:lpstr>3. Diğer Giriş Birimleri</vt:lpstr>
      <vt:lpstr>PowerPoint Sunusu</vt:lpstr>
      <vt:lpstr>Çıkış Birimleri</vt:lpstr>
      <vt:lpstr>1. Monitör</vt:lpstr>
      <vt:lpstr>Teknik Özellikler</vt:lpstr>
      <vt:lpstr>Çözünürlük (Resolution)</vt:lpstr>
      <vt:lpstr>Ekran Boyutu (Screen Size)</vt:lpstr>
      <vt:lpstr>Yenileme Hızı (Refresh Rate)</vt:lpstr>
      <vt:lpstr>Tepki Süresi (Response Time)</vt:lpstr>
      <vt:lpstr>Panel ve Aydınlatma Türü (1)</vt:lpstr>
      <vt:lpstr>Panel ve Aydınlatma Türü (2)</vt:lpstr>
      <vt:lpstr>Bağlantı Noktaları</vt:lpstr>
      <vt:lpstr>2. Yazıcı</vt:lpstr>
      <vt:lpstr>3. Hoparlör, Kulaklık</vt:lpstr>
      <vt:lpstr>4. Projeksiyon Cihazı</vt:lpstr>
      <vt:lpstr>PowerPoint Sunusu</vt:lpstr>
      <vt:lpstr>Depolama Birimleri</vt:lpstr>
      <vt:lpstr>1. Sabit Disk Sürücüsü (HDD)</vt:lpstr>
      <vt:lpstr>2. Katı Hal Sürücüsü (SSD)</vt:lpstr>
      <vt:lpstr>3. Flash Disk-USB Flash Bellek</vt:lpstr>
      <vt:lpstr>4. Diğer Depolama Birimleri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Bilgisayar Donanımı</dc:title>
  <dc:creator>Erkan Kaynak</dc:creator>
  <cp:lastModifiedBy>Halil Arslan</cp:lastModifiedBy>
  <cp:revision>2</cp:revision>
  <dcterms:created xsi:type="dcterms:W3CDTF">2025-10-19T18:39:34Z</dcterms:created>
  <dcterms:modified xsi:type="dcterms:W3CDTF">2025-11-07T11:30:53Z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