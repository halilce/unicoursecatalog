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5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2C241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2C241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07132" y="694690"/>
            <a:ext cx="9014586" cy="6277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2085" y="1540966"/>
            <a:ext cx="9589770" cy="4579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2C241F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jp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7" Type="http://schemas.openxmlformats.org/officeDocument/2006/relationships/image" Target="../media/image52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jp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4.jpg"/><Relationship Id="rId5" Type="http://schemas.openxmlformats.org/officeDocument/2006/relationships/image" Target="../media/image105.jpg"/><Relationship Id="rId4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7363" y="0"/>
            <a:ext cx="7961630" cy="6858000"/>
            <a:chOff x="1007363" y="0"/>
            <a:chExt cx="7961630" cy="6858000"/>
          </a:xfrm>
        </p:grpSpPr>
        <p:sp>
          <p:nvSpPr>
            <p:cNvPr id="3" name="object 3"/>
            <p:cNvSpPr/>
            <p:nvPr/>
          </p:nvSpPr>
          <p:spPr>
            <a:xfrm>
              <a:off x="1007363" y="0"/>
              <a:ext cx="7934325" cy="6858000"/>
            </a:xfrm>
            <a:custGeom>
              <a:avLst/>
              <a:gdLst/>
              <a:ahLst/>
              <a:cxnLst/>
              <a:rect l="l" t="t" r="r" b="b"/>
              <a:pathLst>
                <a:path w="7934325" h="6858000">
                  <a:moveTo>
                    <a:pt x="7933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933944" y="6858000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941307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74496" y="2088896"/>
            <a:ext cx="294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32354" y="2806700"/>
            <a:ext cx="5628640" cy="158940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 indent="2133600">
              <a:lnSpc>
                <a:spcPts val="5830"/>
              </a:lnSpc>
              <a:spcBef>
                <a:spcPts val="835"/>
              </a:spcBef>
            </a:pP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WINDOWS </a:t>
            </a: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İŞLETİM</a:t>
            </a:r>
            <a:r>
              <a:rPr sz="54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SİSTEMİ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3825" y="4997727"/>
            <a:ext cx="4526915" cy="52257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95"/>
              </a:spcBef>
            </a:pPr>
            <a:r>
              <a:rPr lang="tr-TR" sz="2400" spc="-10" dirty="0" err="1" smtClean="0">
                <a:solidFill>
                  <a:srgbClr val="FFFFFF"/>
                </a:solidFill>
                <a:latin typeface="Microsoft Sans Serif"/>
                <a:cs typeface="Microsoft Sans Serif"/>
              </a:rPr>
              <a:t>Öğr</a:t>
            </a:r>
            <a:r>
              <a:rPr lang="tr-TR" sz="2400" spc="-1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. </a:t>
            </a:r>
            <a:r>
              <a:rPr lang="tr-TR" sz="2400" spc="-1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Gör. Halil ARSLAN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39" y="0"/>
            <a:ext cx="10436860" cy="6858000"/>
            <a:chOff x="967739" y="0"/>
            <a:chExt cx="10436860" cy="6858000"/>
          </a:xfrm>
        </p:grpSpPr>
        <p:sp>
          <p:nvSpPr>
            <p:cNvPr id="3" name="object 3"/>
            <p:cNvSpPr/>
            <p:nvPr/>
          </p:nvSpPr>
          <p:spPr>
            <a:xfrm>
              <a:off x="967739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76659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084314" y="3080080"/>
            <a:ext cx="38366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MASAÜSTÜ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5002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146675"/>
            <a:chOff x="1338072" y="1411224"/>
            <a:chExt cx="9813290" cy="5146675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6148" y="1872996"/>
              <a:ext cx="8580120" cy="46847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8086" y="3279647"/>
              <a:ext cx="2459609" cy="33121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824850" y="3449700"/>
              <a:ext cx="66040" cy="58419"/>
            </a:xfrm>
            <a:custGeom>
              <a:avLst/>
              <a:gdLst/>
              <a:ahLst/>
              <a:cxnLst/>
              <a:rect l="l" t="t" r="r" b="b"/>
              <a:pathLst>
                <a:path w="66040" h="58420">
                  <a:moveTo>
                    <a:pt x="65658" y="0"/>
                  </a:moveTo>
                  <a:lnTo>
                    <a:pt x="60303" y="1670"/>
                  </a:lnTo>
                  <a:lnTo>
                    <a:pt x="53578" y="3460"/>
                  </a:lnTo>
                  <a:lnTo>
                    <a:pt x="45495" y="5393"/>
                  </a:lnTo>
                  <a:lnTo>
                    <a:pt x="36068" y="7493"/>
                  </a:lnTo>
                  <a:lnTo>
                    <a:pt x="26777" y="9661"/>
                  </a:lnTo>
                  <a:lnTo>
                    <a:pt x="0" y="26162"/>
                  </a:lnTo>
                  <a:lnTo>
                    <a:pt x="0" y="33147"/>
                  </a:lnTo>
                  <a:lnTo>
                    <a:pt x="0" y="40004"/>
                  </a:lnTo>
                  <a:lnTo>
                    <a:pt x="2540" y="45847"/>
                  </a:lnTo>
                  <a:lnTo>
                    <a:pt x="7620" y="50800"/>
                  </a:lnTo>
                  <a:lnTo>
                    <a:pt x="12700" y="55752"/>
                  </a:lnTo>
                  <a:lnTo>
                    <a:pt x="19176" y="58293"/>
                  </a:lnTo>
                  <a:lnTo>
                    <a:pt x="27050" y="58293"/>
                  </a:lnTo>
                  <a:lnTo>
                    <a:pt x="61975" y="39877"/>
                  </a:lnTo>
                  <a:lnTo>
                    <a:pt x="63753" y="33527"/>
                  </a:lnTo>
                  <a:lnTo>
                    <a:pt x="65024" y="29337"/>
                  </a:lnTo>
                  <a:lnTo>
                    <a:pt x="65658" y="21462"/>
                  </a:lnTo>
                  <a:lnTo>
                    <a:pt x="65658" y="9778"/>
                  </a:lnTo>
                  <a:lnTo>
                    <a:pt x="65658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23455" y="3443605"/>
              <a:ext cx="77850" cy="7048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83425" y="3421253"/>
              <a:ext cx="120650" cy="8013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538717" y="3387090"/>
              <a:ext cx="73025" cy="43180"/>
            </a:xfrm>
            <a:custGeom>
              <a:avLst/>
              <a:gdLst/>
              <a:ahLst/>
              <a:cxnLst/>
              <a:rect l="l" t="t" r="r" b="b"/>
              <a:pathLst>
                <a:path w="73025" h="43179">
                  <a:moveTo>
                    <a:pt x="36575" y="0"/>
                  </a:moveTo>
                  <a:lnTo>
                    <a:pt x="2524" y="25384"/>
                  </a:lnTo>
                  <a:lnTo>
                    <a:pt x="0" y="43180"/>
                  </a:lnTo>
                  <a:lnTo>
                    <a:pt x="72898" y="43180"/>
                  </a:lnTo>
                  <a:lnTo>
                    <a:pt x="56471" y="6215"/>
                  </a:lnTo>
                  <a:lnTo>
                    <a:pt x="36575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09557" y="3347974"/>
              <a:ext cx="179705" cy="20040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24086" y="3347974"/>
              <a:ext cx="179705" cy="20040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09837" y="3343783"/>
              <a:ext cx="184277" cy="20459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93912" y="3343783"/>
              <a:ext cx="179959" cy="20053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474585" y="3349878"/>
              <a:ext cx="1185545" cy="260985"/>
            </a:xfrm>
            <a:custGeom>
              <a:avLst/>
              <a:gdLst/>
              <a:ahLst/>
              <a:cxnLst/>
              <a:rect l="l" t="t" r="r" b="b"/>
              <a:pathLst>
                <a:path w="1185545" h="260985">
                  <a:moveTo>
                    <a:pt x="1097788" y="0"/>
                  </a:moveTo>
                  <a:lnTo>
                    <a:pt x="1149705" y="15269"/>
                  </a:lnTo>
                  <a:lnTo>
                    <a:pt x="1180242" y="61468"/>
                  </a:lnTo>
                  <a:lnTo>
                    <a:pt x="1185418" y="110236"/>
                  </a:lnTo>
                  <a:lnTo>
                    <a:pt x="1063371" y="110236"/>
                  </a:lnTo>
                  <a:lnTo>
                    <a:pt x="1064250" y="120479"/>
                  </a:lnTo>
                  <a:lnTo>
                    <a:pt x="1087770" y="153050"/>
                  </a:lnTo>
                  <a:lnTo>
                    <a:pt x="1103249" y="156083"/>
                  </a:lnTo>
                  <a:lnTo>
                    <a:pt x="1110869" y="156083"/>
                  </a:lnTo>
                  <a:lnTo>
                    <a:pt x="1117219" y="153924"/>
                  </a:lnTo>
                  <a:lnTo>
                    <a:pt x="1122426" y="149733"/>
                  </a:lnTo>
                  <a:lnTo>
                    <a:pt x="1127633" y="145669"/>
                  </a:lnTo>
                  <a:lnTo>
                    <a:pt x="1131570" y="138937"/>
                  </a:lnTo>
                  <a:lnTo>
                    <a:pt x="1134237" y="129667"/>
                  </a:lnTo>
                  <a:lnTo>
                    <a:pt x="1182751" y="137795"/>
                  </a:lnTo>
                  <a:lnTo>
                    <a:pt x="1162587" y="170674"/>
                  </a:lnTo>
                  <a:lnTo>
                    <a:pt x="1117244" y="191543"/>
                  </a:lnTo>
                  <a:lnTo>
                    <a:pt x="1102741" y="192405"/>
                  </a:lnTo>
                  <a:lnTo>
                    <a:pt x="1080234" y="190450"/>
                  </a:lnTo>
                  <a:lnTo>
                    <a:pt x="1044698" y="174777"/>
                  </a:lnTo>
                  <a:lnTo>
                    <a:pt x="1017905" y="132635"/>
                  </a:lnTo>
                  <a:lnTo>
                    <a:pt x="1013333" y="97662"/>
                  </a:lnTo>
                  <a:lnTo>
                    <a:pt x="1014833" y="75967"/>
                  </a:lnTo>
                  <a:lnTo>
                    <a:pt x="1037336" y="25908"/>
                  </a:lnTo>
                  <a:lnTo>
                    <a:pt x="1080287" y="1619"/>
                  </a:lnTo>
                  <a:lnTo>
                    <a:pt x="1097788" y="0"/>
                  </a:lnTo>
                  <a:close/>
                </a:path>
                <a:path w="1185545" h="260985">
                  <a:moveTo>
                    <a:pt x="386334" y="0"/>
                  </a:moveTo>
                  <a:lnTo>
                    <a:pt x="425821" y="4339"/>
                  </a:lnTo>
                  <a:lnTo>
                    <a:pt x="457326" y="27305"/>
                  </a:lnTo>
                  <a:lnTo>
                    <a:pt x="463804" y="70866"/>
                  </a:lnTo>
                  <a:lnTo>
                    <a:pt x="463296" y="127762"/>
                  </a:lnTo>
                  <a:lnTo>
                    <a:pt x="463440" y="139126"/>
                  </a:lnTo>
                  <a:lnTo>
                    <a:pt x="471441" y="181810"/>
                  </a:lnTo>
                  <a:lnTo>
                    <a:pt x="474345" y="188341"/>
                  </a:lnTo>
                  <a:lnTo>
                    <a:pt x="426212" y="188341"/>
                  </a:lnTo>
                  <a:lnTo>
                    <a:pt x="424942" y="185038"/>
                  </a:lnTo>
                  <a:lnTo>
                    <a:pt x="423418" y="180212"/>
                  </a:lnTo>
                  <a:lnTo>
                    <a:pt x="421513" y="173862"/>
                  </a:lnTo>
                  <a:lnTo>
                    <a:pt x="420750" y="170942"/>
                  </a:lnTo>
                  <a:lnTo>
                    <a:pt x="420116" y="169037"/>
                  </a:lnTo>
                  <a:lnTo>
                    <a:pt x="419735" y="168148"/>
                  </a:lnTo>
                  <a:lnTo>
                    <a:pt x="413424" y="173862"/>
                  </a:lnTo>
                  <a:lnTo>
                    <a:pt x="406876" y="178815"/>
                  </a:lnTo>
                  <a:lnTo>
                    <a:pt x="370687" y="192025"/>
                  </a:lnTo>
                  <a:lnTo>
                    <a:pt x="362712" y="192405"/>
                  </a:lnTo>
                  <a:lnTo>
                    <a:pt x="349259" y="191450"/>
                  </a:lnTo>
                  <a:lnTo>
                    <a:pt x="310713" y="168802"/>
                  </a:lnTo>
                  <a:lnTo>
                    <a:pt x="301498" y="138049"/>
                  </a:lnTo>
                  <a:lnTo>
                    <a:pt x="301972" y="130452"/>
                  </a:lnTo>
                  <a:lnTo>
                    <a:pt x="323564" y="95037"/>
                  </a:lnTo>
                  <a:lnTo>
                    <a:pt x="368681" y="80137"/>
                  </a:lnTo>
                  <a:lnTo>
                    <a:pt x="384421" y="76965"/>
                  </a:lnTo>
                  <a:lnTo>
                    <a:pt x="397541" y="73913"/>
                  </a:lnTo>
                  <a:lnTo>
                    <a:pt x="408043" y="70957"/>
                  </a:lnTo>
                  <a:lnTo>
                    <a:pt x="415925" y="68072"/>
                  </a:lnTo>
                  <a:lnTo>
                    <a:pt x="415925" y="63246"/>
                  </a:lnTo>
                  <a:lnTo>
                    <a:pt x="415925" y="53848"/>
                  </a:lnTo>
                  <a:lnTo>
                    <a:pt x="382905" y="37211"/>
                  </a:lnTo>
                  <a:lnTo>
                    <a:pt x="374142" y="37211"/>
                  </a:lnTo>
                  <a:lnTo>
                    <a:pt x="367411" y="38988"/>
                  </a:lnTo>
                  <a:lnTo>
                    <a:pt x="362585" y="42418"/>
                  </a:lnTo>
                  <a:lnTo>
                    <a:pt x="357759" y="45847"/>
                  </a:lnTo>
                  <a:lnTo>
                    <a:pt x="353822" y="51816"/>
                  </a:lnTo>
                  <a:lnTo>
                    <a:pt x="350774" y="60325"/>
                  </a:lnTo>
                  <a:lnTo>
                    <a:pt x="306578" y="52324"/>
                  </a:lnTo>
                  <a:lnTo>
                    <a:pt x="332232" y="12826"/>
                  </a:lnTo>
                  <a:lnTo>
                    <a:pt x="369522" y="807"/>
                  </a:lnTo>
                  <a:lnTo>
                    <a:pt x="386334" y="0"/>
                  </a:lnTo>
                  <a:close/>
                </a:path>
                <a:path w="1185545" h="260985">
                  <a:moveTo>
                    <a:pt x="84328" y="0"/>
                  </a:moveTo>
                  <a:lnTo>
                    <a:pt x="130083" y="6911"/>
                  </a:lnTo>
                  <a:lnTo>
                    <a:pt x="161589" y="37411"/>
                  </a:lnTo>
                  <a:lnTo>
                    <a:pt x="165735" y="48768"/>
                  </a:lnTo>
                  <a:lnTo>
                    <a:pt x="119888" y="57150"/>
                  </a:lnTo>
                  <a:lnTo>
                    <a:pt x="117856" y="50037"/>
                  </a:lnTo>
                  <a:lnTo>
                    <a:pt x="114173" y="44576"/>
                  </a:lnTo>
                  <a:lnTo>
                    <a:pt x="108712" y="40767"/>
                  </a:lnTo>
                  <a:lnTo>
                    <a:pt x="103124" y="36957"/>
                  </a:lnTo>
                  <a:lnTo>
                    <a:pt x="95376" y="35051"/>
                  </a:lnTo>
                  <a:lnTo>
                    <a:pt x="85217" y="35051"/>
                  </a:lnTo>
                  <a:lnTo>
                    <a:pt x="52070" y="46228"/>
                  </a:lnTo>
                  <a:lnTo>
                    <a:pt x="52070" y="50292"/>
                  </a:lnTo>
                  <a:lnTo>
                    <a:pt x="52070" y="53721"/>
                  </a:lnTo>
                  <a:lnTo>
                    <a:pt x="102362" y="72771"/>
                  </a:lnTo>
                  <a:lnTo>
                    <a:pt x="120392" y="77485"/>
                  </a:lnTo>
                  <a:lnTo>
                    <a:pt x="156718" y="94487"/>
                  </a:lnTo>
                  <a:lnTo>
                    <a:pt x="172085" y="130683"/>
                  </a:lnTo>
                  <a:lnTo>
                    <a:pt x="170753" y="142900"/>
                  </a:lnTo>
                  <a:lnTo>
                    <a:pt x="143783" y="179506"/>
                  </a:lnTo>
                  <a:lnTo>
                    <a:pt x="108458" y="191135"/>
                  </a:lnTo>
                  <a:lnTo>
                    <a:pt x="111506" y="191643"/>
                  </a:lnTo>
                  <a:lnTo>
                    <a:pt x="140970" y="223138"/>
                  </a:lnTo>
                  <a:lnTo>
                    <a:pt x="140186" y="230401"/>
                  </a:lnTo>
                  <a:lnTo>
                    <a:pt x="108061" y="257683"/>
                  </a:lnTo>
                  <a:lnTo>
                    <a:pt x="80264" y="260985"/>
                  </a:lnTo>
                  <a:lnTo>
                    <a:pt x="69788" y="260798"/>
                  </a:lnTo>
                  <a:lnTo>
                    <a:pt x="60658" y="260254"/>
                  </a:lnTo>
                  <a:lnTo>
                    <a:pt x="52885" y="259377"/>
                  </a:lnTo>
                  <a:lnTo>
                    <a:pt x="46482" y="258191"/>
                  </a:lnTo>
                  <a:lnTo>
                    <a:pt x="46482" y="237744"/>
                  </a:lnTo>
                  <a:lnTo>
                    <a:pt x="55245" y="238577"/>
                  </a:lnTo>
                  <a:lnTo>
                    <a:pt x="63626" y="239172"/>
                  </a:lnTo>
                  <a:lnTo>
                    <a:pt x="71627" y="239529"/>
                  </a:lnTo>
                  <a:lnTo>
                    <a:pt x="79248" y="239649"/>
                  </a:lnTo>
                  <a:lnTo>
                    <a:pt x="89535" y="239649"/>
                  </a:lnTo>
                  <a:lnTo>
                    <a:pt x="97155" y="237744"/>
                  </a:lnTo>
                  <a:lnTo>
                    <a:pt x="102108" y="234061"/>
                  </a:lnTo>
                  <a:lnTo>
                    <a:pt x="105918" y="231267"/>
                  </a:lnTo>
                  <a:lnTo>
                    <a:pt x="107823" y="227711"/>
                  </a:lnTo>
                  <a:lnTo>
                    <a:pt x="107823" y="223266"/>
                  </a:lnTo>
                  <a:lnTo>
                    <a:pt x="107823" y="219329"/>
                  </a:lnTo>
                  <a:lnTo>
                    <a:pt x="106045" y="216026"/>
                  </a:lnTo>
                  <a:lnTo>
                    <a:pt x="102489" y="213106"/>
                  </a:lnTo>
                  <a:lnTo>
                    <a:pt x="98933" y="210185"/>
                  </a:lnTo>
                  <a:lnTo>
                    <a:pt x="93345" y="208787"/>
                  </a:lnTo>
                  <a:lnTo>
                    <a:pt x="85851" y="208787"/>
                  </a:lnTo>
                  <a:lnTo>
                    <a:pt x="78486" y="208787"/>
                  </a:lnTo>
                  <a:lnTo>
                    <a:pt x="70866" y="209931"/>
                  </a:lnTo>
                  <a:lnTo>
                    <a:pt x="63119" y="212217"/>
                  </a:lnTo>
                  <a:lnTo>
                    <a:pt x="67691" y="195072"/>
                  </a:lnTo>
                  <a:lnTo>
                    <a:pt x="69850" y="194310"/>
                  </a:lnTo>
                  <a:lnTo>
                    <a:pt x="72136" y="193548"/>
                  </a:lnTo>
                  <a:lnTo>
                    <a:pt x="74549" y="193040"/>
                  </a:lnTo>
                  <a:lnTo>
                    <a:pt x="78613" y="192150"/>
                  </a:lnTo>
                  <a:lnTo>
                    <a:pt x="37463" y="182354"/>
                  </a:lnTo>
                  <a:lnTo>
                    <a:pt x="4359" y="148143"/>
                  </a:lnTo>
                  <a:lnTo>
                    <a:pt x="0" y="135762"/>
                  </a:lnTo>
                  <a:lnTo>
                    <a:pt x="48895" y="128270"/>
                  </a:lnTo>
                  <a:lnTo>
                    <a:pt x="51054" y="137795"/>
                  </a:lnTo>
                  <a:lnTo>
                    <a:pt x="55245" y="144907"/>
                  </a:lnTo>
                  <a:lnTo>
                    <a:pt x="88265" y="157225"/>
                  </a:lnTo>
                  <a:lnTo>
                    <a:pt x="97121" y="156797"/>
                  </a:lnTo>
                  <a:lnTo>
                    <a:pt x="123190" y="142748"/>
                  </a:lnTo>
                  <a:lnTo>
                    <a:pt x="123190" y="137287"/>
                  </a:lnTo>
                  <a:lnTo>
                    <a:pt x="123190" y="133604"/>
                  </a:lnTo>
                  <a:lnTo>
                    <a:pt x="76563" y="115329"/>
                  </a:lnTo>
                  <a:lnTo>
                    <a:pt x="55165" y="109267"/>
                  </a:lnTo>
                  <a:lnTo>
                    <a:pt x="19053" y="89751"/>
                  </a:lnTo>
                  <a:lnTo>
                    <a:pt x="6731" y="56515"/>
                  </a:lnTo>
                  <a:lnTo>
                    <a:pt x="7919" y="45009"/>
                  </a:lnTo>
                  <a:lnTo>
                    <a:pt x="36393" y="9161"/>
                  </a:lnTo>
                  <a:lnTo>
                    <a:pt x="65730" y="1021"/>
                  </a:lnTo>
                  <a:lnTo>
                    <a:pt x="84328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74687" y="3343783"/>
              <a:ext cx="185039" cy="20459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83425" y="3320161"/>
              <a:ext cx="111251" cy="7099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038086" y="3279647"/>
              <a:ext cx="2434590" cy="262890"/>
            </a:xfrm>
            <a:custGeom>
              <a:avLst/>
              <a:gdLst/>
              <a:ahLst/>
              <a:cxnLst/>
              <a:rect l="l" t="t" r="r" b="b"/>
              <a:pathLst>
                <a:path w="2434590" h="262889">
                  <a:moveTo>
                    <a:pt x="1000125" y="9398"/>
                  </a:moveTo>
                  <a:lnTo>
                    <a:pt x="1000125" y="74422"/>
                  </a:lnTo>
                  <a:lnTo>
                    <a:pt x="1033399" y="74422"/>
                  </a:lnTo>
                  <a:lnTo>
                    <a:pt x="1033399" y="113156"/>
                  </a:lnTo>
                  <a:lnTo>
                    <a:pt x="1000125" y="113156"/>
                  </a:lnTo>
                  <a:lnTo>
                    <a:pt x="1000125" y="187451"/>
                  </a:lnTo>
                  <a:lnTo>
                    <a:pt x="1005459" y="219837"/>
                  </a:lnTo>
                  <a:lnTo>
                    <a:pt x="1007618" y="221487"/>
                  </a:lnTo>
                  <a:lnTo>
                    <a:pt x="1010412" y="222250"/>
                  </a:lnTo>
                  <a:lnTo>
                    <a:pt x="1013714" y="222250"/>
                  </a:lnTo>
                  <a:lnTo>
                    <a:pt x="1018159" y="222250"/>
                  </a:lnTo>
                  <a:lnTo>
                    <a:pt x="1024763" y="220725"/>
                  </a:lnTo>
                  <a:lnTo>
                    <a:pt x="1033272" y="217550"/>
                  </a:lnTo>
                  <a:lnTo>
                    <a:pt x="1037463" y="255397"/>
                  </a:lnTo>
                  <a:lnTo>
                    <a:pt x="1028628" y="258564"/>
                  </a:lnTo>
                  <a:lnTo>
                    <a:pt x="1019270" y="260826"/>
                  </a:lnTo>
                  <a:lnTo>
                    <a:pt x="1009388" y="262183"/>
                  </a:lnTo>
                  <a:lnTo>
                    <a:pt x="998982" y="262636"/>
                  </a:lnTo>
                  <a:lnTo>
                    <a:pt x="990092" y="262636"/>
                  </a:lnTo>
                  <a:lnTo>
                    <a:pt x="959612" y="246761"/>
                  </a:lnTo>
                  <a:lnTo>
                    <a:pt x="956310" y="242188"/>
                  </a:lnTo>
                  <a:lnTo>
                    <a:pt x="951230" y="193548"/>
                  </a:lnTo>
                  <a:lnTo>
                    <a:pt x="951230" y="113156"/>
                  </a:lnTo>
                  <a:lnTo>
                    <a:pt x="928878" y="113156"/>
                  </a:lnTo>
                  <a:lnTo>
                    <a:pt x="928878" y="74422"/>
                  </a:lnTo>
                  <a:lnTo>
                    <a:pt x="951230" y="74422"/>
                  </a:lnTo>
                  <a:lnTo>
                    <a:pt x="951230" y="37846"/>
                  </a:lnTo>
                  <a:lnTo>
                    <a:pt x="1000125" y="9398"/>
                  </a:lnTo>
                  <a:close/>
                </a:path>
                <a:path w="2434590" h="262889">
                  <a:moveTo>
                    <a:pt x="1168146" y="4317"/>
                  </a:moveTo>
                  <a:lnTo>
                    <a:pt x="1244854" y="4317"/>
                  </a:lnTo>
                  <a:lnTo>
                    <a:pt x="1291082" y="177673"/>
                  </a:lnTo>
                  <a:lnTo>
                    <a:pt x="1336675" y="4317"/>
                  </a:lnTo>
                  <a:lnTo>
                    <a:pt x="1413637" y="4317"/>
                  </a:lnTo>
                  <a:lnTo>
                    <a:pt x="1413637" y="258572"/>
                  </a:lnTo>
                  <a:lnTo>
                    <a:pt x="1365885" y="258572"/>
                  </a:lnTo>
                  <a:lnTo>
                    <a:pt x="1365885" y="58419"/>
                  </a:lnTo>
                  <a:lnTo>
                    <a:pt x="1315466" y="258572"/>
                  </a:lnTo>
                  <a:lnTo>
                    <a:pt x="1266063" y="258572"/>
                  </a:lnTo>
                  <a:lnTo>
                    <a:pt x="1215771" y="58419"/>
                  </a:lnTo>
                  <a:lnTo>
                    <a:pt x="1215771" y="258572"/>
                  </a:lnTo>
                  <a:lnTo>
                    <a:pt x="1168146" y="258572"/>
                  </a:lnTo>
                  <a:lnTo>
                    <a:pt x="1168146" y="4317"/>
                  </a:lnTo>
                  <a:close/>
                </a:path>
                <a:path w="2434590" h="262889">
                  <a:moveTo>
                    <a:pt x="651764" y="4317"/>
                  </a:moveTo>
                  <a:lnTo>
                    <a:pt x="700532" y="4317"/>
                  </a:lnTo>
                  <a:lnTo>
                    <a:pt x="700532" y="258572"/>
                  </a:lnTo>
                  <a:lnTo>
                    <a:pt x="651764" y="258572"/>
                  </a:lnTo>
                  <a:lnTo>
                    <a:pt x="651764" y="4317"/>
                  </a:lnTo>
                  <a:close/>
                </a:path>
                <a:path w="2434590" h="262889">
                  <a:moveTo>
                    <a:pt x="0" y="4317"/>
                  </a:moveTo>
                  <a:lnTo>
                    <a:pt x="101600" y="4317"/>
                  </a:lnTo>
                  <a:lnTo>
                    <a:pt x="115770" y="4482"/>
                  </a:lnTo>
                  <a:lnTo>
                    <a:pt x="153904" y="8451"/>
                  </a:lnTo>
                  <a:lnTo>
                    <a:pt x="188515" y="32275"/>
                  </a:lnTo>
                  <a:lnTo>
                    <a:pt x="200533" y="68325"/>
                  </a:lnTo>
                  <a:lnTo>
                    <a:pt x="199917" y="77088"/>
                  </a:lnTo>
                  <a:lnTo>
                    <a:pt x="179514" y="114125"/>
                  </a:lnTo>
                  <a:lnTo>
                    <a:pt x="164719" y="123443"/>
                  </a:lnTo>
                  <a:lnTo>
                    <a:pt x="175672" y="127448"/>
                  </a:lnTo>
                  <a:lnTo>
                    <a:pt x="205960" y="155031"/>
                  </a:lnTo>
                  <a:lnTo>
                    <a:pt x="212979" y="184785"/>
                  </a:lnTo>
                  <a:lnTo>
                    <a:pt x="212476" y="193403"/>
                  </a:lnTo>
                  <a:lnTo>
                    <a:pt x="195341" y="233314"/>
                  </a:lnTo>
                  <a:lnTo>
                    <a:pt x="158269" y="255176"/>
                  </a:lnTo>
                  <a:lnTo>
                    <a:pt x="108850" y="258312"/>
                  </a:lnTo>
                  <a:lnTo>
                    <a:pt x="86614" y="258572"/>
                  </a:lnTo>
                  <a:lnTo>
                    <a:pt x="0" y="258572"/>
                  </a:lnTo>
                  <a:lnTo>
                    <a:pt x="0" y="4317"/>
                  </a:lnTo>
                  <a:close/>
                </a:path>
                <a:path w="2434590" h="262889">
                  <a:moveTo>
                    <a:pt x="2392172" y="0"/>
                  </a:moveTo>
                  <a:lnTo>
                    <a:pt x="2434082" y="0"/>
                  </a:lnTo>
                  <a:lnTo>
                    <a:pt x="2434082" y="41782"/>
                  </a:lnTo>
                  <a:lnTo>
                    <a:pt x="2392172" y="41782"/>
                  </a:lnTo>
                  <a:lnTo>
                    <a:pt x="2392172" y="0"/>
                  </a:lnTo>
                  <a:close/>
                </a:path>
                <a:path w="2434590" h="262889">
                  <a:moveTo>
                    <a:pt x="2317623" y="0"/>
                  </a:moveTo>
                  <a:lnTo>
                    <a:pt x="2359406" y="0"/>
                  </a:lnTo>
                  <a:lnTo>
                    <a:pt x="2359406" y="41782"/>
                  </a:lnTo>
                  <a:lnTo>
                    <a:pt x="2317623" y="41782"/>
                  </a:lnTo>
                  <a:lnTo>
                    <a:pt x="2317623" y="0"/>
                  </a:lnTo>
                  <a:close/>
                </a:path>
                <a:path w="2434590" h="262889">
                  <a:moveTo>
                    <a:pt x="1977644" y="0"/>
                  </a:moveTo>
                  <a:lnTo>
                    <a:pt x="2019554" y="0"/>
                  </a:lnTo>
                  <a:lnTo>
                    <a:pt x="2019554" y="41782"/>
                  </a:lnTo>
                  <a:lnTo>
                    <a:pt x="1977644" y="41782"/>
                  </a:lnTo>
                  <a:lnTo>
                    <a:pt x="1977644" y="0"/>
                  </a:lnTo>
                  <a:close/>
                </a:path>
                <a:path w="2434590" h="262889">
                  <a:moveTo>
                    <a:pt x="1903095" y="0"/>
                  </a:moveTo>
                  <a:lnTo>
                    <a:pt x="1944878" y="0"/>
                  </a:lnTo>
                  <a:lnTo>
                    <a:pt x="1944878" y="41782"/>
                  </a:lnTo>
                  <a:lnTo>
                    <a:pt x="1903095" y="41782"/>
                  </a:lnTo>
                  <a:lnTo>
                    <a:pt x="1903095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06945" y="5112258"/>
              <a:ext cx="2424429" cy="33312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23937" y="5216016"/>
              <a:ext cx="102108" cy="12522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881364" y="5213603"/>
              <a:ext cx="94107" cy="1238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55914" y="5213603"/>
              <a:ext cx="93599" cy="12890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482967" y="5219700"/>
              <a:ext cx="73025" cy="43180"/>
            </a:xfrm>
            <a:custGeom>
              <a:avLst/>
              <a:gdLst/>
              <a:ahLst/>
              <a:cxnLst/>
              <a:rect l="l" t="t" r="r" b="b"/>
              <a:pathLst>
                <a:path w="73025" h="43179">
                  <a:moveTo>
                    <a:pt x="36575" y="0"/>
                  </a:moveTo>
                  <a:lnTo>
                    <a:pt x="2476" y="25272"/>
                  </a:lnTo>
                  <a:lnTo>
                    <a:pt x="0" y="43180"/>
                  </a:lnTo>
                  <a:lnTo>
                    <a:pt x="72898" y="43180"/>
                  </a:lnTo>
                  <a:lnTo>
                    <a:pt x="56471" y="6215"/>
                  </a:lnTo>
                  <a:lnTo>
                    <a:pt x="36575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057766" y="5180457"/>
              <a:ext cx="179704" cy="20053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192135" y="5180457"/>
              <a:ext cx="179705" cy="20053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624951" y="5180457"/>
              <a:ext cx="179704" cy="20053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14919" y="5180457"/>
              <a:ext cx="203326" cy="19634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837549" y="5182362"/>
              <a:ext cx="179705" cy="263525"/>
            </a:xfrm>
            <a:custGeom>
              <a:avLst/>
              <a:gdLst/>
              <a:ahLst/>
              <a:cxnLst/>
              <a:rect l="l" t="t" r="r" b="b"/>
              <a:pathLst>
                <a:path w="179704" h="263525">
                  <a:moveTo>
                    <a:pt x="77724" y="0"/>
                  </a:moveTo>
                  <a:lnTo>
                    <a:pt x="94035" y="1881"/>
                  </a:lnTo>
                  <a:lnTo>
                    <a:pt x="108870" y="7524"/>
                  </a:lnTo>
                  <a:lnTo>
                    <a:pt x="122229" y="16930"/>
                  </a:lnTo>
                  <a:lnTo>
                    <a:pt x="134111" y="30099"/>
                  </a:lnTo>
                  <a:lnTo>
                    <a:pt x="134111" y="4190"/>
                  </a:lnTo>
                  <a:lnTo>
                    <a:pt x="179704" y="4190"/>
                  </a:lnTo>
                  <a:lnTo>
                    <a:pt x="179704" y="169418"/>
                  </a:lnTo>
                  <a:lnTo>
                    <a:pt x="176651" y="209065"/>
                  </a:lnTo>
                  <a:lnTo>
                    <a:pt x="159257" y="243459"/>
                  </a:lnTo>
                  <a:lnTo>
                    <a:pt x="124600" y="260177"/>
                  </a:lnTo>
                  <a:lnTo>
                    <a:pt x="92328" y="263016"/>
                  </a:lnTo>
                  <a:lnTo>
                    <a:pt x="70610" y="262016"/>
                  </a:lnTo>
                  <a:lnTo>
                    <a:pt x="25907" y="247015"/>
                  </a:lnTo>
                  <a:lnTo>
                    <a:pt x="6223" y="206375"/>
                  </a:lnTo>
                  <a:lnTo>
                    <a:pt x="6223" y="204724"/>
                  </a:lnTo>
                  <a:lnTo>
                    <a:pt x="6350" y="202819"/>
                  </a:lnTo>
                  <a:lnTo>
                    <a:pt x="6476" y="200532"/>
                  </a:lnTo>
                  <a:lnTo>
                    <a:pt x="62102" y="207263"/>
                  </a:lnTo>
                  <a:lnTo>
                    <a:pt x="62992" y="213740"/>
                  </a:lnTo>
                  <a:lnTo>
                    <a:pt x="65150" y="218185"/>
                  </a:lnTo>
                  <a:lnTo>
                    <a:pt x="68579" y="220599"/>
                  </a:lnTo>
                  <a:lnTo>
                    <a:pt x="73151" y="224028"/>
                  </a:lnTo>
                  <a:lnTo>
                    <a:pt x="80391" y="225806"/>
                  </a:lnTo>
                  <a:lnTo>
                    <a:pt x="90424" y="225806"/>
                  </a:lnTo>
                  <a:lnTo>
                    <a:pt x="99353" y="225448"/>
                  </a:lnTo>
                  <a:lnTo>
                    <a:pt x="130936" y="196215"/>
                  </a:lnTo>
                  <a:lnTo>
                    <a:pt x="130936" y="185419"/>
                  </a:lnTo>
                  <a:lnTo>
                    <a:pt x="130936" y="158496"/>
                  </a:lnTo>
                  <a:lnTo>
                    <a:pt x="119288" y="171571"/>
                  </a:lnTo>
                  <a:lnTo>
                    <a:pt x="106235" y="180895"/>
                  </a:lnTo>
                  <a:lnTo>
                    <a:pt x="91753" y="186481"/>
                  </a:lnTo>
                  <a:lnTo>
                    <a:pt x="75819" y="188340"/>
                  </a:lnTo>
                  <a:lnTo>
                    <a:pt x="58219" y="186386"/>
                  </a:lnTo>
                  <a:lnTo>
                    <a:pt x="17018" y="156972"/>
                  </a:lnTo>
                  <a:lnTo>
                    <a:pt x="1069" y="112966"/>
                  </a:lnTo>
                  <a:lnTo>
                    <a:pt x="0" y="95250"/>
                  </a:lnTo>
                  <a:lnTo>
                    <a:pt x="1402" y="73463"/>
                  </a:lnTo>
                  <a:lnTo>
                    <a:pt x="22351" y="24511"/>
                  </a:lnTo>
                  <a:lnTo>
                    <a:pt x="61839" y="1543"/>
                  </a:lnTo>
                  <a:lnTo>
                    <a:pt x="77724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99579" y="5176265"/>
              <a:ext cx="310769" cy="20472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4026" y="5176265"/>
              <a:ext cx="202184" cy="20472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806945" y="5112258"/>
              <a:ext cx="2174240" cy="331470"/>
            </a:xfrm>
            <a:custGeom>
              <a:avLst/>
              <a:gdLst/>
              <a:ahLst/>
              <a:cxnLst/>
              <a:rect l="l" t="t" r="r" b="b"/>
              <a:pathLst>
                <a:path w="2174240" h="331470">
                  <a:moveTo>
                    <a:pt x="1606677" y="4318"/>
                  </a:moveTo>
                  <a:lnTo>
                    <a:pt x="1655445" y="4318"/>
                  </a:lnTo>
                  <a:lnTo>
                    <a:pt x="1655445" y="95758"/>
                  </a:lnTo>
                  <a:lnTo>
                    <a:pt x="1667208" y="84570"/>
                  </a:lnTo>
                  <a:lnTo>
                    <a:pt x="1680019" y="76549"/>
                  </a:lnTo>
                  <a:lnTo>
                    <a:pt x="1693878" y="71719"/>
                  </a:lnTo>
                  <a:lnTo>
                    <a:pt x="1708784" y="70104"/>
                  </a:lnTo>
                  <a:lnTo>
                    <a:pt x="1724906" y="71628"/>
                  </a:lnTo>
                  <a:lnTo>
                    <a:pt x="1764410" y="94488"/>
                  </a:lnTo>
                  <a:lnTo>
                    <a:pt x="1785127" y="143011"/>
                  </a:lnTo>
                  <a:lnTo>
                    <a:pt x="1786508" y="164465"/>
                  </a:lnTo>
                  <a:lnTo>
                    <a:pt x="1785104" y="186709"/>
                  </a:lnTo>
                  <a:lnTo>
                    <a:pt x="1764029" y="237109"/>
                  </a:lnTo>
                  <a:lnTo>
                    <a:pt x="1724953" y="261040"/>
                  </a:lnTo>
                  <a:lnTo>
                    <a:pt x="1709547" y="262636"/>
                  </a:lnTo>
                  <a:lnTo>
                    <a:pt x="1701665" y="262137"/>
                  </a:lnTo>
                  <a:lnTo>
                    <a:pt x="1664096" y="244935"/>
                  </a:lnTo>
                  <a:lnTo>
                    <a:pt x="1651888" y="231394"/>
                  </a:lnTo>
                  <a:lnTo>
                    <a:pt x="1651888" y="258445"/>
                  </a:lnTo>
                  <a:lnTo>
                    <a:pt x="1606677" y="258445"/>
                  </a:lnTo>
                  <a:lnTo>
                    <a:pt x="1606677" y="4318"/>
                  </a:lnTo>
                  <a:close/>
                </a:path>
                <a:path w="2174240" h="331470">
                  <a:moveTo>
                    <a:pt x="2065781" y="0"/>
                  </a:moveTo>
                  <a:lnTo>
                    <a:pt x="2089530" y="0"/>
                  </a:lnTo>
                  <a:lnTo>
                    <a:pt x="2090420" y="8128"/>
                  </a:lnTo>
                  <a:lnTo>
                    <a:pt x="2093340" y="14351"/>
                  </a:lnTo>
                  <a:lnTo>
                    <a:pt x="2098294" y="18542"/>
                  </a:lnTo>
                  <a:lnTo>
                    <a:pt x="2103247" y="22860"/>
                  </a:lnTo>
                  <a:lnTo>
                    <a:pt x="2110485" y="24892"/>
                  </a:lnTo>
                  <a:lnTo>
                    <a:pt x="2119883" y="24892"/>
                  </a:lnTo>
                  <a:lnTo>
                    <a:pt x="2129408" y="24892"/>
                  </a:lnTo>
                  <a:lnTo>
                    <a:pt x="2136648" y="22860"/>
                  </a:lnTo>
                  <a:lnTo>
                    <a:pt x="2141601" y="18542"/>
                  </a:lnTo>
                  <a:lnTo>
                    <a:pt x="2146554" y="14351"/>
                  </a:lnTo>
                  <a:lnTo>
                    <a:pt x="2149475" y="8128"/>
                  </a:lnTo>
                  <a:lnTo>
                    <a:pt x="2150236" y="0"/>
                  </a:lnTo>
                  <a:lnTo>
                    <a:pt x="2173985" y="0"/>
                  </a:lnTo>
                  <a:lnTo>
                    <a:pt x="2157476" y="36957"/>
                  </a:lnTo>
                  <a:lnTo>
                    <a:pt x="2119883" y="50419"/>
                  </a:lnTo>
                  <a:lnTo>
                    <a:pt x="2108904" y="49583"/>
                  </a:lnTo>
                  <a:lnTo>
                    <a:pt x="2075943" y="29575"/>
                  </a:lnTo>
                  <a:lnTo>
                    <a:pt x="2067613" y="11096"/>
                  </a:lnTo>
                  <a:lnTo>
                    <a:pt x="2065781" y="0"/>
                  </a:lnTo>
                  <a:close/>
                </a:path>
                <a:path w="2174240" h="331470">
                  <a:moveTo>
                    <a:pt x="1246631" y="0"/>
                  </a:moveTo>
                  <a:lnTo>
                    <a:pt x="1288811" y="6873"/>
                  </a:lnTo>
                  <a:lnTo>
                    <a:pt x="1322324" y="27559"/>
                  </a:lnTo>
                  <a:lnTo>
                    <a:pt x="1343451" y="59938"/>
                  </a:lnTo>
                  <a:lnTo>
                    <a:pt x="1348358" y="74295"/>
                  </a:lnTo>
                  <a:lnTo>
                    <a:pt x="1297558" y="86487"/>
                  </a:lnTo>
                  <a:lnTo>
                    <a:pt x="1294675" y="77104"/>
                  </a:lnTo>
                  <a:lnTo>
                    <a:pt x="1290589" y="68770"/>
                  </a:lnTo>
                  <a:lnTo>
                    <a:pt x="1253849" y="44529"/>
                  </a:lnTo>
                  <a:lnTo>
                    <a:pt x="1243964" y="43815"/>
                  </a:lnTo>
                  <a:lnTo>
                    <a:pt x="1230514" y="45079"/>
                  </a:lnTo>
                  <a:lnTo>
                    <a:pt x="1190430" y="75822"/>
                  </a:lnTo>
                  <a:lnTo>
                    <a:pt x="1180464" y="129794"/>
                  </a:lnTo>
                  <a:lnTo>
                    <a:pt x="1181558" y="152155"/>
                  </a:lnTo>
                  <a:lnTo>
                    <a:pt x="1197863" y="198501"/>
                  </a:lnTo>
                  <a:lnTo>
                    <a:pt x="1242949" y="218948"/>
                  </a:lnTo>
                  <a:lnTo>
                    <a:pt x="1252803" y="218136"/>
                  </a:lnTo>
                  <a:lnTo>
                    <a:pt x="1290780" y="189182"/>
                  </a:lnTo>
                  <a:lnTo>
                    <a:pt x="1299336" y="164973"/>
                  </a:lnTo>
                  <a:lnTo>
                    <a:pt x="1348994" y="180721"/>
                  </a:lnTo>
                  <a:lnTo>
                    <a:pt x="1333769" y="217027"/>
                  </a:lnTo>
                  <a:lnTo>
                    <a:pt x="1300519" y="249455"/>
                  </a:lnTo>
                  <a:lnTo>
                    <a:pt x="1263014" y="261493"/>
                  </a:lnTo>
                  <a:lnTo>
                    <a:pt x="1257427" y="262128"/>
                  </a:lnTo>
                  <a:lnTo>
                    <a:pt x="1260855" y="262890"/>
                  </a:lnTo>
                  <a:lnTo>
                    <a:pt x="1286002" y="293243"/>
                  </a:lnTo>
                  <a:lnTo>
                    <a:pt x="1285216" y="300579"/>
                  </a:lnTo>
                  <a:lnTo>
                    <a:pt x="1252981" y="327850"/>
                  </a:lnTo>
                  <a:lnTo>
                    <a:pt x="1225296" y="331089"/>
                  </a:lnTo>
                  <a:lnTo>
                    <a:pt x="1214764" y="330920"/>
                  </a:lnTo>
                  <a:lnTo>
                    <a:pt x="1205626" y="330406"/>
                  </a:lnTo>
                  <a:lnTo>
                    <a:pt x="1197846" y="329535"/>
                  </a:lnTo>
                  <a:lnTo>
                    <a:pt x="1191386" y="328295"/>
                  </a:lnTo>
                  <a:lnTo>
                    <a:pt x="1191386" y="307848"/>
                  </a:lnTo>
                  <a:lnTo>
                    <a:pt x="1200150" y="308681"/>
                  </a:lnTo>
                  <a:lnTo>
                    <a:pt x="1208531" y="309276"/>
                  </a:lnTo>
                  <a:lnTo>
                    <a:pt x="1216532" y="309633"/>
                  </a:lnTo>
                  <a:lnTo>
                    <a:pt x="1224152" y="309753"/>
                  </a:lnTo>
                  <a:lnTo>
                    <a:pt x="1234439" y="309753"/>
                  </a:lnTo>
                  <a:lnTo>
                    <a:pt x="1242186" y="307975"/>
                  </a:lnTo>
                  <a:lnTo>
                    <a:pt x="1247139" y="304292"/>
                  </a:lnTo>
                  <a:lnTo>
                    <a:pt x="1250950" y="301498"/>
                  </a:lnTo>
                  <a:lnTo>
                    <a:pt x="1252854" y="297815"/>
                  </a:lnTo>
                  <a:lnTo>
                    <a:pt x="1252854" y="293497"/>
                  </a:lnTo>
                  <a:lnTo>
                    <a:pt x="1252854" y="289560"/>
                  </a:lnTo>
                  <a:lnTo>
                    <a:pt x="1251077" y="286131"/>
                  </a:lnTo>
                  <a:lnTo>
                    <a:pt x="1247394" y="283210"/>
                  </a:lnTo>
                  <a:lnTo>
                    <a:pt x="1243837" y="280416"/>
                  </a:lnTo>
                  <a:lnTo>
                    <a:pt x="1238377" y="278892"/>
                  </a:lnTo>
                  <a:lnTo>
                    <a:pt x="1230756" y="278892"/>
                  </a:lnTo>
                  <a:lnTo>
                    <a:pt x="1223390" y="278892"/>
                  </a:lnTo>
                  <a:lnTo>
                    <a:pt x="1215771" y="280035"/>
                  </a:lnTo>
                  <a:lnTo>
                    <a:pt x="1208151" y="282321"/>
                  </a:lnTo>
                  <a:lnTo>
                    <a:pt x="1212596" y="265176"/>
                  </a:lnTo>
                  <a:lnTo>
                    <a:pt x="1217168" y="263652"/>
                  </a:lnTo>
                  <a:lnTo>
                    <a:pt x="1221739" y="262509"/>
                  </a:lnTo>
                  <a:lnTo>
                    <a:pt x="1226693" y="261747"/>
                  </a:lnTo>
                  <a:lnTo>
                    <a:pt x="1226947" y="261620"/>
                  </a:lnTo>
                  <a:lnTo>
                    <a:pt x="1187227" y="249269"/>
                  </a:lnTo>
                  <a:lnTo>
                    <a:pt x="1146010" y="209309"/>
                  </a:lnTo>
                  <a:lnTo>
                    <a:pt x="1129678" y="162014"/>
                  </a:lnTo>
                  <a:lnTo>
                    <a:pt x="1127632" y="133604"/>
                  </a:lnTo>
                  <a:lnTo>
                    <a:pt x="1129680" y="103649"/>
                  </a:lnTo>
                  <a:lnTo>
                    <a:pt x="1146063" y="54361"/>
                  </a:lnTo>
                  <a:lnTo>
                    <a:pt x="1178069" y="19716"/>
                  </a:lnTo>
                  <a:lnTo>
                    <a:pt x="1221174" y="2190"/>
                  </a:lnTo>
                  <a:lnTo>
                    <a:pt x="1246631" y="0"/>
                  </a:lnTo>
                  <a:close/>
                </a:path>
                <a:path w="2174240" h="331470">
                  <a:moveTo>
                    <a:pt x="382524" y="0"/>
                  </a:moveTo>
                  <a:lnTo>
                    <a:pt x="424433" y="0"/>
                  </a:lnTo>
                  <a:lnTo>
                    <a:pt x="424433" y="41783"/>
                  </a:lnTo>
                  <a:lnTo>
                    <a:pt x="382524" y="41783"/>
                  </a:lnTo>
                  <a:lnTo>
                    <a:pt x="382524" y="0"/>
                  </a:lnTo>
                  <a:close/>
                </a:path>
                <a:path w="2174240" h="331470">
                  <a:moveTo>
                    <a:pt x="307975" y="0"/>
                  </a:moveTo>
                  <a:lnTo>
                    <a:pt x="349757" y="0"/>
                  </a:lnTo>
                  <a:lnTo>
                    <a:pt x="349757" y="41783"/>
                  </a:lnTo>
                  <a:lnTo>
                    <a:pt x="307975" y="41783"/>
                  </a:lnTo>
                  <a:lnTo>
                    <a:pt x="307975" y="0"/>
                  </a:lnTo>
                  <a:close/>
                </a:path>
                <a:path w="2174240" h="331470">
                  <a:moveTo>
                    <a:pt x="126237" y="0"/>
                  </a:moveTo>
                  <a:lnTo>
                    <a:pt x="168449" y="4953"/>
                  </a:lnTo>
                  <a:lnTo>
                    <a:pt x="212349" y="30670"/>
                  </a:lnTo>
                  <a:lnTo>
                    <a:pt x="234442" y="74676"/>
                  </a:lnTo>
                  <a:lnTo>
                    <a:pt x="183514" y="84201"/>
                  </a:lnTo>
                  <a:lnTo>
                    <a:pt x="180252" y="75344"/>
                  </a:lnTo>
                  <a:lnTo>
                    <a:pt x="175799" y="67452"/>
                  </a:lnTo>
                  <a:lnTo>
                    <a:pt x="136907" y="44483"/>
                  </a:lnTo>
                  <a:lnTo>
                    <a:pt x="126237" y="43815"/>
                  </a:lnTo>
                  <a:lnTo>
                    <a:pt x="110311" y="45148"/>
                  </a:lnTo>
                  <a:lnTo>
                    <a:pt x="72771" y="65151"/>
                  </a:lnTo>
                  <a:lnTo>
                    <a:pt x="54197" y="108727"/>
                  </a:lnTo>
                  <a:lnTo>
                    <a:pt x="52958" y="128397"/>
                  </a:lnTo>
                  <a:lnTo>
                    <a:pt x="54219" y="149639"/>
                  </a:lnTo>
                  <a:lnTo>
                    <a:pt x="73025" y="196342"/>
                  </a:lnTo>
                  <a:lnTo>
                    <a:pt x="110226" y="217523"/>
                  </a:lnTo>
                  <a:lnTo>
                    <a:pt x="125729" y="218948"/>
                  </a:lnTo>
                  <a:lnTo>
                    <a:pt x="133826" y="218545"/>
                  </a:lnTo>
                  <a:lnTo>
                    <a:pt x="173164" y="205581"/>
                  </a:lnTo>
                  <a:lnTo>
                    <a:pt x="185927" y="197231"/>
                  </a:lnTo>
                  <a:lnTo>
                    <a:pt x="185927" y="164973"/>
                  </a:lnTo>
                  <a:lnTo>
                    <a:pt x="127126" y="164973"/>
                  </a:lnTo>
                  <a:lnTo>
                    <a:pt x="127126" y="122174"/>
                  </a:lnTo>
                  <a:lnTo>
                    <a:pt x="237744" y="122174"/>
                  </a:lnTo>
                  <a:lnTo>
                    <a:pt x="237744" y="223393"/>
                  </a:lnTo>
                  <a:lnTo>
                    <a:pt x="205436" y="244734"/>
                  </a:lnTo>
                  <a:lnTo>
                    <a:pt x="160258" y="259810"/>
                  </a:lnTo>
                  <a:lnTo>
                    <a:pt x="129031" y="262763"/>
                  </a:lnTo>
                  <a:lnTo>
                    <a:pt x="109747" y="261715"/>
                  </a:lnTo>
                  <a:lnTo>
                    <a:pt x="59562" y="245999"/>
                  </a:lnTo>
                  <a:lnTo>
                    <a:pt x="23344" y="212887"/>
                  </a:lnTo>
                  <a:lnTo>
                    <a:pt x="3778" y="165735"/>
                  </a:lnTo>
                  <a:lnTo>
                    <a:pt x="0" y="130556"/>
                  </a:lnTo>
                  <a:lnTo>
                    <a:pt x="1045" y="111218"/>
                  </a:lnTo>
                  <a:lnTo>
                    <a:pt x="16636" y="59944"/>
                  </a:lnTo>
                  <a:lnTo>
                    <a:pt x="50355" y="21742"/>
                  </a:lnTo>
                  <a:lnTo>
                    <a:pt x="92821" y="3143"/>
                  </a:lnTo>
                  <a:lnTo>
                    <a:pt x="108785" y="785"/>
                  </a:lnTo>
                  <a:lnTo>
                    <a:pt x="126237" y="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03164" y="3294252"/>
              <a:ext cx="2821305" cy="2937510"/>
            </a:xfrm>
            <a:custGeom>
              <a:avLst/>
              <a:gdLst/>
              <a:ahLst/>
              <a:cxnLst/>
              <a:rect l="l" t="t" r="r" b="b"/>
              <a:pathLst>
                <a:path w="2821304" h="2937510">
                  <a:moveTo>
                    <a:pt x="1304417" y="75311"/>
                  </a:moveTo>
                  <a:lnTo>
                    <a:pt x="228536" y="76174"/>
                  </a:lnTo>
                  <a:lnTo>
                    <a:pt x="228473" y="0"/>
                  </a:lnTo>
                  <a:lnTo>
                    <a:pt x="0" y="114554"/>
                  </a:lnTo>
                  <a:lnTo>
                    <a:pt x="228727" y="228600"/>
                  </a:lnTo>
                  <a:lnTo>
                    <a:pt x="228638" y="152400"/>
                  </a:lnTo>
                  <a:lnTo>
                    <a:pt x="190500" y="152400"/>
                  </a:lnTo>
                  <a:lnTo>
                    <a:pt x="228625" y="152374"/>
                  </a:lnTo>
                  <a:lnTo>
                    <a:pt x="1304417" y="151511"/>
                  </a:lnTo>
                  <a:lnTo>
                    <a:pt x="1304417" y="76200"/>
                  </a:lnTo>
                  <a:lnTo>
                    <a:pt x="1304417" y="75311"/>
                  </a:lnTo>
                  <a:close/>
                </a:path>
                <a:path w="2821304" h="2937510">
                  <a:moveTo>
                    <a:pt x="2820924" y="2707970"/>
                  </a:moveTo>
                  <a:lnTo>
                    <a:pt x="2744711" y="2708249"/>
                  </a:lnTo>
                  <a:lnTo>
                    <a:pt x="2743200" y="2273046"/>
                  </a:lnTo>
                  <a:lnTo>
                    <a:pt x="2743200" y="2272792"/>
                  </a:lnTo>
                  <a:lnTo>
                    <a:pt x="2667000" y="2273046"/>
                  </a:lnTo>
                  <a:lnTo>
                    <a:pt x="2668511" y="2707970"/>
                  </a:lnTo>
                  <a:lnTo>
                    <a:pt x="2668511" y="2708516"/>
                  </a:lnTo>
                  <a:lnTo>
                    <a:pt x="2592324" y="2708783"/>
                  </a:lnTo>
                  <a:lnTo>
                    <a:pt x="2707513" y="2936976"/>
                  </a:lnTo>
                  <a:lnTo>
                    <a:pt x="2801785" y="2746629"/>
                  </a:lnTo>
                  <a:lnTo>
                    <a:pt x="2820924" y="27079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682244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Masaüstü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5764530">
              <a:lnSpc>
                <a:spcPct val="100000"/>
              </a:lnSpc>
              <a:spcBef>
                <a:spcPts val="95"/>
              </a:spcBef>
            </a:pPr>
            <a:r>
              <a:rPr dirty="0"/>
              <a:t>Başlat</a:t>
            </a:r>
            <a:r>
              <a:rPr spc="-95" dirty="0"/>
              <a:t> </a:t>
            </a:r>
            <a:r>
              <a:rPr spc="-10" dirty="0"/>
              <a:t>Menüsü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961121" y="1703679"/>
            <a:ext cx="2355850" cy="757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0" marR="5080" indent="-197485">
              <a:lnSpc>
                <a:spcPct val="120100"/>
              </a:lnSpc>
              <a:spcBef>
                <a:spcPts val="95"/>
              </a:spcBef>
              <a:tabLst>
                <a:tab pos="779145" algn="l"/>
                <a:tab pos="1593215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menüsünü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açmak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alt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köşesindeki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60279" y="1703679"/>
            <a:ext cx="734060" cy="757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24485">
              <a:lnSpc>
                <a:spcPct val="120100"/>
              </a:lnSpc>
              <a:spcBef>
                <a:spcPts val="95"/>
              </a:spcBef>
            </a:pP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Başlat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94223" y="1703679"/>
            <a:ext cx="27857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777364" algn="l"/>
                <a:tab pos="2446655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Başlat masaüstünüzün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sol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öğesine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tıklayın.</a:t>
            </a:r>
            <a:endParaRPr sz="2000">
              <a:latin typeface="Microsoft Sans Serif"/>
              <a:cs typeface="Microsoft Sans Serif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075173" y="3007084"/>
          <a:ext cx="6034404" cy="71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1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7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35">
                <a:tc>
                  <a:txBody>
                    <a:bodyPr/>
                    <a:lstStyle/>
                    <a:p>
                      <a:pPr marL="369570" indent="-337820">
                        <a:lnSpc>
                          <a:spcPct val="100000"/>
                        </a:lnSpc>
                        <a:spcBef>
                          <a:spcPts val="65"/>
                        </a:spcBef>
                        <a:buClr>
                          <a:srgbClr val="F88556"/>
                        </a:buClr>
                        <a:buSzPct val="90000"/>
                        <a:buFont typeface="Wingdings"/>
                        <a:buChar char=""/>
                        <a:tabLst>
                          <a:tab pos="369570" algn="l"/>
                          <a:tab pos="2119630" algn="l"/>
                        </a:tabLst>
                      </a:pPr>
                      <a:r>
                        <a:rPr sz="20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Uygulamaları</a:t>
                      </a:r>
                      <a:r>
                        <a:rPr sz="200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2000" spc="-25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ve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27635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içeriği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811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sabitleyerek,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765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öğeleri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825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36957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586230" algn="l"/>
                        </a:tabLst>
                      </a:pPr>
                      <a:r>
                        <a:rPr sz="20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gruplara</a:t>
                      </a:r>
                      <a:r>
                        <a:rPr sz="200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20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ayırarak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14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110489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2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veya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14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kutucukları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14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20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yeniden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145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8179434" y="3733927"/>
            <a:ext cx="7334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Başlat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80218" y="3733927"/>
            <a:ext cx="1213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menüsünü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94223" y="3673576"/>
            <a:ext cx="2720340" cy="1261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8255">
              <a:lnSpc>
                <a:spcPct val="120000"/>
              </a:lnSpc>
              <a:spcBef>
                <a:spcPts val="10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boyutlandırarak kişiselleştirebilirsiniz.</a:t>
            </a:r>
            <a:endParaRPr sz="20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57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377950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Başlat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menüsünün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09331" y="4603826"/>
            <a:ext cx="29819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12775" algn="l"/>
                <a:tab pos="2007235" algn="l"/>
              </a:tabLst>
            </a:pP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en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solundaki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simgeler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32552" y="4909769"/>
            <a:ext cx="566039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hesabı,  Belgeler,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Resimler,  Ayarlar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Güç'tür.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Değiştirmek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Belgeler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klasörü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diğer</a:t>
            </a:r>
            <a:r>
              <a:rPr sz="20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simgeleri</a:t>
            </a:r>
            <a:r>
              <a:rPr sz="20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eklemek</a:t>
            </a:r>
            <a:r>
              <a:rPr sz="20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Başlat</a:t>
            </a:r>
            <a:r>
              <a:rPr sz="2000" b="1" spc="2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menüsünde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hangi</a:t>
            </a:r>
            <a:r>
              <a:rPr sz="2000" b="1" spc="25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klasörlerin</a:t>
            </a:r>
            <a:r>
              <a:rPr sz="2000" b="1" spc="254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görüneceğini</a:t>
            </a:r>
            <a:r>
              <a:rPr sz="2000" b="1" spc="25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seç</a:t>
            </a:r>
            <a:r>
              <a:rPr sz="2000" b="1" spc="26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öğesini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aratın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açın.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65275" y="1588007"/>
            <a:ext cx="4044950" cy="4567555"/>
            <a:chOff x="1065275" y="1588007"/>
            <a:chExt cx="4044950" cy="456755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5275" y="1588007"/>
              <a:ext cx="4044696" cy="456742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7299" y="1780057"/>
              <a:ext cx="3674364" cy="41702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3764915">
              <a:lnSpc>
                <a:spcPct val="100000"/>
              </a:lnSpc>
              <a:spcBef>
                <a:spcPts val="95"/>
              </a:spcBef>
            </a:pPr>
            <a:r>
              <a:rPr dirty="0"/>
              <a:t>Başlat</a:t>
            </a:r>
            <a:r>
              <a:rPr spc="-20" dirty="0"/>
              <a:t> </a:t>
            </a:r>
            <a:r>
              <a:rPr spc="-10" dirty="0"/>
              <a:t>Menüsü-</a:t>
            </a:r>
            <a:r>
              <a:rPr sz="2800" i="1" spc="-10" dirty="0">
                <a:latin typeface="Arial"/>
                <a:cs typeface="Arial"/>
              </a:rPr>
              <a:t>Kutucuklar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50282" y="1781403"/>
            <a:ext cx="5980430" cy="1842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6985" indent="-338455" algn="just">
              <a:lnSpc>
                <a:spcPct val="110000"/>
              </a:lnSpc>
              <a:spcBef>
                <a:spcPts val="1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</a:t>
            </a:r>
            <a:r>
              <a:rPr sz="20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Başlat</a:t>
            </a:r>
            <a:r>
              <a:rPr sz="20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menüsünde</a:t>
            </a:r>
            <a:r>
              <a:rPr sz="20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uygulamaların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kısayolları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olan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kutucuklar</a:t>
            </a:r>
            <a:r>
              <a:rPr sz="20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bulunur.</a:t>
            </a:r>
            <a:endParaRPr sz="2000">
              <a:latin typeface="Microsoft Sans Serif"/>
              <a:cs typeface="Microsoft Sans Serif"/>
            </a:endParaRPr>
          </a:p>
          <a:p>
            <a:pPr marL="349250" marR="5080" indent="-337185" algn="just">
              <a:lnSpc>
                <a:spcPct val="110000"/>
              </a:lnSpc>
              <a:spcBef>
                <a:spcPts val="11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Kutucukların</a:t>
            </a:r>
            <a:r>
              <a:rPr sz="20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birçoğu</a:t>
            </a:r>
            <a:r>
              <a:rPr sz="20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canlıdır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,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yani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uygulamadan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</a:t>
            </a:r>
            <a:r>
              <a:rPr sz="20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bildirebilirler.</a:t>
            </a:r>
            <a:r>
              <a:rPr sz="2000" spc="4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Örneğin,</a:t>
            </a:r>
            <a:r>
              <a:rPr sz="2000" spc="4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Hava</a:t>
            </a:r>
            <a:r>
              <a:rPr sz="2000" spc="4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Durumu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uygulaması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kutucuğunda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geçerli</a:t>
            </a:r>
            <a:r>
              <a:rPr sz="20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sıcaklığı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hava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88609" y="3628135"/>
            <a:ext cx="29178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9225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tahminini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görebilirsiniz.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88609" y="3598605"/>
            <a:ext cx="4262120" cy="69596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291204">
              <a:lnSpc>
                <a:spcPct val="100000"/>
              </a:lnSpc>
              <a:spcBef>
                <a:spcPts val="335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Posta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1659889" algn="l"/>
                <a:tab pos="2251710" algn="l"/>
                <a:tab pos="2937510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kutucuğunda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kaç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tane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okunmamış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05213" y="3598605"/>
            <a:ext cx="1325245" cy="69596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uygulaması</a:t>
            </a:r>
            <a:endParaRPr sz="2000">
              <a:latin typeface="Microsoft Sans Serif"/>
              <a:cs typeface="Microsoft Sans Serif"/>
            </a:endParaRPr>
          </a:p>
          <a:p>
            <a:pPr marL="127000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e-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postanız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50282" y="4130395"/>
            <a:ext cx="5980430" cy="212026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143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olduğunu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görebilirsiniz.</a:t>
            </a:r>
            <a:endParaRPr sz="2000">
              <a:latin typeface="Microsoft Sans Serif"/>
              <a:cs typeface="Microsoft Sans Serif"/>
            </a:endParaRPr>
          </a:p>
          <a:p>
            <a:pPr marL="350520" marR="6350" indent="-338455">
              <a:lnSpc>
                <a:spcPct val="110000"/>
              </a:lnSpc>
              <a:spcBef>
                <a:spcPts val="109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Başlat</a:t>
            </a:r>
            <a:r>
              <a:rPr sz="20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menüsünü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açmak</a:t>
            </a:r>
            <a:r>
              <a:rPr sz="20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masaüstünüzün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sol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alt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köşesindeki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Başlat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öğesine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tıklayın.</a:t>
            </a:r>
            <a:endParaRPr sz="200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10000"/>
              </a:lnSpc>
              <a:spcBef>
                <a:spcPts val="111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594485" algn="l"/>
                <a:tab pos="5331460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Başlangıç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ekranını</a:t>
            </a:r>
            <a:r>
              <a:rPr sz="2000" spc="48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tam</a:t>
            </a:r>
            <a:r>
              <a:rPr sz="2000" spc="4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kısmi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modunda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açabilirsiniz.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65275" y="1588007"/>
            <a:ext cx="4044950" cy="4567555"/>
            <a:chOff x="1065275" y="1588007"/>
            <a:chExt cx="4044950" cy="456755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5275" y="1588007"/>
              <a:ext cx="4044696" cy="456742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7299" y="1780057"/>
              <a:ext cx="3674364" cy="41702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2773045">
              <a:lnSpc>
                <a:spcPct val="100000"/>
              </a:lnSpc>
              <a:spcBef>
                <a:spcPts val="95"/>
              </a:spcBef>
            </a:pPr>
            <a:r>
              <a:rPr dirty="0"/>
              <a:t>Başlat</a:t>
            </a:r>
            <a:r>
              <a:rPr spc="-80" dirty="0"/>
              <a:t> </a:t>
            </a:r>
            <a:r>
              <a:rPr spc="-30" dirty="0"/>
              <a:t>Menüsü-</a:t>
            </a:r>
            <a:r>
              <a:rPr sz="2800" i="1" dirty="0">
                <a:latin typeface="Arial"/>
                <a:cs typeface="Arial"/>
              </a:rPr>
              <a:t>Tam</a:t>
            </a:r>
            <a:r>
              <a:rPr sz="2800" i="1" spc="-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Ekran</a:t>
            </a:r>
            <a:r>
              <a:rPr sz="2800" i="1" spc="-75" dirty="0">
                <a:latin typeface="Arial"/>
                <a:cs typeface="Arial"/>
              </a:rPr>
              <a:t> </a:t>
            </a:r>
            <a:r>
              <a:rPr sz="2800" i="1" spc="-20" dirty="0">
                <a:latin typeface="Arial"/>
                <a:cs typeface="Arial"/>
              </a:rPr>
              <a:t>Modu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1163" y="1672564"/>
            <a:ext cx="9598660" cy="213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Başlangıç</a:t>
            </a:r>
            <a:r>
              <a:rPr sz="20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ekranını</a:t>
            </a:r>
            <a:r>
              <a:rPr sz="2000" spc="4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her</a:t>
            </a:r>
            <a:r>
              <a:rPr sz="20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zaman</a:t>
            </a:r>
            <a:r>
              <a:rPr sz="20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tam</a:t>
            </a:r>
            <a:r>
              <a:rPr sz="2000" spc="4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</a:t>
            </a:r>
            <a:r>
              <a:rPr sz="20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modunda</a:t>
            </a:r>
            <a:r>
              <a:rPr sz="20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açmak</a:t>
            </a:r>
            <a:r>
              <a:rPr sz="20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masaüstü</a:t>
            </a:r>
            <a:r>
              <a:rPr sz="2000" spc="4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arka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planında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herhangi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yere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tıklayın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ardından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Kişiselleştir</a:t>
            </a:r>
            <a:r>
              <a:rPr sz="2000" b="1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öğesine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tıklayın</a:t>
            </a:r>
            <a:endParaRPr sz="20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58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Açılan</a:t>
            </a:r>
            <a:r>
              <a:rPr sz="20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pencereden</a:t>
            </a:r>
            <a:r>
              <a:rPr sz="20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Başlat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'a</a:t>
            </a:r>
            <a:r>
              <a:rPr sz="2000" spc="3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tıklayın</a:t>
            </a:r>
            <a:r>
              <a:rPr sz="20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3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ardından</a:t>
            </a:r>
            <a:r>
              <a:rPr sz="2000" spc="3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Başlangıç'ı</a:t>
            </a:r>
            <a:r>
              <a:rPr sz="2000" b="1" spc="2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tam</a:t>
            </a:r>
            <a:r>
              <a:rPr sz="2000" b="1" spc="2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2000" b="1" spc="2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kullan</a:t>
            </a:r>
            <a:endParaRPr sz="2000">
              <a:latin typeface="Arial"/>
              <a:cs typeface="Arial"/>
            </a:endParaRPr>
          </a:p>
          <a:p>
            <a:pPr marL="35052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seçeneğini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açın.</a:t>
            </a:r>
            <a:endParaRPr sz="20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57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Başlangıç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tam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modunda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açılır.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6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97423" y="3732281"/>
            <a:ext cx="5293360" cy="3126105"/>
            <a:chOff x="5297423" y="3732281"/>
            <a:chExt cx="5293360" cy="312610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7423" y="3732281"/>
              <a:ext cx="5292852" cy="312571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9447" y="3924300"/>
              <a:ext cx="4922520" cy="2769108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674876" y="3733811"/>
            <a:ext cx="3016250" cy="3124200"/>
            <a:chOff x="1674876" y="3733811"/>
            <a:chExt cx="3016250" cy="312420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4876" y="3733811"/>
              <a:ext cx="3015996" cy="312418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66900" y="3925823"/>
              <a:ext cx="2645664" cy="276758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843784" y="5579363"/>
              <a:ext cx="1054735" cy="207645"/>
            </a:xfrm>
            <a:custGeom>
              <a:avLst/>
              <a:gdLst/>
              <a:ahLst/>
              <a:cxnLst/>
              <a:rect l="l" t="t" r="r" b="b"/>
              <a:pathLst>
                <a:path w="1054735" h="207645">
                  <a:moveTo>
                    <a:pt x="0" y="207264"/>
                  </a:moveTo>
                  <a:lnTo>
                    <a:pt x="1054608" y="207264"/>
                  </a:lnTo>
                  <a:lnTo>
                    <a:pt x="1054608" y="0"/>
                  </a:lnTo>
                  <a:lnTo>
                    <a:pt x="0" y="0"/>
                  </a:lnTo>
                  <a:lnTo>
                    <a:pt x="0" y="207264"/>
                  </a:lnTo>
                  <a:close/>
                </a:path>
              </a:pathLst>
            </a:custGeom>
            <a:ln w="15240">
              <a:solidFill>
                <a:srgbClr val="AD25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035550"/>
            <a:chOff x="1338072" y="1411224"/>
            <a:chExt cx="9813290" cy="503555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80388" y="1469136"/>
              <a:ext cx="2924429" cy="273545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5459" y="1664208"/>
              <a:ext cx="2354580" cy="21656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0388" y="3834409"/>
              <a:ext cx="2924429" cy="26121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75459" y="4042028"/>
              <a:ext cx="2354580" cy="2029587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2773045">
              <a:lnSpc>
                <a:spcPct val="100000"/>
              </a:lnSpc>
              <a:spcBef>
                <a:spcPts val="95"/>
              </a:spcBef>
            </a:pPr>
            <a:r>
              <a:rPr dirty="0"/>
              <a:t>Başlat</a:t>
            </a:r>
            <a:r>
              <a:rPr spc="-80" dirty="0"/>
              <a:t> </a:t>
            </a:r>
            <a:r>
              <a:rPr spc="-30" dirty="0"/>
              <a:t>Menüsü-</a:t>
            </a:r>
            <a:r>
              <a:rPr sz="2800" i="1" dirty="0">
                <a:latin typeface="Arial"/>
                <a:cs typeface="Arial"/>
              </a:rPr>
              <a:t>Tam</a:t>
            </a:r>
            <a:r>
              <a:rPr sz="2800" i="1" spc="-4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Ekran</a:t>
            </a:r>
            <a:r>
              <a:rPr sz="2800" i="1" spc="-70" dirty="0">
                <a:latin typeface="Arial"/>
                <a:cs typeface="Arial"/>
              </a:rPr>
              <a:t> </a:t>
            </a:r>
            <a:r>
              <a:rPr sz="2800" i="1" spc="-20" dirty="0">
                <a:latin typeface="Arial"/>
                <a:cs typeface="Arial"/>
              </a:rPr>
              <a:t>Modu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9921" y="1532124"/>
            <a:ext cx="6319520" cy="3816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Tüm</a:t>
            </a:r>
            <a:r>
              <a:rPr sz="24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uygulamalarınızı</a:t>
            </a:r>
            <a:r>
              <a:rPr sz="24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görüntülemek</a:t>
            </a:r>
            <a:r>
              <a:rPr sz="24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sol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üst</a:t>
            </a:r>
            <a:r>
              <a:rPr sz="24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köşedeki</a:t>
            </a:r>
            <a:r>
              <a:rPr sz="2400" spc="3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Tüm</a:t>
            </a:r>
            <a:r>
              <a:rPr sz="2400" b="1" spc="3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uygulamalar</a:t>
            </a:r>
            <a:r>
              <a:rPr sz="2400" b="1" spc="3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simgesine tıklayabilirsiniz.</a:t>
            </a:r>
            <a:endParaRPr sz="2400">
              <a:latin typeface="Microsoft Sans Serif"/>
              <a:cs typeface="Microsoft Sans Serif"/>
            </a:endParaRPr>
          </a:p>
          <a:p>
            <a:pPr marL="350520" indent="-337820" algn="just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Kutucuklarınızı</a:t>
            </a:r>
            <a:r>
              <a:rPr sz="2400" spc="430" dirty="0">
                <a:solidFill>
                  <a:srgbClr val="2C241F"/>
                </a:solidFill>
                <a:latin typeface="Microsoft Sans Serif"/>
                <a:cs typeface="Microsoft Sans Serif"/>
              </a:rPr>
              <a:t>   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görüntülemek</a:t>
            </a:r>
            <a:r>
              <a:rPr sz="24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     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endParaRPr sz="240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Sabitlenmiş</a:t>
            </a:r>
            <a:r>
              <a:rPr sz="2400" b="1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kutucuklar</a:t>
            </a:r>
            <a:r>
              <a:rPr sz="2400" b="1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simgesine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tıklayın.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3152140" algn="l"/>
                <a:tab pos="486537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Başlangıç</a:t>
            </a:r>
            <a:r>
              <a:rPr sz="24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ekranınızı</a:t>
            </a:r>
            <a:r>
              <a:rPr sz="24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gereksinimleriniz</a:t>
            </a:r>
            <a:r>
              <a:rPr sz="24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tercihleriniz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özelleştirip düzenleyebilirsiniz.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7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934" rIns="0" bIns="0" rtlCol="0">
            <a:spAutoFit/>
          </a:bodyPr>
          <a:lstStyle/>
          <a:p>
            <a:pPr marL="466725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Başlat</a:t>
            </a:r>
            <a:r>
              <a:rPr sz="2800" spc="-30" dirty="0"/>
              <a:t> </a:t>
            </a:r>
            <a:r>
              <a:rPr sz="2800" spc="-25" dirty="0"/>
              <a:t>Menüsü-</a:t>
            </a:r>
            <a:r>
              <a:rPr sz="2400" i="1" dirty="0">
                <a:latin typeface="Arial"/>
                <a:cs typeface="Arial"/>
              </a:rPr>
              <a:t>Uygulamaları</a:t>
            </a:r>
            <a:r>
              <a:rPr sz="2400" i="1" spc="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Sabitlemek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ve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Gruplamak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65141" y="1449828"/>
            <a:ext cx="6497320" cy="4834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715" indent="-338455" algn="just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</a:t>
            </a:r>
            <a:r>
              <a:rPr sz="2400" spc="570" dirty="0">
                <a:solidFill>
                  <a:srgbClr val="2C241F"/>
                </a:solidFill>
                <a:latin typeface="Microsoft Sans Serif"/>
                <a:cs typeface="Microsoft Sans Serif"/>
              </a:rPr>
              <a:t>  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listesinde</a:t>
            </a:r>
            <a:r>
              <a:rPr sz="2400" spc="575" dirty="0">
                <a:solidFill>
                  <a:srgbClr val="2C241F"/>
                </a:solidFill>
                <a:latin typeface="Microsoft Sans Serif"/>
                <a:cs typeface="Microsoft Sans Serif"/>
              </a:rPr>
              <a:t>   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Başlangıç'a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sabitlemek</a:t>
            </a:r>
            <a:r>
              <a:rPr sz="24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istediğiniz</a:t>
            </a:r>
            <a:r>
              <a:rPr sz="24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uygulamayı</a:t>
            </a:r>
            <a:r>
              <a:rPr sz="24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bulun,</a:t>
            </a:r>
            <a:r>
              <a:rPr sz="24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sağ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tıklayın</a:t>
            </a:r>
            <a:r>
              <a:rPr sz="24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ardından</a:t>
            </a:r>
            <a:r>
              <a:rPr sz="24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Başlangıç'a</a:t>
            </a:r>
            <a:r>
              <a:rPr sz="2400" b="1" spc="4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sabitle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'yi seçin.</a:t>
            </a:r>
            <a:endParaRPr sz="2400">
              <a:latin typeface="Microsoft Sans Serif"/>
              <a:cs typeface="Microsoft Sans Serif"/>
            </a:endParaRPr>
          </a:p>
          <a:p>
            <a:pPr marL="350520" indent="-337820" algn="just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kutucuğu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konuma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taşımak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endParaRPr sz="2400">
              <a:latin typeface="Microsoft Sans Serif"/>
              <a:cs typeface="Microsoft Sans Serif"/>
            </a:endParaRPr>
          </a:p>
          <a:p>
            <a:pPr marL="350520" algn="just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fareyle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sürükleyin.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09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Kutucuklarınızı</a:t>
            </a:r>
            <a:r>
              <a:rPr sz="24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gruplara</a:t>
            </a:r>
            <a:r>
              <a:rPr sz="2400" spc="3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ayırabilir,</a:t>
            </a:r>
            <a:r>
              <a:rPr sz="2400" spc="3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grupları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düzenleyebilir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gruba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adlar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atayabilirsiniz.</a:t>
            </a:r>
            <a:endParaRPr sz="2400">
              <a:latin typeface="Microsoft Sans Serif"/>
              <a:cs typeface="Microsoft Sans Serif"/>
            </a:endParaRPr>
          </a:p>
          <a:p>
            <a:pPr marL="350520" marR="6350" indent="-338455" algn="just">
              <a:lnSpc>
                <a:spcPct val="120000"/>
              </a:lnSpc>
              <a:spcBef>
                <a:spcPts val="111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grubu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taşımak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başlığına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tıklayın</a:t>
            </a:r>
            <a:r>
              <a:rPr sz="2400" spc="5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grubu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konuma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sürükleyin.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8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75003" y="1479803"/>
            <a:ext cx="3679190" cy="5303520"/>
            <a:chOff x="1175003" y="1479803"/>
            <a:chExt cx="3679190" cy="530352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5003" y="1479803"/>
              <a:ext cx="3678936" cy="29032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0075" y="1674875"/>
              <a:ext cx="3108960" cy="23332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356865" y="2026157"/>
              <a:ext cx="1234440" cy="334010"/>
            </a:xfrm>
            <a:custGeom>
              <a:avLst/>
              <a:gdLst/>
              <a:ahLst/>
              <a:cxnLst/>
              <a:rect l="l" t="t" r="r" b="b"/>
              <a:pathLst>
                <a:path w="1234439" h="334010">
                  <a:moveTo>
                    <a:pt x="0" y="166877"/>
                  </a:moveTo>
                  <a:lnTo>
                    <a:pt x="16301" y="128602"/>
                  </a:lnTo>
                  <a:lnTo>
                    <a:pt x="62737" y="93472"/>
                  </a:lnTo>
                  <a:lnTo>
                    <a:pt x="135600" y="62488"/>
                  </a:lnTo>
                  <a:lnTo>
                    <a:pt x="180784" y="48863"/>
                  </a:lnTo>
                  <a:lnTo>
                    <a:pt x="231185" y="36649"/>
                  </a:lnTo>
                  <a:lnTo>
                    <a:pt x="286341" y="25971"/>
                  </a:lnTo>
                  <a:lnTo>
                    <a:pt x="345788" y="16955"/>
                  </a:lnTo>
                  <a:lnTo>
                    <a:pt x="409062" y="9724"/>
                  </a:lnTo>
                  <a:lnTo>
                    <a:pt x="475701" y="4405"/>
                  </a:lnTo>
                  <a:lnTo>
                    <a:pt x="545241" y="1122"/>
                  </a:lnTo>
                  <a:lnTo>
                    <a:pt x="617219" y="0"/>
                  </a:lnTo>
                  <a:lnTo>
                    <a:pt x="689198" y="1122"/>
                  </a:lnTo>
                  <a:lnTo>
                    <a:pt x="758738" y="4405"/>
                  </a:lnTo>
                  <a:lnTo>
                    <a:pt x="825377" y="9724"/>
                  </a:lnTo>
                  <a:lnTo>
                    <a:pt x="888651" y="16955"/>
                  </a:lnTo>
                  <a:lnTo>
                    <a:pt x="948098" y="25971"/>
                  </a:lnTo>
                  <a:lnTo>
                    <a:pt x="1003254" y="36649"/>
                  </a:lnTo>
                  <a:lnTo>
                    <a:pt x="1053655" y="48863"/>
                  </a:lnTo>
                  <a:lnTo>
                    <a:pt x="1098839" y="62488"/>
                  </a:lnTo>
                  <a:lnTo>
                    <a:pt x="1138343" y="77399"/>
                  </a:lnTo>
                  <a:lnTo>
                    <a:pt x="1198455" y="110581"/>
                  </a:lnTo>
                  <a:lnTo>
                    <a:pt x="1230287" y="147409"/>
                  </a:lnTo>
                  <a:lnTo>
                    <a:pt x="1234439" y="166877"/>
                  </a:lnTo>
                  <a:lnTo>
                    <a:pt x="1230287" y="186346"/>
                  </a:lnTo>
                  <a:lnTo>
                    <a:pt x="1198455" y="223174"/>
                  </a:lnTo>
                  <a:lnTo>
                    <a:pt x="1138343" y="256356"/>
                  </a:lnTo>
                  <a:lnTo>
                    <a:pt x="1098839" y="271267"/>
                  </a:lnTo>
                  <a:lnTo>
                    <a:pt x="1053655" y="284892"/>
                  </a:lnTo>
                  <a:lnTo>
                    <a:pt x="1003254" y="297106"/>
                  </a:lnTo>
                  <a:lnTo>
                    <a:pt x="948098" y="307784"/>
                  </a:lnTo>
                  <a:lnTo>
                    <a:pt x="888651" y="316800"/>
                  </a:lnTo>
                  <a:lnTo>
                    <a:pt x="825377" y="324031"/>
                  </a:lnTo>
                  <a:lnTo>
                    <a:pt x="758738" y="329350"/>
                  </a:lnTo>
                  <a:lnTo>
                    <a:pt x="689198" y="332633"/>
                  </a:lnTo>
                  <a:lnTo>
                    <a:pt x="617219" y="333755"/>
                  </a:lnTo>
                  <a:lnTo>
                    <a:pt x="545241" y="332633"/>
                  </a:lnTo>
                  <a:lnTo>
                    <a:pt x="475701" y="329350"/>
                  </a:lnTo>
                  <a:lnTo>
                    <a:pt x="409062" y="324031"/>
                  </a:lnTo>
                  <a:lnTo>
                    <a:pt x="345788" y="316800"/>
                  </a:lnTo>
                  <a:lnTo>
                    <a:pt x="286341" y="307784"/>
                  </a:lnTo>
                  <a:lnTo>
                    <a:pt x="231185" y="297106"/>
                  </a:lnTo>
                  <a:lnTo>
                    <a:pt x="180784" y="284892"/>
                  </a:lnTo>
                  <a:lnTo>
                    <a:pt x="135600" y="271267"/>
                  </a:lnTo>
                  <a:lnTo>
                    <a:pt x="96096" y="256356"/>
                  </a:lnTo>
                  <a:lnTo>
                    <a:pt x="35984" y="223174"/>
                  </a:lnTo>
                  <a:lnTo>
                    <a:pt x="4152" y="186346"/>
                  </a:lnTo>
                  <a:lnTo>
                    <a:pt x="0" y="166877"/>
                  </a:lnTo>
                  <a:close/>
                </a:path>
              </a:pathLst>
            </a:custGeom>
            <a:ln w="38100">
              <a:solidFill>
                <a:srgbClr val="EBC1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5003" y="4119413"/>
              <a:ext cx="3678936" cy="266382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0075" y="4314443"/>
              <a:ext cx="3108960" cy="20939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5812155">
              <a:lnSpc>
                <a:spcPct val="100000"/>
              </a:lnSpc>
              <a:spcBef>
                <a:spcPts val="95"/>
              </a:spcBef>
            </a:pPr>
            <a:r>
              <a:rPr dirty="0"/>
              <a:t>Görev</a:t>
            </a:r>
            <a:r>
              <a:rPr spc="-100" dirty="0"/>
              <a:t> </a:t>
            </a:r>
            <a:r>
              <a:rPr spc="-10" dirty="0"/>
              <a:t>Çubuğu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9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8900" y="1449828"/>
            <a:ext cx="9672320" cy="2905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Görev</a:t>
            </a:r>
            <a:r>
              <a:rPr sz="2400" b="1" i="1" spc="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çubuğu</a:t>
            </a:r>
            <a:r>
              <a:rPr sz="2400" b="1" i="1" spc="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</a:t>
            </a:r>
            <a:r>
              <a:rPr sz="24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arasında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hızlı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geçiş</a:t>
            </a:r>
            <a:r>
              <a:rPr sz="24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imkanı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vermekte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ekrandan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yönetebilmeyi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sağlamaktadır.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Masaüstünde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çalışırken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hızlı  erişim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uygulamayı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doğrudan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</a:t>
            </a:r>
            <a:r>
              <a:rPr sz="24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çubuğuna</a:t>
            </a:r>
            <a:r>
              <a:rPr sz="24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sabitleyebilir</a:t>
            </a:r>
            <a:r>
              <a:rPr sz="24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400" spc="300" dirty="0">
                <a:solidFill>
                  <a:srgbClr val="2C241F"/>
                </a:solidFill>
                <a:latin typeface="Microsoft Sans Serif"/>
                <a:cs typeface="Microsoft Sans Serif"/>
              </a:rPr>
              <a:t> 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</a:t>
            </a:r>
            <a:r>
              <a:rPr sz="24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 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çubuğundan kaldırabilirsiniz.</a:t>
            </a:r>
            <a:endParaRPr sz="24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65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802005" algn="l"/>
              </a:tabLst>
            </a:pPr>
            <a:r>
              <a:rPr sz="2200" dirty="0">
                <a:solidFill>
                  <a:srgbClr val="2C241F"/>
                </a:solidFill>
                <a:latin typeface="Calibri"/>
                <a:cs typeface="Calibri"/>
              </a:rPr>
              <a:t>Görev</a:t>
            </a:r>
            <a:r>
              <a:rPr sz="2200" spc="34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C241F"/>
                </a:solidFill>
                <a:latin typeface="Calibri"/>
                <a:cs typeface="Calibri"/>
              </a:rPr>
              <a:t>çubuğundaki</a:t>
            </a:r>
            <a:r>
              <a:rPr sz="2200" spc="33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C241F"/>
                </a:solidFill>
                <a:latin typeface="Calibri"/>
                <a:cs typeface="Calibri"/>
              </a:rPr>
              <a:t>açık</a:t>
            </a:r>
            <a:r>
              <a:rPr sz="2200" spc="33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C241F"/>
                </a:solidFill>
                <a:latin typeface="Calibri"/>
                <a:cs typeface="Calibri"/>
              </a:rPr>
              <a:t>uygulamaya</a:t>
            </a:r>
            <a:r>
              <a:rPr sz="2200" spc="35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C241F"/>
                </a:solidFill>
                <a:latin typeface="Calibri"/>
                <a:cs typeface="Calibri"/>
              </a:rPr>
              <a:t>sağ</a:t>
            </a:r>
            <a:r>
              <a:rPr sz="2200" spc="34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C241F"/>
                </a:solidFill>
                <a:latin typeface="Calibri"/>
                <a:cs typeface="Calibri"/>
              </a:rPr>
              <a:t>tıklayın.</a:t>
            </a:r>
            <a:r>
              <a:rPr sz="2200" spc="34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C241F"/>
                </a:solidFill>
                <a:latin typeface="Calibri"/>
                <a:cs typeface="Calibri"/>
              </a:rPr>
              <a:t>Gelen</a:t>
            </a:r>
            <a:r>
              <a:rPr sz="2200" spc="35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C241F"/>
                </a:solidFill>
                <a:latin typeface="Calibri"/>
                <a:cs typeface="Calibri"/>
              </a:rPr>
              <a:t>menüyü</a:t>
            </a:r>
            <a:r>
              <a:rPr sz="2200" spc="34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Calibri"/>
                <a:cs typeface="Calibri"/>
              </a:rPr>
              <a:t>kullanarak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48332" y="4399026"/>
            <a:ext cx="7838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5660" algn="l"/>
                <a:tab pos="1966595" algn="l"/>
                <a:tab pos="3591560" algn="l"/>
                <a:tab pos="4615180" algn="l"/>
                <a:tab pos="6034405" algn="l"/>
                <a:tab pos="7058659" algn="l"/>
                <a:tab pos="7519034" algn="l"/>
              </a:tabLst>
            </a:pPr>
            <a:r>
              <a:rPr sz="2200" spc="-10" dirty="0">
                <a:solidFill>
                  <a:srgbClr val="2C241F"/>
                </a:solidFill>
                <a:latin typeface="Calibri"/>
                <a:cs typeface="Calibri"/>
              </a:rPr>
              <a:t>temel</a:t>
            </a:r>
            <a:r>
              <a:rPr sz="22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Calibri"/>
                <a:cs typeface="Calibri"/>
              </a:rPr>
              <a:t>işlemleri</a:t>
            </a:r>
            <a:r>
              <a:rPr sz="22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Calibri"/>
                <a:cs typeface="Calibri"/>
              </a:rPr>
              <a:t>yapabilirsiniz</a:t>
            </a:r>
            <a:r>
              <a:rPr sz="22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Calibri"/>
                <a:cs typeface="Calibri"/>
              </a:rPr>
              <a:t>(</a:t>
            </a:r>
            <a:r>
              <a:rPr sz="2400" b="1" spc="-10" dirty="0">
                <a:solidFill>
                  <a:srgbClr val="2C241F"/>
                </a:solidFill>
                <a:latin typeface="Calibri"/>
                <a:cs typeface="Calibri"/>
              </a:rPr>
              <a:t>Görev</a:t>
            </a:r>
            <a:r>
              <a:rPr sz="2400" b="1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Calibri"/>
                <a:cs typeface="Calibri"/>
              </a:rPr>
              <a:t>çubuğuna</a:t>
            </a:r>
            <a:r>
              <a:rPr sz="2400" b="1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Calibri"/>
                <a:cs typeface="Calibri"/>
              </a:rPr>
              <a:t>sabitle</a:t>
            </a:r>
            <a:r>
              <a:rPr sz="2400" b="1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Calibri"/>
                <a:cs typeface="Calibri"/>
              </a:rPr>
              <a:t>ya</a:t>
            </a:r>
            <a:r>
              <a:rPr sz="24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Calibri"/>
                <a:cs typeface="Calibri"/>
              </a:rPr>
              <a:t>da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07573" y="4424934"/>
            <a:ext cx="7213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2C241F"/>
                </a:solidFill>
                <a:latin typeface="Calibri"/>
                <a:cs typeface="Calibri"/>
              </a:rPr>
              <a:t>Görev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48332" y="4836109"/>
            <a:ext cx="279908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2C241F"/>
                </a:solidFill>
                <a:latin typeface="Calibri"/>
                <a:cs typeface="Calibri"/>
              </a:rPr>
              <a:t>çubuğundan</a:t>
            </a:r>
            <a:r>
              <a:rPr sz="2200" b="1" spc="-5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2C241F"/>
                </a:solidFill>
                <a:latin typeface="Calibri"/>
                <a:cs typeface="Calibri"/>
              </a:rPr>
              <a:t>kaldır</a:t>
            </a:r>
            <a:r>
              <a:rPr sz="2200" b="1" spc="-4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Calibri"/>
                <a:cs typeface="Calibri"/>
              </a:rPr>
              <a:t>gibi).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455" y="6429755"/>
            <a:ext cx="9753600" cy="2560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4342765">
              <a:lnSpc>
                <a:spcPct val="100000"/>
              </a:lnSpc>
              <a:spcBef>
                <a:spcPts val="95"/>
              </a:spcBef>
            </a:pPr>
            <a:r>
              <a:rPr dirty="0"/>
              <a:t>Görev</a:t>
            </a:r>
            <a:r>
              <a:rPr spc="-55" dirty="0"/>
              <a:t> </a:t>
            </a:r>
            <a:r>
              <a:rPr spc="-25" dirty="0"/>
              <a:t>Çubuğu-</a:t>
            </a:r>
            <a:r>
              <a:rPr sz="2800" i="1" spc="-10" dirty="0">
                <a:latin typeface="Arial"/>
                <a:cs typeface="Arial"/>
              </a:rPr>
              <a:t>Ayarları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10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8180" y="1548765"/>
            <a:ext cx="5541010" cy="4694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7620" indent="-338455" algn="just">
              <a:lnSpc>
                <a:spcPct val="15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</a:t>
            </a:r>
            <a:r>
              <a:rPr sz="24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çubuğunu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istediğiniz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 özelleştirebilirsiniz.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50000"/>
              </a:lnSpc>
              <a:spcBef>
                <a:spcPts val="110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Aynı</a:t>
            </a:r>
            <a:r>
              <a:rPr sz="24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anda</a:t>
            </a:r>
            <a:r>
              <a:rPr sz="24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</a:t>
            </a:r>
            <a:r>
              <a:rPr sz="24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çubuğunun</a:t>
            </a:r>
            <a:r>
              <a:rPr sz="24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birden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çok</a:t>
            </a:r>
            <a:r>
              <a:rPr sz="24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yönünü</a:t>
            </a:r>
            <a:r>
              <a:rPr sz="24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değiştirmek</a:t>
            </a:r>
            <a:r>
              <a:rPr sz="24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istiyorsanız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çubuğu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ayarları’nı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kullanın.</a:t>
            </a:r>
            <a:endParaRPr sz="2400">
              <a:latin typeface="Microsoft Sans Serif"/>
              <a:cs typeface="Microsoft Sans Serif"/>
            </a:endParaRPr>
          </a:p>
          <a:p>
            <a:pPr marL="350520" marR="5715" indent="-338455" algn="just">
              <a:lnSpc>
                <a:spcPct val="150000"/>
              </a:lnSpc>
              <a:spcBef>
                <a:spcPts val="109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</a:t>
            </a:r>
            <a:r>
              <a:rPr sz="2400" spc="35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çubuğunun</a:t>
            </a:r>
            <a:r>
              <a:rPr sz="2400" spc="35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</a:t>
            </a:r>
            <a:r>
              <a:rPr sz="2400" spc="35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sağ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tıklayın</a:t>
            </a:r>
            <a:r>
              <a:rPr sz="24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ardından</a:t>
            </a:r>
            <a:r>
              <a:rPr sz="24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Görev</a:t>
            </a:r>
            <a:r>
              <a:rPr sz="2400" b="1" spc="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çubuğu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ayarları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'nı</a:t>
            </a:r>
            <a:r>
              <a:rPr sz="24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seçin.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04304" y="1586420"/>
            <a:ext cx="4479290" cy="4274820"/>
            <a:chOff x="7004304" y="1586420"/>
            <a:chExt cx="4479290" cy="427482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4304" y="1586420"/>
              <a:ext cx="4479036" cy="427482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9376" y="1781555"/>
              <a:ext cx="3909059" cy="37048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6002655">
              <a:lnSpc>
                <a:spcPct val="100000"/>
              </a:lnSpc>
              <a:spcBef>
                <a:spcPts val="95"/>
              </a:spcBef>
            </a:pPr>
            <a:r>
              <a:rPr dirty="0"/>
              <a:t>İşlem</a:t>
            </a:r>
            <a:r>
              <a:rPr spc="-95" dirty="0"/>
              <a:t> </a:t>
            </a:r>
            <a:r>
              <a:rPr spc="-10" dirty="0"/>
              <a:t>Merkezi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09186" y="1518031"/>
            <a:ext cx="7226934" cy="425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667639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Windows,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bildirim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sağlamak</a:t>
            </a:r>
            <a:r>
              <a:rPr sz="2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İşlem</a:t>
            </a:r>
            <a:r>
              <a:rPr sz="2400" b="1" i="1" spc="-10" dirty="0">
                <a:solidFill>
                  <a:srgbClr val="2C241F"/>
                </a:solidFill>
                <a:latin typeface="Arial"/>
                <a:cs typeface="Arial"/>
              </a:rPr>
              <a:t>  Merkezi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adlı</a:t>
            </a:r>
            <a:r>
              <a:rPr sz="24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</a:t>
            </a:r>
            <a:r>
              <a:rPr sz="2400" spc="3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3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yöntem</a:t>
            </a:r>
            <a:r>
              <a:rPr sz="2400" spc="3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içermektedir.</a:t>
            </a:r>
            <a:r>
              <a:rPr sz="24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Hizmeti</a:t>
            </a:r>
            <a:r>
              <a:rPr sz="24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açmak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5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klavyedeki</a:t>
            </a:r>
            <a:r>
              <a:rPr sz="2400" spc="5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</a:t>
            </a:r>
            <a:r>
              <a:rPr sz="2400" spc="5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logo</a:t>
            </a:r>
            <a:r>
              <a:rPr sz="2400" spc="5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tuşuna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+</a:t>
            </a:r>
            <a:r>
              <a:rPr sz="2400" spc="5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A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basın.</a:t>
            </a:r>
            <a:endParaRPr sz="2400">
              <a:latin typeface="Microsoft Sans Serif"/>
              <a:cs typeface="Microsoft Sans Serif"/>
            </a:endParaRPr>
          </a:p>
          <a:p>
            <a:pPr marL="350520" marR="26034" indent="-338455" algn="just">
              <a:lnSpc>
                <a:spcPct val="1201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Ayrıca</a:t>
            </a:r>
            <a:r>
              <a:rPr sz="24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ekranın</a:t>
            </a:r>
            <a:r>
              <a:rPr sz="24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</a:t>
            </a:r>
            <a:r>
              <a:rPr sz="24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alt</a:t>
            </a:r>
            <a:r>
              <a:rPr sz="24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köşesindeki</a:t>
            </a:r>
            <a:r>
              <a:rPr sz="24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çubuğunda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bulunan</a:t>
            </a:r>
            <a:r>
              <a:rPr sz="24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İşlem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Merkezi</a:t>
            </a:r>
            <a:r>
              <a:rPr sz="2400" spc="580" dirty="0">
                <a:solidFill>
                  <a:srgbClr val="2C241F"/>
                </a:solidFill>
                <a:latin typeface="Microsoft Sans Serif"/>
                <a:cs typeface="Microsoft Sans Serif"/>
              </a:rPr>
              <a:t>   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simgesine tıklayabilirsiniz.</a:t>
            </a:r>
            <a:endParaRPr sz="2400">
              <a:latin typeface="Microsoft Sans Serif"/>
              <a:cs typeface="Microsoft Sans Serif"/>
            </a:endParaRPr>
          </a:p>
          <a:p>
            <a:pPr marL="350520" marR="24130" indent="-338455" algn="just">
              <a:lnSpc>
                <a:spcPct val="120100"/>
              </a:lnSpc>
              <a:spcBef>
                <a:spcPts val="109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İşlem</a:t>
            </a:r>
            <a:r>
              <a:rPr sz="24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merkezinden</a:t>
            </a:r>
            <a:r>
              <a:rPr sz="24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Ayarlar</a:t>
            </a:r>
            <a:r>
              <a:rPr sz="24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uygulamasına</a:t>
            </a:r>
            <a:r>
              <a:rPr sz="24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diğer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ayarlarına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atlayabilirsiniz.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363" y="170179"/>
            <a:ext cx="2495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11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60347" y="1524050"/>
            <a:ext cx="2755900" cy="5334000"/>
            <a:chOff x="1260347" y="1524050"/>
            <a:chExt cx="2755900" cy="53340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0347" y="1524050"/>
              <a:ext cx="2755391" cy="53339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5419" y="1719071"/>
              <a:ext cx="2185416" cy="4954524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9041892" y="2438400"/>
            <a:ext cx="1252855" cy="2045335"/>
            <a:chOff x="9041892" y="2438400"/>
            <a:chExt cx="1252855" cy="204533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0656" y="2438400"/>
              <a:ext cx="473964" cy="5029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41892" y="3907536"/>
              <a:ext cx="576072" cy="5760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2888615">
              <a:lnSpc>
                <a:spcPct val="100000"/>
              </a:lnSpc>
              <a:spcBef>
                <a:spcPts val="95"/>
              </a:spcBef>
            </a:pPr>
            <a:r>
              <a:rPr dirty="0"/>
              <a:t>Masaüstünü</a:t>
            </a:r>
            <a:r>
              <a:rPr spc="-220" dirty="0"/>
              <a:t> </a:t>
            </a:r>
            <a:r>
              <a:rPr spc="-10" dirty="0"/>
              <a:t>Kişiselleştirmek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09877"/>
            <a:ext cx="3988435" cy="1446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>
              <a:lnSpc>
                <a:spcPct val="140100"/>
              </a:lnSpc>
              <a:spcBef>
                <a:spcPts val="9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360805" algn="l"/>
                <a:tab pos="2569845" algn="l"/>
                <a:tab pos="2958465" algn="l"/>
              </a:tabLst>
            </a:pPr>
            <a:r>
              <a:rPr sz="2000" b="1" i="1" spc="-10" dirty="0">
                <a:solidFill>
                  <a:srgbClr val="2C241F"/>
                </a:solidFill>
                <a:latin typeface="Arial"/>
                <a:cs typeface="Arial"/>
              </a:rPr>
              <a:t>Başlat</a:t>
            </a: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i="1" spc="-10" dirty="0">
                <a:solidFill>
                  <a:srgbClr val="2C241F"/>
                </a:solidFill>
                <a:latin typeface="Arial"/>
                <a:cs typeface="Arial"/>
              </a:rPr>
              <a:t>Menüsü</a:t>
            </a: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i="1" spc="-50" dirty="0">
                <a:solidFill>
                  <a:srgbClr val="2C241F"/>
                </a:solidFill>
                <a:latin typeface="Arial"/>
                <a:cs typeface="Arial"/>
              </a:rPr>
              <a:t>–</a:t>
            </a: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i="1" spc="-10" dirty="0">
                <a:solidFill>
                  <a:srgbClr val="2C241F"/>
                </a:solidFill>
                <a:latin typeface="Arial"/>
                <a:cs typeface="Arial"/>
              </a:rPr>
              <a:t>Ayarlar– </a:t>
            </a: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Kişiselleştirme</a:t>
            </a:r>
            <a:r>
              <a:rPr sz="2000" b="1" i="1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endParaRPr sz="20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206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2137410" algn="l"/>
                <a:tab pos="2865755" algn="l"/>
                <a:tab pos="3537585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Masaüstünde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iken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sağ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fare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25417" y="2930499"/>
            <a:ext cx="171196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" marR="5080" indent="-81280">
              <a:lnSpc>
                <a:spcPct val="140100"/>
              </a:lnSpc>
              <a:spcBef>
                <a:spcPts val="95"/>
              </a:spcBef>
              <a:tabLst>
                <a:tab pos="905510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açılan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kısayol "</a:t>
            </a:r>
            <a:r>
              <a:rPr sz="2000" b="1" i="1" spc="-10" dirty="0">
                <a:solidFill>
                  <a:srgbClr val="2C241F"/>
                </a:solidFill>
                <a:latin typeface="Arial"/>
                <a:cs typeface="Arial"/>
              </a:rPr>
              <a:t>Kişiselleştir</a:t>
            </a:r>
            <a:r>
              <a:rPr sz="2000" i="1" spc="-10" dirty="0">
                <a:solidFill>
                  <a:srgbClr val="2C241F"/>
                </a:solidFill>
                <a:latin typeface="Arial"/>
                <a:cs typeface="Arial"/>
              </a:rPr>
              <a:t>"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6508" y="2930499"/>
            <a:ext cx="182372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  <a:tabLst>
                <a:tab pos="990600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tuşuna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basılıp menüsünden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seçeneği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seçilir.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8180" y="4349081"/>
            <a:ext cx="3989070" cy="2160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0" marR="5080" indent="-337185" algn="just">
              <a:lnSpc>
                <a:spcPct val="140100"/>
              </a:lnSpc>
              <a:spcBef>
                <a:spcPts val="1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329055" algn="l"/>
                <a:tab pos="312801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  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pencere</a:t>
            </a:r>
            <a:r>
              <a:rPr sz="20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  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kullanılarak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masasüstü</a:t>
            </a:r>
            <a:r>
              <a:rPr sz="2000" spc="38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38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kilit</a:t>
            </a:r>
            <a:r>
              <a:rPr sz="2000" spc="39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ekranı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arkaplanları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,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renkler</a:t>
            </a:r>
            <a:r>
              <a:rPr sz="20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temalar 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yazıtipleri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ayarları 	yapılabilmektedir.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391911" y="1424901"/>
            <a:ext cx="6091555" cy="5114925"/>
            <a:chOff x="5391911" y="1424901"/>
            <a:chExt cx="6091555" cy="51149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91911" y="1424901"/>
              <a:ext cx="6091428" cy="5114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86983" y="1620011"/>
              <a:ext cx="5521452" cy="454456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12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39" y="0"/>
            <a:ext cx="10436860" cy="6858000"/>
            <a:chOff x="967739" y="0"/>
            <a:chExt cx="10436860" cy="6858000"/>
          </a:xfrm>
        </p:grpSpPr>
        <p:sp>
          <p:nvSpPr>
            <p:cNvPr id="3" name="object 3"/>
            <p:cNvSpPr/>
            <p:nvPr/>
          </p:nvSpPr>
          <p:spPr>
            <a:xfrm>
              <a:off x="967739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76659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84830" y="3099892"/>
            <a:ext cx="833691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dirty="0">
                <a:solidFill>
                  <a:srgbClr val="FFFFFF"/>
                </a:solidFill>
                <a:latin typeface="Microsoft Sans Serif"/>
                <a:cs typeface="Microsoft Sans Serif"/>
              </a:rPr>
              <a:t>PENCERE</a:t>
            </a:r>
            <a:r>
              <a:rPr sz="430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300" spc="1120" dirty="0">
                <a:solidFill>
                  <a:srgbClr val="FFFFFF"/>
                </a:solidFill>
                <a:latin typeface="Microsoft Sans Serif"/>
                <a:cs typeface="Microsoft Sans Serif"/>
              </a:rPr>
              <a:t>–</a:t>
            </a:r>
            <a:r>
              <a:rPr sz="43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300" dirty="0">
                <a:solidFill>
                  <a:srgbClr val="FFFFFF"/>
                </a:solidFill>
                <a:latin typeface="Microsoft Sans Serif"/>
                <a:cs typeface="Microsoft Sans Serif"/>
              </a:rPr>
              <a:t>ÇOKLU</a:t>
            </a:r>
            <a:r>
              <a:rPr sz="43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MASAÜSTÜ</a:t>
            </a:r>
            <a:endParaRPr sz="43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5002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13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171440"/>
            <a:chOff x="1338072" y="1411224"/>
            <a:chExt cx="9813290" cy="517144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2736" y="2720340"/>
              <a:ext cx="6089904" cy="38587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01211" y="2718816"/>
              <a:ext cx="6093460" cy="3862070"/>
            </a:xfrm>
            <a:custGeom>
              <a:avLst/>
              <a:gdLst/>
              <a:ahLst/>
              <a:cxnLst/>
              <a:rect l="l" t="t" r="r" b="b"/>
              <a:pathLst>
                <a:path w="6093459" h="3862070">
                  <a:moveTo>
                    <a:pt x="0" y="3861816"/>
                  </a:moveTo>
                  <a:lnTo>
                    <a:pt x="6092951" y="3861816"/>
                  </a:lnTo>
                  <a:lnTo>
                    <a:pt x="6092951" y="0"/>
                  </a:lnTo>
                  <a:lnTo>
                    <a:pt x="0" y="0"/>
                  </a:lnTo>
                  <a:lnTo>
                    <a:pt x="0" y="3861816"/>
                  </a:lnTo>
                  <a:close/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713359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Pencere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14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7136" y="2581147"/>
            <a:ext cx="148780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795" algn="r">
              <a:lnSpc>
                <a:spcPts val="2039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Sistem</a:t>
            </a:r>
            <a:r>
              <a:rPr sz="18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Menüsü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ts val="2039"/>
              </a:lnSpc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Araç</a:t>
            </a:r>
            <a:r>
              <a:rPr sz="1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Çubuğu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12890" y="2152903"/>
            <a:ext cx="1351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Başlık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 Çubuğu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65185" y="1382880"/>
            <a:ext cx="2895600" cy="114617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Simge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Durumuna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Küçült</a:t>
            </a:r>
            <a:endParaRPr sz="1800">
              <a:latin typeface="Calibri"/>
              <a:cs typeface="Calibri"/>
            </a:endParaRPr>
          </a:p>
          <a:p>
            <a:pPr marL="1715770">
              <a:lnSpc>
                <a:spcPct val="100000"/>
              </a:lnSpc>
              <a:spcBef>
                <a:spcPts val="94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Ekranı</a:t>
            </a:r>
            <a:r>
              <a:rPr sz="18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Kapla</a:t>
            </a:r>
            <a:endParaRPr sz="1800">
              <a:latin typeface="Calibri"/>
              <a:cs typeface="Calibri"/>
            </a:endParaRPr>
          </a:p>
          <a:p>
            <a:pPr marL="1773555">
              <a:lnSpc>
                <a:spcPct val="100000"/>
              </a:lnSpc>
              <a:spcBef>
                <a:spcPts val="455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Kapat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80608" y="4436491"/>
            <a:ext cx="1299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Çalışma</a:t>
            </a:r>
            <a:r>
              <a:rPr sz="18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Alanı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74934" y="4751070"/>
            <a:ext cx="9328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Kaydırma Çubukları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01339" y="1877567"/>
            <a:ext cx="7094220" cy="4654550"/>
            <a:chOff x="3101339" y="1877567"/>
            <a:chExt cx="7094220" cy="4654550"/>
          </a:xfrm>
        </p:grpSpPr>
        <p:sp>
          <p:nvSpPr>
            <p:cNvPr id="16" name="object 16"/>
            <p:cNvSpPr/>
            <p:nvPr/>
          </p:nvSpPr>
          <p:spPr>
            <a:xfrm>
              <a:off x="3855719" y="4989575"/>
              <a:ext cx="601980" cy="647700"/>
            </a:xfrm>
            <a:custGeom>
              <a:avLst/>
              <a:gdLst/>
              <a:ahLst/>
              <a:cxnLst/>
              <a:rect l="l" t="t" r="r" b="b"/>
              <a:pathLst>
                <a:path w="601979" h="647700">
                  <a:moveTo>
                    <a:pt x="601979" y="0"/>
                  </a:moveTo>
                  <a:lnTo>
                    <a:pt x="0" y="0"/>
                  </a:lnTo>
                  <a:lnTo>
                    <a:pt x="0" y="647700"/>
                  </a:lnTo>
                  <a:lnTo>
                    <a:pt x="601979" y="647700"/>
                  </a:lnTo>
                  <a:lnTo>
                    <a:pt x="6019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55719" y="4989575"/>
              <a:ext cx="601980" cy="647700"/>
            </a:xfrm>
            <a:custGeom>
              <a:avLst/>
              <a:gdLst/>
              <a:ahLst/>
              <a:cxnLst/>
              <a:rect l="l" t="t" r="r" b="b"/>
              <a:pathLst>
                <a:path w="601979" h="647700">
                  <a:moveTo>
                    <a:pt x="0" y="647700"/>
                  </a:moveTo>
                  <a:lnTo>
                    <a:pt x="601979" y="647700"/>
                  </a:lnTo>
                  <a:lnTo>
                    <a:pt x="601979" y="0"/>
                  </a:lnTo>
                  <a:lnTo>
                    <a:pt x="0" y="0"/>
                  </a:lnTo>
                  <a:lnTo>
                    <a:pt x="0" y="647700"/>
                  </a:lnTo>
                  <a:close/>
                </a:path>
              </a:pathLst>
            </a:custGeom>
            <a:ln w="152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790944" y="1877567"/>
              <a:ext cx="2797810" cy="955040"/>
            </a:xfrm>
            <a:custGeom>
              <a:avLst/>
              <a:gdLst/>
              <a:ahLst/>
              <a:cxnLst/>
              <a:rect l="l" t="t" r="r" b="b"/>
              <a:pathLst>
                <a:path w="2797809" h="955039">
                  <a:moveTo>
                    <a:pt x="76200" y="878586"/>
                  </a:moveTo>
                  <a:lnTo>
                    <a:pt x="44450" y="878586"/>
                  </a:lnTo>
                  <a:lnTo>
                    <a:pt x="44577" y="609600"/>
                  </a:lnTo>
                  <a:lnTo>
                    <a:pt x="31877" y="609600"/>
                  </a:lnTo>
                  <a:lnTo>
                    <a:pt x="31750" y="878586"/>
                  </a:lnTo>
                  <a:lnTo>
                    <a:pt x="0" y="878586"/>
                  </a:lnTo>
                  <a:lnTo>
                    <a:pt x="38100" y="954786"/>
                  </a:lnTo>
                  <a:lnTo>
                    <a:pt x="69850" y="891286"/>
                  </a:lnTo>
                  <a:lnTo>
                    <a:pt x="76200" y="878586"/>
                  </a:lnTo>
                  <a:close/>
                </a:path>
                <a:path w="2797809" h="955039">
                  <a:moveTo>
                    <a:pt x="2161032" y="655828"/>
                  </a:moveTo>
                  <a:lnTo>
                    <a:pt x="2129282" y="655828"/>
                  </a:lnTo>
                  <a:lnTo>
                    <a:pt x="2129282" y="0"/>
                  </a:lnTo>
                  <a:lnTo>
                    <a:pt x="2116582" y="0"/>
                  </a:lnTo>
                  <a:lnTo>
                    <a:pt x="2116582" y="655828"/>
                  </a:lnTo>
                  <a:lnTo>
                    <a:pt x="2084832" y="655828"/>
                  </a:lnTo>
                  <a:lnTo>
                    <a:pt x="2122932" y="732028"/>
                  </a:lnTo>
                  <a:lnTo>
                    <a:pt x="2154682" y="668528"/>
                  </a:lnTo>
                  <a:lnTo>
                    <a:pt x="2161032" y="655828"/>
                  </a:lnTo>
                  <a:close/>
                </a:path>
                <a:path w="2797809" h="955039">
                  <a:moveTo>
                    <a:pt x="2797810" y="194818"/>
                  </a:moveTo>
                  <a:lnTo>
                    <a:pt x="2418080" y="194818"/>
                  </a:lnTo>
                  <a:lnTo>
                    <a:pt x="2415286" y="197612"/>
                  </a:lnTo>
                  <a:lnTo>
                    <a:pt x="2415286" y="657098"/>
                  </a:lnTo>
                  <a:lnTo>
                    <a:pt x="2383536" y="657098"/>
                  </a:lnTo>
                  <a:lnTo>
                    <a:pt x="2421636" y="733298"/>
                  </a:lnTo>
                  <a:lnTo>
                    <a:pt x="2453386" y="669798"/>
                  </a:lnTo>
                  <a:lnTo>
                    <a:pt x="2459736" y="657098"/>
                  </a:lnTo>
                  <a:lnTo>
                    <a:pt x="2427986" y="657098"/>
                  </a:lnTo>
                  <a:lnTo>
                    <a:pt x="2427986" y="207518"/>
                  </a:lnTo>
                  <a:lnTo>
                    <a:pt x="2797810" y="207518"/>
                  </a:lnTo>
                  <a:lnTo>
                    <a:pt x="2797810" y="201168"/>
                  </a:lnTo>
                  <a:lnTo>
                    <a:pt x="2797810" y="194818"/>
                  </a:lnTo>
                  <a:close/>
                </a:path>
              </a:pathLst>
            </a:custGeom>
            <a:solidFill>
              <a:srgbClr val="EC3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73183" y="2404617"/>
              <a:ext cx="172847" cy="20624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101340" y="2769107"/>
              <a:ext cx="7094220" cy="3763010"/>
            </a:xfrm>
            <a:custGeom>
              <a:avLst/>
              <a:gdLst/>
              <a:ahLst/>
              <a:cxnLst/>
              <a:rect l="l" t="t" r="r" b="b"/>
              <a:pathLst>
                <a:path w="7094220" h="3763009">
                  <a:moveTo>
                    <a:pt x="434721" y="3724656"/>
                  </a:moveTo>
                  <a:lnTo>
                    <a:pt x="422021" y="3718306"/>
                  </a:lnTo>
                  <a:lnTo>
                    <a:pt x="358521" y="3686556"/>
                  </a:lnTo>
                  <a:lnTo>
                    <a:pt x="358521" y="3718306"/>
                  </a:lnTo>
                  <a:lnTo>
                    <a:pt x="0" y="3718306"/>
                  </a:lnTo>
                  <a:lnTo>
                    <a:pt x="0" y="3731006"/>
                  </a:lnTo>
                  <a:lnTo>
                    <a:pt x="358521" y="3731006"/>
                  </a:lnTo>
                  <a:lnTo>
                    <a:pt x="358521" y="3762756"/>
                  </a:lnTo>
                  <a:lnTo>
                    <a:pt x="422021" y="3731006"/>
                  </a:lnTo>
                  <a:lnTo>
                    <a:pt x="434721" y="3724656"/>
                  </a:lnTo>
                  <a:close/>
                </a:path>
                <a:path w="7094220" h="3763009">
                  <a:moveTo>
                    <a:pt x="434721" y="193548"/>
                  </a:moveTo>
                  <a:lnTo>
                    <a:pt x="422021" y="187198"/>
                  </a:lnTo>
                  <a:lnTo>
                    <a:pt x="358521" y="155448"/>
                  </a:lnTo>
                  <a:lnTo>
                    <a:pt x="358521" y="187198"/>
                  </a:lnTo>
                  <a:lnTo>
                    <a:pt x="0" y="187198"/>
                  </a:lnTo>
                  <a:lnTo>
                    <a:pt x="0" y="199898"/>
                  </a:lnTo>
                  <a:lnTo>
                    <a:pt x="358521" y="199898"/>
                  </a:lnTo>
                  <a:lnTo>
                    <a:pt x="358521" y="231648"/>
                  </a:lnTo>
                  <a:lnTo>
                    <a:pt x="422021" y="199898"/>
                  </a:lnTo>
                  <a:lnTo>
                    <a:pt x="434721" y="193548"/>
                  </a:lnTo>
                  <a:close/>
                </a:path>
                <a:path w="7094220" h="3763009">
                  <a:moveTo>
                    <a:pt x="434721" y="38100"/>
                  </a:moveTo>
                  <a:lnTo>
                    <a:pt x="422021" y="31750"/>
                  </a:lnTo>
                  <a:lnTo>
                    <a:pt x="358521" y="0"/>
                  </a:lnTo>
                  <a:lnTo>
                    <a:pt x="358521" y="31750"/>
                  </a:lnTo>
                  <a:lnTo>
                    <a:pt x="7620" y="31750"/>
                  </a:lnTo>
                  <a:lnTo>
                    <a:pt x="7620" y="44450"/>
                  </a:lnTo>
                  <a:lnTo>
                    <a:pt x="358521" y="44450"/>
                  </a:lnTo>
                  <a:lnTo>
                    <a:pt x="358521" y="76200"/>
                  </a:lnTo>
                  <a:lnTo>
                    <a:pt x="422021" y="44450"/>
                  </a:lnTo>
                  <a:lnTo>
                    <a:pt x="434721" y="38100"/>
                  </a:lnTo>
                  <a:close/>
                </a:path>
                <a:path w="7094220" h="3763009">
                  <a:moveTo>
                    <a:pt x="7093966" y="2305558"/>
                  </a:moveTo>
                  <a:lnTo>
                    <a:pt x="6621780" y="2305558"/>
                  </a:lnTo>
                  <a:lnTo>
                    <a:pt x="6621780" y="2273808"/>
                  </a:lnTo>
                  <a:lnTo>
                    <a:pt x="6545580" y="2311908"/>
                  </a:lnTo>
                  <a:lnTo>
                    <a:pt x="6621780" y="2350008"/>
                  </a:lnTo>
                  <a:lnTo>
                    <a:pt x="6621780" y="2318258"/>
                  </a:lnTo>
                  <a:lnTo>
                    <a:pt x="7093966" y="2318258"/>
                  </a:lnTo>
                  <a:lnTo>
                    <a:pt x="7093966" y="2305558"/>
                  </a:lnTo>
                  <a:close/>
                </a:path>
              </a:pathLst>
            </a:custGeom>
            <a:solidFill>
              <a:srgbClr val="EC3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442085" y="6313119"/>
            <a:ext cx="1455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Durum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Çubuğu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381000">
              <a:lnSpc>
                <a:spcPct val="100000"/>
              </a:lnSpc>
              <a:spcBef>
                <a:spcPts val="95"/>
              </a:spcBef>
            </a:pPr>
            <a:r>
              <a:rPr dirty="0"/>
              <a:t>Pencereler</a:t>
            </a:r>
            <a:r>
              <a:rPr spc="-165" dirty="0"/>
              <a:t> </a:t>
            </a:r>
            <a:r>
              <a:rPr dirty="0"/>
              <a:t>Arası</a:t>
            </a:r>
            <a:r>
              <a:rPr spc="-50" dirty="0"/>
              <a:t> </a:t>
            </a:r>
            <a:r>
              <a:rPr dirty="0"/>
              <a:t>Geçiş</a:t>
            </a:r>
            <a:r>
              <a:rPr spc="-50" dirty="0"/>
              <a:t> </a:t>
            </a:r>
            <a:r>
              <a:rPr dirty="0"/>
              <a:t>ve</a:t>
            </a:r>
            <a:r>
              <a:rPr spc="-70" dirty="0"/>
              <a:t> </a:t>
            </a:r>
            <a:r>
              <a:rPr spc="-10" dirty="0"/>
              <a:t>Boyutlandırma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15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8180" y="1581733"/>
            <a:ext cx="95986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91895" algn="l"/>
                <a:tab pos="2059305" algn="l"/>
                <a:tab pos="2996565" algn="l"/>
                <a:tab pos="3621404" algn="l"/>
                <a:tab pos="4335145" algn="l"/>
                <a:tab pos="5161280" algn="l"/>
                <a:tab pos="6224905" algn="l"/>
                <a:tab pos="6625590" algn="l"/>
                <a:tab pos="8197215" algn="l"/>
                <a:tab pos="9020175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aynı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anda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birçok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pencere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çalışmamıza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imkan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tanır.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8180" y="1917573"/>
            <a:ext cx="95961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37005" algn="l"/>
                <a:tab pos="2196465" algn="l"/>
                <a:tab pos="2985770" algn="l"/>
                <a:tab pos="4070985" algn="l"/>
                <a:tab pos="4534535" algn="l"/>
                <a:tab pos="5986780" algn="l"/>
                <a:tab pos="7918450" algn="l"/>
                <a:tab pos="8495665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Pencereler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arası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geçiş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yapmak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pencereleri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boyutlandırmak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aşağıdaki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8180" y="2073086"/>
            <a:ext cx="9594850" cy="4256405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özellikleri</a:t>
            </a:r>
            <a:r>
              <a:rPr sz="20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kullanabilirsiniz;</a:t>
            </a:r>
            <a:endParaRPr sz="2000">
              <a:latin typeface="Microsoft Sans Serif"/>
              <a:cs typeface="Microsoft Sans Serif"/>
            </a:endParaRPr>
          </a:p>
          <a:p>
            <a:pPr marL="624840" indent="-338455">
              <a:lnSpc>
                <a:spcPct val="100000"/>
              </a:lnSpc>
              <a:spcBef>
                <a:spcPts val="1335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624840" algn="l"/>
              </a:tabLst>
            </a:pPr>
            <a:r>
              <a:rPr sz="1900" b="1" i="1" dirty="0">
                <a:solidFill>
                  <a:srgbClr val="2C241F"/>
                </a:solidFill>
                <a:latin typeface="Arial"/>
                <a:cs typeface="Arial"/>
              </a:rPr>
              <a:t>Pencereler</a:t>
            </a:r>
            <a:r>
              <a:rPr sz="1900" b="1" i="1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2C241F"/>
                </a:solidFill>
                <a:latin typeface="Arial"/>
                <a:cs typeface="Arial"/>
              </a:rPr>
              <a:t>arası</a:t>
            </a:r>
            <a:r>
              <a:rPr sz="1900" b="1" i="1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2C241F"/>
                </a:solidFill>
                <a:latin typeface="Arial"/>
                <a:cs typeface="Arial"/>
              </a:rPr>
              <a:t>geçiş:</a:t>
            </a:r>
            <a:r>
              <a:rPr sz="1900" b="1" i="1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Alt+Tab</a:t>
            </a:r>
            <a:endParaRPr sz="1900">
              <a:latin typeface="Microsoft Sans Serif"/>
              <a:cs typeface="Microsoft Sans Serif"/>
            </a:endParaRPr>
          </a:p>
          <a:p>
            <a:pPr marL="624840" indent="-338455">
              <a:lnSpc>
                <a:spcPct val="100000"/>
              </a:lnSpc>
              <a:spcBef>
                <a:spcPts val="1330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624840" algn="l"/>
                <a:tab pos="1910080" algn="l"/>
                <a:tab pos="3072765" algn="l"/>
                <a:tab pos="4170679" algn="l"/>
                <a:tab pos="5539105" algn="l"/>
                <a:tab pos="6311900" algn="l"/>
                <a:tab pos="7520305" algn="l"/>
                <a:tab pos="8404225" algn="l"/>
                <a:tab pos="8853805" algn="l"/>
              </a:tabLst>
            </a:pPr>
            <a:r>
              <a:rPr sz="1900" b="1" i="1" spc="-10" dirty="0">
                <a:solidFill>
                  <a:srgbClr val="2C241F"/>
                </a:solidFill>
                <a:latin typeface="Arial"/>
                <a:cs typeface="Arial"/>
              </a:rPr>
              <a:t>Pencereyi</a:t>
            </a:r>
            <a:r>
              <a:rPr sz="19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1900" b="1" i="1" spc="-10" dirty="0">
                <a:solidFill>
                  <a:srgbClr val="2C241F"/>
                </a:solidFill>
                <a:latin typeface="Arial"/>
                <a:cs typeface="Arial"/>
              </a:rPr>
              <a:t>sallamak</a:t>
            </a:r>
            <a:r>
              <a:rPr sz="19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1900" b="1" i="1" spc="-10" dirty="0">
                <a:solidFill>
                  <a:srgbClr val="2C241F"/>
                </a:solidFill>
                <a:latin typeface="Arial"/>
                <a:cs typeface="Arial"/>
              </a:rPr>
              <a:t>(Shake):</a:t>
            </a:r>
            <a:r>
              <a:rPr sz="19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Pencerenin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başlık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çubuğunu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farenin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sol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tuşunu</a:t>
            </a:r>
            <a:endParaRPr sz="1900">
              <a:latin typeface="Microsoft Sans Serif"/>
              <a:cs typeface="Microsoft Sans Serif"/>
            </a:endParaRPr>
          </a:p>
          <a:p>
            <a:pPr marL="624840">
              <a:lnSpc>
                <a:spcPct val="100000"/>
              </a:lnSpc>
              <a:spcBef>
                <a:spcPts val="229"/>
              </a:spcBef>
            </a:pP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basılı</a:t>
            </a:r>
            <a:r>
              <a:rPr sz="19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tutarak</a:t>
            </a:r>
            <a:r>
              <a:rPr sz="19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sağa</a:t>
            </a:r>
            <a:r>
              <a:rPr sz="19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sola</a:t>
            </a:r>
            <a:r>
              <a:rPr sz="19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</a:t>
            </a:r>
            <a:r>
              <a:rPr sz="19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sallama.</a:t>
            </a:r>
            <a:endParaRPr sz="1900">
              <a:latin typeface="Microsoft Sans Serif"/>
              <a:cs typeface="Microsoft Sans Serif"/>
            </a:endParaRPr>
          </a:p>
          <a:p>
            <a:pPr marL="624840" indent="-338455">
              <a:lnSpc>
                <a:spcPct val="100000"/>
              </a:lnSpc>
              <a:spcBef>
                <a:spcPts val="1335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624840" algn="l"/>
              </a:tabLst>
            </a:pPr>
            <a:r>
              <a:rPr sz="1900" b="1" i="1" dirty="0">
                <a:solidFill>
                  <a:srgbClr val="2C241F"/>
                </a:solidFill>
                <a:latin typeface="Arial"/>
                <a:cs typeface="Arial"/>
              </a:rPr>
              <a:t>Pencereleri</a:t>
            </a:r>
            <a:r>
              <a:rPr sz="1900" b="1" i="1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2C241F"/>
                </a:solidFill>
                <a:latin typeface="Arial"/>
                <a:cs typeface="Arial"/>
              </a:rPr>
              <a:t>hızlı</a:t>
            </a:r>
            <a:r>
              <a:rPr sz="1900" b="1" i="1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2C241F"/>
                </a:solidFill>
                <a:latin typeface="Arial"/>
                <a:cs typeface="Arial"/>
              </a:rPr>
              <a:t>boyutlandırmak</a:t>
            </a:r>
            <a:r>
              <a:rPr sz="1900" b="1" i="1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b="1" i="1" spc="-10" dirty="0">
                <a:solidFill>
                  <a:srgbClr val="2C241F"/>
                </a:solidFill>
                <a:latin typeface="Arial"/>
                <a:cs typeface="Arial"/>
              </a:rPr>
              <a:t>(Snap):</a:t>
            </a:r>
            <a:endParaRPr sz="1900">
              <a:latin typeface="Arial"/>
              <a:cs typeface="Arial"/>
            </a:endParaRPr>
          </a:p>
          <a:p>
            <a:pPr marL="899160" lvl="1" indent="-338455">
              <a:lnSpc>
                <a:spcPct val="100000"/>
              </a:lnSpc>
              <a:spcBef>
                <a:spcPts val="1325"/>
              </a:spcBef>
              <a:buClr>
                <a:srgbClr val="F88556"/>
              </a:buClr>
              <a:buSzPct val="88235"/>
              <a:buFont typeface="Wingdings"/>
              <a:buChar char=""/>
              <a:tabLst>
                <a:tab pos="899160" algn="l"/>
              </a:tabLst>
            </a:pP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Pencere</a:t>
            </a:r>
            <a:r>
              <a:rPr sz="1700" spc="3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ekranın</a:t>
            </a:r>
            <a:r>
              <a:rPr sz="1700" spc="3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en</a:t>
            </a:r>
            <a:r>
              <a:rPr sz="1700" spc="3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sağına</a:t>
            </a:r>
            <a:r>
              <a:rPr sz="17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ya</a:t>
            </a:r>
            <a:r>
              <a:rPr sz="17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1700" spc="3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en</a:t>
            </a:r>
            <a:r>
              <a:rPr sz="1700" spc="3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soluna</a:t>
            </a:r>
            <a:r>
              <a:rPr sz="1700" spc="3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taşınırsa</a:t>
            </a:r>
            <a:r>
              <a:rPr sz="17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pencere</a:t>
            </a:r>
            <a:r>
              <a:rPr sz="1700" spc="3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kendini</a:t>
            </a:r>
            <a:r>
              <a:rPr sz="17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ekranın</a:t>
            </a:r>
            <a:r>
              <a:rPr sz="17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yarısını</a:t>
            </a:r>
            <a:endParaRPr sz="1700">
              <a:latin typeface="Microsoft Sans Serif"/>
              <a:cs typeface="Microsoft Sans Serif"/>
            </a:endParaRPr>
          </a:p>
          <a:p>
            <a:pPr marL="899160">
              <a:lnSpc>
                <a:spcPct val="100000"/>
              </a:lnSpc>
              <a:spcBef>
                <a:spcPts val="209"/>
              </a:spcBef>
            </a:pP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kaplayacak</a:t>
            </a:r>
            <a:r>
              <a:rPr sz="17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1700" spc="-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boyutlandırır.</a:t>
            </a:r>
            <a:endParaRPr sz="1700">
              <a:latin typeface="Microsoft Sans Serif"/>
              <a:cs typeface="Microsoft Sans Serif"/>
            </a:endParaRPr>
          </a:p>
          <a:p>
            <a:pPr marL="899160" lvl="1" indent="-338455">
              <a:lnSpc>
                <a:spcPct val="100000"/>
              </a:lnSpc>
              <a:spcBef>
                <a:spcPts val="1305"/>
              </a:spcBef>
              <a:buClr>
                <a:srgbClr val="F88556"/>
              </a:buClr>
              <a:buSzPct val="88235"/>
              <a:buFont typeface="Wingdings"/>
              <a:buChar char=""/>
              <a:tabLst>
                <a:tab pos="899160" algn="l"/>
              </a:tabLst>
            </a:pP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</a:t>
            </a:r>
            <a:r>
              <a:rPr sz="17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Tuşu</a:t>
            </a:r>
            <a:r>
              <a:rPr sz="17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+</a:t>
            </a:r>
            <a:r>
              <a:rPr sz="1700" spc="-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</a:t>
            </a:r>
            <a:r>
              <a:rPr sz="17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Tuşları</a:t>
            </a:r>
            <a:endParaRPr sz="1700">
              <a:latin typeface="Microsoft Sans Serif"/>
              <a:cs typeface="Microsoft Sans Serif"/>
            </a:endParaRPr>
          </a:p>
          <a:p>
            <a:pPr marL="624840" indent="-338455">
              <a:lnSpc>
                <a:spcPct val="100000"/>
              </a:lnSpc>
              <a:spcBef>
                <a:spcPts val="1300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624840" algn="l"/>
              </a:tabLst>
            </a:pPr>
            <a:r>
              <a:rPr sz="1900" b="1" i="1" dirty="0">
                <a:solidFill>
                  <a:srgbClr val="2C241F"/>
                </a:solidFill>
                <a:latin typeface="Arial"/>
                <a:cs typeface="Arial"/>
              </a:rPr>
              <a:t>Pencere</a:t>
            </a:r>
            <a:r>
              <a:rPr sz="1900" b="1" i="1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2C241F"/>
                </a:solidFill>
                <a:latin typeface="Arial"/>
                <a:cs typeface="Arial"/>
              </a:rPr>
              <a:t>büyüklüğünü</a:t>
            </a:r>
            <a:r>
              <a:rPr sz="1900" b="1" i="1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2C241F"/>
                </a:solidFill>
                <a:latin typeface="Arial"/>
                <a:cs typeface="Arial"/>
              </a:rPr>
              <a:t>ayarlamak:</a:t>
            </a:r>
            <a:r>
              <a:rPr sz="1900" b="1" i="1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Pencere</a:t>
            </a:r>
            <a:r>
              <a:rPr sz="19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kenarlıklarından 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sürükleyerek</a:t>
            </a:r>
            <a:endParaRPr sz="1900">
              <a:latin typeface="Microsoft Sans Serif"/>
              <a:cs typeface="Microsoft Sans Serif"/>
            </a:endParaRPr>
          </a:p>
          <a:p>
            <a:pPr marL="624840" indent="-338455">
              <a:lnSpc>
                <a:spcPct val="100000"/>
              </a:lnSpc>
              <a:spcBef>
                <a:spcPts val="1325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624840" algn="l"/>
              </a:tabLst>
            </a:pPr>
            <a:r>
              <a:rPr sz="1900" b="1" i="1" dirty="0">
                <a:solidFill>
                  <a:srgbClr val="2C241F"/>
                </a:solidFill>
                <a:latin typeface="Arial"/>
                <a:cs typeface="Arial"/>
              </a:rPr>
              <a:t>Pencereleri</a:t>
            </a:r>
            <a:r>
              <a:rPr sz="1900" b="1" i="1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b="1" i="1" dirty="0">
                <a:solidFill>
                  <a:srgbClr val="2C241F"/>
                </a:solidFill>
                <a:latin typeface="Arial"/>
                <a:cs typeface="Arial"/>
              </a:rPr>
              <a:t>taşımak:</a:t>
            </a:r>
            <a:r>
              <a:rPr sz="1900" b="1" i="1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Başlık</a:t>
            </a:r>
            <a:r>
              <a:rPr sz="19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900" dirty="0">
                <a:solidFill>
                  <a:srgbClr val="2C241F"/>
                </a:solidFill>
                <a:latin typeface="Microsoft Sans Serif"/>
                <a:cs typeface="Microsoft Sans Serif"/>
              </a:rPr>
              <a:t>çubuğundan </a:t>
            </a:r>
            <a:r>
              <a:rPr sz="19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sürükleyerek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0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5502275">
              <a:lnSpc>
                <a:spcPct val="100000"/>
              </a:lnSpc>
              <a:spcBef>
                <a:spcPts val="95"/>
              </a:spcBef>
            </a:pPr>
            <a:r>
              <a:rPr dirty="0"/>
              <a:t>Çoklu</a:t>
            </a:r>
            <a:r>
              <a:rPr spc="-85" dirty="0"/>
              <a:t> </a:t>
            </a:r>
            <a:r>
              <a:rPr spc="-10" dirty="0"/>
              <a:t>Masaüstü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6888"/>
            <a:ext cx="9580880" cy="3158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Windows'da</a:t>
            </a:r>
            <a:r>
              <a:rPr sz="24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uygulamalarınızı</a:t>
            </a:r>
            <a:r>
              <a:rPr sz="24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size</a:t>
            </a:r>
            <a:r>
              <a:rPr sz="24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en</a:t>
            </a:r>
            <a:r>
              <a:rPr sz="24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uygun</a:t>
            </a:r>
            <a:r>
              <a:rPr sz="24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24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gruplar</a:t>
            </a:r>
            <a:r>
              <a:rPr sz="24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halinde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düzenlemek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</a:t>
            </a:r>
            <a:r>
              <a:rPr sz="2400" spc="-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sanal</a:t>
            </a:r>
            <a:r>
              <a:rPr sz="2400" spc="-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masaüstleri</a:t>
            </a:r>
            <a:r>
              <a:rPr sz="2400" spc="-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oluşturabilirsiniz.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50000"/>
              </a:lnSpc>
              <a:spcBef>
                <a:spcPts val="88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3968750" algn="l"/>
                <a:tab pos="5955030" algn="l"/>
                <a:tab pos="849884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Sanal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masaüstü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eklemek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için</a:t>
            </a:r>
            <a:r>
              <a:rPr sz="24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Görev</a:t>
            </a:r>
            <a:r>
              <a:rPr sz="2400" b="1" i="1" spc="25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2C241F"/>
                </a:solidFill>
                <a:latin typeface="Arial"/>
                <a:cs typeface="Arial"/>
              </a:rPr>
              <a:t>Görünümü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öğesine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ardından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Yeni</a:t>
            </a:r>
            <a:r>
              <a:rPr sz="2400" b="1" i="1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2C241F"/>
                </a:solidFill>
                <a:latin typeface="Arial"/>
                <a:cs typeface="Arial"/>
              </a:rPr>
              <a:t>masaüstü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öğesine</a:t>
            </a:r>
            <a:r>
              <a:rPr sz="2400" spc="-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tıklayın.</a:t>
            </a:r>
            <a:endParaRPr sz="24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88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282065" algn="l"/>
                <a:tab pos="2995295" algn="l"/>
                <a:tab pos="4333240" algn="l"/>
                <a:tab pos="5197475" algn="l"/>
                <a:tab pos="6418580" algn="l"/>
                <a:tab pos="7028180" algn="l"/>
                <a:tab pos="806132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Sanal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masaüstleri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arasında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geçiş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yapmak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b="1" i="1" spc="-10" dirty="0">
                <a:solidFill>
                  <a:srgbClr val="2C241F"/>
                </a:solidFill>
                <a:latin typeface="Arial"/>
                <a:cs typeface="Arial"/>
              </a:rPr>
              <a:t>Görev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i="1" spc="-10" dirty="0">
                <a:solidFill>
                  <a:srgbClr val="2C241F"/>
                </a:solidFill>
                <a:latin typeface="Arial"/>
                <a:cs typeface="Arial"/>
              </a:rPr>
              <a:t>görünümü</a:t>
            </a:r>
            <a:endParaRPr sz="2400">
              <a:latin typeface="Arial"/>
              <a:cs typeface="Arial"/>
            </a:endParaRPr>
          </a:p>
          <a:p>
            <a:pPr marL="35052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öğesini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tekrar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seçin.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0136" y="21285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503919" y="2278379"/>
            <a:ext cx="1668780" cy="1370330"/>
            <a:chOff x="8503919" y="2278379"/>
            <a:chExt cx="1668780" cy="137033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03919" y="2278379"/>
              <a:ext cx="1668779" cy="137007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98991" y="2473451"/>
              <a:ext cx="1098803" cy="80010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5577840" y="3046412"/>
            <a:ext cx="2148840" cy="1024890"/>
            <a:chOff x="5577840" y="3046412"/>
            <a:chExt cx="2148840" cy="102489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7840" y="3046412"/>
              <a:ext cx="2148713" cy="102444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72912" y="3241547"/>
              <a:ext cx="1578864" cy="454151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2926079" y="4648225"/>
            <a:ext cx="7470775" cy="2100580"/>
            <a:chOff x="2926079" y="4648225"/>
            <a:chExt cx="7470775" cy="210058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26079" y="4648225"/>
              <a:ext cx="7470648" cy="21000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21151" y="4843272"/>
              <a:ext cx="6900672" cy="153009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3658235">
              <a:lnSpc>
                <a:spcPct val="100000"/>
              </a:lnSpc>
              <a:spcBef>
                <a:spcPts val="95"/>
              </a:spcBef>
            </a:pPr>
            <a:r>
              <a:rPr dirty="0"/>
              <a:t>Çoklu</a:t>
            </a:r>
            <a:r>
              <a:rPr spc="-10" dirty="0"/>
              <a:t> </a:t>
            </a:r>
            <a:r>
              <a:rPr spc="-25" dirty="0"/>
              <a:t>Masaüstü-</a:t>
            </a:r>
            <a:r>
              <a:rPr sz="2800" i="1" spc="-10" dirty="0">
                <a:latin typeface="Arial"/>
                <a:cs typeface="Arial"/>
              </a:rPr>
              <a:t>Kısayollar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9535" y="3328745"/>
            <a:ext cx="9671050" cy="312864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34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1155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</a:t>
            </a:r>
            <a:r>
              <a:rPr sz="20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sanal</a:t>
            </a:r>
            <a:r>
              <a:rPr sz="20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masaüstü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oluşturmak</a:t>
            </a:r>
            <a:r>
              <a:rPr sz="20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Windows</a:t>
            </a:r>
            <a:r>
              <a:rPr sz="2000" b="1" spc="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+</a:t>
            </a:r>
            <a:r>
              <a:rPr sz="2000" b="1" spc="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CTRL</a:t>
            </a:r>
            <a:r>
              <a:rPr sz="2000" b="1" spc="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+</a:t>
            </a:r>
            <a:r>
              <a:rPr sz="2000" b="1" spc="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D</a:t>
            </a:r>
            <a:r>
              <a:rPr sz="2000" b="1" spc="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klavye</a:t>
            </a:r>
            <a:r>
              <a:rPr sz="20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kısayolunu</a:t>
            </a:r>
            <a:endParaRPr sz="2000">
              <a:latin typeface="Microsoft Sans Serif"/>
              <a:cs typeface="Microsoft Sans Serif"/>
            </a:endParaRPr>
          </a:p>
          <a:p>
            <a:pPr marL="351155">
              <a:lnSpc>
                <a:spcPct val="100000"/>
              </a:lnSpc>
              <a:spcBef>
                <a:spcPts val="24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kullanın.</a:t>
            </a:r>
            <a:endParaRPr sz="2000">
              <a:latin typeface="Microsoft Sans Serif"/>
              <a:cs typeface="Microsoft Sans Serif"/>
            </a:endParaRPr>
          </a:p>
          <a:p>
            <a:pPr marL="351155" indent="-338455">
              <a:lnSpc>
                <a:spcPct val="100000"/>
              </a:lnSpc>
              <a:spcBef>
                <a:spcPts val="134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1155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Sanal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masaüstleri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arasında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geçiş</a:t>
            </a:r>
            <a:r>
              <a:rPr sz="20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yapmak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Windows</a:t>
            </a:r>
            <a:r>
              <a:rPr sz="2000" b="1" spc="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+</a:t>
            </a:r>
            <a:r>
              <a:rPr sz="2000" b="1" spc="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CTRL</a:t>
            </a:r>
            <a:r>
              <a:rPr sz="2000" b="1" spc="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+</a:t>
            </a:r>
            <a:r>
              <a:rPr sz="2000" b="1" spc="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Sol</a:t>
            </a:r>
            <a:r>
              <a:rPr sz="2000" b="1" spc="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yön</a:t>
            </a:r>
            <a:r>
              <a:rPr sz="2000" b="1" spc="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2C241F"/>
                </a:solidFill>
                <a:latin typeface="Arial"/>
                <a:cs typeface="Arial"/>
              </a:rPr>
              <a:t>tuşu</a:t>
            </a:r>
            <a:endParaRPr sz="2000">
              <a:latin typeface="Arial"/>
              <a:cs typeface="Arial"/>
            </a:endParaRPr>
          </a:p>
          <a:p>
            <a:pPr marL="351155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Windows</a:t>
            </a:r>
            <a:r>
              <a:rPr sz="2000" b="1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+</a:t>
            </a:r>
            <a:r>
              <a:rPr sz="2000" b="1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CTRL</a:t>
            </a:r>
            <a:r>
              <a:rPr sz="2000" b="1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+</a:t>
            </a:r>
            <a:r>
              <a:rPr sz="2000" b="1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Sağ</a:t>
            </a:r>
            <a:r>
              <a:rPr sz="2000" b="1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yön</a:t>
            </a:r>
            <a:r>
              <a:rPr sz="2000" b="1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tuşunu</a:t>
            </a:r>
            <a:r>
              <a:rPr sz="2000" b="1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kullanın.</a:t>
            </a:r>
            <a:endParaRPr sz="2000">
              <a:latin typeface="Microsoft Sans Serif"/>
              <a:cs typeface="Microsoft Sans Serif"/>
            </a:endParaRPr>
          </a:p>
          <a:p>
            <a:pPr marL="351155" marR="5715" indent="-339090">
              <a:lnSpc>
                <a:spcPct val="110000"/>
              </a:lnSpc>
              <a:spcBef>
                <a:spcPts val="109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1155" algn="l"/>
                <a:tab pos="992505" algn="l"/>
                <a:tab pos="1732914" algn="l"/>
                <a:tab pos="3364229" algn="l"/>
                <a:tab pos="4344035" algn="l"/>
                <a:tab pos="4857750" algn="l"/>
                <a:tab pos="6104890" algn="l"/>
                <a:tab pos="6386830" algn="l"/>
                <a:tab pos="6953250" algn="l"/>
                <a:tab pos="8300720" algn="l"/>
              </a:tabLst>
            </a:pP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Tüm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sanal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masaüstlerini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görmek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Windows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50" dirty="0">
                <a:solidFill>
                  <a:srgbClr val="2C241F"/>
                </a:solidFill>
                <a:latin typeface="Arial"/>
                <a:cs typeface="Arial"/>
              </a:rPr>
              <a:t>+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25" dirty="0">
                <a:solidFill>
                  <a:srgbClr val="2C241F"/>
                </a:solidFill>
                <a:latin typeface="Arial"/>
                <a:cs typeface="Arial"/>
              </a:rPr>
              <a:t>Tab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kısayolunu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kullanmanız yeterli.</a:t>
            </a:r>
            <a:endParaRPr sz="2000">
              <a:latin typeface="Microsoft Sans Serif"/>
              <a:cs typeface="Microsoft Sans Serif"/>
            </a:endParaRPr>
          </a:p>
          <a:p>
            <a:pPr marL="351155" indent="-338455">
              <a:lnSpc>
                <a:spcPct val="100000"/>
              </a:lnSpc>
              <a:spcBef>
                <a:spcPts val="134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1155" algn="l"/>
                <a:tab pos="1083945" algn="l"/>
                <a:tab pos="1858010" algn="l"/>
                <a:tab pos="3408679" algn="l"/>
                <a:tab pos="4678045" algn="l"/>
                <a:tab pos="5224780" algn="l"/>
                <a:tab pos="6505575" algn="l"/>
                <a:tab pos="6821170" algn="l"/>
                <a:tab pos="7661909" algn="l"/>
                <a:tab pos="7978140" algn="l"/>
                <a:tab pos="8442960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sanal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masaüstünü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kapatmak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Windows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50" dirty="0">
                <a:solidFill>
                  <a:srgbClr val="2C241F"/>
                </a:solidFill>
                <a:latin typeface="Arial"/>
                <a:cs typeface="Arial"/>
              </a:rPr>
              <a:t>+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20" dirty="0">
                <a:solidFill>
                  <a:srgbClr val="2C241F"/>
                </a:solidFill>
                <a:latin typeface="Arial"/>
                <a:cs typeface="Arial"/>
              </a:rPr>
              <a:t>CTRL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50" dirty="0">
                <a:solidFill>
                  <a:srgbClr val="2C241F"/>
                </a:solidFill>
                <a:latin typeface="Arial"/>
                <a:cs typeface="Arial"/>
              </a:rPr>
              <a:t>+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25" dirty="0">
                <a:solidFill>
                  <a:srgbClr val="2C241F"/>
                </a:solidFill>
                <a:latin typeface="Arial"/>
                <a:cs typeface="Arial"/>
              </a:rPr>
              <a:t>F4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kısayolunu</a:t>
            </a:r>
            <a:endParaRPr sz="2000">
              <a:latin typeface="Microsoft Sans Serif"/>
              <a:cs typeface="Microsoft Sans Serif"/>
            </a:endParaRPr>
          </a:p>
          <a:p>
            <a:pPr marL="351155">
              <a:lnSpc>
                <a:spcPct val="100000"/>
              </a:lnSpc>
              <a:spcBef>
                <a:spcPts val="24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kullanın.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0136" y="212852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FFFFFF"/>
                </a:solidFill>
                <a:latin typeface="Calibri"/>
                <a:cs typeface="Calibri"/>
              </a:rPr>
              <a:t>17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886455" y="1437132"/>
            <a:ext cx="7470775" cy="2100580"/>
            <a:chOff x="2886455" y="1437132"/>
            <a:chExt cx="7470775" cy="210058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6455" y="1437132"/>
              <a:ext cx="7470648" cy="21000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1527" y="1632204"/>
              <a:ext cx="6900672" cy="15300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39" y="0"/>
            <a:ext cx="10436860" cy="6858000"/>
            <a:chOff x="967739" y="0"/>
            <a:chExt cx="10436860" cy="6858000"/>
          </a:xfrm>
        </p:grpSpPr>
        <p:sp>
          <p:nvSpPr>
            <p:cNvPr id="3" name="object 3"/>
            <p:cNvSpPr/>
            <p:nvPr/>
          </p:nvSpPr>
          <p:spPr>
            <a:xfrm>
              <a:off x="967739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76659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38070" y="3080080"/>
            <a:ext cx="90811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SÜRÜCÜ</a:t>
            </a:r>
            <a:r>
              <a:rPr sz="54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54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DOSYA</a:t>
            </a:r>
            <a:r>
              <a:rPr sz="5400" spc="-2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sz="54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KLASÖR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18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5837555">
              <a:lnSpc>
                <a:spcPct val="100000"/>
              </a:lnSpc>
              <a:spcBef>
                <a:spcPts val="95"/>
              </a:spcBef>
            </a:pPr>
            <a:r>
              <a:rPr dirty="0"/>
              <a:t>Sürücü</a:t>
            </a:r>
            <a:r>
              <a:rPr spc="-80" dirty="0"/>
              <a:t> </a:t>
            </a:r>
            <a:r>
              <a:rPr spc="-10" dirty="0"/>
              <a:t>Nedir?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85721"/>
            <a:ext cx="6682740" cy="1304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Dosya</a:t>
            </a:r>
            <a:r>
              <a:rPr sz="2000" spc="-9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ve</a:t>
            </a:r>
            <a:r>
              <a:rPr sz="2000" spc="-6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klasörlerin</a:t>
            </a:r>
            <a:r>
              <a:rPr sz="2000" spc="-5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saklanabileceği</a:t>
            </a:r>
            <a:r>
              <a:rPr sz="2000" spc="-6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fiziksel</a:t>
            </a:r>
            <a:r>
              <a:rPr sz="2000" spc="-6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ortamlardır.</a:t>
            </a:r>
            <a:endParaRPr sz="2000">
              <a:latin typeface="Calibri"/>
              <a:cs typeface="Calibri"/>
            </a:endParaRPr>
          </a:p>
          <a:p>
            <a:pPr marL="337820" marR="47625" lvl="1" indent="-337820" algn="r">
              <a:lnSpc>
                <a:spcPct val="100000"/>
              </a:lnSpc>
              <a:spcBef>
                <a:spcPts val="1570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337820" algn="l"/>
              </a:tabLst>
            </a:pPr>
            <a:r>
              <a:rPr sz="1800" dirty="0">
                <a:solidFill>
                  <a:srgbClr val="2C241F"/>
                </a:solidFill>
                <a:latin typeface="Calibri"/>
                <a:cs typeface="Calibri"/>
              </a:rPr>
              <a:t>Sabit</a:t>
            </a:r>
            <a:r>
              <a:rPr sz="1800" spc="-4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41F"/>
                </a:solidFill>
                <a:latin typeface="Calibri"/>
                <a:cs typeface="Calibri"/>
              </a:rPr>
              <a:t>disk,</a:t>
            </a:r>
            <a:r>
              <a:rPr sz="1800" spc="-5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41F"/>
                </a:solidFill>
                <a:latin typeface="Calibri"/>
                <a:cs typeface="Calibri"/>
              </a:rPr>
              <a:t>CD/DVD</a:t>
            </a:r>
            <a:r>
              <a:rPr sz="1800" spc="-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41F"/>
                </a:solidFill>
                <a:latin typeface="Calibri"/>
                <a:cs typeface="Calibri"/>
              </a:rPr>
              <a:t>ROM</a:t>
            </a:r>
            <a:r>
              <a:rPr sz="1800" spc="-5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41F"/>
                </a:solidFill>
                <a:latin typeface="Calibri"/>
                <a:cs typeface="Calibri"/>
              </a:rPr>
              <a:t>sürücüsü,</a:t>
            </a:r>
            <a:r>
              <a:rPr sz="1800" spc="-4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41F"/>
                </a:solidFill>
                <a:latin typeface="Calibri"/>
                <a:cs typeface="Calibri"/>
              </a:rPr>
              <a:t>hafıza</a:t>
            </a:r>
            <a:r>
              <a:rPr sz="1800" spc="-5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41F"/>
                </a:solidFill>
                <a:latin typeface="Calibri"/>
                <a:cs typeface="Calibri"/>
              </a:rPr>
              <a:t>kartı,</a:t>
            </a:r>
            <a:r>
              <a:rPr sz="1800" spc="-3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41F"/>
                </a:solidFill>
                <a:latin typeface="Calibri"/>
                <a:cs typeface="Calibri"/>
              </a:rPr>
              <a:t>USB</a:t>
            </a:r>
            <a:r>
              <a:rPr sz="1800" spc="-5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41F"/>
                </a:solidFill>
                <a:latin typeface="Calibri"/>
                <a:cs typeface="Calibri"/>
              </a:rPr>
              <a:t>bellek</a:t>
            </a:r>
            <a:r>
              <a:rPr sz="1800" spc="-4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Calibri"/>
                <a:cs typeface="Calibri"/>
              </a:rPr>
              <a:t>gibi.</a:t>
            </a:r>
            <a:endParaRPr sz="1800">
              <a:latin typeface="Calibri"/>
              <a:cs typeface="Calibri"/>
            </a:endParaRPr>
          </a:p>
          <a:p>
            <a:pPr marL="337820" marR="5080" indent="-337820" algn="r">
              <a:lnSpc>
                <a:spcPct val="100000"/>
              </a:lnSpc>
              <a:spcBef>
                <a:spcPts val="154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37820" algn="l"/>
                <a:tab pos="1273810" algn="l"/>
                <a:tab pos="2330450" algn="l"/>
                <a:tab pos="3526790" algn="l"/>
                <a:tab pos="4322445" algn="l"/>
                <a:tab pos="4962525" algn="l"/>
                <a:tab pos="5747385" algn="l"/>
                <a:tab pos="6235065" algn="l"/>
              </a:tabLst>
            </a:pPr>
            <a:r>
              <a:rPr sz="2000" b="1" spc="-10" dirty="0">
                <a:solidFill>
                  <a:srgbClr val="2C241F"/>
                </a:solidFill>
                <a:latin typeface="Calibri"/>
                <a:cs typeface="Calibri"/>
              </a:rPr>
              <a:t>Sürücü</a:t>
            </a:r>
            <a:r>
              <a:rPr sz="2000" b="1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Calibri"/>
                <a:cs typeface="Calibri"/>
              </a:rPr>
              <a:t>İsimleri:</a:t>
            </a:r>
            <a:r>
              <a:rPr sz="2000" b="1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Sürücüler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Calibri"/>
                <a:cs typeface="Calibri"/>
              </a:rPr>
              <a:t>A’dan</a:t>
            </a:r>
            <a:r>
              <a:rPr sz="2000" b="1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b="1" spc="-20" dirty="0">
                <a:solidFill>
                  <a:srgbClr val="2C241F"/>
                </a:solidFill>
                <a:latin typeface="Calibri"/>
                <a:cs typeface="Calibri"/>
              </a:rPr>
              <a:t>Z’ye</a:t>
            </a:r>
            <a:r>
              <a:rPr sz="2000" b="1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kadar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Calibri"/>
                <a:cs typeface="Calibri"/>
              </a:rPr>
              <a:t>bir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Calibri"/>
                <a:cs typeface="Calibri"/>
              </a:rPr>
              <a:t>harf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13166" y="2559812"/>
            <a:ext cx="27127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61645" algn="l"/>
                <a:tab pos="2094230" algn="l"/>
                <a:tab pos="2457450" algn="l"/>
              </a:tabLst>
            </a:pPr>
            <a:r>
              <a:rPr sz="2000" spc="-25" dirty="0">
                <a:solidFill>
                  <a:srgbClr val="2C241F"/>
                </a:solidFill>
                <a:latin typeface="Calibri"/>
                <a:cs typeface="Calibri"/>
              </a:rPr>
              <a:t>ile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adlandırılırlar.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b="1" spc="-50" dirty="0">
                <a:solidFill>
                  <a:srgbClr val="2C241F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b="1" spc="-25" dirty="0">
                <a:solidFill>
                  <a:srgbClr val="2C241F"/>
                </a:solidFill>
                <a:latin typeface="Calibri"/>
                <a:cs typeface="Calibri"/>
              </a:rPr>
              <a:t>ve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8180" y="2865597"/>
            <a:ext cx="9582785" cy="21348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0520">
              <a:lnSpc>
                <a:spcPct val="100000"/>
              </a:lnSpc>
              <a:spcBef>
                <a:spcPts val="575"/>
              </a:spcBef>
              <a:tabLst>
                <a:tab pos="636905" algn="l"/>
                <a:tab pos="1496695" algn="l"/>
                <a:tab pos="2269490" algn="l"/>
                <a:tab pos="3366770" algn="l"/>
                <a:tab pos="4214495" algn="l"/>
                <a:tab pos="5369560" algn="l"/>
                <a:tab pos="6184900" algn="l"/>
                <a:tab pos="7241540" algn="l"/>
                <a:tab pos="8081009" algn="l"/>
                <a:tab pos="9043035" algn="l"/>
              </a:tabLst>
            </a:pPr>
            <a:r>
              <a:rPr sz="2000" b="1" spc="-50" dirty="0">
                <a:solidFill>
                  <a:srgbClr val="2C241F"/>
                </a:solidFill>
                <a:latin typeface="Calibri"/>
                <a:cs typeface="Calibri"/>
              </a:rPr>
              <a:t>B</a:t>
            </a:r>
            <a:r>
              <a:rPr sz="2000" b="1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sadece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Calibri"/>
                <a:cs typeface="Calibri"/>
              </a:rPr>
              <a:t>disket</a:t>
            </a:r>
            <a:r>
              <a:rPr sz="2000" b="1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Calibri"/>
                <a:cs typeface="Calibri"/>
              </a:rPr>
              <a:t>sürücüye</a:t>
            </a:r>
            <a:r>
              <a:rPr sz="2000" b="1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verilen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harflerdir.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Bunun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dışındaki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harfler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sırasıyla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diğer</a:t>
            </a:r>
            <a:endParaRPr sz="2000">
              <a:latin typeface="Calibri"/>
              <a:cs typeface="Calibri"/>
            </a:endParaRPr>
          </a:p>
          <a:p>
            <a:pPr marL="35052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sürücülere</a:t>
            </a:r>
            <a:r>
              <a:rPr sz="2000" spc="-9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verilir.</a:t>
            </a:r>
            <a:endParaRPr sz="2000">
              <a:latin typeface="Calibri"/>
              <a:cs typeface="Calibri"/>
            </a:endParaRPr>
          </a:p>
          <a:p>
            <a:pPr marL="350520" indent="-337820">
              <a:lnSpc>
                <a:spcPct val="100000"/>
              </a:lnSpc>
              <a:spcBef>
                <a:spcPts val="158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Harften</a:t>
            </a:r>
            <a:r>
              <a:rPr sz="2000" spc="-3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sonra</a:t>
            </a:r>
            <a:r>
              <a:rPr sz="2000" spc="-5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C241F"/>
                </a:solidFill>
                <a:latin typeface="Calibri"/>
                <a:cs typeface="Calibri"/>
              </a:rPr>
              <a:t>iki</a:t>
            </a:r>
            <a:r>
              <a:rPr sz="2000" b="1" spc="-5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C241F"/>
                </a:solidFill>
                <a:latin typeface="Calibri"/>
                <a:cs typeface="Calibri"/>
              </a:rPr>
              <a:t>nokta</a:t>
            </a:r>
            <a:r>
              <a:rPr sz="2000" b="1" spc="-6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C241F"/>
                </a:solidFill>
                <a:latin typeface="Calibri"/>
                <a:cs typeface="Calibri"/>
              </a:rPr>
              <a:t>(:)</a:t>
            </a:r>
            <a:r>
              <a:rPr sz="2000" b="1" spc="-5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işareti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Calibri"/>
                <a:cs typeface="Calibri"/>
              </a:rPr>
              <a:t>kullanılır.</a:t>
            </a:r>
            <a:r>
              <a:rPr sz="2000" spc="-4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C241F"/>
                </a:solidFill>
                <a:latin typeface="Calibri"/>
                <a:cs typeface="Calibri"/>
              </a:rPr>
              <a:t>A:</a:t>
            </a:r>
            <a:r>
              <a:rPr sz="2000" b="1" spc="-5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veya</a:t>
            </a:r>
            <a:r>
              <a:rPr sz="2000" spc="-4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C241F"/>
                </a:solidFill>
                <a:latin typeface="Calibri"/>
                <a:cs typeface="Calibri"/>
              </a:rPr>
              <a:t>C:</a:t>
            </a:r>
            <a:r>
              <a:rPr sz="2000" b="1" spc="-4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gibi.</a:t>
            </a:r>
            <a:endParaRPr sz="2000">
              <a:latin typeface="Calibri"/>
              <a:cs typeface="Calibri"/>
            </a:endParaRPr>
          </a:p>
          <a:p>
            <a:pPr marL="350520" indent="-337820">
              <a:lnSpc>
                <a:spcPct val="100000"/>
              </a:lnSpc>
              <a:spcBef>
                <a:spcPts val="158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Sürücü</a:t>
            </a:r>
            <a:r>
              <a:rPr sz="2000" spc="29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harflendirilmesi</a:t>
            </a:r>
            <a:r>
              <a:rPr sz="2000" spc="29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işletim</a:t>
            </a:r>
            <a:r>
              <a:rPr sz="2000" spc="30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sistemi</a:t>
            </a:r>
            <a:r>
              <a:rPr sz="2000" spc="29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tarafından</a:t>
            </a:r>
            <a:r>
              <a:rPr sz="2000" spc="30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yapılır.</a:t>
            </a:r>
            <a:r>
              <a:rPr sz="2000" spc="30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Buna</a:t>
            </a:r>
            <a:r>
              <a:rPr sz="2000" spc="29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ek</a:t>
            </a:r>
            <a:r>
              <a:rPr sz="2000" spc="29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olarak</a:t>
            </a:r>
            <a:r>
              <a:rPr sz="2000" spc="30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biz</a:t>
            </a:r>
            <a:r>
              <a:rPr sz="2000" spc="29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de</a:t>
            </a:r>
            <a:r>
              <a:rPr sz="2000" spc="28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harfin</a:t>
            </a:r>
            <a:endParaRPr sz="2000">
              <a:latin typeface="Calibri"/>
              <a:cs typeface="Calibri"/>
            </a:endParaRPr>
          </a:p>
          <a:p>
            <a:pPr marL="35052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yanına</a:t>
            </a:r>
            <a:r>
              <a:rPr sz="2000" spc="-5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bir</a:t>
            </a:r>
            <a:r>
              <a:rPr sz="2000" spc="-4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etiket</a:t>
            </a:r>
            <a:r>
              <a:rPr sz="2000" spc="-2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yazabiliriz.</a:t>
            </a:r>
            <a:r>
              <a:rPr sz="2000" spc="-3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C241F"/>
                </a:solidFill>
                <a:latin typeface="Calibri"/>
                <a:cs typeface="Calibri"/>
              </a:rPr>
              <a:t>Örneğin;</a:t>
            </a:r>
            <a:r>
              <a:rPr sz="2000" spc="-4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b="1" spc="-30" dirty="0">
                <a:solidFill>
                  <a:srgbClr val="2C241F"/>
                </a:solidFill>
                <a:latin typeface="Calibri"/>
                <a:cs typeface="Calibri"/>
              </a:rPr>
              <a:t>Yerel</a:t>
            </a:r>
            <a:r>
              <a:rPr sz="2000" b="1" spc="-4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C241F"/>
                </a:solidFill>
                <a:latin typeface="Calibri"/>
                <a:cs typeface="Calibri"/>
              </a:rPr>
              <a:t>Disk</a:t>
            </a:r>
            <a:r>
              <a:rPr sz="2000" b="1" spc="-50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C241F"/>
                </a:solidFill>
                <a:latin typeface="Calibri"/>
                <a:cs typeface="Calibri"/>
              </a:rPr>
              <a:t>(C:)</a:t>
            </a:r>
            <a:r>
              <a:rPr sz="2000" b="1" spc="-35" dirty="0">
                <a:solidFill>
                  <a:srgbClr val="2C241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Calibri"/>
                <a:cs typeface="Calibri"/>
              </a:rPr>
              <a:t>gibi.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19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12464" y="4879847"/>
            <a:ext cx="5469890" cy="1978660"/>
            <a:chOff x="3712464" y="4879847"/>
            <a:chExt cx="5469890" cy="197866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12464" y="4879847"/>
              <a:ext cx="5469636" cy="19781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7536" y="5074919"/>
              <a:ext cx="4899660" cy="1664207"/>
            </a:xfrm>
            <a:prstGeom prst="rect">
              <a:avLst/>
            </a:prstGeom>
          </p:spPr>
        </p:pic>
      </p:grpSp>
      <p:sp>
        <p:nvSpPr>
          <p:cNvPr id="13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6029960">
              <a:lnSpc>
                <a:spcPct val="100000"/>
              </a:lnSpc>
              <a:spcBef>
                <a:spcPts val="95"/>
              </a:spcBef>
            </a:pPr>
            <a:r>
              <a:rPr dirty="0"/>
              <a:t>Dosya</a:t>
            </a:r>
            <a:r>
              <a:rPr spc="-10" dirty="0"/>
              <a:t> Nedir?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9326"/>
            <a:ext cx="9583420" cy="366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 marR="5080" algn="just">
              <a:lnSpc>
                <a:spcPct val="110000"/>
              </a:lnSpc>
              <a:spcBef>
                <a:spcPts val="100"/>
              </a:spcBef>
            </a:pPr>
            <a:r>
              <a:rPr sz="2800" b="1" dirty="0">
                <a:solidFill>
                  <a:srgbClr val="F34D09"/>
                </a:solidFill>
                <a:latin typeface="Arial"/>
                <a:cs typeface="Arial"/>
              </a:rPr>
              <a:t>Dosya:</a:t>
            </a:r>
            <a:r>
              <a:rPr sz="2800" b="1" spc="114" dirty="0">
                <a:solidFill>
                  <a:srgbClr val="F34D09"/>
                </a:solidFill>
                <a:latin typeface="Arial"/>
                <a:cs typeface="Arial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Bilgisayardaki</a:t>
            </a:r>
            <a:r>
              <a:rPr sz="28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</a:t>
            </a:r>
            <a:r>
              <a:rPr sz="28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kümeleridir.</a:t>
            </a:r>
            <a:r>
              <a:rPr sz="28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Her</a:t>
            </a:r>
            <a:r>
              <a:rPr sz="28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türlü</a:t>
            </a:r>
            <a:r>
              <a:rPr sz="28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bilgisayarda</a:t>
            </a:r>
            <a:r>
              <a:rPr sz="2800" spc="5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sayısal</a:t>
            </a:r>
            <a:r>
              <a:rPr sz="2800" spc="5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800" spc="5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bulunmaktadır.</a:t>
            </a:r>
            <a:r>
              <a:rPr sz="2800" spc="5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800" spc="5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sayısal</a:t>
            </a:r>
            <a:r>
              <a:rPr sz="2800" spc="5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topluluğuna</a:t>
            </a:r>
            <a:r>
              <a:rPr sz="28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b="1" dirty="0">
                <a:solidFill>
                  <a:srgbClr val="2C241F"/>
                </a:solidFill>
                <a:latin typeface="Arial"/>
                <a:cs typeface="Arial"/>
              </a:rPr>
              <a:t>dosya</a:t>
            </a:r>
            <a:r>
              <a:rPr sz="2800" b="1" spc="-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adı</a:t>
            </a:r>
            <a:r>
              <a:rPr sz="28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verilir.</a:t>
            </a:r>
            <a:endParaRPr sz="2800">
              <a:latin typeface="Microsoft Sans Serif"/>
              <a:cs typeface="Microsoft Sans Serif"/>
            </a:endParaRPr>
          </a:p>
          <a:p>
            <a:pPr marL="52069" algn="just">
              <a:lnSpc>
                <a:spcPct val="100000"/>
              </a:lnSpc>
              <a:spcBef>
                <a:spcPts val="1440"/>
              </a:spcBef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aşağıdaki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2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görüntülenir;</a:t>
            </a:r>
            <a:endParaRPr sz="2800">
              <a:latin typeface="Microsoft Sans Serif"/>
              <a:cs typeface="Microsoft Sans Serif"/>
            </a:endParaRPr>
          </a:p>
          <a:p>
            <a:pPr marL="57785" algn="ctr">
              <a:lnSpc>
                <a:spcPct val="100000"/>
              </a:lnSpc>
              <a:spcBef>
                <a:spcPts val="1430"/>
              </a:spcBef>
            </a:pPr>
            <a:r>
              <a:rPr sz="2800" b="1" i="1" spc="-10" dirty="0">
                <a:solidFill>
                  <a:srgbClr val="2C241F"/>
                </a:solidFill>
                <a:latin typeface="Arial"/>
                <a:cs typeface="Arial"/>
              </a:rPr>
              <a:t>dosyadı.dosyauzantısı</a:t>
            </a:r>
            <a:endParaRPr sz="2800">
              <a:latin typeface="Arial"/>
              <a:cs typeface="Arial"/>
            </a:endParaRPr>
          </a:p>
          <a:p>
            <a:pPr marL="350520" marR="10160" indent="-338455">
              <a:lnSpc>
                <a:spcPct val="110100"/>
              </a:lnSpc>
              <a:spcBef>
                <a:spcPts val="600"/>
              </a:spcBef>
              <a:buClr>
                <a:srgbClr val="F88556"/>
              </a:buClr>
              <a:buSzPct val="89285"/>
              <a:buFont typeface="Wingdings"/>
              <a:buChar char=""/>
              <a:tabLst>
                <a:tab pos="350520" algn="l"/>
                <a:tab pos="3597275" algn="l"/>
                <a:tab pos="5028565" algn="l"/>
                <a:tab pos="5549900" algn="l"/>
                <a:tab pos="6290310" algn="l"/>
                <a:tab pos="7722870" algn="l"/>
              </a:tabLst>
            </a:pPr>
            <a:r>
              <a:rPr sz="2800" b="1" i="1" dirty="0">
                <a:solidFill>
                  <a:srgbClr val="2C241F"/>
                </a:solidFill>
                <a:latin typeface="Arial"/>
                <a:cs typeface="Arial"/>
              </a:rPr>
              <a:t>Dosya</a:t>
            </a:r>
            <a:r>
              <a:rPr sz="2800" b="1" i="1" spc="3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2C241F"/>
                </a:solidFill>
                <a:latin typeface="Arial"/>
                <a:cs typeface="Arial"/>
              </a:rPr>
              <a:t>adı</a:t>
            </a:r>
            <a:r>
              <a:rPr sz="2800" b="1" i="1" spc="31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dosyayı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tanımlar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256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karakter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uzunluğuna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kadar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verilebilir.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8180" y="5161672"/>
            <a:ext cx="2500630" cy="96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9250" marR="5080" indent="-337185">
              <a:lnSpc>
                <a:spcPct val="110000"/>
              </a:lnSpc>
              <a:spcBef>
                <a:spcPts val="95"/>
              </a:spcBef>
              <a:buClr>
                <a:srgbClr val="F88556"/>
              </a:buClr>
              <a:buSzPct val="89285"/>
              <a:buFont typeface="Wingdings"/>
              <a:buChar char=""/>
              <a:tabLst>
                <a:tab pos="350520" algn="l"/>
              </a:tabLst>
            </a:pP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Hazırlanan 	çalışabileceği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3161" y="5161672"/>
            <a:ext cx="1755139" cy="96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180" marR="5080" indent="-285115">
              <a:lnSpc>
                <a:spcPct val="110000"/>
              </a:lnSpc>
              <a:spcBef>
                <a:spcPts val="95"/>
              </a:spcBef>
            </a:pP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dosyanın hakkında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60796" y="5161672"/>
            <a:ext cx="953769" cy="96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640" marR="5080" indent="-155575">
              <a:lnSpc>
                <a:spcPct val="110000"/>
              </a:lnSpc>
              <a:spcBef>
                <a:spcPts val="95"/>
              </a:spcBef>
            </a:pP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içeriği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71792" y="5161672"/>
            <a:ext cx="2270760" cy="96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71145">
              <a:lnSpc>
                <a:spcPct val="110000"/>
              </a:lnSpc>
              <a:spcBef>
                <a:spcPts val="95"/>
              </a:spcBef>
              <a:tabLst>
                <a:tab pos="1112520" algn="l"/>
                <a:tab pos="1306195" algn="l"/>
              </a:tabLst>
            </a:pP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hangi sunan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96730" y="5161672"/>
            <a:ext cx="1630680" cy="96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4305" marR="5080" indent="-142240">
              <a:lnSpc>
                <a:spcPct val="110000"/>
              </a:lnSpc>
              <a:spcBef>
                <a:spcPts val="95"/>
              </a:spcBef>
            </a:pP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 takılarına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6508" y="6143650"/>
            <a:ext cx="822388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dirty="0">
                <a:solidFill>
                  <a:srgbClr val="2C241F"/>
                </a:solidFill>
                <a:latin typeface="Arial"/>
                <a:cs typeface="Arial"/>
              </a:rPr>
              <a:t>Dosya</a:t>
            </a:r>
            <a:r>
              <a:rPr sz="2800" b="1" i="1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800" b="1" i="1" dirty="0">
                <a:solidFill>
                  <a:srgbClr val="2C241F"/>
                </a:solidFill>
                <a:latin typeface="Arial"/>
                <a:cs typeface="Arial"/>
              </a:rPr>
              <a:t>Uzantısı</a:t>
            </a:r>
            <a:r>
              <a:rPr sz="2800" b="1" i="1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denir.</a:t>
            </a:r>
            <a:r>
              <a:rPr sz="28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3</a:t>
            </a:r>
            <a:r>
              <a:rPr sz="28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</a:t>
            </a:r>
            <a:r>
              <a:rPr sz="28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4</a:t>
            </a:r>
            <a:r>
              <a:rPr sz="28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karakterden</a:t>
            </a:r>
            <a:r>
              <a:rPr sz="2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oluşur.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20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3893185">
              <a:lnSpc>
                <a:spcPct val="100000"/>
              </a:lnSpc>
              <a:spcBef>
                <a:spcPts val="95"/>
              </a:spcBef>
            </a:pPr>
            <a:r>
              <a:rPr dirty="0"/>
              <a:t>Dosya</a:t>
            </a:r>
            <a:r>
              <a:rPr spc="-55" dirty="0"/>
              <a:t> </a:t>
            </a:r>
            <a:r>
              <a:rPr dirty="0"/>
              <a:t>Uzantısı</a:t>
            </a:r>
            <a:r>
              <a:rPr spc="-35" dirty="0"/>
              <a:t> </a:t>
            </a:r>
            <a:r>
              <a:rPr spc="-20" dirty="0"/>
              <a:t>Türleri-</a:t>
            </a:r>
            <a:r>
              <a:rPr spc="-50" dirty="0"/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25747"/>
            <a:ext cx="9584690" cy="497522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0520" indent="-337820" algn="just">
              <a:lnSpc>
                <a:spcPct val="100000"/>
              </a:lnSpc>
              <a:spcBef>
                <a:spcPts val="57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Sistem</a:t>
            </a:r>
            <a:r>
              <a:rPr sz="2000" b="1" spc="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Dosyaları:</a:t>
            </a:r>
            <a:r>
              <a:rPr sz="2000" b="1" spc="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.bak,</a:t>
            </a:r>
            <a:r>
              <a:rPr sz="20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.cab,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.dmp,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.dll,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.msi,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.tmp,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.ini,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lnk,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.exe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uzantılardır.</a:t>
            </a:r>
            <a:endParaRPr sz="2000">
              <a:latin typeface="Microsoft Sans Serif"/>
              <a:cs typeface="Microsoft Sans Serif"/>
            </a:endParaRPr>
          </a:p>
          <a:p>
            <a:pPr marL="350520" algn="just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tip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 sistemlerinin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çalışabilmesi için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gereken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dosyalardır.</a:t>
            </a:r>
            <a:endParaRPr sz="2000">
              <a:latin typeface="Microsoft Sans Serif"/>
              <a:cs typeface="Microsoft Sans Serif"/>
            </a:endParaRPr>
          </a:p>
          <a:p>
            <a:pPr marL="802005" marR="8255" lvl="1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802005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.exe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çalıştırılabilir</a:t>
            </a:r>
            <a:r>
              <a:rPr sz="20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dosyalarıdır.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Tüm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</a:t>
            </a:r>
            <a:r>
              <a:rPr sz="20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zararlı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dosyalarla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görür.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sebeple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dikkat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edilmesi faydalıdır.</a:t>
            </a:r>
            <a:endParaRPr sz="2000">
              <a:latin typeface="Microsoft Sans Serif"/>
              <a:cs typeface="Microsoft Sans Serif"/>
            </a:endParaRPr>
          </a:p>
          <a:p>
            <a:pPr marL="802005" marR="7620" lvl="1" indent="-338455" algn="just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802005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.msi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ise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kurulum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paketlerine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ait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dosyalardır.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güncelleme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kurmak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gerektiğinde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kullanılan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dosyalara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ait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uzantılardır.</a:t>
            </a:r>
            <a:endParaRPr sz="2000">
              <a:latin typeface="Microsoft Sans Serif"/>
              <a:cs typeface="Microsoft Sans Serif"/>
            </a:endParaRPr>
          </a:p>
          <a:p>
            <a:pPr marL="349885" indent="-337185" algn="just">
              <a:lnSpc>
                <a:spcPct val="100000"/>
              </a:lnSpc>
              <a:spcBef>
                <a:spcPts val="158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49885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Metin</a:t>
            </a:r>
            <a:r>
              <a:rPr sz="2000" b="1" spc="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İşlem</a:t>
            </a:r>
            <a:r>
              <a:rPr sz="2000" b="1" spc="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Dosyaları:</a:t>
            </a:r>
            <a:r>
              <a:rPr sz="2000" b="1" spc="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.doc,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.docx,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.xls,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.xlsx,</a:t>
            </a:r>
            <a:r>
              <a:rPr sz="20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.ppt,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.pptx,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.pdf,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.txt,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.rtf,</a:t>
            </a:r>
            <a:r>
              <a:rPr sz="20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.odt,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.ods,</a:t>
            </a:r>
            <a:endParaRPr sz="2000">
              <a:latin typeface="Microsoft Sans Serif"/>
              <a:cs typeface="Microsoft Sans Serif"/>
            </a:endParaRPr>
          </a:p>
          <a:p>
            <a:pPr marL="350520" algn="just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.odp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uzantılardır.</a:t>
            </a:r>
            <a:endParaRPr sz="2000">
              <a:latin typeface="Microsoft Sans Serif"/>
              <a:cs typeface="Microsoft Sans Serif"/>
            </a:endParaRPr>
          </a:p>
          <a:p>
            <a:pPr marL="350520" marR="6350" indent="-338455" algn="just">
              <a:lnSpc>
                <a:spcPct val="120100"/>
              </a:lnSpc>
              <a:spcBef>
                <a:spcPts val="1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Arşiv</a:t>
            </a:r>
            <a:r>
              <a:rPr sz="2000" b="1" spc="7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veya</a:t>
            </a:r>
            <a:r>
              <a:rPr sz="2000" b="1" spc="90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Sıkıştırılmış</a:t>
            </a:r>
            <a:r>
              <a:rPr sz="2000" b="1" spc="7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Dosyalar:</a:t>
            </a:r>
            <a:r>
              <a:rPr sz="2000" b="1" spc="8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.zip,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.rar,</a:t>
            </a:r>
            <a:r>
              <a:rPr sz="20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.tar,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.gz,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.7z</a:t>
            </a:r>
            <a:r>
              <a:rPr sz="20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dosyalarıdır.</a:t>
            </a:r>
            <a:r>
              <a:rPr sz="20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Bu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uzantılara</a:t>
            </a:r>
            <a:r>
              <a:rPr sz="20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sahip</a:t>
            </a:r>
            <a:r>
              <a:rPr sz="20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dosyalar,</a:t>
            </a:r>
            <a:r>
              <a:rPr sz="20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uygun</a:t>
            </a:r>
            <a:r>
              <a:rPr sz="20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</a:t>
            </a:r>
            <a:r>
              <a:rPr sz="20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kullanılarak</a:t>
            </a:r>
            <a:r>
              <a:rPr sz="20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sıkıştırılmış</a:t>
            </a:r>
            <a:r>
              <a:rPr sz="20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demektir.</a:t>
            </a:r>
            <a:r>
              <a:rPr sz="20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İçeriğinde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birden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fazla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olabilir.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21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719559" y="557796"/>
            <a:ext cx="472440" cy="756285"/>
            <a:chOff x="11719559" y="557796"/>
            <a:chExt cx="472440" cy="75628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19559" y="557796"/>
              <a:ext cx="472440" cy="75576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14631" y="752856"/>
              <a:ext cx="126492" cy="185927"/>
            </a:xfrm>
            <a:prstGeom prst="rect">
              <a:avLst/>
            </a:prstGeom>
          </p:spPr>
        </p:pic>
      </p:grp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3893185">
              <a:lnSpc>
                <a:spcPct val="100000"/>
              </a:lnSpc>
              <a:spcBef>
                <a:spcPts val="95"/>
              </a:spcBef>
            </a:pPr>
            <a:r>
              <a:rPr dirty="0"/>
              <a:t>Dosya</a:t>
            </a:r>
            <a:r>
              <a:rPr spc="-55" dirty="0"/>
              <a:t> </a:t>
            </a:r>
            <a:r>
              <a:rPr dirty="0"/>
              <a:t>Uzantısı</a:t>
            </a:r>
            <a:r>
              <a:rPr spc="-35" dirty="0"/>
              <a:t> </a:t>
            </a:r>
            <a:r>
              <a:rPr spc="-20" dirty="0"/>
              <a:t>Türleri-</a:t>
            </a:r>
            <a:r>
              <a:rPr spc="-50" dirty="0"/>
              <a:t>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33331"/>
            <a:ext cx="9583420" cy="4803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 algn="just">
              <a:lnSpc>
                <a:spcPct val="110000"/>
              </a:lnSpc>
              <a:spcBef>
                <a:spcPts val="9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Resim</a:t>
            </a:r>
            <a:r>
              <a:rPr sz="2000" b="1" spc="3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Dosyaları:</a:t>
            </a:r>
            <a:r>
              <a:rPr sz="2000" b="1" spc="3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.bmp,</a:t>
            </a:r>
            <a:r>
              <a:rPr sz="20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.jpeg,</a:t>
            </a:r>
            <a:r>
              <a:rPr sz="20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.jpg,</a:t>
            </a:r>
            <a:r>
              <a:rPr sz="20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.png,</a:t>
            </a:r>
            <a:r>
              <a:rPr sz="20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.gif,</a:t>
            </a:r>
            <a:r>
              <a:rPr sz="20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.psd,</a:t>
            </a:r>
            <a:r>
              <a:rPr sz="2000" spc="3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.tif,</a:t>
            </a:r>
            <a:r>
              <a:rPr sz="20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.tiff</a:t>
            </a:r>
            <a:r>
              <a:rPr sz="20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0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başlıca</a:t>
            </a:r>
            <a:r>
              <a:rPr sz="20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uzantıları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resim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dosyalarına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aittir.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Resim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işleme</a:t>
            </a:r>
            <a:r>
              <a:rPr sz="20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programları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tüm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resim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dosyalarını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açmayabilir.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Uzantıya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uygun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açmanız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gerekir.</a:t>
            </a:r>
            <a:endParaRPr sz="20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10000"/>
              </a:lnSpc>
              <a:spcBef>
                <a:spcPts val="1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Ses</a:t>
            </a:r>
            <a:r>
              <a:rPr sz="2000" b="1" spc="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Dosyaları:</a:t>
            </a:r>
            <a:r>
              <a:rPr sz="2000" b="1" spc="35" dirty="0">
                <a:solidFill>
                  <a:srgbClr val="2C241F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.mp3,</a:t>
            </a:r>
            <a:r>
              <a:rPr sz="20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.wav,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.wma,</a:t>
            </a:r>
            <a:r>
              <a:rPr sz="20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.wpl,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.cda,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.mid,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.midi,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.ogg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dosyalarıdır.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Uzantısına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</a:t>
            </a:r>
            <a:r>
              <a:rPr sz="20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uygun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vasıtasıyla</a:t>
            </a:r>
            <a:r>
              <a:rPr sz="20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oynatılabilir.</a:t>
            </a:r>
            <a:endParaRPr sz="2000">
              <a:latin typeface="Microsoft Sans Serif"/>
              <a:cs typeface="Microsoft Sans Serif"/>
            </a:endParaRPr>
          </a:p>
          <a:p>
            <a:pPr marL="350520" marR="5715" indent="-338455" algn="just">
              <a:lnSpc>
                <a:spcPct val="110000"/>
              </a:lnSpc>
              <a:spcBef>
                <a:spcPts val="109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Video</a:t>
            </a:r>
            <a:r>
              <a:rPr sz="2000" b="1" spc="1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Dosyaları:</a:t>
            </a:r>
            <a:r>
              <a:rPr sz="2000" b="1" spc="1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0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.avi,</a:t>
            </a:r>
            <a:r>
              <a:rPr sz="20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.mp4,</a:t>
            </a:r>
            <a:r>
              <a:rPr sz="20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.3gp,</a:t>
            </a:r>
            <a:r>
              <a:rPr sz="20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.mkv,</a:t>
            </a:r>
            <a:r>
              <a:rPr sz="20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.mpg,.mpeg,</a:t>
            </a:r>
            <a:r>
              <a:rPr sz="20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.swf,</a:t>
            </a:r>
            <a:r>
              <a:rPr sz="20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.wmv</a:t>
            </a:r>
            <a:r>
              <a:rPr sz="20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çeşitli  video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dosyası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uzantılarıdır.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  tip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dosyalar,  video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oynatabilen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programlar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üzerinden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açılabilir.</a:t>
            </a:r>
            <a:endParaRPr sz="2000">
              <a:latin typeface="Microsoft Sans Serif"/>
              <a:cs typeface="Microsoft Sans Serif"/>
            </a:endParaRPr>
          </a:p>
          <a:p>
            <a:pPr marL="349250" marR="5080" indent="-337185" algn="just">
              <a:lnSpc>
                <a:spcPct val="110000"/>
              </a:lnSpc>
              <a:spcBef>
                <a:spcPts val="11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Web</a:t>
            </a:r>
            <a:r>
              <a:rPr sz="2000" b="1" spc="10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b="1" spc="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İnternet</a:t>
            </a:r>
            <a:r>
              <a:rPr sz="2000" b="1" spc="1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ile</a:t>
            </a:r>
            <a:r>
              <a:rPr sz="2000" b="1" spc="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İlgili</a:t>
            </a:r>
            <a:r>
              <a:rPr sz="2000" b="1" spc="9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Dosyalar:</a:t>
            </a:r>
            <a:r>
              <a:rPr sz="2000" b="1" spc="1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.php,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.html,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.htm,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.asp,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.aspx,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.py,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.xhtml,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.js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dosyalardır.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tip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dosyaların</a:t>
            </a:r>
            <a:r>
              <a:rPr sz="20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içeriğinde,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çalışacağı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yazılımın</a:t>
            </a:r>
            <a:r>
              <a:rPr sz="20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diline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hazırlanmış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kodlar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bulunur.</a:t>
            </a:r>
            <a:r>
              <a:rPr sz="20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Web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sunucuların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işlemesi</a:t>
            </a:r>
            <a:r>
              <a:rPr sz="20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hazırlanmışlardır.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Girdiğiniz</a:t>
            </a:r>
            <a:r>
              <a:rPr sz="2000" spc="3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web</a:t>
            </a:r>
            <a:r>
              <a:rPr sz="20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sayfalarının</a:t>
            </a:r>
            <a:r>
              <a:rPr sz="2000" spc="3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hemen</a:t>
            </a:r>
            <a:r>
              <a:rPr sz="20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hepsi</a:t>
            </a:r>
            <a:r>
              <a:rPr sz="20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tip</a:t>
            </a:r>
            <a:r>
              <a:rPr sz="20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dosyaların</a:t>
            </a:r>
            <a:r>
              <a:rPr sz="20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tarayıcılarda</a:t>
            </a:r>
            <a:r>
              <a:rPr sz="2000" spc="3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derlenip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gösterilmesi</a:t>
            </a:r>
            <a:r>
              <a:rPr sz="20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oluşur.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3893185">
              <a:lnSpc>
                <a:spcPct val="100000"/>
              </a:lnSpc>
              <a:spcBef>
                <a:spcPts val="95"/>
              </a:spcBef>
            </a:pPr>
            <a:r>
              <a:rPr dirty="0"/>
              <a:t>Dosya</a:t>
            </a:r>
            <a:r>
              <a:rPr spc="-55" dirty="0"/>
              <a:t> </a:t>
            </a:r>
            <a:r>
              <a:rPr dirty="0"/>
              <a:t>Uzantısı</a:t>
            </a:r>
            <a:r>
              <a:rPr spc="-35" dirty="0"/>
              <a:t> </a:t>
            </a:r>
            <a:r>
              <a:rPr spc="-20" dirty="0"/>
              <a:t>Türleri-</a:t>
            </a:r>
            <a:r>
              <a:rPr spc="-50" dirty="0"/>
              <a:t>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25747"/>
            <a:ext cx="9584690" cy="4468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6350" indent="-338455" algn="just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Veritabanı</a:t>
            </a:r>
            <a:r>
              <a:rPr sz="2000" b="1" spc="1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b="1" spc="1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000" b="1" spc="1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Dosyaları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.dat,</a:t>
            </a:r>
            <a:r>
              <a:rPr sz="20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.log,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.sql,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.xml,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.mdb</a:t>
            </a:r>
            <a:r>
              <a:rPr sz="20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uzantılarıdır.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dosyalar,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içlerinde</a:t>
            </a:r>
            <a:r>
              <a:rPr sz="20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belirli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yöntemlerle</a:t>
            </a:r>
            <a:r>
              <a:rPr sz="20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sistematik</a:t>
            </a:r>
            <a:r>
              <a:rPr sz="20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20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kaydedilmiş</a:t>
            </a:r>
            <a:r>
              <a:rPr sz="20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saklar.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</a:t>
            </a:r>
            <a:r>
              <a:rPr sz="20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aracılığıyla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dosyalara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yazılabilir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yeniden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okunabilir.</a:t>
            </a:r>
            <a:endParaRPr sz="2000">
              <a:latin typeface="Microsoft Sans Serif"/>
              <a:cs typeface="Microsoft Sans Serif"/>
            </a:endParaRPr>
          </a:p>
          <a:p>
            <a:pPr marL="800735" marR="5080" lvl="1" indent="-33718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802005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.log</a:t>
            </a:r>
            <a:r>
              <a:rPr sz="20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</a:t>
            </a:r>
            <a:r>
              <a:rPr sz="20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000" spc="3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uygulamanın</a:t>
            </a:r>
            <a:r>
              <a:rPr sz="20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</a:t>
            </a:r>
            <a:r>
              <a:rPr sz="20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0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sistemin,</a:t>
            </a:r>
            <a:r>
              <a:rPr sz="20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programları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çalıştırırken</a:t>
            </a:r>
            <a:r>
              <a:rPr sz="20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karşılaştığı</a:t>
            </a:r>
            <a:r>
              <a:rPr sz="20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durumları</a:t>
            </a:r>
            <a:r>
              <a:rPr sz="20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hataları</a:t>
            </a:r>
            <a:r>
              <a:rPr sz="20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kaydettiği</a:t>
            </a:r>
            <a:r>
              <a:rPr sz="20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dosyalardır.</a:t>
            </a:r>
            <a:r>
              <a:rPr sz="20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Bu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dosyalara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log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dosyası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denir.</a:t>
            </a:r>
            <a:endParaRPr sz="2000">
              <a:latin typeface="Microsoft Sans Serif"/>
              <a:cs typeface="Microsoft Sans Serif"/>
            </a:endParaRPr>
          </a:p>
          <a:p>
            <a:pPr marL="802005" marR="5080" lvl="1" indent="-338455" algn="just">
              <a:lnSpc>
                <a:spcPct val="120100"/>
              </a:lnSpc>
              <a:spcBef>
                <a:spcPts val="109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802005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.sql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dosyaları,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Mysql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SQL  servislerinin,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verilerini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sakladığı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dosyalardır.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Uygun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veritabanın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işlemcisi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okunabilir.</a:t>
            </a:r>
            <a:endParaRPr sz="2000">
              <a:latin typeface="Microsoft Sans Serif"/>
              <a:cs typeface="Microsoft Sans Serif"/>
            </a:endParaRPr>
          </a:p>
          <a:p>
            <a:pPr marL="802005" marR="6350" lvl="1" indent="-338455" algn="just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802005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.mdb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ise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Microsoft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Access’in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veritabanı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dosyasıdır.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Microsoft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Access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gerçekleştirdiğiniz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uygulamaların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veritabanı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.mbd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formatında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olacaktır.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23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447030"/>
            <a:chOff x="1338072" y="1411224"/>
            <a:chExt cx="9813290" cy="544703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3332" y="3032807"/>
              <a:ext cx="9614916" cy="38251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08404" y="3227831"/>
              <a:ext cx="9044940" cy="33055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369301" y="3960113"/>
              <a:ext cx="1466215" cy="257810"/>
            </a:xfrm>
            <a:custGeom>
              <a:avLst/>
              <a:gdLst/>
              <a:ahLst/>
              <a:cxnLst/>
              <a:rect l="l" t="t" r="r" b="b"/>
              <a:pathLst>
                <a:path w="1466215" h="257810">
                  <a:moveTo>
                    <a:pt x="0" y="128778"/>
                  </a:moveTo>
                  <a:lnTo>
                    <a:pt x="32953" y="90484"/>
                  </a:lnTo>
                  <a:lnTo>
                    <a:pt x="88469" y="67395"/>
                  </a:lnTo>
                  <a:lnTo>
                    <a:pt x="125185" y="56777"/>
                  </a:lnTo>
                  <a:lnTo>
                    <a:pt x="167382" y="46864"/>
                  </a:lnTo>
                  <a:lnTo>
                    <a:pt x="214693" y="37718"/>
                  </a:lnTo>
                  <a:lnTo>
                    <a:pt x="266748" y="29407"/>
                  </a:lnTo>
                  <a:lnTo>
                    <a:pt x="323180" y="21993"/>
                  </a:lnTo>
                  <a:lnTo>
                    <a:pt x="383619" y="15543"/>
                  </a:lnTo>
                  <a:lnTo>
                    <a:pt x="447698" y="10120"/>
                  </a:lnTo>
                  <a:lnTo>
                    <a:pt x="515049" y="5789"/>
                  </a:lnTo>
                  <a:lnTo>
                    <a:pt x="585302" y="2616"/>
                  </a:lnTo>
                  <a:lnTo>
                    <a:pt x="658090" y="664"/>
                  </a:lnTo>
                  <a:lnTo>
                    <a:pt x="733044" y="0"/>
                  </a:lnTo>
                  <a:lnTo>
                    <a:pt x="807997" y="664"/>
                  </a:lnTo>
                  <a:lnTo>
                    <a:pt x="880785" y="2616"/>
                  </a:lnTo>
                  <a:lnTo>
                    <a:pt x="951038" y="5789"/>
                  </a:lnTo>
                  <a:lnTo>
                    <a:pt x="1018389" y="10120"/>
                  </a:lnTo>
                  <a:lnTo>
                    <a:pt x="1082468" y="15543"/>
                  </a:lnTo>
                  <a:lnTo>
                    <a:pt x="1142907" y="21993"/>
                  </a:lnTo>
                  <a:lnTo>
                    <a:pt x="1199339" y="29407"/>
                  </a:lnTo>
                  <a:lnTo>
                    <a:pt x="1251394" y="37719"/>
                  </a:lnTo>
                  <a:lnTo>
                    <a:pt x="1298705" y="46864"/>
                  </a:lnTo>
                  <a:lnTo>
                    <a:pt x="1340902" y="56777"/>
                  </a:lnTo>
                  <a:lnTo>
                    <a:pt x="1377618" y="67395"/>
                  </a:lnTo>
                  <a:lnTo>
                    <a:pt x="1433134" y="90484"/>
                  </a:lnTo>
                  <a:lnTo>
                    <a:pt x="1462303" y="115611"/>
                  </a:lnTo>
                  <a:lnTo>
                    <a:pt x="1466088" y="128778"/>
                  </a:lnTo>
                  <a:lnTo>
                    <a:pt x="1462303" y="141944"/>
                  </a:lnTo>
                  <a:lnTo>
                    <a:pt x="1433134" y="167071"/>
                  </a:lnTo>
                  <a:lnTo>
                    <a:pt x="1377618" y="190160"/>
                  </a:lnTo>
                  <a:lnTo>
                    <a:pt x="1340902" y="200778"/>
                  </a:lnTo>
                  <a:lnTo>
                    <a:pt x="1298705" y="210691"/>
                  </a:lnTo>
                  <a:lnTo>
                    <a:pt x="1251394" y="219837"/>
                  </a:lnTo>
                  <a:lnTo>
                    <a:pt x="1199339" y="228148"/>
                  </a:lnTo>
                  <a:lnTo>
                    <a:pt x="1142907" y="235562"/>
                  </a:lnTo>
                  <a:lnTo>
                    <a:pt x="1082468" y="242012"/>
                  </a:lnTo>
                  <a:lnTo>
                    <a:pt x="1018389" y="247435"/>
                  </a:lnTo>
                  <a:lnTo>
                    <a:pt x="951038" y="251766"/>
                  </a:lnTo>
                  <a:lnTo>
                    <a:pt x="880785" y="254939"/>
                  </a:lnTo>
                  <a:lnTo>
                    <a:pt x="807997" y="256891"/>
                  </a:lnTo>
                  <a:lnTo>
                    <a:pt x="733044" y="257556"/>
                  </a:lnTo>
                  <a:lnTo>
                    <a:pt x="658090" y="256891"/>
                  </a:lnTo>
                  <a:lnTo>
                    <a:pt x="585302" y="254939"/>
                  </a:lnTo>
                  <a:lnTo>
                    <a:pt x="515049" y="251766"/>
                  </a:lnTo>
                  <a:lnTo>
                    <a:pt x="447698" y="247435"/>
                  </a:lnTo>
                  <a:lnTo>
                    <a:pt x="383619" y="242012"/>
                  </a:lnTo>
                  <a:lnTo>
                    <a:pt x="323180" y="235562"/>
                  </a:lnTo>
                  <a:lnTo>
                    <a:pt x="266748" y="228148"/>
                  </a:lnTo>
                  <a:lnTo>
                    <a:pt x="214693" y="219837"/>
                  </a:lnTo>
                  <a:lnTo>
                    <a:pt x="167382" y="210691"/>
                  </a:lnTo>
                  <a:lnTo>
                    <a:pt x="125185" y="200778"/>
                  </a:lnTo>
                  <a:lnTo>
                    <a:pt x="88469" y="190160"/>
                  </a:lnTo>
                  <a:lnTo>
                    <a:pt x="32953" y="167071"/>
                  </a:lnTo>
                  <a:lnTo>
                    <a:pt x="3784" y="141944"/>
                  </a:lnTo>
                  <a:lnTo>
                    <a:pt x="0" y="128778"/>
                  </a:lnTo>
                  <a:close/>
                </a:path>
              </a:pathLst>
            </a:custGeom>
            <a:ln w="38100">
              <a:solidFill>
                <a:srgbClr val="F885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3604895">
              <a:lnSpc>
                <a:spcPct val="100000"/>
              </a:lnSpc>
              <a:spcBef>
                <a:spcPts val="95"/>
              </a:spcBef>
            </a:pPr>
            <a:r>
              <a:rPr dirty="0"/>
              <a:t>Dosya</a:t>
            </a:r>
            <a:r>
              <a:rPr spc="-75" dirty="0"/>
              <a:t> </a:t>
            </a:r>
            <a:r>
              <a:rPr dirty="0"/>
              <a:t>Uzantısını</a:t>
            </a:r>
            <a:r>
              <a:rPr spc="-45" dirty="0"/>
              <a:t> </a:t>
            </a:r>
            <a:r>
              <a:rPr spc="-10" dirty="0"/>
              <a:t>Görmek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24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2085" y="1655216"/>
            <a:ext cx="9647555" cy="1283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marR="5080" indent="-230504" algn="just">
              <a:lnSpc>
                <a:spcPct val="110000"/>
              </a:lnSpc>
              <a:spcBef>
                <a:spcPts val="1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243840" algn="l"/>
              </a:tabLst>
            </a:pP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5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</a:t>
            </a:r>
            <a:r>
              <a:rPr sz="25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içerisinde</a:t>
            </a:r>
            <a:r>
              <a:rPr sz="25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</a:t>
            </a:r>
            <a:r>
              <a:rPr sz="25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</a:t>
            </a:r>
            <a:r>
              <a:rPr sz="25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dosyaların</a:t>
            </a:r>
            <a:r>
              <a:rPr sz="25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uzantısını</a:t>
            </a:r>
            <a:r>
              <a:rPr sz="25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görünür</a:t>
            </a:r>
            <a:r>
              <a:rPr sz="25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yapmak 	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için,</a:t>
            </a:r>
            <a:r>
              <a:rPr sz="2500" spc="4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500" b="1" i="1" dirty="0">
                <a:solidFill>
                  <a:srgbClr val="2C241F"/>
                </a:solidFill>
                <a:latin typeface="Arial"/>
                <a:cs typeface="Arial"/>
              </a:rPr>
              <a:t>Dosya</a:t>
            </a:r>
            <a:r>
              <a:rPr sz="2500" b="1" i="1" spc="4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500" b="1" i="1" dirty="0">
                <a:solidFill>
                  <a:srgbClr val="2C241F"/>
                </a:solidFill>
                <a:latin typeface="Arial"/>
                <a:cs typeface="Arial"/>
              </a:rPr>
              <a:t>Gezgini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’nde</a:t>
            </a:r>
            <a:r>
              <a:rPr sz="25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b="1" i="1" dirty="0">
                <a:solidFill>
                  <a:srgbClr val="2C241F"/>
                </a:solidFill>
                <a:latin typeface="Arial"/>
                <a:cs typeface="Arial"/>
              </a:rPr>
              <a:t>Görünüm</a:t>
            </a:r>
            <a:r>
              <a:rPr sz="2500" b="1" i="1" spc="4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menüsü</a:t>
            </a:r>
            <a:r>
              <a:rPr sz="2500" spc="4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içerisinde</a:t>
            </a:r>
            <a:r>
              <a:rPr sz="2500" spc="4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</a:t>
            </a:r>
            <a:r>
              <a:rPr sz="2500" spc="4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 	</a:t>
            </a:r>
            <a:r>
              <a:rPr sz="2500" b="1" i="1" dirty="0">
                <a:solidFill>
                  <a:srgbClr val="2C241F"/>
                </a:solidFill>
                <a:latin typeface="Arial"/>
                <a:cs typeface="Arial"/>
              </a:rPr>
              <a:t>Dosya</a:t>
            </a:r>
            <a:r>
              <a:rPr sz="2500" b="1" i="1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500" b="1" i="1" dirty="0">
                <a:solidFill>
                  <a:srgbClr val="2C241F"/>
                </a:solidFill>
                <a:latin typeface="Arial"/>
                <a:cs typeface="Arial"/>
              </a:rPr>
              <a:t>adı</a:t>
            </a:r>
            <a:r>
              <a:rPr sz="2500" b="1" i="1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500" b="1" i="1" dirty="0">
                <a:solidFill>
                  <a:srgbClr val="2C241F"/>
                </a:solidFill>
                <a:latin typeface="Arial"/>
                <a:cs typeface="Arial"/>
              </a:rPr>
              <a:t>uzantıları</a:t>
            </a:r>
            <a:r>
              <a:rPr sz="2500" b="1" i="1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seçeneği</a:t>
            </a:r>
            <a:r>
              <a:rPr sz="25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işaretlenir.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2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447030"/>
            <a:chOff x="1338072" y="1411224"/>
            <a:chExt cx="9813290" cy="544703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9136" y="5407152"/>
              <a:ext cx="9521952" cy="14508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4208" y="5602224"/>
              <a:ext cx="8951976" cy="91135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5981065">
              <a:lnSpc>
                <a:spcPct val="100000"/>
              </a:lnSpc>
              <a:spcBef>
                <a:spcPts val="95"/>
              </a:spcBef>
            </a:pPr>
            <a:r>
              <a:rPr dirty="0"/>
              <a:t>Klasör</a:t>
            </a:r>
            <a:r>
              <a:rPr spc="-140" dirty="0"/>
              <a:t> </a:t>
            </a:r>
            <a:r>
              <a:rPr spc="-10" dirty="0"/>
              <a:t>Nedir?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25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9652" y="1588135"/>
            <a:ext cx="13335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204" indent="-230504">
              <a:lnSpc>
                <a:spcPct val="100000"/>
              </a:lnSpc>
              <a:spcBef>
                <a:spcPts val="9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243204" algn="l"/>
              </a:tabLst>
            </a:pPr>
            <a:r>
              <a:rPr sz="2500" b="1" i="1" spc="-10" dirty="0">
                <a:solidFill>
                  <a:srgbClr val="2C241F"/>
                </a:solidFill>
                <a:latin typeface="Arial"/>
                <a:cs typeface="Arial"/>
              </a:rPr>
              <a:t>Klasör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77642" y="1588135"/>
            <a:ext cx="131191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54041" y="1588135"/>
            <a:ext cx="92392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işletim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84489" y="1588135"/>
            <a:ext cx="270700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35405" algn="l"/>
              </a:tabLst>
            </a:pP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önemli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mantıksal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11300" y="2007235"/>
            <a:ext cx="38728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09215" algn="l"/>
              </a:tabLst>
            </a:pP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birimlerindendir.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Klasörler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16651" y="1549425"/>
            <a:ext cx="5476240" cy="8636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400"/>
              </a:spcBef>
              <a:tabLst>
                <a:tab pos="2037714" algn="l"/>
              </a:tabLst>
            </a:pP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sisteminin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en</a:t>
            </a:r>
            <a:endParaRPr sz="2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  <a:tabLst>
                <a:tab pos="1659889" algn="l"/>
                <a:tab pos="3498215" algn="l"/>
                <a:tab pos="4987290" algn="l"/>
              </a:tabLst>
            </a:pP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birbirinden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ayırmak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79652" y="2246747"/>
            <a:ext cx="9911715" cy="2124075"/>
          </a:xfrm>
          <a:prstGeom prst="rect">
            <a:avLst/>
          </a:prstGeom>
        </p:spPr>
        <p:txBody>
          <a:bodyPr vert="horz" wrap="square" lIns="0" tIns="191770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1510"/>
              </a:spcBef>
            </a:pP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kullanılan</a:t>
            </a:r>
            <a:r>
              <a:rPr sz="25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bileşenlerdir.</a:t>
            </a:r>
            <a:endParaRPr sz="2500">
              <a:latin typeface="Microsoft Sans Serif"/>
              <a:cs typeface="Microsoft Sans Serif"/>
            </a:endParaRPr>
          </a:p>
          <a:p>
            <a:pPr marL="242570" marR="5080" indent="-230504">
              <a:lnSpc>
                <a:spcPct val="110000"/>
              </a:lnSpc>
              <a:spcBef>
                <a:spcPts val="1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243840" algn="l"/>
                <a:tab pos="1222375" algn="l"/>
                <a:tab pos="2360930" algn="l"/>
                <a:tab pos="3832225" algn="l"/>
                <a:tab pos="4370070" algn="l"/>
                <a:tab pos="5421630" algn="l"/>
                <a:tab pos="6945630" algn="l"/>
                <a:tab pos="8609965" algn="l"/>
              </a:tabLst>
            </a:pP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Farklı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türdeki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düzen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içerisinde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birbirinden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bağımsız 	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5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gruplandırmak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5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kullanılırlar.</a:t>
            </a:r>
            <a:endParaRPr sz="2500">
              <a:latin typeface="Microsoft Sans Serif"/>
              <a:cs typeface="Microsoft Sans Serif"/>
            </a:endParaRPr>
          </a:p>
          <a:p>
            <a:pPr marL="243204" indent="-230504">
              <a:lnSpc>
                <a:spcPct val="100000"/>
              </a:lnSpc>
              <a:spcBef>
                <a:spcPts val="14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243204" algn="l"/>
              </a:tabLst>
            </a:pP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Sınırsız</a:t>
            </a:r>
            <a:r>
              <a:rPr sz="25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sayıda</a:t>
            </a:r>
            <a:r>
              <a:rPr sz="25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</a:t>
            </a:r>
            <a:r>
              <a:rPr sz="25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üretilebilir.</a:t>
            </a:r>
            <a:endParaRPr sz="25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79652" y="4484101"/>
            <a:ext cx="9912350" cy="863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2570" marR="5080" indent="-230504">
              <a:lnSpc>
                <a:spcPct val="110000"/>
              </a:lnSpc>
              <a:spcBef>
                <a:spcPts val="9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243840" algn="l"/>
                <a:tab pos="1742439" algn="l"/>
                <a:tab pos="3590925" algn="l"/>
                <a:tab pos="5211445" algn="l"/>
                <a:tab pos="6198870" algn="l"/>
                <a:tab pos="7870825" algn="l"/>
                <a:tab pos="9406255" algn="l"/>
              </a:tabLst>
            </a:pP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Klasörler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bilgisayarın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dosyalara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kolay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erişmesini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sağladığı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5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 	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kullanıcıların</a:t>
            </a:r>
            <a:r>
              <a:rPr sz="25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5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</a:t>
            </a:r>
            <a:r>
              <a:rPr sz="25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kategorilere</a:t>
            </a:r>
            <a:r>
              <a:rPr sz="25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ayırmasında</a:t>
            </a:r>
            <a:r>
              <a:rPr sz="25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dirty="0">
                <a:solidFill>
                  <a:srgbClr val="2C241F"/>
                </a:solidFill>
                <a:latin typeface="Microsoft Sans Serif"/>
                <a:cs typeface="Microsoft Sans Serif"/>
              </a:rPr>
              <a:t>yardımcı</a:t>
            </a:r>
            <a:r>
              <a:rPr sz="25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5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olur.</a:t>
            </a:r>
            <a:endParaRPr sz="25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10145395" cy="5447030"/>
            <a:chOff x="1338072" y="1411224"/>
            <a:chExt cx="10145395" cy="544703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4643" y="1481382"/>
              <a:ext cx="5568696" cy="537661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9716" y="1676400"/>
              <a:ext cx="4998720" cy="488137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3942079">
              <a:lnSpc>
                <a:spcPct val="100000"/>
              </a:lnSpc>
              <a:spcBef>
                <a:spcPts val="95"/>
              </a:spcBef>
            </a:pPr>
            <a:r>
              <a:rPr dirty="0"/>
              <a:t>Yeni</a:t>
            </a:r>
            <a:r>
              <a:rPr spc="-180" dirty="0"/>
              <a:t> </a:t>
            </a:r>
            <a:r>
              <a:rPr dirty="0"/>
              <a:t>Klasör</a:t>
            </a:r>
            <a:r>
              <a:rPr spc="-165" dirty="0"/>
              <a:t> </a:t>
            </a:r>
            <a:r>
              <a:rPr spc="-10" dirty="0"/>
              <a:t>Oluşturmak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26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36722" y="1657701"/>
            <a:ext cx="2580005" cy="976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760" marR="5080" indent="-353695">
              <a:lnSpc>
                <a:spcPct val="120000"/>
              </a:lnSpc>
              <a:spcBef>
                <a:spcPts val="95"/>
              </a:spcBef>
              <a:tabLst>
                <a:tab pos="1619885" algn="l"/>
                <a:tab pos="2196465" algn="l"/>
              </a:tabLst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ekranının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ya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6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da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varolan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3660" y="1657701"/>
            <a:ext cx="1691005" cy="1452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marR="5080" indent="-231775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243840" algn="l"/>
              </a:tabLst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Masaüstü önceden klasörün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12921" y="2687193"/>
            <a:ext cx="249936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91210" algn="l"/>
                <a:tab pos="1400810" algn="l"/>
              </a:tabLst>
            </a:pP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boş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alanına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3660" y="2944340"/>
            <a:ext cx="4471035" cy="2207895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243840" algn="just">
              <a:lnSpc>
                <a:spcPct val="100000"/>
              </a:lnSpc>
              <a:spcBef>
                <a:spcPts val="1820"/>
              </a:spcBef>
            </a:pP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</a:t>
            </a:r>
            <a:r>
              <a:rPr sz="26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tıklanır.</a:t>
            </a:r>
            <a:endParaRPr sz="2600">
              <a:latin typeface="Microsoft Sans Serif"/>
              <a:cs typeface="Microsoft Sans Serif"/>
            </a:endParaRPr>
          </a:p>
          <a:p>
            <a:pPr marL="242570" marR="5080" indent="-230504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243840" algn="l"/>
              </a:tabLst>
            </a:pP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Açılan</a:t>
            </a:r>
            <a:r>
              <a:rPr sz="26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kısayol</a:t>
            </a:r>
            <a:r>
              <a:rPr sz="26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menüsünden 	</a:t>
            </a:r>
            <a:r>
              <a:rPr sz="2600" b="1" i="1" dirty="0">
                <a:solidFill>
                  <a:srgbClr val="2C241F"/>
                </a:solidFill>
                <a:latin typeface="Arial"/>
                <a:cs typeface="Arial"/>
              </a:rPr>
              <a:t>Yeni</a:t>
            </a:r>
            <a:r>
              <a:rPr sz="2600" b="1" i="1" spc="6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seçeneği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ardından 	</a:t>
            </a:r>
            <a:r>
              <a:rPr sz="2600" b="1" i="1" dirty="0">
                <a:solidFill>
                  <a:srgbClr val="2C241F"/>
                </a:solidFill>
                <a:latin typeface="Arial"/>
                <a:cs typeface="Arial"/>
              </a:rPr>
              <a:t>Klasör</a:t>
            </a:r>
            <a:r>
              <a:rPr sz="2600" b="1" i="1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seçeneği</a:t>
            </a:r>
            <a:r>
              <a:rPr sz="26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seçilir.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Dosya</a:t>
            </a:r>
            <a:r>
              <a:rPr spc="-100" dirty="0"/>
              <a:t> </a:t>
            </a:r>
            <a:r>
              <a:rPr dirty="0"/>
              <a:t>ve</a:t>
            </a:r>
            <a:r>
              <a:rPr spc="-110" dirty="0"/>
              <a:t> </a:t>
            </a:r>
            <a:r>
              <a:rPr dirty="0"/>
              <a:t>Klasörleri</a:t>
            </a:r>
            <a:r>
              <a:rPr spc="-130" dirty="0"/>
              <a:t> </a:t>
            </a:r>
            <a:r>
              <a:rPr spc="-10" dirty="0"/>
              <a:t>Yeniden</a:t>
            </a:r>
            <a:r>
              <a:rPr spc="-95" dirty="0"/>
              <a:t> </a:t>
            </a:r>
            <a:r>
              <a:rPr spc="-10" dirty="0"/>
              <a:t>İsimlendirmek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27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4289" y="1677390"/>
            <a:ext cx="9726295" cy="3933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10000"/>
              </a:lnSpc>
              <a:spcBef>
                <a:spcPts val="10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243840" algn="l"/>
                <a:tab pos="1335405" algn="l"/>
                <a:tab pos="1836420" algn="l"/>
                <a:tab pos="2873375" algn="l"/>
                <a:tab pos="4309110" algn="l"/>
                <a:tab pos="6153150" algn="l"/>
                <a:tab pos="6800850" algn="l"/>
                <a:tab pos="8371205" algn="l"/>
              </a:tabLst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isimlerini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değiştirmek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aşağıdaki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yollardan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biri</a:t>
            </a: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kullanılabilir;</a:t>
            </a:r>
            <a:endParaRPr sz="2600">
              <a:latin typeface="Microsoft Sans Serif"/>
              <a:cs typeface="Microsoft Sans Serif"/>
            </a:endParaRPr>
          </a:p>
          <a:p>
            <a:pPr marL="743585" lvl="1" indent="-182245">
              <a:lnSpc>
                <a:spcPct val="100000"/>
              </a:lnSpc>
              <a:spcBef>
                <a:spcPts val="1110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74358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"F2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fonksiyon</a:t>
            </a:r>
            <a:r>
              <a:rPr sz="2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tuşuna"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basılır</a:t>
            </a:r>
            <a:endParaRPr sz="2400">
              <a:latin typeface="Microsoft Sans Serif"/>
              <a:cs typeface="Microsoft Sans Serif"/>
            </a:endParaRPr>
          </a:p>
          <a:p>
            <a:pPr marL="744220" marR="5080" lvl="1" indent="-182880">
              <a:lnSpc>
                <a:spcPct val="110000"/>
              </a:lnSpc>
              <a:spcBef>
                <a:spcPts val="605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744220" algn="l"/>
                <a:tab pos="1854835" algn="l"/>
                <a:tab pos="2315210" algn="l"/>
                <a:tab pos="2792730" algn="l"/>
                <a:tab pos="3745229" algn="l"/>
                <a:tab pos="5415280" algn="l"/>
                <a:tab pos="6316345" algn="l"/>
                <a:tab pos="7386320" algn="l"/>
                <a:tab pos="8015605" algn="l"/>
                <a:tab pos="873061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"Dosya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ya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seçildikten"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sonra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farenin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sağ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tuşu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tıklanıp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açılan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kısayol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menüsünden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b="1" i="1" spc="-10" dirty="0">
                <a:solidFill>
                  <a:srgbClr val="2C241F"/>
                </a:solidFill>
                <a:latin typeface="Arial"/>
                <a:cs typeface="Arial"/>
              </a:rPr>
              <a:t>Yeniden</a:t>
            </a:r>
            <a:r>
              <a:rPr sz="2400" b="1" i="1" spc="-1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Adlandır</a:t>
            </a:r>
            <a:r>
              <a:rPr sz="2400" b="1" i="1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seçilir.</a:t>
            </a:r>
            <a:endParaRPr sz="2400">
              <a:latin typeface="Microsoft Sans Serif"/>
              <a:cs typeface="Microsoft Sans Serif"/>
            </a:endParaRPr>
          </a:p>
          <a:p>
            <a:pPr marL="242570" marR="5080" indent="-230504">
              <a:lnSpc>
                <a:spcPct val="110100"/>
              </a:lnSpc>
              <a:spcBef>
                <a:spcPts val="86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243840" algn="l"/>
                <a:tab pos="1510665" algn="l"/>
                <a:tab pos="2188845" algn="l"/>
                <a:tab pos="3399154" algn="l"/>
                <a:tab pos="4754245" algn="l"/>
                <a:tab pos="6404610" algn="l"/>
                <a:tab pos="8151495" algn="l"/>
              </a:tabLst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isimleri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verilirken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aşağıdaki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karakterler 	kullanılamaz.</a:t>
            </a:r>
            <a:endParaRPr sz="2600">
              <a:latin typeface="Microsoft Sans Serif"/>
              <a:cs typeface="Microsoft Sans Serif"/>
            </a:endParaRPr>
          </a:p>
          <a:p>
            <a:pPr marL="288290">
              <a:lnSpc>
                <a:spcPct val="100000"/>
              </a:lnSpc>
              <a:spcBef>
                <a:spcPts val="1400"/>
              </a:spcBef>
              <a:tabLst>
                <a:tab pos="852169" algn="l"/>
                <a:tab pos="1303020" algn="l"/>
                <a:tab pos="1775460" algn="l"/>
                <a:tab pos="2272665" algn="l"/>
                <a:tab pos="2859405" algn="l"/>
                <a:tab pos="3389629" algn="l"/>
                <a:tab pos="4078604" algn="l"/>
                <a:tab pos="4654550" algn="l"/>
              </a:tabLst>
            </a:pPr>
            <a:r>
              <a:rPr sz="3200" b="1" spc="-50" dirty="0">
                <a:solidFill>
                  <a:srgbClr val="2C241F"/>
                </a:solidFill>
                <a:latin typeface="Arial"/>
                <a:cs typeface="Arial"/>
              </a:rPr>
              <a:t>/</a:t>
            </a:r>
            <a:r>
              <a:rPr sz="32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3200" b="1" spc="-50" dirty="0">
                <a:solidFill>
                  <a:srgbClr val="2C241F"/>
                </a:solidFill>
                <a:latin typeface="Arial"/>
                <a:cs typeface="Arial"/>
              </a:rPr>
              <a:t>\</a:t>
            </a:r>
            <a:r>
              <a:rPr sz="32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3200" b="1" spc="-50" dirty="0">
                <a:solidFill>
                  <a:srgbClr val="2C241F"/>
                </a:solidFill>
                <a:latin typeface="Arial"/>
                <a:cs typeface="Arial"/>
              </a:rPr>
              <a:t>:</a:t>
            </a:r>
            <a:r>
              <a:rPr sz="32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3200" b="1" spc="-50" dirty="0">
                <a:solidFill>
                  <a:srgbClr val="2C241F"/>
                </a:solidFill>
                <a:latin typeface="Arial"/>
                <a:cs typeface="Arial"/>
              </a:rPr>
              <a:t>*</a:t>
            </a:r>
            <a:r>
              <a:rPr sz="32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3200" b="1" spc="-50" dirty="0">
                <a:solidFill>
                  <a:srgbClr val="2C241F"/>
                </a:solidFill>
                <a:latin typeface="Arial"/>
                <a:cs typeface="Arial"/>
              </a:rPr>
              <a:t>?</a:t>
            </a:r>
            <a:r>
              <a:rPr sz="32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3200" b="1" spc="-50" dirty="0">
                <a:solidFill>
                  <a:srgbClr val="2C241F"/>
                </a:solidFill>
                <a:latin typeface="Arial"/>
                <a:cs typeface="Arial"/>
              </a:rPr>
              <a:t>"</a:t>
            </a:r>
            <a:r>
              <a:rPr sz="32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3200" b="1" spc="-50" dirty="0">
                <a:solidFill>
                  <a:srgbClr val="2C241F"/>
                </a:solidFill>
                <a:latin typeface="Arial"/>
                <a:cs typeface="Arial"/>
              </a:rPr>
              <a:t>&lt;</a:t>
            </a:r>
            <a:r>
              <a:rPr sz="32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3200" b="1" spc="-50" dirty="0">
                <a:solidFill>
                  <a:srgbClr val="2C241F"/>
                </a:solidFill>
                <a:latin typeface="Arial"/>
                <a:cs typeface="Arial"/>
              </a:rPr>
              <a:t>&gt;</a:t>
            </a:r>
            <a:r>
              <a:rPr sz="32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3200" b="1" spc="-50" dirty="0">
                <a:solidFill>
                  <a:srgbClr val="2C241F"/>
                </a:solidFill>
                <a:latin typeface="Arial"/>
                <a:cs typeface="Arial"/>
              </a:rPr>
              <a:t>|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96811" y="4440948"/>
            <a:ext cx="4645660" cy="2417445"/>
            <a:chOff x="6496811" y="4440948"/>
            <a:chExt cx="4645660" cy="241744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6811" y="4440948"/>
              <a:ext cx="4645278" cy="241705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4931" y="4639055"/>
              <a:ext cx="4069079" cy="19812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693407" y="4637531"/>
              <a:ext cx="4072254" cy="1984375"/>
            </a:xfrm>
            <a:custGeom>
              <a:avLst/>
              <a:gdLst/>
              <a:ahLst/>
              <a:cxnLst/>
              <a:rect l="l" t="t" r="r" b="b"/>
              <a:pathLst>
                <a:path w="4072254" h="1984375">
                  <a:moveTo>
                    <a:pt x="0" y="1984248"/>
                  </a:moveTo>
                  <a:lnTo>
                    <a:pt x="4072128" y="1984248"/>
                  </a:lnTo>
                  <a:lnTo>
                    <a:pt x="4072128" y="0"/>
                  </a:lnTo>
                  <a:lnTo>
                    <a:pt x="0" y="0"/>
                  </a:lnTo>
                  <a:lnTo>
                    <a:pt x="0" y="19842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3291204">
              <a:lnSpc>
                <a:spcPct val="100000"/>
              </a:lnSpc>
              <a:spcBef>
                <a:spcPts val="95"/>
              </a:spcBef>
            </a:pPr>
            <a:r>
              <a:rPr dirty="0"/>
              <a:t>Dosya</a:t>
            </a:r>
            <a:r>
              <a:rPr spc="-55" dirty="0"/>
              <a:t> </a:t>
            </a:r>
            <a:r>
              <a:rPr dirty="0"/>
              <a:t>ve</a:t>
            </a:r>
            <a:r>
              <a:rPr spc="-50" dirty="0"/>
              <a:t> </a:t>
            </a:r>
            <a:r>
              <a:rPr dirty="0"/>
              <a:t>Klasörleri</a:t>
            </a:r>
            <a:r>
              <a:rPr spc="-30" dirty="0"/>
              <a:t> </a:t>
            </a:r>
            <a:r>
              <a:rPr spc="-10" dirty="0"/>
              <a:t>Silmek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28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14747" y="1536572"/>
            <a:ext cx="23685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0715" algn="l"/>
                <a:tab pos="1289685" algn="l"/>
              </a:tabLst>
            </a:pP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ya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klasörü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4450" y="1536572"/>
            <a:ext cx="3545204" cy="818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243840" algn="l"/>
                <a:tab pos="1400810" algn="l"/>
                <a:tab pos="1606550" algn="l"/>
                <a:tab pos="2113915" algn="l"/>
                <a:tab pos="2251075" algn="l"/>
              </a:tabLst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Seçilen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silmek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aşağıdaki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54600" y="1932813"/>
            <a:ext cx="202882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74800" algn="l"/>
              </a:tabLst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yollardan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biri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6097" y="2219307"/>
            <a:ext cx="5536565" cy="407924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kullanılabilir;</a:t>
            </a:r>
            <a:endParaRPr sz="2600" dirty="0">
              <a:latin typeface="Microsoft Sans Serif"/>
              <a:cs typeface="Microsoft Sans Serif"/>
            </a:endParaRPr>
          </a:p>
          <a:p>
            <a:pPr marL="512445" marR="5715" indent="-182880" algn="just">
              <a:lnSpc>
                <a:spcPct val="100000"/>
              </a:lnSpc>
              <a:spcBef>
                <a:spcPts val="800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51244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Farenin</a:t>
            </a:r>
            <a:r>
              <a:rPr sz="24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</a:t>
            </a:r>
            <a:r>
              <a:rPr sz="24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tuşuna</a:t>
            </a:r>
            <a:r>
              <a:rPr sz="24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tıklanır</a:t>
            </a:r>
            <a:r>
              <a:rPr sz="24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açılan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kısayol</a:t>
            </a:r>
            <a:r>
              <a:rPr sz="24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menüsünden</a:t>
            </a:r>
            <a:r>
              <a:rPr sz="24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"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Sil</a:t>
            </a:r>
            <a:r>
              <a:rPr sz="2400" i="1" dirty="0">
                <a:solidFill>
                  <a:srgbClr val="2C241F"/>
                </a:solidFill>
                <a:latin typeface="Arial"/>
                <a:cs typeface="Arial"/>
              </a:rPr>
              <a:t>"</a:t>
            </a:r>
            <a:r>
              <a:rPr sz="2400" i="1" spc="25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seçeneği seçilir.</a:t>
            </a:r>
            <a:endParaRPr sz="2400" dirty="0">
              <a:latin typeface="Microsoft Sans Serif"/>
              <a:cs typeface="Microsoft Sans Serif"/>
            </a:endParaRPr>
          </a:p>
          <a:p>
            <a:pPr marL="511809" indent="-182245" algn="just">
              <a:lnSpc>
                <a:spcPct val="100000"/>
              </a:lnSpc>
              <a:spcBef>
                <a:spcPts val="600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511809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Klavyeden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"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Delete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"</a:t>
            </a:r>
            <a:r>
              <a:rPr sz="2400" spc="-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düğmesi</a:t>
            </a:r>
            <a:r>
              <a:rPr sz="24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tıklanır.</a:t>
            </a:r>
            <a:endParaRPr sz="2400" dirty="0">
              <a:latin typeface="Microsoft Sans Serif"/>
              <a:cs typeface="Microsoft Sans Serif"/>
            </a:endParaRPr>
          </a:p>
          <a:p>
            <a:pPr marL="512445" marR="5080" indent="-182880" algn="just">
              <a:lnSpc>
                <a:spcPct val="100000"/>
              </a:lnSpc>
              <a:spcBef>
                <a:spcPts val="600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51244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Klavyeden</a:t>
            </a:r>
            <a:r>
              <a:rPr sz="24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"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Shift</a:t>
            </a:r>
            <a:r>
              <a:rPr sz="2400" b="1" i="1" spc="1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+</a:t>
            </a:r>
            <a:r>
              <a:rPr sz="2400" b="1" i="1" spc="1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Delete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"</a:t>
            </a:r>
            <a:r>
              <a:rPr sz="24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düğmesi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tıklanır.</a:t>
            </a:r>
            <a:r>
              <a:rPr sz="2400" spc="5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5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seçenek</a:t>
            </a:r>
            <a:r>
              <a:rPr sz="2400" spc="5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uygulanırsa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diğerlerinden</a:t>
            </a:r>
            <a:r>
              <a:rPr sz="2400" spc="5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farklı</a:t>
            </a:r>
            <a:r>
              <a:rPr sz="2400" spc="5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400" spc="5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</a:t>
            </a:r>
            <a:r>
              <a:rPr sz="2400" spc="5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ya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4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</a:t>
            </a:r>
            <a:r>
              <a:rPr sz="24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geri</a:t>
            </a:r>
            <a:r>
              <a:rPr sz="24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dönüşüm</a:t>
            </a:r>
            <a:r>
              <a:rPr sz="24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kutusuna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gönderilmeden</a:t>
            </a:r>
            <a:r>
              <a:rPr sz="24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bilgisayardan</a:t>
            </a:r>
            <a:r>
              <a:rPr sz="24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silinir.</a:t>
            </a:r>
            <a:endParaRPr sz="2400" dirty="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964680" y="1466137"/>
            <a:ext cx="4518660" cy="5392420"/>
            <a:chOff x="6964680" y="1466137"/>
            <a:chExt cx="4518660" cy="539242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64680" y="1466137"/>
              <a:ext cx="4518660" cy="539186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9752" y="1661160"/>
              <a:ext cx="3948684" cy="49194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373178"/>
            <a:ext cx="10145395" cy="5485130"/>
            <a:chOff x="1338072" y="1373178"/>
            <a:chExt cx="10145395" cy="5485130"/>
          </a:xfrm>
        </p:grpSpPr>
        <p:sp>
          <p:nvSpPr>
            <p:cNvPr id="4" name="object 4"/>
            <p:cNvSpPr/>
            <p:nvPr/>
          </p:nvSpPr>
          <p:spPr>
            <a:xfrm>
              <a:off x="1338072" y="1411223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8860" y="1373178"/>
              <a:ext cx="5364480" cy="548482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13931" y="1568195"/>
              <a:ext cx="4794504" cy="495452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3059430">
              <a:lnSpc>
                <a:spcPct val="100000"/>
              </a:lnSpc>
              <a:spcBef>
                <a:spcPts val="95"/>
              </a:spcBef>
            </a:pPr>
            <a:r>
              <a:rPr dirty="0"/>
              <a:t>Dosya</a:t>
            </a:r>
            <a:r>
              <a:rPr spc="-55" dirty="0"/>
              <a:t> </a:t>
            </a:r>
            <a:r>
              <a:rPr dirty="0"/>
              <a:t>Gezgini</a:t>
            </a:r>
            <a:r>
              <a:rPr spc="-45" dirty="0"/>
              <a:t> </a:t>
            </a:r>
            <a:r>
              <a:rPr dirty="0"/>
              <a:t>ile</a:t>
            </a:r>
            <a:r>
              <a:rPr spc="-105" dirty="0"/>
              <a:t> </a:t>
            </a:r>
            <a:r>
              <a:rPr spc="-10" dirty="0"/>
              <a:t>Yönetmek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29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9153" y="1592071"/>
            <a:ext cx="4487545" cy="285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3840" marR="5080" indent="-231775" algn="just">
              <a:lnSpc>
                <a:spcPct val="100000"/>
              </a:lnSpc>
              <a:spcBef>
                <a:spcPts val="10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243840" algn="l"/>
              </a:tabLst>
            </a:pP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</a:t>
            </a:r>
            <a:r>
              <a:rPr sz="26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Gezgin'ini</a:t>
            </a:r>
            <a:r>
              <a:rPr sz="26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açmak</a:t>
            </a:r>
            <a:r>
              <a:rPr sz="26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aşağıdaki</a:t>
            </a:r>
            <a:r>
              <a:rPr sz="26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  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yollardan</a:t>
            </a:r>
            <a:r>
              <a:rPr sz="2600" spc="320" dirty="0">
                <a:solidFill>
                  <a:srgbClr val="2C241F"/>
                </a:solidFill>
                <a:latin typeface="Microsoft Sans Serif"/>
                <a:cs typeface="Microsoft Sans Serif"/>
              </a:rPr>
              <a:t>    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biri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kullanılabilir;</a:t>
            </a:r>
            <a:endParaRPr sz="2600">
              <a:latin typeface="Microsoft Sans Serif"/>
              <a:cs typeface="Microsoft Sans Serif"/>
            </a:endParaRPr>
          </a:p>
          <a:p>
            <a:pPr marL="744220" marR="6985" lvl="1" indent="-182880" algn="just">
              <a:lnSpc>
                <a:spcPct val="100000"/>
              </a:lnSpc>
              <a:spcBef>
                <a:spcPts val="800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7442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Arama</a:t>
            </a:r>
            <a:r>
              <a:rPr sz="2400" spc="4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kısmından</a:t>
            </a:r>
            <a:r>
              <a:rPr sz="2400" spc="4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Gezgini</a:t>
            </a:r>
            <a:r>
              <a:rPr sz="2400" spc="-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aratılır.</a:t>
            </a:r>
            <a:endParaRPr sz="2400">
              <a:latin typeface="Microsoft Sans Serif"/>
              <a:cs typeface="Microsoft Sans Serif"/>
            </a:endParaRPr>
          </a:p>
          <a:p>
            <a:pPr marL="744220" marR="6350" lvl="1" indent="-182880" algn="just">
              <a:lnSpc>
                <a:spcPct val="100000"/>
              </a:lnSpc>
              <a:spcBef>
                <a:spcPts val="605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7442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</a:t>
            </a:r>
            <a:r>
              <a:rPr sz="24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tuşu</a:t>
            </a:r>
            <a:r>
              <a:rPr sz="2400" spc="3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24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birlikte</a:t>
            </a:r>
            <a:r>
              <a:rPr sz="24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harfine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tıklanır.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94630" y="4498670"/>
            <a:ext cx="10496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1495" algn="just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sağ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kısayol "</a:t>
            </a:r>
            <a:r>
              <a:rPr sz="2400" b="1" i="1" spc="-10" dirty="0">
                <a:solidFill>
                  <a:srgbClr val="2C241F"/>
                </a:solidFill>
                <a:latin typeface="Arial"/>
                <a:cs typeface="Arial"/>
              </a:rPr>
              <a:t>Dosya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07794" y="4498670"/>
            <a:ext cx="288734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5080" indent="-182880">
              <a:lnSpc>
                <a:spcPct val="100000"/>
              </a:lnSpc>
              <a:spcBef>
                <a:spcPts val="100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195580" algn="l"/>
                <a:tab pos="1351915" algn="l"/>
                <a:tab pos="1600200" algn="l"/>
                <a:tab pos="191897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Başlat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butonuna tıklanır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açılan menüsünden 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Gezgini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"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seçilir.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2143125">
              <a:lnSpc>
                <a:spcPct val="100000"/>
              </a:lnSpc>
              <a:spcBef>
                <a:spcPts val="95"/>
              </a:spcBef>
            </a:pPr>
            <a:r>
              <a:rPr dirty="0"/>
              <a:t>Dosya</a:t>
            </a:r>
            <a:r>
              <a:rPr spc="-55" dirty="0"/>
              <a:t> </a:t>
            </a:r>
            <a:r>
              <a:rPr dirty="0"/>
              <a:t>ve</a:t>
            </a:r>
            <a:r>
              <a:rPr spc="-45" dirty="0"/>
              <a:t> </a:t>
            </a:r>
            <a:r>
              <a:rPr dirty="0"/>
              <a:t>Klasörleri</a:t>
            </a:r>
            <a:r>
              <a:rPr spc="-40" dirty="0"/>
              <a:t> </a:t>
            </a:r>
            <a:r>
              <a:rPr spc="-10" dirty="0"/>
              <a:t>Kopyalamak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30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marR="5715" indent="-230504">
              <a:lnSpc>
                <a:spcPct val="110100"/>
              </a:lnSpc>
              <a:spcBef>
                <a:spcPts val="10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243840" algn="l"/>
                <a:tab pos="1572895" algn="l"/>
                <a:tab pos="2792730" algn="l"/>
                <a:tab pos="3955415" algn="l"/>
                <a:tab pos="4455160" algn="l"/>
                <a:tab pos="5932170" algn="l"/>
                <a:tab pos="9023350" algn="l"/>
              </a:tabLst>
            </a:pPr>
            <a:r>
              <a:rPr spc="-10" dirty="0"/>
              <a:t>Kopyala</a:t>
            </a:r>
            <a:r>
              <a:rPr dirty="0"/>
              <a:t>	</a:t>
            </a:r>
            <a:r>
              <a:rPr spc="-10" dirty="0"/>
              <a:t>komutu</a:t>
            </a:r>
            <a:r>
              <a:rPr dirty="0"/>
              <a:t>	</a:t>
            </a:r>
            <a:r>
              <a:rPr spc="-10" dirty="0"/>
              <a:t>seçilen</a:t>
            </a:r>
            <a:r>
              <a:rPr dirty="0"/>
              <a:t>	</a:t>
            </a:r>
            <a:r>
              <a:rPr spc="-25" dirty="0"/>
              <a:t>bir</a:t>
            </a:r>
            <a:r>
              <a:rPr dirty="0"/>
              <a:t>	</a:t>
            </a:r>
            <a:r>
              <a:rPr spc="-10" dirty="0"/>
              <a:t>nesnenin</a:t>
            </a:r>
            <a:r>
              <a:rPr dirty="0"/>
              <a:t>	</a:t>
            </a:r>
            <a:r>
              <a:rPr spc="-10" dirty="0"/>
              <a:t>(dosya/klasör/metin,</a:t>
            </a:r>
            <a:r>
              <a:rPr dirty="0"/>
              <a:t>	</a:t>
            </a:r>
            <a:r>
              <a:rPr spc="-20" dirty="0"/>
              <a:t>vb.) 	</a:t>
            </a:r>
            <a:r>
              <a:rPr dirty="0"/>
              <a:t>çoğaltılması</a:t>
            </a:r>
            <a:r>
              <a:rPr spc="75" dirty="0"/>
              <a:t> </a:t>
            </a:r>
            <a:r>
              <a:rPr dirty="0"/>
              <a:t>için</a:t>
            </a:r>
            <a:r>
              <a:rPr spc="65" dirty="0"/>
              <a:t> </a:t>
            </a:r>
            <a:r>
              <a:rPr spc="-10" dirty="0"/>
              <a:t>kullanılır.</a:t>
            </a:r>
          </a:p>
          <a:p>
            <a:pPr marL="243840" marR="5080" indent="-231775">
              <a:lnSpc>
                <a:spcPct val="110000"/>
              </a:lnSpc>
              <a:spcBef>
                <a:spcPts val="109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243840" algn="l"/>
              </a:tabLst>
            </a:pPr>
            <a:r>
              <a:rPr dirty="0"/>
              <a:t>Kopyalanacak</a:t>
            </a:r>
            <a:r>
              <a:rPr spc="260" dirty="0"/>
              <a:t> </a:t>
            </a:r>
            <a:r>
              <a:rPr dirty="0"/>
              <a:t>nesne</a:t>
            </a:r>
            <a:r>
              <a:rPr spc="250" dirty="0"/>
              <a:t> </a:t>
            </a:r>
            <a:r>
              <a:rPr dirty="0"/>
              <a:t>seçildikten</a:t>
            </a:r>
            <a:r>
              <a:rPr spc="265" dirty="0"/>
              <a:t> </a:t>
            </a:r>
            <a:r>
              <a:rPr dirty="0"/>
              <a:t>sonra</a:t>
            </a:r>
            <a:r>
              <a:rPr spc="254" dirty="0"/>
              <a:t> </a:t>
            </a:r>
            <a:r>
              <a:rPr dirty="0"/>
              <a:t>aşağıdaki</a:t>
            </a:r>
            <a:r>
              <a:rPr spc="265" dirty="0"/>
              <a:t> </a:t>
            </a:r>
            <a:r>
              <a:rPr dirty="0"/>
              <a:t>yollardan</a:t>
            </a:r>
            <a:r>
              <a:rPr spc="254" dirty="0"/>
              <a:t> </a:t>
            </a:r>
            <a:r>
              <a:rPr spc="-20" dirty="0"/>
              <a:t>biri </a:t>
            </a:r>
            <a:r>
              <a:rPr spc="-10" dirty="0"/>
              <a:t>kullanılabilir:</a:t>
            </a:r>
          </a:p>
          <a:p>
            <a:pPr marL="564515" lvl="1" indent="-182245">
              <a:lnSpc>
                <a:spcPct val="100000"/>
              </a:lnSpc>
              <a:spcBef>
                <a:spcPts val="509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56451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Giriş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menüsü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630" dirty="0">
                <a:solidFill>
                  <a:srgbClr val="2C241F"/>
                </a:solidFill>
                <a:latin typeface="Microsoft Sans Serif"/>
                <a:cs typeface="Microsoft Sans Serif"/>
              </a:rPr>
              <a:t>–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Kopyala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seçeneği</a:t>
            </a:r>
            <a:endParaRPr sz="2400">
              <a:latin typeface="Microsoft Sans Serif"/>
              <a:cs typeface="Microsoft Sans Serif"/>
            </a:endParaRPr>
          </a:p>
          <a:p>
            <a:pPr marL="564515" lvl="1" indent="-182245">
              <a:lnSpc>
                <a:spcPct val="100000"/>
              </a:lnSpc>
              <a:spcBef>
                <a:spcPts val="885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56451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Seçili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</a:t>
            </a:r>
            <a:r>
              <a:rPr sz="24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</a:t>
            </a:r>
            <a:r>
              <a:rPr sz="24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iken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fare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tuşu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580" dirty="0">
                <a:solidFill>
                  <a:srgbClr val="2C241F"/>
                </a:solidFill>
                <a:latin typeface="Microsoft Sans Serif"/>
                <a:cs typeface="Microsoft Sans Serif"/>
              </a:rPr>
              <a:t>–</a:t>
            </a:r>
            <a:endParaRPr sz="2400">
              <a:latin typeface="Microsoft Sans Serif"/>
              <a:cs typeface="Microsoft Sans Serif"/>
            </a:endParaRPr>
          </a:p>
          <a:p>
            <a:pPr marL="565150">
              <a:lnSpc>
                <a:spcPct val="100000"/>
              </a:lnSpc>
              <a:spcBef>
                <a:spcPts val="290"/>
              </a:spcBef>
            </a:pPr>
            <a:r>
              <a:rPr sz="2400" dirty="0"/>
              <a:t>Kopyala</a:t>
            </a:r>
            <a:r>
              <a:rPr sz="2400" spc="-75" dirty="0"/>
              <a:t> </a:t>
            </a:r>
            <a:r>
              <a:rPr sz="2400" spc="-10" dirty="0"/>
              <a:t>seçeneği</a:t>
            </a:r>
            <a:endParaRPr sz="2400"/>
          </a:p>
          <a:p>
            <a:pPr marL="564515" lvl="1" indent="-182245">
              <a:lnSpc>
                <a:spcPct val="100000"/>
              </a:lnSpc>
              <a:spcBef>
                <a:spcPts val="890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56451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Klavyeden</a:t>
            </a:r>
            <a:r>
              <a:rPr sz="24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CTRL+C</a:t>
            </a:r>
            <a:r>
              <a:rPr sz="2400" b="1" spc="-1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komutları</a:t>
            </a:r>
            <a:endParaRPr sz="2400">
              <a:latin typeface="Microsoft Sans Serif"/>
              <a:cs typeface="Microsoft Sans Serif"/>
            </a:endParaRPr>
          </a:p>
          <a:p>
            <a:pPr marL="564515" lvl="1" indent="-182245">
              <a:lnSpc>
                <a:spcPct val="100000"/>
              </a:lnSpc>
              <a:spcBef>
                <a:spcPts val="890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56451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Ctrl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tuşu</a:t>
            </a:r>
            <a:r>
              <a:rPr sz="24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basılı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iken</a:t>
            </a:r>
            <a:r>
              <a:rPr sz="24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kopyalanacak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klasöre</a:t>
            </a:r>
            <a:endParaRPr sz="2400">
              <a:latin typeface="Microsoft Sans Serif"/>
              <a:cs typeface="Microsoft Sans Serif"/>
            </a:endParaRPr>
          </a:p>
          <a:p>
            <a:pPr marL="565150">
              <a:lnSpc>
                <a:spcPct val="100000"/>
              </a:lnSpc>
              <a:spcBef>
                <a:spcPts val="290"/>
              </a:spcBef>
            </a:pPr>
            <a:r>
              <a:rPr sz="2400" dirty="0"/>
              <a:t>sol</a:t>
            </a:r>
            <a:r>
              <a:rPr sz="2400" spc="-5" dirty="0"/>
              <a:t> </a:t>
            </a:r>
            <a:r>
              <a:rPr sz="2400" dirty="0"/>
              <a:t>tuş</a:t>
            </a:r>
            <a:r>
              <a:rPr sz="2400" spc="-10" dirty="0"/>
              <a:t> </a:t>
            </a:r>
            <a:r>
              <a:rPr sz="2400" dirty="0"/>
              <a:t>basılı</a:t>
            </a:r>
            <a:r>
              <a:rPr sz="2400" spc="20" dirty="0"/>
              <a:t> </a:t>
            </a:r>
            <a:r>
              <a:rPr sz="2400" dirty="0"/>
              <a:t>tutularak</a:t>
            </a:r>
            <a:r>
              <a:rPr sz="2400" spc="5" dirty="0"/>
              <a:t> </a:t>
            </a:r>
            <a:r>
              <a:rPr sz="2400" dirty="0"/>
              <a:t>sürüklenip</a:t>
            </a:r>
            <a:r>
              <a:rPr sz="2400" spc="20" dirty="0"/>
              <a:t> </a:t>
            </a:r>
            <a:r>
              <a:rPr sz="2400" spc="-10" dirty="0"/>
              <a:t>bırakılır.</a:t>
            </a:r>
            <a:endParaRPr sz="2400"/>
          </a:p>
        </p:txBody>
      </p:sp>
      <p:grpSp>
        <p:nvGrpSpPr>
          <p:cNvPr id="8" name="object 8"/>
          <p:cNvGrpSpPr/>
          <p:nvPr/>
        </p:nvGrpSpPr>
        <p:grpSpPr>
          <a:xfrm>
            <a:off x="7722107" y="3378708"/>
            <a:ext cx="3720465" cy="2054860"/>
            <a:chOff x="7722107" y="3378708"/>
            <a:chExt cx="3720465" cy="20548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2107" y="3378708"/>
              <a:ext cx="3720084" cy="20544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17179" y="3573780"/>
              <a:ext cx="3150107" cy="14843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3030220">
              <a:lnSpc>
                <a:spcPct val="100000"/>
              </a:lnSpc>
              <a:spcBef>
                <a:spcPts val="95"/>
              </a:spcBef>
            </a:pPr>
            <a:r>
              <a:rPr dirty="0"/>
              <a:t>Dosya</a:t>
            </a:r>
            <a:r>
              <a:rPr spc="-55" dirty="0"/>
              <a:t> </a:t>
            </a:r>
            <a:r>
              <a:rPr dirty="0"/>
              <a:t>ve</a:t>
            </a:r>
            <a:r>
              <a:rPr spc="-45" dirty="0"/>
              <a:t> </a:t>
            </a:r>
            <a:r>
              <a:rPr dirty="0"/>
              <a:t>Klasörleri</a:t>
            </a:r>
            <a:r>
              <a:rPr spc="-40" dirty="0"/>
              <a:t> </a:t>
            </a:r>
            <a:r>
              <a:rPr spc="-10" dirty="0"/>
              <a:t>Kesmek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2085" y="1540966"/>
            <a:ext cx="9590405" cy="898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marR="5080" indent="-230504">
              <a:lnSpc>
                <a:spcPct val="110100"/>
              </a:lnSpc>
              <a:spcBef>
                <a:spcPts val="10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243840" algn="l"/>
                <a:tab pos="966469" algn="l"/>
                <a:tab pos="2200910" algn="l"/>
                <a:tab pos="3382010" algn="l"/>
                <a:tab pos="3900170" algn="l"/>
                <a:tab pos="5397500" algn="l"/>
                <a:tab pos="8506460" algn="l"/>
                <a:tab pos="9209405" algn="l"/>
              </a:tabLst>
            </a:pP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Kes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komutu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seçilen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nesnenin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(dosya/klasör/metin,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vb.)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 	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yerden</a:t>
            </a:r>
            <a:r>
              <a:rPr sz="26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başka</a:t>
            </a:r>
            <a:r>
              <a:rPr sz="26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6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yere</a:t>
            </a:r>
            <a:r>
              <a:rPr sz="26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taşınması</a:t>
            </a:r>
            <a:r>
              <a:rPr sz="26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6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80678" y="2591181"/>
            <a:ext cx="20485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94485" algn="l"/>
              </a:tabLst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yollardan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biri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2085" y="2552506"/>
            <a:ext cx="7323455" cy="3568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marR="5080" indent="-231775">
              <a:lnSpc>
                <a:spcPct val="110000"/>
              </a:lnSpc>
              <a:spcBef>
                <a:spcPts val="9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243840" algn="l"/>
                <a:tab pos="1899285" algn="l"/>
                <a:tab pos="3042285" algn="l"/>
                <a:tab pos="4826000" algn="l"/>
                <a:tab pos="5895340" algn="l"/>
              </a:tabLst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Kesilecek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nesne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seçildikten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sonra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aşağıdaki kullanılabilir:</a:t>
            </a:r>
            <a:endParaRPr sz="2600">
              <a:latin typeface="Microsoft Sans Serif"/>
              <a:cs typeface="Microsoft Sans Serif"/>
            </a:endParaRPr>
          </a:p>
          <a:p>
            <a:pPr marL="564515" lvl="1" indent="-182245">
              <a:lnSpc>
                <a:spcPct val="100000"/>
              </a:lnSpc>
              <a:spcBef>
                <a:spcPts val="505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56451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Giriş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menüsü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630" dirty="0">
                <a:solidFill>
                  <a:srgbClr val="2C241F"/>
                </a:solidFill>
                <a:latin typeface="Microsoft Sans Serif"/>
                <a:cs typeface="Microsoft Sans Serif"/>
              </a:rPr>
              <a:t>–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Kes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seçeneği</a:t>
            </a:r>
            <a:endParaRPr sz="2400">
              <a:latin typeface="Microsoft Sans Serif"/>
              <a:cs typeface="Microsoft Sans Serif"/>
            </a:endParaRPr>
          </a:p>
          <a:p>
            <a:pPr marL="564515" lvl="1" indent="-182245">
              <a:lnSpc>
                <a:spcPct val="100000"/>
              </a:lnSpc>
              <a:spcBef>
                <a:spcPts val="890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56451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Seçili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</a:t>
            </a:r>
            <a:r>
              <a:rPr sz="24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</a:t>
            </a:r>
            <a:r>
              <a:rPr sz="24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iken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fare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tuşu</a:t>
            </a:r>
            <a:r>
              <a:rPr sz="24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580" dirty="0">
                <a:solidFill>
                  <a:srgbClr val="2C241F"/>
                </a:solidFill>
                <a:latin typeface="Microsoft Sans Serif"/>
                <a:cs typeface="Microsoft Sans Serif"/>
              </a:rPr>
              <a:t>–</a:t>
            </a:r>
            <a:endParaRPr sz="2400">
              <a:latin typeface="Microsoft Sans Serif"/>
              <a:cs typeface="Microsoft Sans Serif"/>
            </a:endParaRPr>
          </a:p>
          <a:p>
            <a:pPr marL="56515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Kes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seçeneği</a:t>
            </a:r>
            <a:endParaRPr sz="2400">
              <a:latin typeface="Microsoft Sans Serif"/>
              <a:cs typeface="Microsoft Sans Serif"/>
            </a:endParaRPr>
          </a:p>
          <a:p>
            <a:pPr marL="564515" lvl="1" indent="-182245">
              <a:lnSpc>
                <a:spcPct val="100000"/>
              </a:lnSpc>
              <a:spcBef>
                <a:spcPts val="890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56451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Klavyeden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CTRL+X</a:t>
            </a:r>
            <a:r>
              <a:rPr sz="2400" b="1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komutları</a:t>
            </a:r>
            <a:endParaRPr sz="2400">
              <a:latin typeface="Microsoft Sans Serif"/>
              <a:cs typeface="Microsoft Sans Serif"/>
            </a:endParaRPr>
          </a:p>
          <a:p>
            <a:pPr marL="564515" lvl="1" indent="-182245">
              <a:lnSpc>
                <a:spcPct val="100000"/>
              </a:lnSpc>
              <a:spcBef>
                <a:spcPts val="885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564515" algn="l"/>
                <a:tab pos="1350010" algn="l"/>
                <a:tab pos="2101850" algn="l"/>
                <a:tab pos="3005455" algn="l"/>
                <a:tab pos="3741420" algn="l"/>
                <a:tab pos="522351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Shift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tuşu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basılı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iken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taşınacak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klasöre</a:t>
            </a:r>
            <a:endParaRPr sz="2400">
              <a:latin typeface="Microsoft Sans Serif"/>
              <a:cs typeface="Microsoft Sans Serif"/>
            </a:endParaRPr>
          </a:p>
          <a:p>
            <a:pPr marL="56515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sol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basılı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tutularak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sürüklenip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bırakılır.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22107" y="3378708"/>
            <a:ext cx="3720465" cy="2054860"/>
            <a:chOff x="7722107" y="3378708"/>
            <a:chExt cx="3720465" cy="205486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2107" y="3378708"/>
              <a:ext cx="3720084" cy="20544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17179" y="3573780"/>
              <a:ext cx="3150107" cy="14843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2270125">
              <a:lnSpc>
                <a:spcPct val="100000"/>
              </a:lnSpc>
              <a:spcBef>
                <a:spcPts val="95"/>
              </a:spcBef>
            </a:pPr>
            <a:r>
              <a:rPr dirty="0"/>
              <a:t>Dosya</a:t>
            </a:r>
            <a:r>
              <a:rPr spc="-55" dirty="0"/>
              <a:t> </a:t>
            </a:r>
            <a:r>
              <a:rPr dirty="0"/>
              <a:t>ve</a:t>
            </a:r>
            <a:r>
              <a:rPr spc="-50" dirty="0"/>
              <a:t> </a:t>
            </a:r>
            <a:r>
              <a:rPr dirty="0"/>
              <a:t>Klasörleri</a:t>
            </a:r>
            <a:r>
              <a:rPr spc="-95" dirty="0"/>
              <a:t> </a:t>
            </a:r>
            <a:r>
              <a:rPr spc="-10" dirty="0"/>
              <a:t>Yapıştırmak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2570" marR="5080" indent="-230504" algn="just">
              <a:lnSpc>
                <a:spcPct val="110000"/>
              </a:lnSpc>
              <a:spcBef>
                <a:spcPts val="10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243840" algn="l"/>
              </a:tabLst>
            </a:pPr>
            <a:r>
              <a:rPr dirty="0"/>
              <a:t>Yapıştır</a:t>
            </a:r>
            <a:r>
              <a:rPr spc="405" dirty="0"/>
              <a:t>  </a:t>
            </a:r>
            <a:r>
              <a:rPr dirty="0"/>
              <a:t>komutu</a:t>
            </a:r>
            <a:r>
              <a:rPr spc="400" dirty="0"/>
              <a:t>  </a:t>
            </a:r>
            <a:r>
              <a:rPr dirty="0"/>
              <a:t>kesilen</a:t>
            </a:r>
            <a:r>
              <a:rPr spc="400" dirty="0"/>
              <a:t>  </a:t>
            </a:r>
            <a:r>
              <a:rPr dirty="0"/>
              <a:t>ya</a:t>
            </a:r>
            <a:r>
              <a:rPr spc="395" dirty="0"/>
              <a:t>  </a:t>
            </a:r>
            <a:r>
              <a:rPr dirty="0"/>
              <a:t>da</a:t>
            </a:r>
            <a:r>
              <a:rPr spc="400" dirty="0"/>
              <a:t>  </a:t>
            </a:r>
            <a:r>
              <a:rPr dirty="0"/>
              <a:t>kopyalanan</a:t>
            </a:r>
            <a:r>
              <a:rPr spc="405" dirty="0"/>
              <a:t>  </a:t>
            </a:r>
            <a:r>
              <a:rPr dirty="0"/>
              <a:t>bir</a:t>
            </a:r>
            <a:r>
              <a:rPr spc="395" dirty="0"/>
              <a:t>  </a:t>
            </a:r>
            <a:r>
              <a:rPr spc="-10" dirty="0"/>
              <a:t>nesnenin 	</a:t>
            </a:r>
            <a:r>
              <a:rPr dirty="0"/>
              <a:t>(dosya/klasör/metin,</a:t>
            </a:r>
            <a:r>
              <a:rPr spc="500" dirty="0"/>
              <a:t> </a:t>
            </a:r>
            <a:r>
              <a:rPr dirty="0"/>
              <a:t>vb.)</a:t>
            </a:r>
            <a:r>
              <a:rPr spc="490" dirty="0"/>
              <a:t> </a:t>
            </a:r>
            <a:r>
              <a:rPr dirty="0"/>
              <a:t>bir</a:t>
            </a:r>
            <a:r>
              <a:rPr spc="505" dirty="0"/>
              <a:t> </a:t>
            </a:r>
            <a:r>
              <a:rPr dirty="0"/>
              <a:t>yerden</a:t>
            </a:r>
            <a:r>
              <a:rPr spc="505" dirty="0"/>
              <a:t> </a:t>
            </a:r>
            <a:r>
              <a:rPr dirty="0"/>
              <a:t>başka</a:t>
            </a:r>
            <a:r>
              <a:rPr spc="495" dirty="0"/>
              <a:t> </a:t>
            </a:r>
            <a:r>
              <a:rPr dirty="0"/>
              <a:t>bir</a:t>
            </a:r>
            <a:r>
              <a:rPr spc="490" dirty="0"/>
              <a:t> </a:t>
            </a:r>
            <a:r>
              <a:rPr dirty="0"/>
              <a:t>yere</a:t>
            </a:r>
            <a:r>
              <a:rPr spc="500" dirty="0"/>
              <a:t> </a:t>
            </a:r>
            <a:r>
              <a:rPr spc="-10" dirty="0"/>
              <a:t>taşınması 	</a:t>
            </a:r>
            <a:r>
              <a:rPr dirty="0"/>
              <a:t>veya</a:t>
            </a:r>
            <a:r>
              <a:rPr spc="-15" dirty="0"/>
              <a:t> </a:t>
            </a:r>
            <a:r>
              <a:rPr dirty="0"/>
              <a:t>kopyalama</a:t>
            </a:r>
            <a:r>
              <a:rPr spc="-40" dirty="0"/>
              <a:t> </a:t>
            </a:r>
            <a:r>
              <a:rPr dirty="0"/>
              <a:t>işlemini</a:t>
            </a:r>
            <a:r>
              <a:rPr spc="-35" dirty="0"/>
              <a:t> </a:t>
            </a:r>
            <a:r>
              <a:rPr dirty="0"/>
              <a:t>tamamlamak</a:t>
            </a:r>
            <a:r>
              <a:rPr spc="-40" dirty="0"/>
              <a:t> </a:t>
            </a:r>
            <a:r>
              <a:rPr dirty="0"/>
              <a:t>için</a:t>
            </a:r>
            <a:r>
              <a:rPr spc="-10" dirty="0"/>
              <a:t> kullanılır.</a:t>
            </a:r>
          </a:p>
          <a:p>
            <a:pPr marL="243204" indent="-230504" algn="just">
              <a:lnSpc>
                <a:spcPct val="100000"/>
              </a:lnSpc>
              <a:spcBef>
                <a:spcPts val="140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243204" algn="l"/>
              </a:tabLst>
            </a:pPr>
            <a:r>
              <a:rPr dirty="0"/>
              <a:t>Yapıştırma</a:t>
            </a:r>
            <a:r>
              <a:rPr spc="-5" dirty="0"/>
              <a:t> </a:t>
            </a:r>
            <a:r>
              <a:rPr dirty="0"/>
              <a:t>işlemi</a:t>
            </a:r>
            <a:r>
              <a:rPr spc="-25" dirty="0"/>
              <a:t> </a:t>
            </a:r>
            <a:r>
              <a:rPr dirty="0"/>
              <a:t>için</a:t>
            </a:r>
            <a:r>
              <a:rPr spc="-25" dirty="0"/>
              <a:t> </a:t>
            </a:r>
            <a:r>
              <a:rPr dirty="0"/>
              <a:t>aşağıdaki</a:t>
            </a:r>
            <a:r>
              <a:rPr spc="-10" dirty="0"/>
              <a:t> </a:t>
            </a:r>
            <a:r>
              <a:rPr dirty="0"/>
              <a:t>yollardan</a:t>
            </a:r>
            <a:r>
              <a:rPr spc="-25" dirty="0"/>
              <a:t> </a:t>
            </a:r>
            <a:r>
              <a:rPr dirty="0"/>
              <a:t>biri</a:t>
            </a:r>
            <a:r>
              <a:rPr spc="-15" dirty="0"/>
              <a:t> </a:t>
            </a:r>
            <a:r>
              <a:rPr spc="-10" dirty="0"/>
              <a:t>kullanılabilir:</a:t>
            </a:r>
          </a:p>
          <a:p>
            <a:pPr marL="564515" lvl="1" indent="-182245" algn="just">
              <a:lnSpc>
                <a:spcPct val="100000"/>
              </a:lnSpc>
              <a:spcBef>
                <a:spcPts val="990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56451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Giriş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menüsü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630" dirty="0">
                <a:solidFill>
                  <a:srgbClr val="2C241F"/>
                </a:solidFill>
                <a:latin typeface="Microsoft Sans Serif"/>
                <a:cs typeface="Microsoft Sans Serif"/>
              </a:rPr>
              <a:t>–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Yapıştır</a:t>
            </a:r>
            <a:r>
              <a:rPr sz="2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seçeneği</a:t>
            </a:r>
            <a:endParaRPr sz="2400">
              <a:latin typeface="Microsoft Sans Serif"/>
              <a:cs typeface="Microsoft Sans Serif"/>
            </a:endParaRPr>
          </a:p>
          <a:p>
            <a:pPr marL="564515" lvl="1" indent="-182245" algn="just">
              <a:lnSpc>
                <a:spcPct val="100000"/>
              </a:lnSpc>
              <a:spcBef>
                <a:spcPts val="885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56451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İstenilen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içindeyken</a:t>
            </a:r>
            <a:r>
              <a:rPr sz="24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</a:t>
            </a:r>
            <a:r>
              <a:rPr sz="24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fare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tuşu</a:t>
            </a:r>
            <a:r>
              <a:rPr sz="24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580" dirty="0">
                <a:solidFill>
                  <a:srgbClr val="2C241F"/>
                </a:solidFill>
                <a:latin typeface="Microsoft Sans Serif"/>
                <a:cs typeface="Microsoft Sans Serif"/>
              </a:rPr>
              <a:t>–</a:t>
            </a:r>
            <a:endParaRPr sz="2400">
              <a:latin typeface="Microsoft Sans Serif"/>
              <a:cs typeface="Microsoft Sans Serif"/>
            </a:endParaRPr>
          </a:p>
          <a:p>
            <a:pPr marL="565150" algn="just">
              <a:lnSpc>
                <a:spcPct val="100000"/>
              </a:lnSpc>
              <a:spcBef>
                <a:spcPts val="290"/>
              </a:spcBef>
            </a:pPr>
            <a:r>
              <a:rPr sz="2400" dirty="0"/>
              <a:t>Yapıştır</a:t>
            </a:r>
            <a:r>
              <a:rPr sz="2400" spc="45" dirty="0"/>
              <a:t> </a:t>
            </a:r>
            <a:r>
              <a:rPr sz="2400" spc="-10" dirty="0"/>
              <a:t>seçeneği</a:t>
            </a:r>
            <a:endParaRPr sz="2400"/>
          </a:p>
          <a:p>
            <a:pPr marL="564515" lvl="1" indent="-182245" algn="just">
              <a:lnSpc>
                <a:spcPct val="100000"/>
              </a:lnSpc>
              <a:spcBef>
                <a:spcPts val="890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56451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Klavyeden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CTRL+V</a:t>
            </a:r>
            <a:r>
              <a:rPr sz="2400" b="1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komutları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722107" y="3378708"/>
            <a:ext cx="3720465" cy="2054860"/>
            <a:chOff x="7722107" y="3378708"/>
            <a:chExt cx="3720465" cy="20548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22107" y="3378708"/>
              <a:ext cx="3720084" cy="20544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17179" y="3573780"/>
              <a:ext cx="3150107" cy="14843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3891279">
              <a:lnSpc>
                <a:spcPct val="100000"/>
              </a:lnSpc>
              <a:spcBef>
                <a:spcPts val="95"/>
              </a:spcBef>
            </a:pPr>
            <a:r>
              <a:rPr dirty="0"/>
              <a:t>Dosya/Klasör</a:t>
            </a:r>
            <a:r>
              <a:rPr spc="-175" dirty="0"/>
              <a:t> </a:t>
            </a:r>
            <a:r>
              <a:rPr spc="-10" dirty="0"/>
              <a:t>Özellikleri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33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8576" y="1592326"/>
            <a:ext cx="15303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klasörlerin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97271" y="1592326"/>
            <a:ext cx="175323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özelliklerine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4450" y="1553312"/>
            <a:ext cx="1797050" cy="1333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10000"/>
              </a:lnSpc>
              <a:spcBef>
                <a:spcPts val="10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243840" algn="l"/>
                <a:tab pos="1435735" algn="l"/>
              </a:tabLst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bakarak üzerinde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29788" y="1989515"/>
            <a:ext cx="2727325" cy="897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7205" marR="5080" indent="-485140">
              <a:lnSpc>
                <a:spcPct val="110000"/>
              </a:lnSpc>
              <a:spcBef>
                <a:spcPts val="95"/>
              </a:spcBef>
              <a:tabLst>
                <a:tab pos="1336675" algn="l"/>
              </a:tabLst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türleri,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nitelikleri, kapladıkları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04890" y="1989515"/>
            <a:ext cx="746760" cy="897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2080">
              <a:lnSpc>
                <a:spcPct val="110000"/>
              </a:lnSpc>
              <a:spcBef>
                <a:spcPts val="95"/>
              </a:spcBef>
            </a:pP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disk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alan,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4450" y="2861284"/>
            <a:ext cx="5539105" cy="369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6985" algn="just">
              <a:lnSpc>
                <a:spcPct val="110000"/>
              </a:lnSpc>
              <a:spcBef>
                <a:spcPts val="100"/>
              </a:spcBef>
            </a:pP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oluşturulma</a:t>
            </a:r>
            <a:r>
              <a:rPr sz="2600" spc="3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tarihleri,</a:t>
            </a:r>
            <a:r>
              <a:rPr sz="2600" spc="3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konumları</a:t>
            </a:r>
            <a:r>
              <a:rPr sz="2600" spc="3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birçok</a:t>
            </a:r>
            <a:r>
              <a:rPr sz="26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bilgiye</a:t>
            </a:r>
            <a:r>
              <a:rPr sz="26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ulaşabiliriz.</a:t>
            </a:r>
            <a:endParaRPr sz="2600">
              <a:latin typeface="Microsoft Sans Serif"/>
              <a:cs typeface="Microsoft Sans Serif"/>
            </a:endParaRPr>
          </a:p>
          <a:p>
            <a:pPr marL="243840" marR="5080" indent="-231775" algn="just">
              <a:lnSpc>
                <a:spcPct val="110000"/>
              </a:lnSpc>
              <a:spcBef>
                <a:spcPts val="109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243840" algn="l"/>
              </a:tabLst>
            </a:pP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Dosya/klasör</a:t>
            </a:r>
            <a:r>
              <a:rPr sz="26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özellikleri</a:t>
            </a:r>
            <a:r>
              <a:rPr sz="26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penceresini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açmak</a:t>
            </a:r>
            <a:r>
              <a:rPr sz="26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endParaRPr sz="2600">
              <a:latin typeface="Microsoft Sans Serif"/>
              <a:cs typeface="Microsoft Sans Serif"/>
            </a:endParaRPr>
          </a:p>
          <a:p>
            <a:pPr marL="743585" marR="7620" lvl="1" indent="-182880" algn="just">
              <a:lnSpc>
                <a:spcPct val="110000"/>
              </a:lnSpc>
              <a:spcBef>
                <a:spcPts val="825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74358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Dosya/klasör</a:t>
            </a:r>
            <a:r>
              <a:rPr sz="24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seçildikten</a:t>
            </a:r>
            <a:r>
              <a:rPr sz="24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sonra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farenin</a:t>
            </a:r>
            <a:r>
              <a:rPr sz="2400" spc="5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</a:t>
            </a:r>
            <a:r>
              <a:rPr sz="2400" spc="5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tuşuna</a:t>
            </a:r>
            <a:r>
              <a:rPr sz="2400" spc="5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tıklanır</a:t>
            </a:r>
            <a:r>
              <a:rPr sz="2400" spc="5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Özellikler</a:t>
            </a:r>
            <a:r>
              <a:rPr sz="2400" spc="-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seçeneği</a:t>
            </a:r>
            <a:r>
              <a:rPr sz="2400" spc="-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seçilir.</a:t>
            </a:r>
            <a:endParaRPr sz="2400">
              <a:latin typeface="Microsoft Sans Serif"/>
              <a:cs typeface="Microsoft Sans Serif"/>
            </a:endParaRPr>
          </a:p>
          <a:p>
            <a:pPr marL="742950" lvl="1" indent="-182245" algn="just">
              <a:lnSpc>
                <a:spcPct val="100000"/>
              </a:lnSpc>
              <a:spcBef>
                <a:spcPts val="890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74295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Klavye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kısayol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tuşu: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Alt+Enter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774180" y="1542317"/>
            <a:ext cx="4715510" cy="5316220"/>
            <a:chOff x="6774180" y="1542317"/>
            <a:chExt cx="4715510" cy="531622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74180" y="1542317"/>
              <a:ext cx="4715256" cy="53156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9252" y="1737359"/>
              <a:ext cx="4145279" cy="4815840"/>
            </a:xfrm>
            <a:prstGeom prst="rect">
              <a:avLst/>
            </a:prstGeom>
          </p:spPr>
        </p:pic>
      </p:grpSp>
      <p:sp>
        <p:nvSpPr>
          <p:cNvPr id="16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39" y="0"/>
            <a:ext cx="10436860" cy="6858000"/>
            <a:chOff x="967739" y="0"/>
            <a:chExt cx="10436860" cy="6858000"/>
          </a:xfrm>
        </p:grpSpPr>
        <p:sp>
          <p:nvSpPr>
            <p:cNvPr id="3" name="object 3"/>
            <p:cNvSpPr/>
            <p:nvPr/>
          </p:nvSpPr>
          <p:spPr>
            <a:xfrm>
              <a:off x="967739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76659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84116" y="3080080"/>
            <a:ext cx="69367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WINDOWS</a:t>
            </a:r>
            <a:r>
              <a:rPr sz="5400" spc="-2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95" dirty="0">
                <a:solidFill>
                  <a:srgbClr val="FFFFFF"/>
                </a:solidFill>
                <a:latin typeface="Microsoft Sans Serif"/>
                <a:cs typeface="Microsoft Sans Serif"/>
              </a:rPr>
              <a:t>AYARLARI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34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73406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Ayarlar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35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68344" y="1631695"/>
            <a:ext cx="14351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Ayarlarını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3439" y="1592681"/>
            <a:ext cx="1911985" cy="1404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10000"/>
              </a:lnSpc>
              <a:spcBef>
                <a:spcPts val="100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243840" algn="l"/>
              </a:tabLst>
            </a:pP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 </a:t>
            </a:r>
            <a:r>
              <a:rPr sz="26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açmak</a:t>
            </a:r>
            <a:r>
              <a:rPr sz="26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6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için:</a:t>
            </a:r>
            <a:endParaRPr sz="2600">
              <a:latin typeface="Microsoft Sans Serif"/>
              <a:cs typeface="Microsoft Sans Serif"/>
            </a:endParaRPr>
          </a:p>
          <a:p>
            <a:pPr marL="743585" lvl="1" indent="-182245">
              <a:lnSpc>
                <a:spcPct val="100000"/>
              </a:lnSpc>
              <a:spcBef>
                <a:spcPts val="1110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74358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Arama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30015" y="2605227"/>
            <a:ext cx="17722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kutucuğunda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85010" y="2971545"/>
            <a:ext cx="3217545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  <a:tabLst>
                <a:tab pos="1214755" algn="l"/>
                <a:tab pos="242506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Ayarlar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öğesini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aratın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açın.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02129" y="3851756"/>
            <a:ext cx="1664970" cy="1233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5080" indent="-182880">
              <a:lnSpc>
                <a:spcPct val="110100"/>
              </a:lnSpc>
              <a:spcBef>
                <a:spcPts val="100"/>
              </a:spcBef>
              <a:buClr>
                <a:srgbClr val="EC3846"/>
              </a:buClr>
              <a:buSzPct val="79166"/>
              <a:buFont typeface="Wingdings"/>
              <a:buChar char=""/>
              <a:tabLst>
                <a:tab pos="19558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 kısayolunu ayarlara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96132" y="3851756"/>
            <a:ext cx="1607185" cy="12338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90"/>
              </a:spcBef>
              <a:tabLst>
                <a:tab pos="845185" algn="l"/>
                <a:tab pos="1496060" algn="l"/>
              </a:tabLst>
            </a:pP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(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)+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I</a:t>
            </a:r>
            <a:endParaRPr sz="2400">
              <a:latin typeface="Microsoft Sans Serif"/>
              <a:cs typeface="Microsoft Sans Serif"/>
            </a:endParaRPr>
          </a:p>
          <a:p>
            <a:pPr marR="5715" algn="r">
              <a:lnSpc>
                <a:spcPct val="100000"/>
              </a:lnSpc>
              <a:spcBef>
                <a:spcPts val="295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kullanarak</a:t>
            </a:r>
            <a:endParaRPr sz="2400">
              <a:latin typeface="Microsoft Sans Serif"/>
              <a:cs typeface="Microsoft Sans Serif"/>
            </a:endParaRPr>
          </a:p>
          <a:p>
            <a:pPr marR="5715" algn="r">
              <a:lnSpc>
                <a:spcPct val="100000"/>
              </a:lnSpc>
              <a:spcBef>
                <a:spcPts val="285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hızlıca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85010" y="5096383"/>
            <a:ext cx="1921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ulaşabilirsiniz.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889247" y="1449354"/>
            <a:ext cx="7594600" cy="5386070"/>
            <a:chOff x="3889247" y="1449354"/>
            <a:chExt cx="7594600" cy="538607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4271" y="1449354"/>
              <a:ext cx="6259068" cy="538581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9343" y="1644395"/>
              <a:ext cx="5689092" cy="481584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89247" y="3855719"/>
              <a:ext cx="446531" cy="4724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5332095">
              <a:lnSpc>
                <a:spcPct val="100000"/>
              </a:lnSpc>
              <a:spcBef>
                <a:spcPts val="95"/>
              </a:spcBef>
            </a:pPr>
            <a:r>
              <a:rPr dirty="0"/>
              <a:t>Microsoft</a:t>
            </a:r>
            <a:r>
              <a:rPr spc="-120" dirty="0"/>
              <a:t> </a:t>
            </a:r>
            <a:r>
              <a:rPr spc="-10" dirty="0"/>
              <a:t>Hesabı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50644" y="1459483"/>
            <a:ext cx="9680575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 algn="just">
              <a:lnSpc>
                <a:spcPct val="14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24384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Microsoft</a:t>
            </a:r>
            <a:r>
              <a:rPr sz="24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oturum</a:t>
            </a:r>
            <a:r>
              <a:rPr sz="24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açma</a:t>
            </a:r>
            <a:r>
              <a:rPr sz="24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bilgilerinizi</a:t>
            </a:r>
            <a:r>
              <a:rPr sz="24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kullanarak</a:t>
            </a:r>
            <a:r>
              <a:rPr sz="24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Internet'e</a:t>
            </a:r>
            <a:r>
              <a:rPr sz="24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bağlı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herhangi</a:t>
            </a:r>
            <a:r>
              <a:rPr sz="24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</a:t>
            </a:r>
            <a:r>
              <a:rPr sz="24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aygıtında</a:t>
            </a:r>
            <a:r>
              <a:rPr sz="24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(bilgisayar,</a:t>
            </a:r>
            <a:r>
              <a:rPr sz="24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tablet</a:t>
            </a:r>
            <a:r>
              <a:rPr sz="24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4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telefon)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oturum</a:t>
            </a:r>
            <a:r>
              <a:rPr sz="24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açtığınızda,</a:t>
            </a:r>
            <a:r>
              <a:rPr sz="24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otomatik</a:t>
            </a:r>
            <a:r>
              <a:rPr sz="24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4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</a:t>
            </a:r>
            <a:r>
              <a:rPr sz="24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bilgilerinize</a:t>
            </a:r>
            <a:r>
              <a:rPr sz="24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bağlanırsınız</a:t>
            </a:r>
            <a:r>
              <a:rPr sz="24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-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00577" y="3142234"/>
            <a:ext cx="7927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2665" algn="l"/>
                <a:tab pos="2536190" algn="l"/>
                <a:tab pos="3391535" algn="l"/>
                <a:tab pos="5109210" algn="l"/>
                <a:tab pos="715137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tekrar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girmenize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e-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postanızı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ayarlamanıza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36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086600" y="3500681"/>
            <a:ext cx="4396740" cy="3357879"/>
            <a:chOff x="7086600" y="3500681"/>
            <a:chExt cx="4396740" cy="3357879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86600" y="3500681"/>
              <a:ext cx="4396740" cy="33573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81671" y="3695699"/>
              <a:ext cx="3826764" cy="286359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282434" y="4533137"/>
              <a:ext cx="1788160" cy="664845"/>
            </a:xfrm>
            <a:custGeom>
              <a:avLst/>
              <a:gdLst/>
              <a:ahLst/>
              <a:cxnLst/>
              <a:rect l="l" t="t" r="r" b="b"/>
              <a:pathLst>
                <a:path w="1788159" h="664845">
                  <a:moveTo>
                    <a:pt x="0" y="332231"/>
                  </a:moveTo>
                  <a:lnTo>
                    <a:pt x="9691" y="283130"/>
                  </a:lnTo>
                  <a:lnTo>
                    <a:pt x="37843" y="236268"/>
                  </a:lnTo>
                  <a:lnTo>
                    <a:pt x="83074" y="192159"/>
                  </a:lnTo>
                  <a:lnTo>
                    <a:pt x="144000" y="151315"/>
                  </a:lnTo>
                  <a:lnTo>
                    <a:pt x="179917" y="132279"/>
                  </a:lnTo>
                  <a:lnTo>
                    <a:pt x="219239" y="114251"/>
                  </a:lnTo>
                  <a:lnTo>
                    <a:pt x="261794" y="97297"/>
                  </a:lnTo>
                  <a:lnTo>
                    <a:pt x="307409" y="81481"/>
                  </a:lnTo>
                  <a:lnTo>
                    <a:pt x="355911" y="66866"/>
                  </a:lnTo>
                  <a:lnTo>
                    <a:pt x="407127" y="53517"/>
                  </a:lnTo>
                  <a:lnTo>
                    <a:pt x="460884" y="41498"/>
                  </a:lnTo>
                  <a:lnTo>
                    <a:pt x="517010" y="30873"/>
                  </a:lnTo>
                  <a:lnTo>
                    <a:pt x="575331" y="21707"/>
                  </a:lnTo>
                  <a:lnTo>
                    <a:pt x="635676" y="14064"/>
                  </a:lnTo>
                  <a:lnTo>
                    <a:pt x="697870" y="8007"/>
                  </a:lnTo>
                  <a:lnTo>
                    <a:pt x="761742" y="3601"/>
                  </a:lnTo>
                  <a:lnTo>
                    <a:pt x="827118" y="911"/>
                  </a:lnTo>
                  <a:lnTo>
                    <a:pt x="893826" y="0"/>
                  </a:lnTo>
                  <a:lnTo>
                    <a:pt x="960533" y="911"/>
                  </a:lnTo>
                  <a:lnTo>
                    <a:pt x="1025909" y="3601"/>
                  </a:lnTo>
                  <a:lnTo>
                    <a:pt x="1089781" y="8007"/>
                  </a:lnTo>
                  <a:lnTo>
                    <a:pt x="1151975" y="14064"/>
                  </a:lnTo>
                  <a:lnTo>
                    <a:pt x="1212320" y="21707"/>
                  </a:lnTo>
                  <a:lnTo>
                    <a:pt x="1270641" y="30873"/>
                  </a:lnTo>
                  <a:lnTo>
                    <a:pt x="1326767" y="41498"/>
                  </a:lnTo>
                  <a:lnTo>
                    <a:pt x="1380524" y="53517"/>
                  </a:lnTo>
                  <a:lnTo>
                    <a:pt x="1431740" y="66866"/>
                  </a:lnTo>
                  <a:lnTo>
                    <a:pt x="1480242" y="81481"/>
                  </a:lnTo>
                  <a:lnTo>
                    <a:pt x="1525857" y="97297"/>
                  </a:lnTo>
                  <a:lnTo>
                    <a:pt x="1568412" y="114251"/>
                  </a:lnTo>
                  <a:lnTo>
                    <a:pt x="1607734" y="132279"/>
                  </a:lnTo>
                  <a:lnTo>
                    <a:pt x="1643651" y="151315"/>
                  </a:lnTo>
                  <a:lnTo>
                    <a:pt x="1704577" y="192159"/>
                  </a:lnTo>
                  <a:lnTo>
                    <a:pt x="1749808" y="236268"/>
                  </a:lnTo>
                  <a:lnTo>
                    <a:pt x="1777960" y="283130"/>
                  </a:lnTo>
                  <a:lnTo>
                    <a:pt x="1787652" y="332231"/>
                  </a:lnTo>
                  <a:lnTo>
                    <a:pt x="1785200" y="357030"/>
                  </a:lnTo>
                  <a:lnTo>
                    <a:pt x="1766105" y="405076"/>
                  </a:lnTo>
                  <a:lnTo>
                    <a:pt x="1729241" y="450626"/>
                  </a:lnTo>
                  <a:lnTo>
                    <a:pt x="1675990" y="493166"/>
                  </a:lnTo>
                  <a:lnTo>
                    <a:pt x="1607734" y="532184"/>
                  </a:lnTo>
                  <a:lnTo>
                    <a:pt x="1568412" y="550212"/>
                  </a:lnTo>
                  <a:lnTo>
                    <a:pt x="1525857" y="567166"/>
                  </a:lnTo>
                  <a:lnTo>
                    <a:pt x="1480242" y="582982"/>
                  </a:lnTo>
                  <a:lnTo>
                    <a:pt x="1431740" y="597597"/>
                  </a:lnTo>
                  <a:lnTo>
                    <a:pt x="1380524" y="610946"/>
                  </a:lnTo>
                  <a:lnTo>
                    <a:pt x="1326767" y="622965"/>
                  </a:lnTo>
                  <a:lnTo>
                    <a:pt x="1270641" y="633590"/>
                  </a:lnTo>
                  <a:lnTo>
                    <a:pt x="1212320" y="642756"/>
                  </a:lnTo>
                  <a:lnTo>
                    <a:pt x="1151975" y="650399"/>
                  </a:lnTo>
                  <a:lnTo>
                    <a:pt x="1089781" y="656456"/>
                  </a:lnTo>
                  <a:lnTo>
                    <a:pt x="1025909" y="660862"/>
                  </a:lnTo>
                  <a:lnTo>
                    <a:pt x="960533" y="663552"/>
                  </a:lnTo>
                  <a:lnTo>
                    <a:pt x="893826" y="664463"/>
                  </a:lnTo>
                  <a:lnTo>
                    <a:pt x="827118" y="663552"/>
                  </a:lnTo>
                  <a:lnTo>
                    <a:pt x="761742" y="660862"/>
                  </a:lnTo>
                  <a:lnTo>
                    <a:pt x="697870" y="656456"/>
                  </a:lnTo>
                  <a:lnTo>
                    <a:pt x="635676" y="650399"/>
                  </a:lnTo>
                  <a:lnTo>
                    <a:pt x="575331" y="642756"/>
                  </a:lnTo>
                  <a:lnTo>
                    <a:pt x="517010" y="633590"/>
                  </a:lnTo>
                  <a:lnTo>
                    <a:pt x="460884" y="622965"/>
                  </a:lnTo>
                  <a:lnTo>
                    <a:pt x="407127" y="610946"/>
                  </a:lnTo>
                  <a:lnTo>
                    <a:pt x="355911" y="597597"/>
                  </a:lnTo>
                  <a:lnTo>
                    <a:pt x="307409" y="582982"/>
                  </a:lnTo>
                  <a:lnTo>
                    <a:pt x="261794" y="567166"/>
                  </a:lnTo>
                  <a:lnTo>
                    <a:pt x="219239" y="550212"/>
                  </a:lnTo>
                  <a:lnTo>
                    <a:pt x="179917" y="532184"/>
                  </a:lnTo>
                  <a:lnTo>
                    <a:pt x="144000" y="513148"/>
                  </a:lnTo>
                  <a:lnTo>
                    <a:pt x="83074" y="472304"/>
                  </a:lnTo>
                  <a:lnTo>
                    <a:pt x="37843" y="428195"/>
                  </a:lnTo>
                  <a:lnTo>
                    <a:pt x="9691" y="381333"/>
                  </a:lnTo>
                  <a:lnTo>
                    <a:pt x="0" y="332231"/>
                  </a:lnTo>
                  <a:close/>
                </a:path>
              </a:pathLst>
            </a:custGeom>
            <a:ln w="38100">
              <a:solidFill>
                <a:srgbClr val="F885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442085" y="2996380"/>
            <a:ext cx="1493520" cy="1564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0" marR="26670">
              <a:lnSpc>
                <a:spcPct val="140000"/>
              </a:lnSpc>
              <a:spcBef>
                <a:spcPts val="95"/>
              </a:spcBef>
            </a:pP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kişilerinizi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yoktur.</a:t>
            </a:r>
            <a:endParaRPr sz="2400">
              <a:latin typeface="Microsoft Sans Serif"/>
              <a:cs typeface="Microsoft Sans Serif"/>
            </a:endParaRPr>
          </a:p>
          <a:p>
            <a:pPr marL="243204" indent="-230504">
              <a:lnSpc>
                <a:spcPct val="100000"/>
              </a:lnSpc>
              <a:spcBef>
                <a:spcPts val="117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243204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Microsoft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3732" y="4644897"/>
            <a:ext cx="2027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uygulamalarını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16401" y="4058820"/>
            <a:ext cx="2618740" cy="97726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  <a:tabLst>
                <a:tab pos="136842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Hesabı,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Microsoft</a:t>
            </a:r>
            <a:endParaRPr sz="2400">
              <a:latin typeface="Microsoft Sans Serif"/>
              <a:cs typeface="Microsoft Sans Serif"/>
            </a:endParaRPr>
          </a:p>
          <a:p>
            <a:pPr marL="1077595">
              <a:lnSpc>
                <a:spcPct val="100000"/>
              </a:lnSpc>
              <a:spcBef>
                <a:spcPts val="870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çevrimiçi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75679" y="4058820"/>
            <a:ext cx="856615" cy="97726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965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Office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73732" y="5011021"/>
            <a:ext cx="5257165" cy="1452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0000"/>
              </a:lnSpc>
              <a:spcBef>
                <a:spcPts val="95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aygıtlar</a:t>
            </a:r>
            <a:r>
              <a:rPr sz="24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arasında</a:t>
            </a:r>
            <a:r>
              <a:rPr sz="24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kullanmanıza</a:t>
            </a:r>
            <a:r>
              <a:rPr sz="24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olanak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tanır,</a:t>
            </a:r>
            <a:r>
              <a:rPr sz="2400" spc="3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böylece</a:t>
            </a:r>
            <a:r>
              <a:rPr sz="2400" spc="3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görevler</a:t>
            </a:r>
            <a:r>
              <a:rPr sz="2400" spc="3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arasında</a:t>
            </a:r>
            <a:r>
              <a:rPr sz="24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geçiş yapabilirsiniz.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30675">
              <a:lnSpc>
                <a:spcPct val="100000"/>
              </a:lnSpc>
              <a:spcBef>
                <a:spcPts val="95"/>
              </a:spcBef>
            </a:pPr>
            <a:r>
              <a:rPr dirty="0"/>
              <a:t>Yeni</a:t>
            </a:r>
            <a:r>
              <a:rPr spc="-180" dirty="0"/>
              <a:t> </a:t>
            </a:r>
            <a:r>
              <a:rPr dirty="0"/>
              <a:t>Kullanıcı</a:t>
            </a:r>
            <a:r>
              <a:rPr spc="-155" dirty="0"/>
              <a:t> </a:t>
            </a:r>
            <a:r>
              <a:rPr spc="-10" dirty="0"/>
              <a:t>Eklemek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37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3439" y="1436268"/>
            <a:ext cx="1793875" cy="76327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3840" indent="-231140">
              <a:lnSpc>
                <a:spcPct val="100000"/>
              </a:lnSpc>
              <a:spcBef>
                <a:spcPts val="36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243840" algn="l"/>
              </a:tabLst>
            </a:pP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Başlangıç</a:t>
            </a:r>
            <a:endParaRPr sz="2200">
              <a:latin typeface="Microsoft Sans Serif"/>
              <a:cs typeface="Microsoft Sans Serif"/>
            </a:endParaRPr>
          </a:p>
          <a:p>
            <a:pPr marL="243840">
              <a:lnSpc>
                <a:spcPct val="100000"/>
              </a:lnSpc>
              <a:spcBef>
                <a:spcPts val="260"/>
              </a:spcBef>
              <a:tabLst>
                <a:tab pos="1617345" algn="l"/>
              </a:tabLst>
            </a:pPr>
            <a:r>
              <a:rPr sz="2200" b="1" i="1" spc="-10" dirty="0">
                <a:solidFill>
                  <a:srgbClr val="2C241F"/>
                </a:solidFill>
                <a:latin typeface="Arial"/>
                <a:cs typeface="Arial"/>
              </a:rPr>
              <a:t>Ayarlar</a:t>
            </a: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200" b="1" i="1" spc="-50" dirty="0">
                <a:solidFill>
                  <a:srgbClr val="2C241F"/>
                </a:solidFill>
                <a:latin typeface="Arial"/>
                <a:cs typeface="Arial"/>
              </a:rPr>
              <a:t>&gt;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27323" y="1436268"/>
            <a:ext cx="3905885" cy="76327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789305">
              <a:lnSpc>
                <a:spcPct val="100000"/>
              </a:lnSpc>
              <a:spcBef>
                <a:spcPts val="365"/>
              </a:spcBef>
              <a:tabLst>
                <a:tab pos="2787650" algn="l"/>
              </a:tabLst>
            </a:pP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düğmesini,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ardından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  <a:tabLst>
                <a:tab pos="1604645" algn="l"/>
                <a:tab pos="1974214" algn="l"/>
                <a:tab pos="2691765" algn="l"/>
                <a:tab pos="3208655" algn="l"/>
              </a:tabLst>
            </a:pPr>
            <a:r>
              <a:rPr sz="2200" b="1" i="1" spc="-10" dirty="0">
                <a:solidFill>
                  <a:srgbClr val="2C241F"/>
                </a:solidFill>
                <a:latin typeface="Arial"/>
                <a:cs typeface="Arial"/>
              </a:rPr>
              <a:t>Hesaplar</a:t>
            </a: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200" b="1" i="1" spc="-50" dirty="0">
                <a:solidFill>
                  <a:srgbClr val="2C241F"/>
                </a:solidFill>
                <a:latin typeface="Arial"/>
                <a:cs typeface="Arial"/>
              </a:rPr>
              <a:t>&gt;</a:t>
            </a: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200" b="1" i="1" spc="-20" dirty="0">
                <a:solidFill>
                  <a:srgbClr val="2C241F"/>
                </a:solidFill>
                <a:latin typeface="Arial"/>
                <a:cs typeface="Arial"/>
              </a:rPr>
              <a:t>Aile</a:t>
            </a: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200" b="1" i="1" spc="-25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200" b="1" i="1" spc="-10" dirty="0">
                <a:solidFill>
                  <a:srgbClr val="2C241F"/>
                </a:solidFill>
                <a:latin typeface="Arial"/>
                <a:cs typeface="Arial"/>
              </a:rPr>
              <a:t>diğer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3439" y="2173221"/>
            <a:ext cx="5881370" cy="215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algn="just">
              <a:lnSpc>
                <a:spcPct val="110100"/>
              </a:lnSpc>
              <a:spcBef>
                <a:spcPts val="100"/>
              </a:spcBef>
            </a:pP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kullanıcılar</a:t>
            </a:r>
            <a:r>
              <a:rPr sz="2200" b="1" i="1" spc="1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öğesini</a:t>
            </a:r>
            <a:r>
              <a:rPr sz="22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seçin.</a:t>
            </a:r>
            <a:r>
              <a:rPr sz="22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(Windows'un</a:t>
            </a:r>
            <a:r>
              <a:rPr sz="22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bazı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sürümlerinde</a:t>
            </a:r>
            <a:r>
              <a:rPr sz="22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Diğer</a:t>
            </a:r>
            <a:r>
              <a:rPr sz="22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</a:t>
            </a:r>
            <a:r>
              <a:rPr sz="22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seçeneğini görebilirsiniz.)</a:t>
            </a:r>
            <a:endParaRPr sz="2200">
              <a:latin typeface="Microsoft Sans Serif"/>
              <a:cs typeface="Microsoft Sans Serif"/>
            </a:endParaRPr>
          </a:p>
          <a:p>
            <a:pPr marL="243840" indent="-231140">
              <a:lnSpc>
                <a:spcPct val="100000"/>
              </a:lnSpc>
              <a:spcBef>
                <a:spcPts val="136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243840" algn="l"/>
              </a:tabLst>
            </a:pP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200" b="1" i="1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bilgisayara</a:t>
            </a:r>
            <a:r>
              <a:rPr sz="2200" b="1" i="1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başka</a:t>
            </a:r>
            <a:r>
              <a:rPr sz="2200" b="1" i="1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birini</a:t>
            </a:r>
            <a:r>
              <a:rPr sz="2200" b="1" i="1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ekle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'yi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seçin.</a:t>
            </a:r>
            <a:endParaRPr sz="2200">
              <a:latin typeface="Microsoft Sans Serif"/>
              <a:cs typeface="Microsoft Sans Serif"/>
            </a:endParaRPr>
          </a:p>
          <a:p>
            <a:pPr marL="243840" indent="-231140">
              <a:lnSpc>
                <a:spcPct val="100000"/>
              </a:lnSpc>
              <a:spcBef>
                <a:spcPts val="137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243840" algn="l"/>
                <a:tab pos="1755775" algn="l"/>
                <a:tab pos="2845435" algn="l"/>
                <a:tab pos="5133340" algn="l"/>
              </a:tabLst>
            </a:pP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Bu</a:t>
            </a:r>
            <a:r>
              <a:rPr sz="2200" b="1" i="1" spc="3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b="1" i="1" spc="-10" dirty="0">
                <a:solidFill>
                  <a:srgbClr val="2C241F"/>
                </a:solidFill>
                <a:latin typeface="Arial"/>
                <a:cs typeface="Arial"/>
              </a:rPr>
              <a:t>kişinin</a:t>
            </a: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200" b="1" i="1" spc="-10" dirty="0">
                <a:solidFill>
                  <a:srgbClr val="2C241F"/>
                </a:solidFill>
                <a:latin typeface="Arial"/>
                <a:cs typeface="Arial"/>
              </a:rPr>
              <a:t>oturum</a:t>
            </a: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	açma</a:t>
            </a:r>
            <a:r>
              <a:rPr sz="2200" b="1" i="1" spc="3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b="1" i="1" spc="-10" dirty="0">
                <a:solidFill>
                  <a:srgbClr val="2C241F"/>
                </a:solidFill>
                <a:latin typeface="Arial"/>
                <a:cs typeface="Arial"/>
              </a:rPr>
              <a:t>bilgilerine</a:t>
            </a: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200" b="1" i="1" spc="-10" dirty="0">
                <a:solidFill>
                  <a:srgbClr val="2C241F"/>
                </a:solidFill>
                <a:latin typeface="Arial"/>
                <a:cs typeface="Arial"/>
              </a:rPr>
              <a:t>sahip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35757" y="4297451"/>
            <a:ext cx="4497070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6535">
              <a:lnSpc>
                <a:spcPct val="110000"/>
              </a:lnSpc>
              <a:spcBef>
                <a:spcPts val="100"/>
              </a:spcBef>
              <a:tabLst>
                <a:tab pos="797560" algn="l"/>
                <a:tab pos="1411605" algn="l"/>
                <a:tab pos="1972310" algn="l"/>
                <a:tab pos="2033270" algn="l"/>
                <a:tab pos="3223895" algn="l"/>
                <a:tab pos="3418840" algn="l"/>
              </a:tabLst>
            </a:pP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sonraki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sayfada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b="1" i="1" spc="-10" dirty="0">
                <a:solidFill>
                  <a:srgbClr val="2C241F"/>
                </a:solidFill>
                <a:latin typeface="Arial"/>
                <a:cs typeface="Arial"/>
              </a:rPr>
              <a:t>Microsoft olmayan</a:t>
            </a: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200" b="1" i="1" spc="-25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		</a:t>
            </a:r>
            <a:r>
              <a:rPr sz="2200" b="1" i="1" spc="-10" dirty="0">
                <a:solidFill>
                  <a:srgbClr val="2C241F"/>
                </a:solidFill>
                <a:latin typeface="Arial"/>
                <a:cs typeface="Arial"/>
              </a:rPr>
              <a:t>kullanıcı</a:t>
            </a:r>
            <a:r>
              <a:rPr sz="2200" b="1" i="1" dirty="0">
                <a:solidFill>
                  <a:srgbClr val="2C241F"/>
                </a:solidFill>
                <a:latin typeface="Arial"/>
                <a:cs typeface="Arial"/>
              </a:rPr>
              <a:t>		</a:t>
            </a:r>
            <a:r>
              <a:rPr sz="2200" b="1" i="1" spc="-10" dirty="0">
                <a:solidFill>
                  <a:srgbClr val="2C241F"/>
                </a:solidFill>
                <a:latin typeface="Arial"/>
                <a:cs typeface="Arial"/>
              </a:rPr>
              <a:t>ekleyin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'i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5138" y="4297451"/>
            <a:ext cx="1119505" cy="1132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95"/>
              </a:spcBef>
            </a:pPr>
            <a:r>
              <a:rPr sz="2200" b="1" i="1" spc="-10" dirty="0">
                <a:solidFill>
                  <a:srgbClr val="2C241F"/>
                </a:solidFill>
                <a:latin typeface="Arial"/>
                <a:cs typeface="Arial"/>
              </a:rPr>
              <a:t>değilim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'i </a:t>
            </a:r>
            <a:r>
              <a:rPr sz="2200" b="1" i="1" spc="-10" dirty="0">
                <a:solidFill>
                  <a:srgbClr val="2C241F"/>
                </a:solidFill>
                <a:latin typeface="Arial"/>
                <a:cs typeface="Arial"/>
              </a:rPr>
              <a:t>hesabı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seçin.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3439" y="5544413"/>
            <a:ext cx="5880100" cy="113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 algn="just">
              <a:lnSpc>
                <a:spcPct val="110000"/>
              </a:lnSpc>
              <a:spcBef>
                <a:spcPts val="10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243840" algn="l"/>
              </a:tabLst>
            </a:pP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22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adı,</a:t>
            </a:r>
            <a:r>
              <a:rPr sz="22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parola,</a:t>
            </a:r>
            <a:r>
              <a:rPr sz="22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parola</a:t>
            </a:r>
            <a:r>
              <a:rPr sz="22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ipucu</a:t>
            </a:r>
            <a:r>
              <a:rPr sz="22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girin</a:t>
            </a:r>
            <a:r>
              <a:rPr sz="22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güvenlik</a:t>
            </a:r>
            <a:r>
              <a:rPr sz="22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sorularını</a:t>
            </a:r>
            <a:r>
              <a:rPr sz="2200" spc="3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seçin</a:t>
            </a:r>
            <a:r>
              <a:rPr sz="22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ardından</a:t>
            </a:r>
            <a:r>
              <a:rPr sz="22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b="1" i="1" spc="-10" dirty="0">
                <a:solidFill>
                  <a:srgbClr val="2C241F"/>
                </a:solidFill>
                <a:latin typeface="Arial"/>
                <a:cs typeface="Arial"/>
              </a:rPr>
              <a:t>İleri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'yi seçin.</a:t>
            </a:r>
            <a:endParaRPr sz="22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353300" y="1356360"/>
            <a:ext cx="4702175" cy="5501640"/>
            <a:chOff x="7353300" y="1356360"/>
            <a:chExt cx="4702175" cy="550164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3300" y="1356360"/>
              <a:ext cx="4262628" cy="369582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8371" y="1551432"/>
              <a:ext cx="3692652" cy="31257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852153" y="2949702"/>
              <a:ext cx="1615440" cy="422275"/>
            </a:xfrm>
            <a:custGeom>
              <a:avLst/>
              <a:gdLst/>
              <a:ahLst/>
              <a:cxnLst/>
              <a:rect l="l" t="t" r="r" b="b"/>
              <a:pathLst>
                <a:path w="1615440" h="422275">
                  <a:moveTo>
                    <a:pt x="0" y="211074"/>
                  </a:moveTo>
                  <a:lnTo>
                    <a:pt x="13011" y="173129"/>
                  </a:lnTo>
                  <a:lnTo>
                    <a:pt x="50526" y="137418"/>
                  </a:lnTo>
                  <a:lnTo>
                    <a:pt x="110264" y="104535"/>
                  </a:lnTo>
                  <a:lnTo>
                    <a:pt x="147754" y="89340"/>
                  </a:lnTo>
                  <a:lnTo>
                    <a:pt x="189946" y="75076"/>
                  </a:lnTo>
                  <a:lnTo>
                    <a:pt x="236553" y="61817"/>
                  </a:lnTo>
                  <a:lnTo>
                    <a:pt x="287291" y="49637"/>
                  </a:lnTo>
                  <a:lnTo>
                    <a:pt x="341876" y="38612"/>
                  </a:lnTo>
                  <a:lnTo>
                    <a:pt x="400021" y="28814"/>
                  </a:lnTo>
                  <a:lnTo>
                    <a:pt x="461443" y="20320"/>
                  </a:lnTo>
                  <a:lnTo>
                    <a:pt x="525856" y="13203"/>
                  </a:lnTo>
                  <a:lnTo>
                    <a:pt x="592975" y="7538"/>
                  </a:lnTo>
                  <a:lnTo>
                    <a:pt x="662515" y="3400"/>
                  </a:lnTo>
                  <a:lnTo>
                    <a:pt x="734192" y="862"/>
                  </a:lnTo>
                  <a:lnTo>
                    <a:pt x="807720" y="0"/>
                  </a:lnTo>
                  <a:lnTo>
                    <a:pt x="881247" y="862"/>
                  </a:lnTo>
                  <a:lnTo>
                    <a:pt x="952924" y="3400"/>
                  </a:lnTo>
                  <a:lnTo>
                    <a:pt x="1022464" y="7538"/>
                  </a:lnTo>
                  <a:lnTo>
                    <a:pt x="1089583" y="13203"/>
                  </a:lnTo>
                  <a:lnTo>
                    <a:pt x="1153996" y="20320"/>
                  </a:lnTo>
                  <a:lnTo>
                    <a:pt x="1215418" y="28814"/>
                  </a:lnTo>
                  <a:lnTo>
                    <a:pt x="1273563" y="38612"/>
                  </a:lnTo>
                  <a:lnTo>
                    <a:pt x="1328148" y="49637"/>
                  </a:lnTo>
                  <a:lnTo>
                    <a:pt x="1378886" y="61817"/>
                  </a:lnTo>
                  <a:lnTo>
                    <a:pt x="1425493" y="75076"/>
                  </a:lnTo>
                  <a:lnTo>
                    <a:pt x="1467685" y="89340"/>
                  </a:lnTo>
                  <a:lnTo>
                    <a:pt x="1505175" y="104535"/>
                  </a:lnTo>
                  <a:lnTo>
                    <a:pt x="1564913" y="137418"/>
                  </a:lnTo>
                  <a:lnTo>
                    <a:pt x="1602428" y="173129"/>
                  </a:lnTo>
                  <a:lnTo>
                    <a:pt x="1615440" y="211074"/>
                  </a:lnTo>
                  <a:lnTo>
                    <a:pt x="1612139" y="230287"/>
                  </a:lnTo>
                  <a:lnTo>
                    <a:pt x="1586591" y="267190"/>
                  </a:lnTo>
                  <a:lnTo>
                    <a:pt x="1537680" y="301562"/>
                  </a:lnTo>
                  <a:lnTo>
                    <a:pt x="1467685" y="332807"/>
                  </a:lnTo>
                  <a:lnTo>
                    <a:pt x="1425493" y="347071"/>
                  </a:lnTo>
                  <a:lnTo>
                    <a:pt x="1378886" y="360330"/>
                  </a:lnTo>
                  <a:lnTo>
                    <a:pt x="1328148" y="372510"/>
                  </a:lnTo>
                  <a:lnTo>
                    <a:pt x="1273563" y="383535"/>
                  </a:lnTo>
                  <a:lnTo>
                    <a:pt x="1215418" y="393333"/>
                  </a:lnTo>
                  <a:lnTo>
                    <a:pt x="1153996" y="401827"/>
                  </a:lnTo>
                  <a:lnTo>
                    <a:pt x="1089583" y="408944"/>
                  </a:lnTo>
                  <a:lnTo>
                    <a:pt x="1022464" y="414609"/>
                  </a:lnTo>
                  <a:lnTo>
                    <a:pt x="952924" y="418747"/>
                  </a:lnTo>
                  <a:lnTo>
                    <a:pt x="881247" y="421285"/>
                  </a:lnTo>
                  <a:lnTo>
                    <a:pt x="807720" y="422148"/>
                  </a:lnTo>
                  <a:lnTo>
                    <a:pt x="734192" y="421285"/>
                  </a:lnTo>
                  <a:lnTo>
                    <a:pt x="662515" y="418747"/>
                  </a:lnTo>
                  <a:lnTo>
                    <a:pt x="592975" y="414609"/>
                  </a:lnTo>
                  <a:lnTo>
                    <a:pt x="525856" y="408944"/>
                  </a:lnTo>
                  <a:lnTo>
                    <a:pt x="461443" y="401827"/>
                  </a:lnTo>
                  <a:lnTo>
                    <a:pt x="400021" y="393333"/>
                  </a:lnTo>
                  <a:lnTo>
                    <a:pt x="341876" y="383535"/>
                  </a:lnTo>
                  <a:lnTo>
                    <a:pt x="287291" y="372510"/>
                  </a:lnTo>
                  <a:lnTo>
                    <a:pt x="236553" y="360330"/>
                  </a:lnTo>
                  <a:lnTo>
                    <a:pt x="189946" y="347071"/>
                  </a:lnTo>
                  <a:lnTo>
                    <a:pt x="147754" y="332807"/>
                  </a:lnTo>
                  <a:lnTo>
                    <a:pt x="110264" y="317612"/>
                  </a:lnTo>
                  <a:lnTo>
                    <a:pt x="50526" y="284729"/>
                  </a:lnTo>
                  <a:lnTo>
                    <a:pt x="13011" y="249018"/>
                  </a:lnTo>
                  <a:lnTo>
                    <a:pt x="0" y="211074"/>
                  </a:lnTo>
                  <a:close/>
                </a:path>
              </a:pathLst>
            </a:custGeom>
            <a:ln w="38100">
              <a:solidFill>
                <a:srgbClr val="F885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60563" y="4072127"/>
              <a:ext cx="2473452" cy="237578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55636" y="4267200"/>
              <a:ext cx="1903476" cy="180593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05544" y="4591748"/>
              <a:ext cx="2749423" cy="226625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00616" y="4786883"/>
              <a:ext cx="2179320" cy="19263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10186670" cy="5346700"/>
            <a:chOff x="1338072" y="1411224"/>
            <a:chExt cx="10186670" cy="534670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1756" y="3150083"/>
              <a:ext cx="4332732" cy="36073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6827" y="3345180"/>
              <a:ext cx="3762755" cy="30373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946641" y="4999482"/>
              <a:ext cx="2060575" cy="669290"/>
            </a:xfrm>
            <a:custGeom>
              <a:avLst/>
              <a:gdLst/>
              <a:ahLst/>
              <a:cxnLst/>
              <a:rect l="l" t="t" r="r" b="b"/>
              <a:pathLst>
                <a:path w="2060575" h="669289">
                  <a:moveTo>
                    <a:pt x="0" y="334518"/>
                  </a:moveTo>
                  <a:lnTo>
                    <a:pt x="9405" y="289118"/>
                  </a:lnTo>
                  <a:lnTo>
                    <a:pt x="36801" y="245577"/>
                  </a:lnTo>
                  <a:lnTo>
                    <a:pt x="80962" y="204293"/>
                  </a:lnTo>
                  <a:lnTo>
                    <a:pt x="140659" y="165664"/>
                  </a:lnTo>
                  <a:lnTo>
                    <a:pt x="175950" y="147470"/>
                  </a:lnTo>
                  <a:lnTo>
                    <a:pt x="214665" y="130088"/>
                  </a:lnTo>
                  <a:lnTo>
                    <a:pt x="256650" y="113570"/>
                  </a:lnTo>
                  <a:lnTo>
                    <a:pt x="301752" y="97964"/>
                  </a:lnTo>
                  <a:lnTo>
                    <a:pt x="349817" y="83321"/>
                  </a:lnTo>
                  <a:lnTo>
                    <a:pt x="400692" y="69690"/>
                  </a:lnTo>
                  <a:lnTo>
                    <a:pt x="454223" y="57120"/>
                  </a:lnTo>
                  <a:lnTo>
                    <a:pt x="510257" y="45663"/>
                  </a:lnTo>
                  <a:lnTo>
                    <a:pt x="568641" y="35367"/>
                  </a:lnTo>
                  <a:lnTo>
                    <a:pt x="629221" y="26283"/>
                  </a:lnTo>
                  <a:lnTo>
                    <a:pt x="691843" y="18459"/>
                  </a:lnTo>
                  <a:lnTo>
                    <a:pt x="756355" y="11946"/>
                  </a:lnTo>
                  <a:lnTo>
                    <a:pt x="822602" y="6794"/>
                  </a:lnTo>
                  <a:lnTo>
                    <a:pt x="890432" y="3053"/>
                  </a:lnTo>
                  <a:lnTo>
                    <a:pt x="959690" y="771"/>
                  </a:lnTo>
                  <a:lnTo>
                    <a:pt x="1030224" y="0"/>
                  </a:lnTo>
                  <a:lnTo>
                    <a:pt x="1100757" y="771"/>
                  </a:lnTo>
                  <a:lnTo>
                    <a:pt x="1170015" y="3053"/>
                  </a:lnTo>
                  <a:lnTo>
                    <a:pt x="1237845" y="6794"/>
                  </a:lnTo>
                  <a:lnTo>
                    <a:pt x="1304092" y="11946"/>
                  </a:lnTo>
                  <a:lnTo>
                    <a:pt x="1368604" y="18459"/>
                  </a:lnTo>
                  <a:lnTo>
                    <a:pt x="1431226" y="26283"/>
                  </a:lnTo>
                  <a:lnTo>
                    <a:pt x="1491806" y="35367"/>
                  </a:lnTo>
                  <a:lnTo>
                    <a:pt x="1550190" y="45663"/>
                  </a:lnTo>
                  <a:lnTo>
                    <a:pt x="1606224" y="57120"/>
                  </a:lnTo>
                  <a:lnTo>
                    <a:pt x="1659755" y="69690"/>
                  </a:lnTo>
                  <a:lnTo>
                    <a:pt x="1710630" y="83321"/>
                  </a:lnTo>
                  <a:lnTo>
                    <a:pt x="1758696" y="97964"/>
                  </a:lnTo>
                  <a:lnTo>
                    <a:pt x="1803797" y="113570"/>
                  </a:lnTo>
                  <a:lnTo>
                    <a:pt x="1845782" y="130088"/>
                  </a:lnTo>
                  <a:lnTo>
                    <a:pt x="1884497" y="147470"/>
                  </a:lnTo>
                  <a:lnTo>
                    <a:pt x="1919788" y="165664"/>
                  </a:lnTo>
                  <a:lnTo>
                    <a:pt x="1979485" y="204293"/>
                  </a:lnTo>
                  <a:lnTo>
                    <a:pt x="2023646" y="245577"/>
                  </a:lnTo>
                  <a:lnTo>
                    <a:pt x="2051042" y="289118"/>
                  </a:lnTo>
                  <a:lnTo>
                    <a:pt x="2060448" y="334518"/>
                  </a:lnTo>
                  <a:lnTo>
                    <a:pt x="2058071" y="357425"/>
                  </a:lnTo>
                  <a:lnTo>
                    <a:pt x="2039516" y="401945"/>
                  </a:lnTo>
                  <a:lnTo>
                    <a:pt x="2003584" y="444407"/>
                  </a:lnTo>
                  <a:lnTo>
                    <a:pt x="1951502" y="484413"/>
                  </a:lnTo>
                  <a:lnTo>
                    <a:pt x="1884497" y="521565"/>
                  </a:lnTo>
                  <a:lnTo>
                    <a:pt x="1845782" y="538947"/>
                  </a:lnTo>
                  <a:lnTo>
                    <a:pt x="1803797" y="555465"/>
                  </a:lnTo>
                  <a:lnTo>
                    <a:pt x="1758695" y="571071"/>
                  </a:lnTo>
                  <a:lnTo>
                    <a:pt x="1710630" y="585714"/>
                  </a:lnTo>
                  <a:lnTo>
                    <a:pt x="1659755" y="599345"/>
                  </a:lnTo>
                  <a:lnTo>
                    <a:pt x="1606224" y="611915"/>
                  </a:lnTo>
                  <a:lnTo>
                    <a:pt x="1550190" y="623372"/>
                  </a:lnTo>
                  <a:lnTo>
                    <a:pt x="1491806" y="633668"/>
                  </a:lnTo>
                  <a:lnTo>
                    <a:pt x="1431226" y="642752"/>
                  </a:lnTo>
                  <a:lnTo>
                    <a:pt x="1368604" y="650576"/>
                  </a:lnTo>
                  <a:lnTo>
                    <a:pt x="1304092" y="657089"/>
                  </a:lnTo>
                  <a:lnTo>
                    <a:pt x="1237845" y="662241"/>
                  </a:lnTo>
                  <a:lnTo>
                    <a:pt x="1170015" y="665982"/>
                  </a:lnTo>
                  <a:lnTo>
                    <a:pt x="1100757" y="668264"/>
                  </a:lnTo>
                  <a:lnTo>
                    <a:pt x="1030224" y="669036"/>
                  </a:lnTo>
                  <a:lnTo>
                    <a:pt x="959690" y="668264"/>
                  </a:lnTo>
                  <a:lnTo>
                    <a:pt x="890432" y="665982"/>
                  </a:lnTo>
                  <a:lnTo>
                    <a:pt x="822602" y="662241"/>
                  </a:lnTo>
                  <a:lnTo>
                    <a:pt x="756355" y="657089"/>
                  </a:lnTo>
                  <a:lnTo>
                    <a:pt x="691843" y="650576"/>
                  </a:lnTo>
                  <a:lnTo>
                    <a:pt x="629221" y="642752"/>
                  </a:lnTo>
                  <a:lnTo>
                    <a:pt x="568641" y="633668"/>
                  </a:lnTo>
                  <a:lnTo>
                    <a:pt x="510257" y="623372"/>
                  </a:lnTo>
                  <a:lnTo>
                    <a:pt x="454223" y="611915"/>
                  </a:lnTo>
                  <a:lnTo>
                    <a:pt x="400692" y="599345"/>
                  </a:lnTo>
                  <a:lnTo>
                    <a:pt x="349817" y="585714"/>
                  </a:lnTo>
                  <a:lnTo>
                    <a:pt x="301751" y="571071"/>
                  </a:lnTo>
                  <a:lnTo>
                    <a:pt x="256650" y="555465"/>
                  </a:lnTo>
                  <a:lnTo>
                    <a:pt x="214665" y="538947"/>
                  </a:lnTo>
                  <a:lnTo>
                    <a:pt x="175950" y="521565"/>
                  </a:lnTo>
                  <a:lnTo>
                    <a:pt x="140659" y="503371"/>
                  </a:lnTo>
                  <a:lnTo>
                    <a:pt x="80962" y="464742"/>
                  </a:lnTo>
                  <a:lnTo>
                    <a:pt x="36801" y="423458"/>
                  </a:lnTo>
                  <a:lnTo>
                    <a:pt x="9405" y="379917"/>
                  </a:lnTo>
                  <a:lnTo>
                    <a:pt x="0" y="334518"/>
                  </a:lnTo>
                  <a:close/>
                </a:path>
              </a:pathLst>
            </a:custGeom>
            <a:ln w="38100">
              <a:solidFill>
                <a:srgbClr val="F885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3893185">
              <a:lnSpc>
                <a:spcPct val="100000"/>
              </a:lnSpc>
              <a:spcBef>
                <a:spcPts val="95"/>
              </a:spcBef>
            </a:pPr>
            <a:r>
              <a:rPr dirty="0"/>
              <a:t>Uygulamaları</a:t>
            </a:r>
            <a:r>
              <a:rPr spc="-195" dirty="0"/>
              <a:t> </a:t>
            </a:r>
            <a:r>
              <a:rPr spc="-10" dirty="0"/>
              <a:t>Kaldırmak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38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4930" y="1567383"/>
            <a:ext cx="9469120" cy="439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indent="-231140">
              <a:lnSpc>
                <a:spcPct val="10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243840" algn="l"/>
              </a:tabLst>
            </a:pP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Başlangıç</a:t>
            </a:r>
            <a:r>
              <a:rPr sz="2400" b="1" i="1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menüsünden</a:t>
            </a:r>
            <a:r>
              <a:rPr sz="2400" b="1" i="1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2C241F"/>
                </a:solidFill>
                <a:latin typeface="Arial"/>
                <a:cs typeface="Arial"/>
              </a:rPr>
              <a:t>kaldırma:</a:t>
            </a:r>
            <a:endParaRPr sz="2400">
              <a:latin typeface="Arial"/>
              <a:cs typeface="Arial"/>
            </a:endParaRPr>
          </a:p>
          <a:p>
            <a:pPr marL="807720" lvl="1" indent="-337820">
              <a:lnSpc>
                <a:spcPct val="100000"/>
              </a:lnSpc>
              <a:spcBef>
                <a:spcPts val="159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807720" algn="l"/>
                <a:tab pos="1948180" algn="l"/>
              </a:tabLst>
            </a:pPr>
            <a:r>
              <a:rPr sz="2200" b="1" spc="-10" dirty="0">
                <a:solidFill>
                  <a:srgbClr val="2C241F"/>
                </a:solidFill>
                <a:latin typeface="Arial"/>
                <a:cs typeface="Arial"/>
              </a:rPr>
              <a:t>Başlat'ı</a:t>
            </a: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seçin</a:t>
            </a:r>
            <a:r>
              <a:rPr sz="22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gösterilen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listede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uygulamayı</a:t>
            </a:r>
            <a:r>
              <a:rPr sz="22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programı</a:t>
            </a:r>
            <a:r>
              <a:rPr sz="22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arayın.</a:t>
            </a:r>
            <a:endParaRPr sz="2200">
              <a:latin typeface="Microsoft Sans Serif"/>
              <a:cs typeface="Microsoft Sans Serif"/>
            </a:endParaRPr>
          </a:p>
          <a:p>
            <a:pPr marL="807720" lvl="1" indent="-337820">
              <a:lnSpc>
                <a:spcPct val="100000"/>
              </a:lnSpc>
              <a:spcBef>
                <a:spcPts val="162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807720" algn="l"/>
              </a:tabLst>
            </a:pP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Uygulamayı</a:t>
            </a:r>
            <a:r>
              <a:rPr sz="22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basılı</a:t>
            </a:r>
            <a:r>
              <a:rPr sz="22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tutun</a:t>
            </a:r>
            <a:r>
              <a:rPr sz="22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(veya</a:t>
            </a:r>
            <a:r>
              <a:rPr sz="22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</a:t>
            </a:r>
            <a:r>
              <a:rPr sz="22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tıklayın),</a:t>
            </a:r>
            <a:r>
              <a:rPr sz="22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ardından</a:t>
            </a:r>
            <a:r>
              <a:rPr sz="22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Kaldır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'ı</a:t>
            </a:r>
            <a:r>
              <a:rPr sz="22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seçin.</a:t>
            </a:r>
            <a:endParaRPr sz="2200">
              <a:latin typeface="Microsoft Sans Serif"/>
              <a:cs typeface="Microsoft Sans Serif"/>
            </a:endParaRPr>
          </a:p>
          <a:p>
            <a:pPr marL="304800" indent="-231140">
              <a:lnSpc>
                <a:spcPct val="100000"/>
              </a:lnSpc>
              <a:spcBef>
                <a:spcPts val="219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04800" algn="l"/>
              </a:tabLst>
            </a:pP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Ayarlar</a:t>
            </a:r>
            <a:r>
              <a:rPr sz="2400" b="1" i="1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2C241F"/>
                </a:solidFill>
                <a:latin typeface="Arial"/>
                <a:cs typeface="Arial"/>
              </a:rPr>
              <a:t>sayfasından</a:t>
            </a:r>
            <a:r>
              <a:rPr sz="2400" b="1" i="1" spc="-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2C241F"/>
                </a:solidFill>
                <a:latin typeface="Arial"/>
                <a:cs typeface="Arial"/>
              </a:rPr>
              <a:t>kaldırma:</a:t>
            </a:r>
            <a:endParaRPr sz="2400">
              <a:latin typeface="Arial"/>
              <a:cs typeface="Arial"/>
            </a:endParaRPr>
          </a:p>
          <a:p>
            <a:pPr marL="869315" lvl="1" indent="-338455">
              <a:lnSpc>
                <a:spcPct val="100000"/>
              </a:lnSpc>
              <a:spcBef>
                <a:spcPts val="159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869315" algn="l"/>
              </a:tabLst>
            </a:pP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Başlat'ı</a:t>
            </a:r>
            <a:r>
              <a:rPr sz="2200" b="1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ardından</a:t>
            </a:r>
            <a:endParaRPr sz="2200">
              <a:latin typeface="Microsoft Sans Serif"/>
              <a:cs typeface="Microsoft Sans Serif"/>
            </a:endParaRPr>
          </a:p>
          <a:p>
            <a:pPr marL="869315" marR="3573145">
              <a:lnSpc>
                <a:spcPts val="3170"/>
              </a:lnSpc>
              <a:spcBef>
                <a:spcPts val="190"/>
              </a:spcBef>
              <a:tabLst>
                <a:tab pos="1977389" algn="l"/>
              </a:tabLst>
            </a:pPr>
            <a:r>
              <a:rPr sz="2200" b="1" spc="-10" dirty="0">
                <a:solidFill>
                  <a:srgbClr val="2C241F"/>
                </a:solidFill>
                <a:latin typeface="Arial"/>
                <a:cs typeface="Arial"/>
              </a:rPr>
              <a:t>Ayarlar</a:t>
            </a: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&gt;</a:t>
            </a:r>
            <a:r>
              <a:rPr sz="22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Uygulamalar</a:t>
            </a:r>
            <a:r>
              <a:rPr sz="2200" b="1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&gt;</a:t>
            </a:r>
            <a:r>
              <a:rPr sz="22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b="1" spc="-10" dirty="0">
                <a:solidFill>
                  <a:srgbClr val="2C241F"/>
                </a:solidFill>
                <a:latin typeface="Arial"/>
                <a:cs typeface="Arial"/>
              </a:rPr>
              <a:t>Uygulamalar </a:t>
            </a: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&amp;</a:t>
            </a:r>
            <a:r>
              <a:rPr sz="2200" b="1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özellikleri'ni</a:t>
            </a:r>
            <a:r>
              <a:rPr sz="2200" b="1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seçin.</a:t>
            </a:r>
            <a:endParaRPr sz="2200">
              <a:latin typeface="Microsoft Sans Serif"/>
              <a:cs typeface="Microsoft Sans Serif"/>
            </a:endParaRPr>
          </a:p>
          <a:p>
            <a:pPr marL="869315" marR="3500120" lvl="1" indent="-338455">
              <a:lnSpc>
                <a:spcPct val="120000"/>
              </a:lnSpc>
              <a:spcBef>
                <a:spcPts val="90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869315" algn="l"/>
                <a:tab pos="2421255" algn="l"/>
                <a:tab pos="3940810" algn="l"/>
                <a:tab pos="5664200" algn="l"/>
              </a:tabLst>
            </a:pP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Kaldırmak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istediğiniz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uygulamayı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ardından</a:t>
            </a:r>
            <a:r>
              <a:rPr sz="22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Kaldır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'ı</a:t>
            </a:r>
            <a:r>
              <a:rPr sz="22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seçin.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739" y="0"/>
            <a:ext cx="10436860" cy="6858000"/>
            <a:chOff x="967739" y="0"/>
            <a:chExt cx="10436860" cy="6858000"/>
          </a:xfrm>
        </p:grpSpPr>
        <p:sp>
          <p:nvSpPr>
            <p:cNvPr id="3" name="object 3"/>
            <p:cNvSpPr/>
            <p:nvPr/>
          </p:nvSpPr>
          <p:spPr>
            <a:xfrm>
              <a:off x="967739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376659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31233" y="3080080"/>
            <a:ext cx="63900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GEREKLİ</a:t>
            </a:r>
            <a:r>
              <a:rPr sz="5400" spc="-2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ARAÇLAR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39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4808855">
              <a:lnSpc>
                <a:spcPct val="100000"/>
              </a:lnSpc>
              <a:spcBef>
                <a:spcPts val="95"/>
              </a:spcBef>
            </a:pPr>
            <a:r>
              <a:rPr dirty="0"/>
              <a:t>Windows</a:t>
            </a:r>
            <a:r>
              <a:rPr spc="-195" dirty="0"/>
              <a:t> </a:t>
            </a:r>
            <a:r>
              <a:rPr spc="-10" dirty="0"/>
              <a:t>Donatıları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40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3378" y="1673479"/>
            <a:ext cx="6346190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1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243840" algn="l"/>
                <a:tab pos="1831975" algn="l"/>
                <a:tab pos="2519680" algn="l"/>
                <a:tab pos="3175000" algn="l"/>
                <a:tab pos="4269740" algn="l"/>
                <a:tab pos="543242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10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gelen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birçok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faydalı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uygulamanın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arada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bulunduğu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klasördür.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51472" y="2618613"/>
            <a:ext cx="3123565" cy="8305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385"/>
              </a:spcBef>
              <a:tabLst>
                <a:tab pos="1437005" algn="l"/>
                <a:tab pos="226377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açmak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Başlat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  <a:tabLst>
                <a:tab pos="1591310" algn="l"/>
              </a:tabLst>
            </a:pP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Windows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Donatıları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81209" y="2618613"/>
            <a:ext cx="1347470" cy="830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7490">
              <a:lnSpc>
                <a:spcPct val="110000"/>
              </a:lnSpc>
              <a:spcBef>
                <a:spcPts val="100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Menüsü klasörüne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83378" y="2618613"/>
            <a:ext cx="158051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 algn="just">
              <a:lnSpc>
                <a:spcPct val="11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24384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Donatıları içerisinde bakılır.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40578" y="4027170"/>
            <a:ext cx="2907030" cy="19869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9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Not</a:t>
            </a:r>
            <a:r>
              <a:rPr sz="2200" b="1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2C241F"/>
                </a:solidFill>
                <a:latin typeface="Arial"/>
                <a:cs typeface="Arial"/>
              </a:rPr>
              <a:t>Defteri</a:t>
            </a:r>
            <a:endParaRPr sz="22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63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spc="-10" dirty="0">
                <a:solidFill>
                  <a:srgbClr val="2C241F"/>
                </a:solidFill>
                <a:latin typeface="Arial"/>
                <a:cs typeface="Arial"/>
              </a:rPr>
              <a:t>Paint</a:t>
            </a:r>
            <a:endParaRPr sz="22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63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2200" b="1" spc="-1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Alıntısı</a:t>
            </a:r>
            <a:r>
              <a:rPr sz="2200" b="1" spc="-1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2C241F"/>
                </a:solidFill>
                <a:latin typeface="Arial"/>
                <a:cs typeface="Arial"/>
              </a:rPr>
              <a:t>Aracı</a:t>
            </a:r>
            <a:endParaRPr sz="22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62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dirty="0">
                <a:solidFill>
                  <a:srgbClr val="2C241F"/>
                </a:solidFill>
                <a:latin typeface="Arial"/>
                <a:cs typeface="Arial"/>
              </a:rPr>
              <a:t>WordPad</a:t>
            </a:r>
            <a:r>
              <a:rPr sz="2200" b="1" spc="-114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200" b="1" spc="-25" dirty="0">
                <a:solidFill>
                  <a:srgbClr val="2C241F"/>
                </a:solidFill>
                <a:latin typeface="Arial"/>
                <a:cs typeface="Arial"/>
              </a:rPr>
              <a:t>vb…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117091" y="1374622"/>
            <a:ext cx="3714115" cy="5483860"/>
            <a:chOff x="1117091" y="1374622"/>
            <a:chExt cx="3714115" cy="548386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091" y="1374622"/>
              <a:ext cx="3713988" cy="548337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97126" y="1569719"/>
              <a:ext cx="3059049" cy="5125212"/>
            </a:xfrm>
            <a:prstGeom prst="rect">
              <a:avLst/>
            </a:prstGeom>
          </p:spPr>
        </p:pic>
      </p:grpSp>
      <p:sp>
        <p:nvSpPr>
          <p:cNvPr id="15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63396" y="1411224"/>
            <a:ext cx="9888220" cy="5447030"/>
            <a:chOff x="1263396" y="1411224"/>
            <a:chExt cx="9888220" cy="544703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3396" y="1420380"/>
              <a:ext cx="2727960" cy="54376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8468" y="1615401"/>
              <a:ext cx="2157984" cy="506476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291274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Windows</a:t>
            </a:r>
            <a:r>
              <a:rPr spc="-165" dirty="0"/>
              <a:t> </a:t>
            </a:r>
            <a:r>
              <a:rPr spc="-10" dirty="0"/>
              <a:t>Yönetimsel</a:t>
            </a:r>
            <a:r>
              <a:rPr spc="-210" dirty="0"/>
              <a:t> </a:t>
            </a:r>
            <a:r>
              <a:rPr spc="-10" dirty="0"/>
              <a:t>Araçlar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65270" y="1646300"/>
            <a:ext cx="6967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indent="-231140">
              <a:lnSpc>
                <a:spcPct val="100000"/>
              </a:lnSpc>
              <a:spcBef>
                <a:spcPts val="9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243840" algn="l"/>
                <a:tab pos="1850389" algn="l"/>
                <a:tab pos="4053204" algn="l"/>
                <a:tab pos="4927600" algn="l"/>
                <a:tab pos="6002655" algn="l"/>
              </a:tabLst>
            </a:pP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yöneticileri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ileri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düzey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7171" y="1900688"/>
            <a:ext cx="5628005" cy="2611755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</a:t>
            </a:r>
            <a:r>
              <a:rPr sz="28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8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çeşitli</a:t>
            </a:r>
            <a:r>
              <a:rPr sz="28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araçlar</a:t>
            </a:r>
            <a:r>
              <a:rPr sz="28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içerir:</a:t>
            </a:r>
            <a:endParaRPr sz="2800">
              <a:latin typeface="Microsoft Sans Serif"/>
              <a:cs typeface="Microsoft Sans Serif"/>
            </a:endParaRPr>
          </a:p>
          <a:p>
            <a:pPr marL="575945" indent="-337820">
              <a:lnSpc>
                <a:spcPct val="100000"/>
              </a:lnSpc>
              <a:spcBef>
                <a:spcPts val="169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575945" algn="l"/>
              </a:tabLst>
            </a:pPr>
            <a:r>
              <a:rPr sz="2800" b="1" dirty="0">
                <a:solidFill>
                  <a:srgbClr val="2C241F"/>
                </a:solidFill>
                <a:latin typeface="Arial"/>
                <a:cs typeface="Arial"/>
              </a:rPr>
              <a:t>Disk</a:t>
            </a:r>
            <a:r>
              <a:rPr sz="2800" b="1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C241F"/>
                </a:solidFill>
                <a:latin typeface="Arial"/>
                <a:cs typeface="Arial"/>
              </a:rPr>
              <a:t>Temizleme</a:t>
            </a:r>
            <a:endParaRPr sz="2800">
              <a:latin typeface="Arial"/>
              <a:cs typeface="Arial"/>
            </a:endParaRPr>
          </a:p>
          <a:p>
            <a:pPr marL="575945" indent="-337820">
              <a:lnSpc>
                <a:spcPct val="100000"/>
              </a:lnSpc>
              <a:spcBef>
                <a:spcPts val="1764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575945" algn="l"/>
              </a:tabLst>
            </a:pPr>
            <a:r>
              <a:rPr sz="2800" b="1" dirty="0">
                <a:solidFill>
                  <a:srgbClr val="2C241F"/>
                </a:solidFill>
                <a:latin typeface="Arial"/>
                <a:cs typeface="Arial"/>
              </a:rPr>
              <a:t>Sürücüleri</a:t>
            </a:r>
            <a:r>
              <a:rPr sz="2800" b="1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C241F"/>
                </a:solidFill>
                <a:latin typeface="Arial"/>
                <a:cs typeface="Arial"/>
              </a:rPr>
              <a:t>Birleştir</a:t>
            </a:r>
            <a:r>
              <a:rPr sz="2800" b="1" spc="-9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800" b="1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C241F"/>
                </a:solidFill>
                <a:latin typeface="Arial"/>
                <a:cs typeface="Arial"/>
              </a:rPr>
              <a:t>İyileştir</a:t>
            </a:r>
            <a:endParaRPr sz="2800">
              <a:latin typeface="Arial"/>
              <a:cs typeface="Arial"/>
            </a:endParaRPr>
          </a:p>
          <a:p>
            <a:pPr marL="575945" indent="-337820">
              <a:lnSpc>
                <a:spcPct val="100000"/>
              </a:lnSpc>
              <a:spcBef>
                <a:spcPts val="177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575945" algn="l"/>
              </a:tabLst>
            </a:pPr>
            <a:r>
              <a:rPr sz="2800" b="1" dirty="0">
                <a:solidFill>
                  <a:srgbClr val="2C241F"/>
                </a:solidFill>
                <a:latin typeface="Arial"/>
                <a:cs typeface="Arial"/>
              </a:rPr>
              <a:t>Sistem</a:t>
            </a:r>
            <a:r>
              <a:rPr sz="2800" b="1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C241F"/>
                </a:solidFill>
                <a:latin typeface="Arial"/>
                <a:cs typeface="Arial"/>
              </a:rPr>
              <a:t>Bilgisi</a:t>
            </a:r>
            <a:r>
              <a:rPr sz="2800" b="1" spc="-8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2C241F"/>
                </a:solidFill>
                <a:latin typeface="Arial"/>
                <a:cs typeface="Arial"/>
              </a:rPr>
              <a:t>vb…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5603240">
              <a:lnSpc>
                <a:spcPct val="100000"/>
              </a:lnSpc>
              <a:spcBef>
                <a:spcPts val="95"/>
              </a:spcBef>
            </a:pPr>
            <a:r>
              <a:rPr dirty="0"/>
              <a:t>Disk</a:t>
            </a:r>
            <a:r>
              <a:rPr spc="-70" dirty="0"/>
              <a:t> </a:t>
            </a:r>
            <a:r>
              <a:rPr spc="-25" dirty="0"/>
              <a:t>Temizleme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8833" y="1582673"/>
            <a:ext cx="6111240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 algn="just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24384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Diskte</a:t>
            </a:r>
            <a:r>
              <a:rPr sz="2400" spc="3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</a:t>
            </a:r>
            <a:r>
              <a:rPr sz="2400" spc="3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açmak</a:t>
            </a:r>
            <a:r>
              <a:rPr sz="24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3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bilgisayarınızın</a:t>
            </a:r>
            <a:r>
              <a:rPr sz="24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hızlı</a:t>
            </a:r>
            <a:r>
              <a:rPr sz="2400" spc="35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çalışmasını</a:t>
            </a:r>
            <a:r>
              <a:rPr sz="2400" spc="36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sağlamak</a:t>
            </a:r>
            <a:r>
              <a:rPr sz="2400" spc="36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36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sabit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diskinizdeki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gereksiz</a:t>
            </a:r>
            <a:r>
              <a:rPr sz="24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</a:t>
            </a:r>
            <a:r>
              <a:rPr sz="24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azaltmak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8833" y="3479419"/>
            <a:ext cx="525208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243840" algn="l"/>
                <a:tab pos="897890" algn="l"/>
                <a:tab pos="1871980" algn="l"/>
                <a:tab pos="2030095" algn="l"/>
                <a:tab pos="3091180" algn="l"/>
                <a:tab pos="3540760" algn="l"/>
                <a:tab pos="4610735" algn="l"/>
                <a:tab pos="4862195" algn="l"/>
              </a:tabLst>
            </a:pP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geçici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siler,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Dönüşüm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Kutusu'nu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boşaltır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31838" y="3479419"/>
            <a:ext cx="61912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510">
              <a:lnSpc>
                <a:spcPct val="120000"/>
              </a:lnSpc>
              <a:spcBef>
                <a:spcPts val="100"/>
              </a:spcBef>
            </a:pP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Geri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artık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70482" y="4356672"/>
            <a:ext cx="5879465" cy="9042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938655" algn="l"/>
                <a:tab pos="2947670" algn="l"/>
                <a:tab pos="4076065" algn="l"/>
                <a:tab pos="555879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gerekmeyen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çeşitli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dosyaları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diğer</a:t>
            </a:r>
            <a:r>
              <a:rPr sz="24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öğeleri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kaldırır.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46264" y="1353311"/>
            <a:ext cx="4112260" cy="5504815"/>
            <a:chOff x="7446264" y="1353311"/>
            <a:chExt cx="4112260" cy="550481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46264" y="1353311"/>
              <a:ext cx="3579749" cy="22264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41336" y="1548383"/>
              <a:ext cx="3009900" cy="16565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37576" y="2772155"/>
              <a:ext cx="3520439" cy="408584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2648" y="2967227"/>
              <a:ext cx="2950463" cy="376275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10090785" cy="5447030"/>
            <a:chOff x="1338072" y="1411224"/>
            <a:chExt cx="10090785" cy="544703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1448" y="1542251"/>
              <a:ext cx="5177028" cy="53157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46519" y="1737360"/>
              <a:ext cx="4607052" cy="483565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5977890">
              <a:lnSpc>
                <a:spcPct val="100000"/>
              </a:lnSpc>
              <a:spcBef>
                <a:spcPts val="95"/>
              </a:spcBef>
            </a:pPr>
            <a:r>
              <a:rPr dirty="0"/>
              <a:t>Sistem</a:t>
            </a:r>
            <a:r>
              <a:rPr spc="-105" dirty="0"/>
              <a:t> </a:t>
            </a:r>
            <a:r>
              <a:rPr spc="-10" dirty="0"/>
              <a:t>Bilgisi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43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93414" y="1664712"/>
            <a:ext cx="2415540" cy="178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12520" marR="6985" indent="101600" algn="r">
              <a:lnSpc>
                <a:spcPct val="120000"/>
              </a:lnSpc>
              <a:spcBef>
                <a:spcPts val="95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donanım bilgisayar</a:t>
            </a:r>
            <a:endParaRPr sz="2400">
              <a:latin typeface="Microsoft Sans Serif"/>
              <a:cs typeface="Microsoft Sans Serif"/>
            </a:endParaRPr>
          </a:p>
          <a:p>
            <a:pPr marL="248920" marR="5080" indent="-236220" algn="r">
              <a:lnSpc>
                <a:spcPct val="120000"/>
              </a:lnSpc>
              <a:spcBef>
                <a:spcPts val="5"/>
              </a:spcBef>
              <a:tabLst>
                <a:tab pos="1132205" algn="l"/>
                <a:tab pos="2078989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ilgili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ayrıntıları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0164" y="1664712"/>
            <a:ext cx="2339975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marR="5080" indent="-231775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243840" algn="l"/>
                <a:tab pos="194373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Bilgisayarınızın yapılandırması, bileşenleri, sürücüleri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ile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gösterir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4593590"/>
            <a:chOff x="1338072" y="1411224"/>
            <a:chExt cx="9813290" cy="459359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8636" y="2609088"/>
              <a:ext cx="6019800" cy="339547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2689225">
              <a:lnSpc>
                <a:spcPct val="100000"/>
              </a:lnSpc>
              <a:spcBef>
                <a:spcPts val="95"/>
              </a:spcBef>
            </a:pPr>
            <a:r>
              <a:rPr dirty="0"/>
              <a:t>Sürücüleri</a:t>
            </a:r>
            <a:r>
              <a:rPr spc="-100" dirty="0"/>
              <a:t> </a:t>
            </a:r>
            <a:r>
              <a:rPr dirty="0"/>
              <a:t>Birleştir</a:t>
            </a:r>
            <a:r>
              <a:rPr spc="-90" dirty="0"/>
              <a:t> </a:t>
            </a:r>
            <a:r>
              <a:rPr dirty="0"/>
              <a:t>ve</a:t>
            </a:r>
            <a:r>
              <a:rPr spc="-120" dirty="0"/>
              <a:t> </a:t>
            </a:r>
            <a:r>
              <a:rPr spc="-10" dirty="0"/>
              <a:t>İyileştir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44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8180" y="1596618"/>
            <a:ext cx="9581515" cy="1295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2044064" algn="l"/>
                <a:tab pos="3679190" algn="l"/>
                <a:tab pos="5539105" algn="l"/>
                <a:tab pos="6738620" algn="l"/>
                <a:tab pos="7779384" algn="l"/>
                <a:tab pos="9300845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Sürücülerinizi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iyileştirmeye,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bilgisayarınızın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sorunsuz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biçimde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çalışmasına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hızlı</a:t>
            </a:r>
            <a:r>
              <a:rPr sz="20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önyükleme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yapmasına</a:t>
            </a:r>
            <a:r>
              <a:rPr sz="20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yardımcı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olabilir.</a:t>
            </a:r>
            <a:endParaRPr sz="20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83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077595" algn="l"/>
                <a:tab pos="2160270" algn="l"/>
                <a:tab pos="3030220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Sabit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disklerin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(HDD)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6508" y="2866487"/>
            <a:ext cx="1762125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parçalanmasını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okuma/yazma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15334" y="2866487"/>
            <a:ext cx="1087120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R="7620" algn="r">
              <a:lnSpc>
                <a:spcPct val="100000"/>
              </a:lnSpc>
              <a:spcBef>
                <a:spcPts val="575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gidererek</a:t>
            </a:r>
            <a:endParaRPr sz="2000">
              <a:latin typeface="Microsoft Sans Serif"/>
              <a:cs typeface="Microsoft Sans Serif"/>
            </a:endParaRPr>
          </a:p>
          <a:p>
            <a:pPr marR="5080" algn="r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hızlarını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8180" y="3658361"/>
            <a:ext cx="3453765" cy="2300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artırmayı</a:t>
            </a:r>
            <a:r>
              <a:rPr sz="20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amaçlar.</a:t>
            </a:r>
            <a:endParaRPr sz="20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Ayrıca,</a:t>
            </a:r>
            <a:r>
              <a:rPr sz="2000" spc="305" dirty="0">
                <a:solidFill>
                  <a:srgbClr val="2C241F"/>
                </a:solidFill>
                <a:latin typeface="Microsoft Sans Serif"/>
                <a:cs typeface="Microsoft Sans Serif"/>
              </a:rPr>
              <a:t>   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SSD'ler</a:t>
            </a:r>
            <a:r>
              <a:rPr sz="20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   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sürücüyü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optimize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ederek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verimli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çalışmasını</a:t>
            </a:r>
            <a:r>
              <a:rPr sz="20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sağlar,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</a:t>
            </a:r>
            <a:r>
              <a:rPr sz="20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TRIM</a:t>
            </a:r>
            <a:r>
              <a:rPr sz="2000" spc="4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komutunu uygular.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6266" rIns="0" bIns="0" rtlCol="0">
            <a:spAutoFit/>
          </a:bodyPr>
          <a:lstStyle/>
          <a:p>
            <a:pPr marL="3557904">
              <a:lnSpc>
                <a:spcPct val="100000"/>
              </a:lnSpc>
              <a:spcBef>
                <a:spcPts val="95"/>
              </a:spcBef>
            </a:pPr>
            <a:r>
              <a:rPr dirty="0"/>
              <a:t>Windows</a:t>
            </a:r>
            <a:r>
              <a:rPr spc="-160" dirty="0"/>
              <a:t> </a:t>
            </a:r>
            <a:r>
              <a:rPr dirty="0"/>
              <a:t>Erişim</a:t>
            </a:r>
            <a:r>
              <a:rPr spc="-150" dirty="0"/>
              <a:t> </a:t>
            </a:r>
            <a:r>
              <a:rPr spc="-10" dirty="0"/>
              <a:t>Kolaylığı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25747"/>
            <a:ext cx="9581515" cy="463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 algn="just">
              <a:lnSpc>
                <a:spcPct val="120000"/>
              </a:lnSpc>
              <a:spcBef>
                <a:spcPts val="9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klasör,</a:t>
            </a:r>
            <a:r>
              <a:rPr sz="20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kullanıcılara</a:t>
            </a:r>
            <a:r>
              <a:rPr sz="20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çeşitli</a:t>
            </a:r>
            <a:r>
              <a:rPr sz="20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erişim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kolaylıkları</a:t>
            </a:r>
            <a:r>
              <a:rPr sz="20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sunan</a:t>
            </a:r>
            <a:r>
              <a:rPr sz="20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özellikleri</a:t>
            </a:r>
            <a:r>
              <a:rPr sz="20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düzenlemek</a:t>
            </a:r>
            <a:r>
              <a:rPr sz="20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özelliklere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hızlı</a:t>
            </a:r>
            <a:r>
              <a:rPr sz="20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erişim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sağlamak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amacıyla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bulunur.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özellikler,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görme,</a:t>
            </a:r>
            <a:r>
              <a:rPr sz="20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işitme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motor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becerileriyle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ilgili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engelleri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olan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kişiler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tasarlanmıştır.</a:t>
            </a:r>
            <a:endParaRPr sz="20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58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klasörde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 alan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bazı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ana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işlevler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şunlardır:</a:t>
            </a:r>
            <a:endParaRPr sz="20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55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b="1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1800" b="1" spc="2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C241F"/>
                </a:solidFill>
                <a:latin typeface="Arial"/>
                <a:cs typeface="Arial"/>
              </a:rPr>
              <a:t>Okuyucu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18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Ekrandaki</a:t>
            </a:r>
            <a:r>
              <a:rPr sz="18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metni</a:t>
            </a:r>
            <a:r>
              <a:rPr sz="18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sesli</a:t>
            </a:r>
            <a:r>
              <a:rPr sz="18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18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okuyarak</a:t>
            </a:r>
            <a:r>
              <a:rPr sz="18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görme</a:t>
            </a:r>
            <a:r>
              <a:rPr sz="18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engelli</a:t>
            </a:r>
            <a:r>
              <a:rPr sz="18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kullanıcıların</a:t>
            </a:r>
            <a:endParaRPr sz="1800">
              <a:latin typeface="Microsoft Sans Serif"/>
              <a:cs typeface="Microsoft Sans Serif"/>
            </a:endParaRPr>
          </a:p>
          <a:p>
            <a:pPr marL="802005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bilgisayarı</a:t>
            </a:r>
            <a:r>
              <a:rPr sz="18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18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kolay</a:t>
            </a:r>
            <a:r>
              <a:rPr sz="18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kullanmasını</a:t>
            </a:r>
            <a:r>
              <a:rPr sz="18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18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53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b="1" dirty="0">
                <a:solidFill>
                  <a:srgbClr val="2C241F"/>
                </a:solidFill>
                <a:latin typeface="Arial"/>
                <a:cs typeface="Arial"/>
              </a:rPr>
              <a:t>Büyüteç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Ekrandaki</a:t>
            </a:r>
            <a:r>
              <a:rPr sz="1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öğeleri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büyüterek daha</a:t>
            </a:r>
            <a:r>
              <a:rPr sz="1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rahat</a:t>
            </a:r>
            <a:r>
              <a:rPr sz="18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görmeyi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18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53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  <a:tab pos="1772920" algn="l"/>
                <a:tab pos="2947670" algn="l"/>
                <a:tab pos="3716020" algn="l"/>
                <a:tab pos="4815205" algn="l"/>
                <a:tab pos="6232525" algn="l"/>
                <a:tab pos="7217409" algn="l"/>
                <a:tab pos="8035290" algn="l"/>
                <a:tab pos="8956040" algn="l"/>
              </a:tabLst>
            </a:pPr>
            <a:r>
              <a:rPr sz="1800" b="1" spc="-10" dirty="0">
                <a:solidFill>
                  <a:srgbClr val="2C241F"/>
                </a:solidFill>
                <a:latin typeface="Arial"/>
                <a:cs typeface="Arial"/>
              </a:rPr>
              <a:t>Yüksek</a:t>
            </a:r>
            <a:r>
              <a:rPr sz="18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1800" b="1" spc="-10" dirty="0">
                <a:solidFill>
                  <a:srgbClr val="2C241F"/>
                </a:solidFill>
                <a:latin typeface="Arial"/>
                <a:cs typeface="Arial"/>
              </a:rPr>
              <a:t>Kontrast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renklerini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değiştirerek,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görme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zorluğu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çeken</a:t>
            </a:r>
            <a:endParaRPr sz="1800">
              <a:latin typeface="Microsoft Sans Serif"/>
              <a:cs typeface="Microsoft Sans Serif"/>
            </a:endParaRPr>
          </a:p>
          <a:p>
            <a:pPr marL="802005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</a:t>
            </a:r>
            <a:r>
              <a:rPr sz="18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1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1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belirgin hale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getirir.</a:t>
            </a:r>
            <a:endParaRPr sz="18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52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b="1" dirty="0">
                <a:solidFill>
                  <a:srgbClr val="2C241F"/>
                </a:solidFill>
                <a:latin typeface="Arial"/>
                <a:cs typeface="Arial"/>
              </a:rPr>
              <a:t>Ekran</a:t>
            </a:r>
            <a:r>
              <a:rPr sz="1800" b="1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C241F"/>
                </a:solidFill>
                <a:latin typeface="Arial"/>
                <a:cs typeface="Arial"/>
              </a:rPr>
              <a:t>Klavyesi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18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Fiziksel</a:t>
            </a:r>
            <a:r>
              <a:rPr sz="1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klavye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kullanamayanlar</a:t>
            </a:r>
            <a:r>
              <a:rPr sz="1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18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ekranda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sanal</a:t>
            </a:r>
            <a:r>
              <a:rPr sz="18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18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klavye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sağlar.</a:t>
            </a:r>
            <a:endParaRPr sz="18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53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b="1" dirty="0">
                <a:solidFill>
                  <a:srgbClr val="2C241F"/>
                </a:solidFill>
                <a:latin typeface="Arial"/>
                <a:cs typeface="Arial"/>
              </a:rPr>
              <a:t>Altyazı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r>
              <a:rPr sz="18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Video</a:t>
            </a:r>
            <a:r>
              <a:rPr sz="1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8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sesli</a:t>
            </a:r>
            <a:r>
              <a:rPr sz="1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içeriklerde</a:t>
            </a:r>
            <a:r>
              <a:rPr sz="1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altyazıları görüntüleme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özelliği.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45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597" rIns="0" bIns="0" rtlCol="0">
            <a:spAutoFit/>
          </a:bodyPr>
          <a:lstStyle/>
          <a:p>
            <a:pPr marL="173355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Varsayılan</a:t>
            </a:r>
            <a:r>
              <a:rPr spc="-150" dirty="0"/>
              <a:t> </a:t>
            </a:r>
            <a:r>
              <a:rPr dirty="0"/>
              <a:t>Uygulamayı</a:t>
            </a:r>
            <a:r>
              <a:rPr spc="-155" dirty="0"/>
              <a:t> </a:t>
            </a:r>
            <a:r>
              <a:rPr spc="-10" dirty="0"/>
              <a:t>Değiştirmek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46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53370" y="2149297"/>
            <a:ext cx="11455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ilerleyin,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6369" y="1357639"/>
            <a:ext cx="8263255" cy="163057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77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Windows'ta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Varsayılan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ayarlarını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arayın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açın.</a:t>
            </a:r>
            <a:endParaRPr sz="2400" dirty="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2091055" algn="l"/>
                <a:tab pos="4157979" algn="l"/>
                <a:tab pos="5191125" algn="l"/>
                <a:tab pos="678434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Varsayılan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seçin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listesinde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kaydırarak</a:t>
            </a:r>
            <a:endParaRPr sz="2400" dirty="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uygulamaya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tıklayın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istediğiniz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değişiklikleri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 err="1">
                <a:solidFill>
                  <a:srgbClr val="2C241F"/>
                </a:solidFill>
                <a:latin typeface="Microsoft Sans Serif"/>
                <a:cs typeface="Microsoft Sans Serif"/>
              </a:rPr>
              <a:t>yapın</a:t>
            </a:r>
            <a:r>
              <a:rPr sz="2400" spc="-10" dirty="0" smtClean="0">
                <a:solidFill>
                  <a:srgbClr val="2C241F"/>
                </a:solidFill>
                <a:latin typeface="Microsoft Sans Serif"/>
                <a:cs typeface="Microsoft Sans Serif"/>
              </a:rPr>
              <a:t>.</a:t>
            </a:r>
            <a:r>
              <a:rPr lang="tr-TR" sz="2400" spc="-10" dirty="0" smtClean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endParaRPr sz="2400" dirty="0">
              <a:latin typeface="Microsoft Sans Serif"/>
              <a:cs typeface="Microsoft Sans Serif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21096" y="3025124"/>
            <a:ext cx="5831205" cy="3833495"/>
            <a:chOff x="5721096" y="3025124"/>
            <a:chExt cx="5831205" cy="383349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21096" y="3025124"/>
              <a:ext cx="5830824" cy="38328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6168" y="3220212"/>
              <a:ext cx="5260847" cy="33284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8123" y="263016"/>
            <a:ext cx="1172845" cy="3475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54868" y="762380"/>
            <a:ext cx="1329562" cy="4326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92868" y="1256157"/>
            <a:ext cx="2068702" cy="4326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47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07008" y="53338"/>
            <a:ext cx="8631936" cy="6763511"/>
          </a:xfrm>
          <a:prstGeom prst="rect">
            <a:avLst/>
          </a:prstGeom>
        </p:spPr>
      </p:pic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48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5483" y="83818"/>
            <a:ext cx="8266176" cy="66614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8123" y="263016"/>
            <a:ext cx="1172845" cy="347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54868" y="762380"/>
            <a:ext cx="1329562" cy="4326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92868" y="1256157"/>
            <a:ext cx="2068702" cy="432689"/>
          </a:xfrm>
          <a:prstGeom prst="rect">
            <a:avLst/>
          </a:prstGeom>
        </p:spPr>
      </p:pic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49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50619" y="201168"/>
            <a:ext cx="10934065" cy="6400800"/>
            <a:chOff x="1150619" y="201168"/>
            <a:chExt cx="10934065" cy="64008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0619" y="201168"/>
              <a:ext cx="8766048" cy="59954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2791" y="5049012"/>
              <a:ext cx="3345179" cy="15529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98124" y="263017"/>
              <a:ext cx="1172845" cy="3475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54867" y="762380"/>
              <a:ext cx="1329562" cy="43268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92867" y="1256156"/>
              <a:ext cx="2068702" cy="432689"/>
            </a:xfrm>
            <a:prstGeom prst="rect">
              <a:avLst/>
            </a:prstGeom>
          </p:spPr>
        </p:pic>
      </p:grpSp>
      <p:sp>
        <p:nvSpPr>
          <p:cNvPr id="10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50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729" y="6137859"/>
            <a:ext cx="139700" cy="478155"/>
          </a:xfrm>
          <a:prstGeom prst="rect">
            <a:avLst/>
          </a:prstGeom>
        </p:spPr>
        <p:txBody>
          <a:bodyPr vert="vert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9/22/2025</a:t>
            </a:r>
            <a:endParaRPr sz="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8123" y="263016"/>
            <a:ext cx="1172845" cy="347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54868" y="762380"/>
            <a:ext cx="1329562" cy="4326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92868" y="1256157"/>
            <a:ext cx="2068702" cy="43268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1165860" y="240791"/>
            <a:ext cx="10802620" cy="6361430"/>
            <a:chOff x="1165860" y="240791"/>
            <a:chExt cx="10802620" cy="636143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5860" y="240791"/>
              <a:ext cx="8761476" cy="54589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22791" y="5049012"/>
              <a:ext cx="3345179" cy="1552956"/>
            </a:xfrm>
            <a:prstGeom prst="rect">
              <a:avLst/>
            </a:prstGeom>
          </p:spPr>
        </p:pic>
      </p:grpSp>
      <p:sp>
        <p:nvSpPr>
          <p:cNvPr id="10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1631</Words>
  <Application>Microsoft Office PowerPoint</Application>
  <PresentationFormat>Geniş ekran</PresentationFormat>
  <Paragraphs>474</Paragraphs>
  <Slides>50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50</vt:i4>
      </vt:variant>
    </vt:vector>
  </HeadingPairs>
  <TitlesOfParts>
    <vt:vector size="56" baseType="lpstr">
      <vt:lpstr>Arial</vt:lpstr>
      <vt:lpstr>Calibri</vt:lpstr>
      <vt:lpstr>Lucida Sans Unicode</vt:lpstr>
      <vt:lpstr>Microsoft Sans Serif</vt:lpstr>
      <vt:lpstr>Wingdings</vt:lpstr>
      <vt:lpstr>Office Theme</vt:lpstr>
      <vt:lpstr>PowerPoint Sunusu</vt:lpstr>
      <vt:lpstr>PowerPoint Sunusu</vt:lpstr>
      <vt:lpstr>Masaüstü</vt:lpstr>
      <vt:lpstr>Başlat Menüsü</vt:lpstr>
      <vt:lpstr>Başlat Menüsü-Kutucuklar</vt:lpstr>
      <vt:lpstr>Başlat Menüsü-Tam Ekran Modu</vt:lpstr>
      <vt:lpstr>Başlat Menüsü-Tam Ekran Modu</vt:lpstr>
      <vt:lpstr>Başlat Menüsü-Uygulamaları Sabitlemek ve Gruplamak</vt:lpstr>
      <vt:lpstr>Görev Çubuğu</vt:lpstr>
      <vt:lpstr>Görev Çubuğu-Ayarları</vt:lpstr>
      <vt:lpstr>İşlem Merkezi</vt:lpstr>
      <vt:lpstr>Masaüstünü Kişiselleştirmek</vt:lpstr>
      <vt:lpstr>PowerPoint Sunusu</vt:lpstr>
      <vt:lpstr>Pencere</vt:lpstr>
      <vt:lpstr>Pencereler Arası Geçiş ve Boyutlandırma</vt:lpstr>
      <vt:lpstr>Çoklu Masaüstü</vt:lpstr>
      <vt:lpstr>Çoklu Masaüstü-Kısayollar</vt:lpstr>
      <vt:lpstr>PowerPoint Sunusu</vt:lpstr>
      <vt:lpstr>Sürücü Nedir?</vt:lpstr>
      <vt:lpstr>Dosya Nedir?</vt:lpstr>
      <vt:lpstr>Dosya Uzantısı Türleri-1</vt:lpstr>
      <vt:lpstr>Dosya Uzantısı Türleri-2</vt:lpstr>
      <vt:lpstr>Dosya Uzantısı Türleri-3</vt:lpstr>
      <vt:lpstr>Dosya Uzantısını Görmek</vt:lpstr>
      <vt:lpstr>Klasör Nedir?</vt:lpstr>
      <vt:lpstr>Yeni Klasör Oluşturmak</vt:lpstr>
      <vt:lpstr>Dosya ve Klasörleri Yeniden İsimlendirmek</vt:lpstr>
      <vt:lpstr>Dosya ve Klasörleri Silmek</vt:lpstr>
      <vt:lpstr>Dosya Gezgini ile Yönetmek</vt:lpstr>
      <vt:lpstr>Dosya ve Klasörleri Kopyalamak</vt:lpstr>
      <vt:lpstr>Dosya ve Klasörleri Kesmek</vt:lpstr>
      <vt:lpstr>Dosya ve Klasörleri Yapıştırmak</vt:lpstr>
      <vt:lpstr>Dosya/Klasör Özellikleri</vt:lpstr>
      <vt:lpstr>PowerPoint Sunusu</vt:lpstr>
      <vt:lpstr>Ayarlar</vt:lpstr>
      <vt:lpstr>Microsoft Hesabı</vt:lpstr>
      <vt:lpstr>Yeni Kullanıcı Eklemek</vt:lpstr>
      <vt:lpstr>Uygulamaları Kaldırmak</vt:lpstr>
      <vt:lpstr>PowerPoint Sunusu</vt:lpstr>
      <vt:lpstr>Windows Donatıları</vt:lpstr>
      <vt:lpstr>Windows Yönetimsel Araçlar</vt:lpstr>
      <vt:lpstr>Disk Temizleme</vt:lpstr>
      <vt:lpstr>Sistem Bilgisi</vt:lpstr>
      <vt:lpstr>Sürücüleri Birleştir ve İyileştir</vt:lpstr>
      <vt:lpstr>Windows Erişim Kolaylığı</vt:lpstr>
      <vt:lpstr>Varsayılan Uygulamayı Değiştirmek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Esin Ünal</dc:creator>
  <cp:lastModifiedBy>Halil Arslan</cp:lastModifiedBy>
  <cp:revision>4</cp:revision>
  <dcterms:created xsi:type="dcterms:W3CDTF">2025-10-19T19:03:16Z</dcterms:created>
  <dcterms:modified xsi:type="dcterms:W3CDTF">2025-11-07T11:40:25Z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2016</vt:lpwstr>
  </property>
</Properties>
</file>