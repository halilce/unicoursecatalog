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6507" y="1801329"/>
            <a:ext cx="4262755" cy="412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0028" y="1943100"/>
            <a:ext cx="4782820" cy="4107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492" y="778891"/>
            <a:ext cx="9379712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2085" y="1508340"/>
            <a:ext cx="9585960" cy="2074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57933" y="2134057"/>
            <a:ext cx="7026909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6155"/>
              </a:lnSpc>
              <a:spcBef>
                <a:spcPts val="100"/>
              </a:spcBef>
            </a:pPr>
            <a:r>
              <a:rPr sz="54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PROGRAMLAMA</a:t>
            </a:r>
            <a:endParaRPr sz="5400">
              <a:latin typeface="Microsoft Sans Serif"/>
              <a:cs typeface="Microsoft Sans Serif"/>
            </a:endParaRPr>
          </a:p>
          <a:p>
            <a:pPr marL="12700" marR="43180" indent="3264535" algn="r">
              <a:lnSpc>
                <a:spcPts val="5830"/>
              </a:lnSpc>
              <a:spcBef>
                <a:spcPts val="415"/>
              </a:spcBef>
            </a:pPr>
            <a:r>
              <a:rPr sz="54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DİLLERİ</a:t>
            </a:r>
            <a:r>
              <a:rPr sz="5400" b="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b="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VE </a:t>
            </a:r>
            <a:r>
              <a:rPr sz="54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YAZILIM</a:t>
            </a:r>
            <a:r>
              <a:rPr sz="5400" b="0" spc="-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GELİŞTİRME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Microsoft Sans Serif"/>
                <a:cs typeface="Microsoft Sans Serif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. Gör. Halil ARSLAN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50433" y="3080080"/>
            <a:ext cx="51727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5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54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54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me</a:t>
            </a: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5400" spc="-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Kavramlar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9905">
              <a:lnSpc>
                <a:spcPct val="100000"/>
              </a:lnSpc>
              <a:spcBef>
                <a:spcPts val="95"/>
              </a:spcBef>
            </a:pPr>
            <a:r>
              <a:rPr dirty="0"/>
              <a:t>Programlama</a:t>
            </a:r>
            <a:r>
              <a:rPr spc="-114" dirty="0"/>
              <a:t> </a:t>
            </a:r>
            <a:r>
              <a:rPr dirty="0"/>
              <a:t>Dili</a:t>
            </a:r>
            <a:r>
              <a:rPr spc="-130" dirty="0"/>
              <a:t> </a:t>
            </a:r>
            <a:r>
              <a:rPr spc="-10" dirty="0"/>
              <a:t>Nedir?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08340"/>
            <a:ext cx="9582150" cy="4402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dili,</a:t>
            </a:r>
            <a:r>
              <a:rPr sz="2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geliştiricilerin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bilgisayara</a:t>
            </a:r>
            <a:r>
              <a:rPr sz="2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yaptırabilmesi</a:t>
            </a:r>
            <a:r>
              <a:rPr sz="2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geliştirilmiş</a:t>
            </a:r>
            <a:r>
              <a:rPr sz="2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kodlama dilidir.</a:t>
            </a:r>
            <a:endParaRPr sz="2800">
              <a:latin typeface="Microsoft Sans Serif"/>
              <a:cs typeface="Microsoft Sans Serif"/>
            </a:endParaRPr>
          </a:p>
          <a:p>
            <a:pPr marL="350520" marR="889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insanın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okuyabileceği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anlamlandırabileceği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sözdizimlerine</a:t>
            </a:r>
            <a:r>
              <a:rPr sz="28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</a:t>
            </a:r>
            <a:r>
              <a:rPr sz="2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sözdizimleri,</a:t>
            </a:r>
            <a:r>
              <a:rPr sz="2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anlaşılabilir</a:t>
            </a:r>
            <a:r>
              <a:rPr sz="2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forma</a:t>
            </a:r>
            <a:r>
              <a:rPr sz="2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çevrilir.</a:t>
            </a:r>
            <a:endParaRPr sz="28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dillerinin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amacı,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işleyeceği</a:t>
            </a:r>
            <a:r>
              <a:rPr sz="28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talimatları</a:t>
            </a:r>
            <a:r>
              <a:rPr sz="2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 olarak</a:t>
            </a:r>
            <a:r>
              <a:rPr sz="2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ifade</a:t>
            </a:r>
            <a:r>
              <a:rPr sz="2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etmektir.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79085">
              <a:lnSpc>
                <a:spcPct val="100000"/>
              </a:lnSpc>
              <a:spcBef>
                <a:spcPts val="95"/>
              </a:spcBef>
            </a:pPr>
            <a:r>
              <a:rPr dirty="0"/>
              <a:t>Kaynak</a:t>
            </a:r>
            <a:r>
              <a:rPr spc="-15" dirty="0"/>
              <a:t> </a:t>
            </a:r>
            <a:r>
              <a:rPr dirty="0"/>
              <a:t>Kod</a:t>
            </a:r>
            <a:r>
              <a:rPr spc="10" dirty="0"/>
              <a:t> </a:t>
            </a:r>
            <a:r>
              <a:rPr spc="-10" dirty="0"/>
              <a:t>Nedir?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08340"/>
            <a:ext cx="9580245" cy="272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5715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8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dilinin</a:t>
            </a:r>
            <a:r>
              <a:rPr sz="28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kurallarına</a:t>
            </a:r>
            <a:r>
              <a:rPr sz="28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8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yazılmış,</a:t>
            </a:r>
            <a:r>
              <a:rPr sz="28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değişiklik</a:t>
            </a:r>
            <a:r>
              <a:rPr sz="28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yapılabilen,</a:t>
            </a:r>
            <a:r>
              <a:rPr sz="28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programın</a:t>
            </a:r>
            <a:r>
              <a:rPr sz="2800" spc="5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algoritmasını</a:t>
            </a:r>
            <a:r>
              <a:rPr sz="2800" spc="5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içeren belgelerdir.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8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kodların</a:t>
            </a:r>
            <a:r>
              <a:rPr sz="28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5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Makinenin</a:t>
            </a:r>
            <a:r>
              <a:rPr sz="28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anlayabileceği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şekle</a:t>
            </a:r>
            <a:r>
              <a:rPr sz="28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getirilmesi</a:t>
            </a:r>
            <a:r>
              <a:rPr sz="2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gerekir.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083" y="4329684"/>
            <a:ext cx="7120128" cy="2363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81600"/>
            <a:chOff x="1338072" y="1411224"/>
            <a:chExt cx="9813290" cy="518160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024" y="3947159"/>
              <a:ext cx="3970020" cy="264566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5305">
              <a:lnSpc>
                <a:spcPct val="100000"/>
              </a:lnSpc>
              <a:spcBef>
                <a:spcPts val="95"/>
              </a:spcBef>
            </a:pPr>
            <a:r>
              <a:rPr dirty="0"/>
              <a:t>Makine</a:t>
            </a:r>
            <a:r>
              <a:rPr spc="-70" dirty="0"/>
              <a:t> </a:t>
            </a:r>
            <a:r>
              <a:rPr dirty="0"/>
              <a:t>Dili</a:t>
            </a:r>
            <a:r>
              <a:rPr spc="-80" dirty="0"/>
              <a:t> </a:t>
            </a:r>
            <a:r>
              <a:rPr spc="-10" dirty="0"/>
              <a:t>Nedir?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9153" y="1460496"/>
            <a:ext cx="9673590" cy="4723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marR="508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6068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İşlemcinin</a:t>
            </a:r>
            <a:r>
              <a:rPr sz="2400" spc="5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verilen</a:t>
            </a:r>
            <a:r>
              <a:rPr sz="24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</a:t>
            </a:r>
            <a:r>
              <a:rPr sz="2400" spc="5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doğrultusunda</a:t>
            </a:r>
            <a:r>
              <a:rPr sz="2400" spc="5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çalıştırılmasını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sağlayan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işlemci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mimarisine</a:t>
            </a:r>
            <a:r>
              <a:rPr sz="24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değişen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alt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seviyedeki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 dilidir.</a:t>
            </a:r>
            <a:endParaRPr sz="2400">
              <a:latin typeface="Microsoft Sans Serif"/>
              <a:cs typeface="Microsoft Sans Serif"/>
            </a:endParaRPr>
          </a:p>
          <a:p>
            <a:pPr marL="360680" marR="8890" indent="-338455" algn="just">
              <a:lnSpc>
                <a:spcPct val="1201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6068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sadece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0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1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ikililerinin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anlamlı</a:t>
            </a:r>
            <a:r>
              <a:rPr sz="24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kombinasyonlarından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meydana</a:t>
            </a:r>
            <a:r>
              <a:rPr sz="24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gelmektedir.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Bunlar,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işlemci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çözülerek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gerekli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işlemin</a:t>
            </a:r>
            <a:r>
              <a:rPr sz="2400" spc="-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400" spc="-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getirilmesini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  <a:p>
            <a:pPr marL="351155" marR="4112260" indent="-339090" algn="just">
              <a:lnSpc>
                <a:spcPct val="120000"/>
              </a:lnSpc>
              <a:spcBef>
                <a:spcPts val="132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1155" algn="l"/>
                <a:tab pos="428180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dillerin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gerektirdiği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derleyici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yorumlayıcı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kullanımını gerektirmediğinden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1875">
              <a:lnSpc>
                <a:spcPct val="100000"/>
              </a:lnSpc>
              <a:spcBef>
                <a:spcPts val="95"/>
              </a:spcBef>
            </a:pPr>
            <a:r>
              <a:rPr dirty="0"/>
              <a:t>Derleme</a:t>
            </a:r>
            <a:r>
              <a:rPr spc="-90" dirty="0"/>
              <a:t> </a:t>
            </a:r>
            <a:r>
              <a:rPr dirty="0"/>
              <a:t>İşlemi</a:t>
            </a:r>
            <a:r>
              <a:rPr spc="-80" dirty="0"/>
              <a:t> </a:t>
            </a:r>
            <a:r>
              <a:rPr dirty="0"/>
              <a:t>ve</a:t>
            </a:r>
            <a:r>
              <a:rPr spc="-105" dirty="0"/>
              <a:t> </a:t>
            </a:r>
            <a:r>
              <a:rPr dirty="0"/>
              <a:t>Derleyici</a:t>
            </a:r>
            <a:r>
              <a:rPr spc="-85" dirty="0"/>
              <a:t> </a:t>
            </a:r>
            <a:r>
              <a:rPr spc="-10" dirty="0"/>
              <a:t>Nedir?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08340"/>
            <a:ext cx="9579610" cy="221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  <a:tab pos="6773545" algn="l"/>
                <a:tab pos="8220075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8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kodun</a:t>
            </a:r>
            <a:r>
              <a:rPr sz="28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8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diline</a:t>
            </a:r>
            <a:r>
              <a:rPr sz="28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çevrilmesi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işlemine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Derleme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(Compile)</a:t>
            </a:r>
            <a:r>
              <a:rPr sz="28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</a:t>
            </a:r>
            <a:r>
              <a:rPr sz="2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verilir.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100"/>
              </a:lnSpc>
              <a:spcBef>
                <a:spcPts val="1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  <a:tab pos="1193165" algn="l"/>
                <a:tab pos="2889885" algn="l"/>
                <a:tab pos="4487545" algn="l"/>
                <a:tab pos="5868035" algn="l"/>
                <a:tab pos="8201659" algn="l"/>
              </a:tabLst>
            </a:pP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derleme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işlemini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yapan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programlara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Derleyici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(Compiler)</a:t>
            </a:r>
            <a:r>
              <a:rPr sz="28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verilir.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3836946"/>
            <a:ext cx="154940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 dışında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7257" y="3836946"/>
            <a:ext cx="782129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6195">
              <a:lnSpc>
                <a:spcPct val="120000"/>
              </a:lnSpc>
              <a:spcBef>
                <a:spcPts val="95"/>
              </a:spcBef>
              <a:tabLst>
                <a:tab pos="661670" algn="l"/>
                <a:tab pos="893444" algn="l"/>
                <a:tab pos="1744980" algn="l"/>
                <a:tab pos="2530475" algn="l"/>
                <a:tab pos="3749675" algn="l"/>
                <a:tab pos="3796665" algn="l"/>
                <a:tab pos="4990465" algn="l"/>
                <a:tab pos="5357495" algn="l"/>
                <a:tab pos="5636260" algn="l"/>
                <a:tab pos="6539865" algn="l"/>
                <a:tab pos="6895465" algn="l"/>
              </a:tabLst>
            </a:pP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kod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hatası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kuralları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yapılmışsa,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derleyici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derleme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işlemi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6508" y="4947030"/>
            <a:ext cx="8342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sırasında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</a:t>
            </a:r>
            <a:r>
              <a:rPr sz="2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verir</a:t>
            </a:r>
            <a:r>
              <a:rPr sz="2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derleme</a:t>
            </a:r>
            <a:r>
              <a:rPr sz="28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işlemi</a:t>
            </a:r>
            <a:r>
              <a:rPr sz="2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gerçekleşmez.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82111" y="5698235"/>
            <a:ext cx="2192020" cy="885825"/>
            <a:chOff x="3182111" y="5698235"/>
            <a:chExt cx="2192020" cy="885825"/>
          </a:xfrm>
        </p:grpSpPr>
        <p:sp>
          <p:nvSpPr>
            <p:cNvPr id="10" name="object 10"/>
            <p:cNvSpPr/>
            <p:nvPr/>
          </p:nvSpPr>
          <p:spPr>
            <a:xfrm>
              <a:off x="3189731" y="5705855"/>
              <a:ext cx="2176780" cy="870585"/>
            </a:xfrm>
            <a:custGeom>
              <a:avLst/>
              <a:gdLst/>
              <a:ahLst/>
              <a:cxnLst/>
              <a:rect l="l" t="t" r="r" b="b"/>
              <a:pathLst>
                <a:path w="2176779" h="870584">
                  <a:moveTo>
                    <a:pt x="1741170" y="0"/>
                  </a:moveTo>
                  <a:lnTo>
                    <a:pt x="0" y="0"/>
                  </a:lnTo>
                  <a:lnTo>
                    <a:pt x="435102" y="435102"/>
                  </a:lnTo>
                  <a:lnTo>
                    <a:pt x="0" y="870204"/>
                  </a:lnTo>
                  <a:lnTo>
                    <a:pt x="1741170" y="870204"/>
                  </a:lnTo>
                  <a:lnTo>
                    <a:pt x="2176272" y="435102"/>
                  </a:lnTo>
                  <a:lnTo>
                    <a:pt x="1741170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9731" y="5705855"/>
              <a:ext cx="2176780" cy="870585"/>
            </a:xfrm>
            <a:custGeom>
              <a:avLst/>
              <a:gdLst/>
              <a:ahLst/>
              <a:cxnLst/>
              <a:rect l="l" t="t" r="r" b="b"/>
              <a:pathLst>
                <a:path w="2176779" h="870584">
                  <a:moveTo>
                    <a:pt x="0" y="0"/>
                  </a:moveTo>
                  <a:lnTo>
                    <a:pt x="1741170" y="0"/>
                  </a:lnTo>
                  <a:lnTo>
                    <a:pt x="2176272" y="435102"/>
                  </a:lnTo>
                  <a:lnTo>
                    <a:pt x="1741170" y="870204"/>
                  </a:lnTo>
                  <a:lnTo>
                    <a:pt x="0" y="870204"/>
                  </a:lnTo>
                  <a:lnTo>
                    <a:pt x="435102" y="435102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9426" y="5761431"/>
            <a:ext cx="104140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50190" marR="5080" indent="-238125">
              <a:lnSpc>
                <a:spcPts val="2480"/>
              </a:lnSpc>
              <a:spcBef>
                <a:spcPts val="515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Kaynak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Kod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37403" y="5695188"/>
            <a:ext cx="2199640" cy="893444"/>
            <a:chOff x="5137403" y="5695188"/>
            <a:chExt cx="2199640" cy="893444"/>
          </a:xfrm>
        </p:grpSpPr>
        <p:sp>
          <p:nvSpPr>
            <p:cNvPr id="14" name="object 14"/>
            <p:cNvSpPr/>
            <p:nvPr/>
          </p:nvSpPr>
          <p:spPr>
            <a:xfrm>
              <a:off x="5148833" y="5706618"/>
              <a:ext cx="2176780" cy="870585"/>
            </a:xfrm>
            <a:custGeom>
              <a:avLst/>
              <a:gdLst/>
              <a:ahLst/>
              <a:cxnLst/>
              <a:rect l="l" t="t" r="r" b="b"/>
              <a:pathLst>
                <a:path w="2176779" h="870584">
                  <a:moveTo>
                    <a:pt x="1741169" y="0"/>
                  </a:moveTo>
                  <a:lnTo>
                    <a:pt x="0" y="0"/>
                  </a:lnTo>
                  <a:lnTo>
                    <a:pt x="435101" y="435101"/>
                  </a:lnTo>
                  <a:lnTo>
                    <a:pt x="0" y="870203"/>
                  </a:lnTo>
                  <a:lnTo>
                    <a:pt x="1741169" y="870203"/>
                  </a:lnTo>
                  <a:lnTo>
                    <a:pt x="2176271" y="435101"/>
                  </a:lnTo>
                  <a:lnTo>
                    <a:pt x="174116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48833" y="5706618"/>
              <a:ext cx="2176780" cy="870585"/>
            </a:xfrm>
            <a:custGeom>
              <a:avLst/>
              <a:gdLst/>
              <a:ahLst/>
              <a:cxnLst/>
              <a:rect l="l" t="t" r="r" b="b"/>
              <a:pathLst>
                <a:path w="2176779" h="870584">
                  <a:moveTo>
                    <a:pt x="0" y="0"/>
                  </a:moveTo>
                  <a:lnTo>
                    <a:pt x="1741169" y="0"/>
                  </a:lnTo>
                  <a:lnTo>
                    <a:pt x="2176271" y="435101"/>
                  </a:lnTo>
                  <a:lnTo>
                    <a:pt x="1741169" y="870203"/>
                  </a:lnTo>
                  <a:lnTo>
                    <a:pt x="0" y="870203"/>
                  </a:lnTo>
                  <a:lnTo>
                    <a:pt x="435101" y="435101"/>
                  </a:lnTo>
                  <a:lnTo>
                    <a:pt x="0" y="0"/>
                  </a:lnTo>
                  <a:close/>
                </a:path>
              </a:pathLst>
            </a:custGeom>
            <a:ln w="228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80709" y="5919317"/>
            <a:ext cx="1176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Derleme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01840" y="5701284"/>
            <a:ext cx="2184400" cy="879475"/>
            <a:chOff x="7101840" y="5701284"/>
            <a:chExt cx="2184400" cy="87947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6412" y="5705856"/>
              <a:ext cx="2174748" cy="87020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06412" y="5705856"/>
              <a:ext cx="2174875" cy="870585"/>
            </a:xfrm>
            <a:custGeom>
              <a:avLst/>
              <a:gdLst/>
              <a:ahLst/>
              <a:cxnLst/>
              <a:rect l="l" t="t" r="r" b="b"/>
              <a:pathLst>
                <a:path w="2174875" h="870584">
                  <a:moveTo>
                    <a:pt x="0" y="0"/>
                  </a:moveTo>
                  <a:lnTo>
                    <a:pt x="1739646" y="0"/>
                  </a:lnTo>
                  <a:lnTo>
                    <a:pt x="2174748" y="435102"/>
                  </a:lnTo>
                  <a:lnTo>
                    <a:pt x="1739646" y="870204"/>
                  </a:lnTo>
                  <a:lnTo>
                    <a:pt x="0" y="870204"/>
                  </a:lnTo>
                  <a:lnTo>
                    <a:pt x="435102" y="43510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870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23123" y="5761431"/>
            <a:ext cx="1007744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92735" marR="5080" indent="-280670">
              <a:lnSpc>
                <a:spcPts val="2480"/>
              </a:lnSpc>
              <a:spcBef>
                <a:spcPts val="515"/>
              </a:spcBef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Makine Dili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795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Programlama</a:t>
            </a:r>
            <a:r>
              <a:rPr spc="-130" dirty="0"/>
              <a:t> </a:t>
            </a:r>
            <a:r>
              <a:rPr dirty="0"/>
              <a:t>Dillerinin</a:t>
            </a:r>
            <a:r>
              <a:rPr spc="-135" dirty="0"/>
              <a:t> </a:t>
            </a:r>
            <a:r>
              <a:rPr spc="-10" dirty="0"/>
              <a:t>Tarihçesi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62862"/>
            <a:ext cx="9590405" cy="5034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 algn="just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1940'lar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1950'ler:</a:t>
            </a:r>
            <a:endParaRPr sz="2000">
              <a:latin typeface="Microsoft Sans Serif"/>
              <a:cs typeface="Microsoft Sans Serif"/>
            </a:endParaRPr>
          </a:p>
          <a:p>
            <a:pPr marL="463550" marR="5080" algn="just">
              <a:lnSpc>
                <a:spcPct val="110000"/>
              </a:lnSpc>
              <a:spcBef>
                <a:spcPts val="1125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İlk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</a:t>
            </a:r>
            <a:r>
              <a:rPr sz="18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assembler</a:t>
            </a:r>
            <a:r>
              <a:rPr sz="18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kullanılıyordu.</a:t>
            </a:r>
            <a:r>
              <a:rPr sz="18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Fortran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(1957)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COBOL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(1959)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ilk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seviyeli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dönemde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çıktı.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31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1960'lar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-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1970'ler:</a:t>
            </a:r>
            <a:endParaRPr sz="200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135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C</a:t>
            </a:r>
            <a:r>
              <a:rPr sz="18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</a:t>
            </a:r>
            <a:r>
              <a:rPr sz="18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Pascal</a:t>
            </a:r>
            <a:r>
              <a:rPr sz="18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8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18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</a:t>
            </a:r>
            <a:r>
              <a:rPr sz="18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çıktı.</a:t>
            </a:r>
            <a:r>
              <a:rPr sz="1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18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18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1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mühendisliğinde</a:t>
            </a:r>
            <a:r>
              <a:rPr sz="1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1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180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ilerleme</a:t>
            </a:r>
            <a:r>
              <a:rPr sz="18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sağladı.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31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1980'ler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-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1990'lar:</a:t>
            </a:r>
            <a:endParaRPr sz="200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134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</a:t>
            </a:r>
            <a:r>
              <a:rPr sz="18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yönelimli</a:t>
            </a:r>
            <a:r>
              <a:rPr sz="18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18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kavramı</a:t>
            </a:r>
            <a:r>
              <a:rPr sz="1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tanıtıldı.</a:t>
            </a:r>
            <a:r>
              <a:rPr sz="18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18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dönemde</a:t>
            </a:r>
            <a:r>
              <a:rPr sz="18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C++,</a:t>
            </a:r>
            <a:r>
              <a:rPr sz="18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Java,</a:t>
            </a:r>
            <a:r>
              <a:rPr sz="18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C#</a:t>
            </a:r>
            <a:r>
              <a:rPr sz="18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</a:t>
            </a:r>
            <a:endParaRPr sz="180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yönelimli</a:t>
            </a:r>
            <a:r>
              <a:rPr sz="1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18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popülerlik</a:t>
            </a:r>
            <a:r>
              <a:rPr sz="1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kazandı.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31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2000'ler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-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Günümüz:</a:t>
            </a:r>
            <a:endParaRPr sz="2000">
              <a:latin typeface="Microsoft Sans Serif"/>
              <a:cs typeface="Microsoft Sans Serif"/>
            </a:endParaRPr>
          </a:p>
          <a:p>
            <a:pPr marL="463550" marR="12065" algn="just">
              <a:lnSpc>
                <a:spcPct val="110100"/>
              </a:lnSpc>
              <a:spcBef>
                <a:spcPts val="112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JavaScript,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Swift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Go</a:t>
            </a:r>
            <a:r>
              <a:rPr sz="1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modern</a:t>
            </a:r>
            <a:r>
              <a:rPr sz="1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dillerle</a:t>
            </a:r>
            <a:r>
              <a:rPr sz="1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birlikte,</a:t>
            </a:r>
            <a:r>
              <a:rPr sz="18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alanına</a:t>
            </a:r>
            <a:r>
              <a:rPr sz="1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optimize</a:t>
            </a:r>
            <a:r>
              <a:rPr sz="1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edilmiş</a:t>
            </a:r>
            <a:r>
              <a:rPr sz="18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18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geliştirildi.</a:t>
            </a:r>
            <a:r>
              <a:rPr sz="18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18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dönemde</a:t>
            </a:r>
            <a:r>
              <a:rPr sz="1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18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dillerinin</a:t>
            </a:r>
            <a:r>
              <a:rPr sz="18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18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hızını</a:t>
            </a:r>
            <a:r>
              <a:rPr sz="18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kolaylığını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artıran</a:t>
            </a:r>
            <a:r>
              <a:rPr sz="18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</a:t>
            </a:r>
            <a:r>
              <a:rPr sz="18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eklendi.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59733" y="3138627"/>
            <a:ext cx="6964045" cy="159004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993900" marR="5080" indent="-1981200">
              <a:lnSpc>
                <a:spcPts val="5830"/>
              </a:lnSpc>
              <a:spcBef>
                <a:spcPts val="835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Programlama</a:t>
            </a:r>
            <a:r>
              <a:rPr sz="5400" spc="-3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Dillerinin </a:t>
            </a:r>
            <a:r>
              <a:rPr sz="54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Sınıflandırılması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083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95" dirty="0"/>
              <a:t> </a:t>
            </a:r>
            <a:r>
              <a:rPr dirty="0"/>
              <a:t>Programlama</a:t>
            </a:r>
            <a:r>
              <a:rPr spc="-95" dirty="0"/>
              <a:t> </a:t>
            </a:r>
            <a:r>
              <a:rPr dirty="0"/>
              <a:t>Dilinin</a:t>
            </a:r>
            <a:r>
              <a:rPr spc="-100" dirty="0"/>
              <a:t> </a:t>
            </a:r>
            <a:r>
              <a:rPr spc="-10" dirty="0"/>
              <a:t>Seviyesi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26031"/>
            <a:ext cx="9589770" cy="473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7620" indent="-338455" algn="just">
              <a:lnSpc>
                <a:spcPct val="11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400" spc="5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dilinin</a:t>
            </a:r>
            <a:r>
              <a:rPr sz="2400" spc="5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seviyesi,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400" spc="5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dilinin</a:t>
            </a:r>
            <a:r>
              <a:rPr sz="2400" spc="5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algılamasına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yakınlığıdır.</a:t>
            </a:r>
            <a:endParaRPr sz="2400">
              <a:latin typeface="Microsoft Sans Serif"/>
              <a:cs typeface="Microsoft Sans Serif"/>
            </a:endParaRPr>
          </a:p>
          <a:p>
            <a:pPr marL="527685" marR="5715" indent="-515620" algn="just">
              <a:lnSpc>
                <a:spcPct val="110000"/>
              </a:lnSpc>
              <a:spcBef>
                <a:spcPts val="1100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Düşük</a:t>
            </a:r>
            <a:r>
              <a:rPr sz="2400" b="1" i="1" spc="2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400" b="1" i="1" spc="2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400" b="1" i="1" spc="26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donanıma</a:t>
            </a:r>
            <a:r>
              <a:rPr sz="24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yakın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makineye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sağlayan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dillerdir.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assembler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gruptadır.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yönetimi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düşük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sağlar,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ancak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okunması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yazılması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zor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400">
              <a:latin typeface="Microsoft Sans Serif"/>
              <a:cs typeface="Microsoft Sans Serif"/>
            </a:endParaRPr>
          </a:p>
          <a:p>
            <a:pPr marL="527685" marR="5080" indent="-515620" algn="just">
              <a:lnSpc>
                <a:spcPct val="110000"/>
              </a:lnSpc>
              <a:spcBef>
                <a:spcPts val="1095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Yüksek</a:t>
            </a:r>
            <a:r>
              <a:rPr sz="2400" b="1" i="1" spc="5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400" b="1" i="1" spc="5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400" b="1" i="1" spc="5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</a:t>
            </a:r>
            <a:r>
              <a:rPr sz="24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400" spc="5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anlaşılabilir</a:t>
            </a:r>
            <a:r>
              <a:rPr sz="2400" spc="5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dillerdir.</a:t>
            </a:r>
            <a:r>
              <a:rPr sz="2400" spc="5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400" spc="5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</a:t>
            </a:r>
            <a:r>
              <a:rPr sz="24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</a:t>
            </a:r>
            <a:r>
              <a:rPr sz="2400" spc="5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etkileşime</a:t>
            </a:r>
            <a:r>
              <a:rPr sz="2400" spc="5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girmeden</a:t>
            </a:r>
            <a:r>
              <a:rPr sz="24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işlemleri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yönetmeyi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C,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Java,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C#,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vb.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seviyeli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dillere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örnektir.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93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Seviyelerine</a:t>
            </a:r>
            <a:r>
              <a:rPr spc="-125" dirty="0"/>
              <a:t> </a:t>
            </a:r>
            <a:r>
              <a:rPr dirty="0"/>
              <a:t>Göre</a:t>
            </a:r>
            <a:r>
              <a:rPr spc="-114" dirty="0"/>
              <a:t> </a:t>
            </a:r>
            <a:r>
              <a:rPr spc="-10" dirty="0"/>
              <a:t>Programlama</a:t>
            </a:r>
            <a:r>
              <a:rPr spc="-105" dirty="0"/>
              <a:t> </a:t>
            </a:r>
            <a:r>
              <a:rPr spc="-10" dirty="0"/>
              <a:t>Dilleri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80550" y="2247392"/>
            <a:ext cx="1548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4530" algn="l"/>
              </a:tabLst>
            </a:pP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1368012"/>
            <a:ext cx="7882890" cy="2494280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88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Düşük</a:t>
            </a:r>
            <a:r>
              <a:rPr sz="28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800" b="1" i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spc="-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dilleri,</a:t>
            </a:r>
            <a:r>
              <a:rPr sz="2800" spc="-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Assembly</a:t>
            </a:r>
            <a:endParaRPr sz="2800">
              <a:latin typeface="Microsoft Sans Serif"/>
              <a:cs typeface="Microsoft Sans Serif"/>
            </a:endParaRPr>
          </a:p>
          <a:p>
            <a:pPr marL="350520" marR="106045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  <a:tab pos="1358265" algn="l"/>
                <a:tab pos="2961640" algn="l"/>
                <a:tab pos="4246880" algn="l"/>
                <a:tab pos="4846955" algn="l"/>
                <a:tab pos="5272405" algn="l"/>
                <a:tab pos="7075170" algn="l"/>
              </a:tabLst>
            </a:pPr>
            <a:r>
              <a:rPr sz="2800" b="1" i="1" spc="-20" dirty="0">
                <a:solidFill>
                  <a:srgbClr val="FF840D"/>
                </a:solidFill>
                <a:latin typeface="Arial"/>
                <a:cs typeface="Arial"/>
              </a:rPr>
              <a:t>Orta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makinaya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hem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algılamasına</a:t>
            </a:r>
            <a:r>
              <a:rPr sz="28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yakın</a:t>
            </a:r>
            <a:r>
              <a:rPr sz="28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dillerdir.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C,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C++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7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  <a:tab pos="1852295" algn="l"/>
                <a:tab pos="3430904" algn="l"/>
                <a:tab pos="4691380" algn="l"/>
                <a:tab pos="5795010" algn="l"/>
                <a:tab pos="6703695" algn="l"/>
              </a:tabLst>
            </a:pP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Yüksek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7126" y="3410458"/>
            <a:ext cx="1511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üretmeye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3836946"/>
            <a:ext cx="9582150" cy="2726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715" algn="just">
              <a:lnSpc>
                <a:spcPct val="120000"/>
              </a:lnSpc>
              <a:spcBef>
                <a:spcPts val="95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yatkın</a:t>
            </a:r>
            <a:r>
              <a:rPr sz="2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dillerdir.</a:t>
            </a:r>
            <a:r>
              <a:rPr sz="28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Donanıma</a:t>
            </a:r>
            <a:r>
              <a:rPr sz="28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etkileri</a:t>
            </a:r>
            <a:r>
              <a:rPr sz="28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8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</a:t>
            </a:r>
            <a:r>
              <a:rPr sz="28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seviyedeki</a:t>
            </a:r>
            <a:r>
              <a:rPr sz="28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kadar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performanslı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olmasa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vardır.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C#,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Java,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Pascal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Çok</a:t>
            </a:r>
            <a:r>
              <a:rPr sz="2800" b="1" i="1" spc="3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Yüksek</a:t>
            </a:r>
            <a:r>
              <a:rPr sz="2800" b="1" i="1" spc="3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Seviyeli</a:t>
            </a:r>
            <a:r>
              <a:rPr sz="2800" b="1" i="1" spc="3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spc="3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8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8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az</a:t>
            </a:r>
            <a:r>
              <a:rPr sz="28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</a:t>
            </a:r>
            <a:r>
              <a:rPr sz="28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yazarak,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8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arayüzü</a:t>
            </a:r>
            <a:r>
              <a:rPr sz="2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r>
              <a:rPr sz="28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8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yazılabilen</a:t>
            </a:r>
            <a:r>
              <a:rPr sz="28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dillerdir.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Visual</a:t>
            </a:r>
            <a:r>
              <a:rPr sz="2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Basic,</a:t>
            </a:r>
            <a:r>
              <a:rPr sz="2800" spc="-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Access,</a:t>
            </a:r>
            <a:r>
              <a:rPr sz="28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Fox</a:t>
            </a:r>
            <a:r>
              <a:rPr sz="2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Pro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9575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114" dirty="0"/>
              <a:t> </a:t>
            </a:r>
            <a:r>
              <a:rPr dirty="0"/>
              <a:t>Programların</a:t>
            </a:r>
            <a:r>
              <a:rPr spc="-110" dirty="0"/>
              <a:t> </a:t>
            </a:r>
            <a:r>
              <a:rPr dirty="0"/>
              <a:t>Çalışma</a:t>
            </a:r>
            <a:r>
              <a:rPr spc="-114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9770" cy="497522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dilleri,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prensiplerine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3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incelenir:</a:t>
            </a:r>
            <a:endParaRPr sz="2400">
              <a:latin typeface="Microsoft Sans Serif"/>
              <a:cs typeface="Microsoft Sans Serif"/>
            </a:endParaRPr>
          </a:p>
          <a:p>
            <a:pPr marL="356870" marR="698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Derlenen</a:t>
            </a:r>
            <a:r>
              <a:rPr sz="2400" b="1" i="1" spc="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400" b="1" i="1" spc="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dillerde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diline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çevrilir.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programı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diliyle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kendisi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çalıştırır.</a:t>
            </a:r>
            <a:endParaRPr sz="2400">
              <a:latin typeface="Microsoft Sans Serif"/>
              <a:cs typeface="Microsoft Sans Serif"/>
            </a:endParaRPr>
          </a:p>
          <a:p>
            <a:pPr marL="356870" marR="6985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Yorumlanan</a:t>
            </a:r>
            <a:r>
              <a:rPr sz="2400" b="1" i="1" spc="43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400" b="1" i="1" spc="41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dillerde</a:t>
            </a:r>
            <a:r>
              <a:rPr sz="24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çalıştıracak</a:t>
            </a:r>
            <a:r>
              <a:rPr sz="24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4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çalıştırıcı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satır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satır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yorumlayarak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kendisi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çalıştırır.</a:t>
            </a:r>
            <a:endParaRPr sz="2400">
              <a:latin typeface="Microsoft Sans Serif"/>
              <a:cs typeface="Microsoft Sans Serif"/>
            </a:endParaRPr>
          </a:p>
          <a:p>
            <a:pPr marL="356870" marR="508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Yarı</a:t>
            </a:r>
            <a:r>
              <a:rPr sz="2400" b="1" i="1" spc="5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Yorumlanmış</a:t>
            </a:r>
            <a:r>
              <a:rPr sz="2400" b="1" i="1" spc="5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</a:t>
            </a:r>
            <a:r>
              <a:rPr sz="2400" b="1" i="1" spc="5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(Hibrit</a:t>
            </a:r>
            <a:r>
              <a:rPr sz="2400" b="1" i="1" spc="5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Diller):</a:t>
            </a:r>
            <a:r>
              <a:rPr sz="2400" b="1" i="1" spc="5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5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derleme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yorumlama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aşamalarını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İlk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aşamada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kod,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bayt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koduna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formata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derlenir,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sonra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zamanında yorumlanır.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363" y="170179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95"/>
              </a:spcBef>
            </a:pPr>
            <a:r>
              <a:rPr dirty="0"/>
              <a:t>Çalışma</a:t>
            </a:r>
            <a:r>
              <a:rPr spc="-135" dirty="0"/>
              <a:t> </a:t>
            </a:r>
            <a:r>
              <a:rPr dirty="0"/>
              <a:t>Türlerine</a:t>
            </a:r>
            <a:r>
              <a:rPr spc="-140" dirty="0"/>
              <a:t> </a:t>
            </a:r>
            <a:r>
              <a:rPr dirty="0"/>
              <a:t>Göre</a:t>
            </a:r>
            <a:r>
              <a:rPr spc="-135" dirty="0"/>
              <a:t> </a:t>
            </a:r>
            <a:r>
              <a:rPr spc="-10" dirty="0"/>
              <a:t>Programlama</a:t>
            </a:r>
            <a:r>
              <a:rPr spc="-125" dirty="0"/>
              <a:t> </a:t>
            </a:r>
            <a:r>
              <a:rPr spc="-10" dirty="0"/>
              <a:t>Dilleri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68012"/>
            <a:ext cx="8705850" cy="1981835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88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Derlenmiş</a:t>
            </a:r>
            <a:r>
              <a:rPr sz="28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spc="-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C,</a:t>
            </a:r>
            <a:r>
              <a:rPr sz="2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C++,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Rust,</a:t>
            </a:r>
            <a:r>
              <a:rPr sz="2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Go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8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spc="-10" dirty="0">
                <a:solidFill>
                  <a:srgbClr val="FF840D"/>
                </a:solidFill>
                <a:latin typeface="Arial"/>
                <a:cs typeface="Arial"/>
              </a:rPr>
              <a:t>Yorumlanmış</a:t>
            </a:r>
            <a:r>
              <a:rPr sz="2800" b="1" i="1" spc="-1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spc="-1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28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JavaScript,</a:t>
            </a:r>
            <a:r>
              <a:rPr sz="28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Ruby,</a:t>
            </a:r>
            <a:r>
              <a:rPr sz="28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PHP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6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Hibrit</a:t>
            </a:r>
            <a:r>
              <a:rPr sz="2800" b="1" i="1" spc="-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8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Java,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C#,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Kotlin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7355" y="3462527"/>
            <a:ext cx="6851904" cy="33863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95" dirty="0"/>
              <a:t> </a:t>
            </a:r>
            <a:r>
              <a:rPr spc="-10" dirty="0"/>
              <a:t>Programlama</a:t>
            </a:r>
            <a:r>
              <a:rPr spc="-90" dirty="0"/>
              <a:t> </a:t>
            </a:r>
            <a:r>
              <a:rPr dirty="0"/>
              <a:t>Dillerinin</a:t>
            </a:r>
            <a:r>
              <a:rPr spc="-80" dirty="0"/>
              <a:t> </a:t>
            </a:r>
            <a:r>
              <a:rPr spc="-10" dirty="0"/>
              <a:t>Kullanım</a:t>
            </a:r>
            <a:r>
              <a:rPr spc="-204" dirty="0"/>
              <a:t> </a:t>
            </a:r>
            <a:r>
              <a:rPr spc="-10" dirty="0"/>
              <a:t>Alanları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3615"/>
            <a:ext cx="9584690" cy="4669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635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Web</a:t>
            </a:r>
            <a:r>
              <a:rPr sz="2100" b="1" i="1" spc="3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r>
              <a:rPr sz="2100" b="1" i="1" spc="3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Web</a:t>
            </a:r>
            <a:r>
              <a:rPr sz="21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1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internet</a:t>
            </a:r>
            <a:r>
              <a:rPr sz="21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1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servisler</a:t>
            </a:r>
            <a:r>
              <a:rPr sz="21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geliştirmek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1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1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istemci</a:t>
            </a:r>
            <a:r>
              <a:rPr sz="21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</a:t>
            </a:r>
            <a:r>
              <a:rPr sz="21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(frontend)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1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</a:t>
            </a:r>
            <a:r>
              <a:rPr sz="21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(backend)</a:t>
            </a:r>
            <a:r>
              <a:rPr sz="21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</a:t>
            </a:r>
            <a:endParaRPr sz="2100">
              <a:latin typeface="Microsoft Sans Serif"/>
              <a:cs typeface="Microsoft Sans Serif"/>
            </a:endParaRPr>
          </a:p>
          <a:p>
            <a:pPr marL="337820" indent="-337820" algn="ctr">
              <a:lnSpc>
                <a:spcPct val="100000"/>
              </a:lnSpc>
              <a:spcBef>
                <a:spcPts val="161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378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Mobil</a:t>
            </a:r>
            <a:r>
              <a:rPr sz="2100" b="1" i="1" spc="1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r>
              <a:rPr sz="2100" b="1" i="1" spc="1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1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</a:t>
            </a:r>
            <a:r>
              <a:rPr sz="21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1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1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1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alanında</a:t>
            </a:r>
            <a:r>
              <a:rPr sz="21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100">
              <a:latin typeface="Microsoft Sans Serif"/>
              <a:cs typeface="Microsoft Sans Serif"/>
            </a:endParaRPr>
          </a:p>
          <a:p>
            <a:pPr marR="55880" algn="ctr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1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platforma</a:t>
            </a:r>
            <a:r>
              <a:rPr sz="21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</a:t>
            </a:r>
            <a:r>
              <a:rPr sz="21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21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çapraz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platform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çözümleri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1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geliştirilir.</a:t>
            </a:r>
            <a:endParaRPr sz="21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Oyun</a:t>
            </a:r>
            <a:r>
              <a:rPr sz="2100" b="1" i="1" spc="1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r>
              <a:rPr sz="2100" b="1" i="1" spc="1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motorlarıyla</a:t>
            </a:r>
            <a:r>
              <a:rPr sz="21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uyumlu</a:t>
            </a:r>
            <a:r>
              <a:rPr sz="21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1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odaklı</a:t>
            </a:r>
            <a:r>
              <a:rPr sz="21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21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tercih</a:t>
            </a:r>
            <a:r>
              <a:rPr sz="21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r>
              <a:rPr sz="21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1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1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1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1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gereksinimi</a:t>
            </a:r>
            <a:r>
              <a:rPr sz="21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1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grafik</a:t>
            </a:r>
            <a:r>
              <a:rPr sz="21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fizik</a:t>
            </a:r>
            <a:r>
              <a:rPr sz="21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hesaplamalarında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etkilidir.</a:t>
            </a:r>
            <a:endParaRPr sz="21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100" b="1" i="1" spc="4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Bilimi</a:t>
            </a:r>
            <a:r>
              <a:rPr sz="2100" b="1" i="1" spc="4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100" b="1" i="1" spc="43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100" b="1" i="1" spc="4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Zeka:</a:t>
            </a:r>
            <a:r>
              <a:rPr sz="2100" b="1" i="1" spc="4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1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analizi,</a:t>
            </a:r>
            <a:r>
              <a:rPr sz="21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1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21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1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1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alanlarında  tercih</a:t>
            </a:r>
            <a:r>
              <a:rPr sz="21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r>
              <a:rPr sz="21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1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1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1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1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kümeleri</a:t>
            </a:r>
            <a:r>
              <a:rPr sz="21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1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yapabilen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geliştirmede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güçlü</a:t>
            </a:r>
            <a:r>
              <a:rPr sz="21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kütüphane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desteğine</a:t>
            </a:r>
            <a:r>
              <a:rPr sz="21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00" dirty="0"/>
              <a:t> </a:t>
            </a:r>
            <a:r>
              <a:rPr spc="-10" dirty="0"/>
              <a:t>Programlama</a:t>
            </a:r>
            <a:r>
              <a:rPr spc="-95" dirty="0"/>
              <a:t> </a:t>
            </a:r>
            <a:r>
              <a:rPr dirty="0"/>
              <a:t>Dillerinin</a:t>
            </a:r>
            <a:r>
              <a:rPr spc="-85" dirty="0"/>
              <a:t> </a:t>
            </a:r>
            <a:r>
              <a:rPr spc="-10" dirty="0"/>
              <a:t>Kullanım</a:t>
            </a:r>
            <a:r>
              <a:rPr spc="-204" dirty="0"/>
              <a:t> </a:t>
            </a:r>
            <a:r>
              <a:rPr spc="-10" dirty="0"/>
              <a:t>Alanları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3615"/>
            <a:ext cx="9582785" cy="4285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Sistem</a:t>
            </a:r>
            <a:r>
              <a:rPr sz="2100" b="1" i="1" spc="1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Programlama:</a:t>
            </a:r>
            <a:r>
              <a:rPr sz="2100" b="1" i="1" spc="1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yazılımı,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1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1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donanıma</a:t>
            </a:r>
            <a:r>
              <a:rPr sz="21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yakın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1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1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geliştirmek</a:t>
            </a:r>
            <a:r>
              <a:rPr sz="21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1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1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1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düşük</a:t>
            </a:r>
            <a:r>
              <a:rPr sz="21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seviyeli</a:t>
            </a:r>
            <a:r>
              <a:rPr sz="21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olup,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</a:t>
            </a:r>
            <a:r>
              <a:rPr sz="21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yönetimi</a:t>
            </a:r>
            <a:r>
              <a:rPr sz="21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kontrolü</a:t>
            </a:r>
            <a:r>
              <a:rPr sz="21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1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1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Bilimsel</a:t>
            </a:r>
            <a:r>
              <a:rPr sz="2100" b="1" i="1" spc="1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100" b="1" i="1" spc="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Mühendislik:</a:t>
            </a:r>
            <a:r>
              <a:rPr sz="2100" b="1" i="1" spc="1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Mühendislik</a:t>
            </a:r>
            <a:r>
              <a:rPr sz="21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bilimsel</a:t>
            </a:r>
            <a:r>
              <a:rPr sz="21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hesaplamalarda</a:t>
            </a:r>
            <a:r>
              <a:rPr sz="21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endParaRPr sz="21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505"/>
              </a:spcBef>
            </a:pP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diller,</a:t>
            </a:r>
            <a:r>
              <a:rPr sz="21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1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doğruluk</a:t>
            </a:r>
            <a:r>
              <a:rPr sz="21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güçlü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matematiksel</a:t>
            </a:r>
            <a:r>
              <a:rPr sz="21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kütüphaneler</a:t>
            </a:r>
            <a:r>
              <a:rPr sz="21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endParaRPr sz="21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Veritabanı</a:t>
            </a:r>
            <a:r>
              <a:rPr sz="2100" b="1" i="1" spc="1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Yönetimi:</a:t>
            </a:r>
            <a:r>
              <a:rPr sz="2100" b="1" i="1" spc="1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Veritabanı</a:t>
            </a:r>
            <a:r>
              <a:rPr sz="21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yönetimi,</a:t>
            </a:r>
            <a:r>
              <a:rPr sz="21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1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sorgulama</a:t>
            </a:r>
            <a:r>
              <a:rPr sz="21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1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1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</a:t>
            </a:r>
            <a:r>
              <a:rPr sz="21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1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geliştirilmiş</a:t>
            </a:r>
            <a:r>
              <a:rPr sz="21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</a:t>
            </a:r>
            <a:r>
              <a:rPr sz="21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1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8095"/>
              <a:buFont typeface="Wingdings"/>
              <a:buChar char=""/>
              <a:tabLst>
                <a:tab pos="350520" algn="l"/>
              </a:tabLst>
            </a:pP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Betik</a:t>
            </a:r>
            <a:r>
              <a:rPr sz="2100" b="1" i="1" spc="4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(Scripting)</a:t>
            </a:r>
            <a:r>
              <a:rPr sz="2100" b="1" i="1" spc="4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b="1" i="1" dirty="0">
                <a:solidFill>
                  <a:srgbClr val="FF840D"/>
                </a:solidFill>
                <a:latin typeface="Arial"/>
                <a:cs typeface="Arial"/>
              </a:rPr>
              <a:t>Diller:</a:t>
            </a:r>
            <a:r>
              <a:rPr sz="2100" b="1" i="1" spc="4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Betik</a:t>
            </a:r>
            <a:r>
              <a:rPr sz="21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dilleri,</a:t>
            </a:r>
            <a:r>
              <a:rPr sz="21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1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otomasyon</a:t>
            </a:r>
            <a:r>
              <a:rPr sz="21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küçük</a:t>
            </a:r>
            <a:r>
              <a:rPr sz="21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ölçekli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  Çoğu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betik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  yorumlanır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1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 </a:t>
            </a:r>
            <a:r>
              <a:rPr sz="21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prototipleme</a:t>
            </a:r>
            <a:r>
              <a:rPr sz="21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1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Kullanım</a:t>
            </a:r>
            <a:r>
              <a:rPr spc="-229" dirty="0"/>
              <a:t> </a:t>
            </a:r>
            <a:r>
              <a:rPr dirty="0"/>
              <a:t>Alanlarına</a:t>
            </a:r>
            <a:r>
              <a:rPr spc="-165" dirty="0"/>
              <a:t> </a:t>
            </a:r>
            <a:r>
              <a:rPr dirty="0"/>
              <a:t>Göre</a:t>
            </a:r>
            <a:r>
              <a:rPr spc="-165" dirty="0"/>
              <a:t> </a:t>
            </a:r>
            <a:r>
              <a:rPr dirty="0"/>
              <a:t>Programlama</a:t>
            </a:r>
            <a:r>
              <a:rPr spc="-140" dirty="0"/>
              <a:t> </a:t>
            </a:r>
            <a:r>
              <a:rPr spc="-10" dirty="0"/>
              <a:t>Dilleri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2925"/>
            <a:ext cx="9584055" cy="47815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7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Web</a:t>
            </a:r>
            <a:r>
              <a:rPr sz="26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endParaRPr sz="2600">
              <a:latin typeface="Arial"/>
              <a:cs typeface="Arial"/>
            </a:endParaRPr>
          </a:p>
          <a:p>
            <a:pPr marL="802005" marR="5715" lvl="1" indent="-338455">
              <a:lnSpc>
                <a:spcPct val="120000"/>
              </a:lnSpc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  <a:tab pos="2114550" algn="l"/>
                <a:tab pos="3470910" algn="l"/>
                <a:tab pos="5281295" algn="l"/>
                <a:tab pos="5638165" algn="l"/>
                <a:tab pos="6895465" algn="l"/>
                <a:tab pos="7933690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İstemci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(Frontend)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HTML,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CSS,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JavaScript, TypeScript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6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6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</a:t>
            </a:r>
            <a:r>
              <a:rPr sz="26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(Backend)</a:t>
            </a:r>
            <a:r>
              <a:rPr sz="26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26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Ruby,</a:t>
            </a:r>
            <a:r>
              <a:rPr sz="26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Node.js,</a:t>
            </a:r>
            <a:r>
              <a:rPr sz="2600" spc="-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ASP.NET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6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Mobil</a:t>
            </a:r>
            <a:r>
              <a:rPr sz="2600" b="1" i="1" spc="-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endParaRPr sz="2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6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iOS</a:t>
            </a:r>
            <a:r>
              <a:rPr sz="26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6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Swift,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Objective-</a:t>
            </a:r>
            <a:r>
              <a:rPr sz="26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C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6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Android:</a:t>
            </a:r>
            <a:r>
              <a:rPr sz="26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Kotlin,</a:t>
            </a:r>
            <a:r>
              <a:rPr sz="26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</a:t>
            </a:r>
            <a:endParaRPr sz="2600">
              <a:latin typeface="Microsoft Sans Serif"/>
              <a:cs typeface="Microsoft Sans Serif"/>
            </a:endParaRPr>
          </a:p>
          <a:p>
            <a:pPr marL="802005" marR="5080" lvl="1" indent="-338455">
              <a:lnSpc>
                <a:spcPct val="120000"/>
              </a:lnSpc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Çapraz</a:t>
            </a:r>
            <a:r>
              <a:rPr sz="26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Platform</a:t>
            </a:r>
            <a:r>
              <a:rPr sz="26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6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Flutter</a:t>
            </a:r>
            <a:r>
              <a:rPr sz="26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(Dart),</a:t>
            </a:r>
            <a:r>
              <a:rPr sz="26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React</a:t>
            </a:r>
            <a:r>
              <a:rPr sz="26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Native</a:t>
            </a:r>
            <a:r>
              <a:rPr sz="26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(JavaScript),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MAUI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(C#)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62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  <a:tab pos="319913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Oyun</a:t>
            </a:r>
            <a:r>
              <a:rPr sz="2600" b="1" i="1" spc="-1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C++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(unreal),</a:t>
            </a:r>
            <a:r>
              <a:rPr sz="26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C#</a:t>
            </a:r>
            <a:r>
              <a:rPr sz="26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(unity)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Kullanım</a:t>
            </a:r>
            <a:r>
              <a:rPr spc="-229" dirty="0"/>
              <a:t> </a:t>
            </a:r>
            <a:r>
              <a:rPr dirty="0"/>
              <a:t>Alanlarına</a:t>
            </a:r>
            <a:r>
              <a:rPr spc="-165" dirty="0"/>
              <a:t> </a:t>
            </a:r>
            <a:r>
              <a:rPr dirty="0"/>
              <a:t>Göre</a:t>
            </a:r>
            <a:r>
              <a:rPr spc="-165" dirty="0"/>
              <a:t> </a:t>
            </a:r>
            <a:r>
              <a:rPr dirty="0"/>
              <a:t>Programlama</a:t>
            </a:r>
            <a:r>
              <a:rPr spc="-140" dirty="0"/>
              <a:t> </a:t>
            </a:r>
            <a:r>
              <a:rPr spc="-10" dirty="0"/>
              <a:t>Dilleri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68012"/>
            <a:ext cx="9581515" cy="3799204"/>
          </a:xfrm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88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6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Bilimi</a:t>
            </a:r>
            <a:r>
              <a:rPr sz="26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600" b="1" i="1" spc="-1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6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Zeka:</a:t>
            </a:r>
            <a:r>
              <a:rPr sz="2600" b="1" i="1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Java,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R,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Julia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8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Sistem</a:t>
            </a:r>
            <a:r>
              <a:rPr sz="2600" b="1" i="1" spc="-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Programlama:</a:t>
            </a:r>
            <a:r>
              <a:rPr sz="26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C,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C++,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Rust,</a:t>
            </a:r>
            <a:r>
              <a:rPr sz="2800" spc="-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Assembly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6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Bilimsel</a:t>
            </a:r>
            <a:r>
              <a:rPr sz="2600" b="1" i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600" b="1" i="1" spc="-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Mühendislik:</a:t>
            </a:r>
            <a:r>
              <a:rPr sz="2600" b="1" i="1" spc="-1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MATLAB,</a:t>
            </a:r>
            <a:r>
              <a:rPr sz="2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Fortran,</a:t>
            </a:r>
            <a:r>
              <a:rPr sz="2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Julia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  <a:tab pos="2105025" algn="l"/>
                <a:tab pos="3781425" algn="l"/>
                <a:tab pos="4664075" algn="l"/>
                <a:tab pos="6610350" algn="l"/>
                <a:tab pos="7764145" algn="l"/>
              </a:tabLst>
            </a:pPr>
            <a:r>
              <a:rPr sz="2600" b="1" i="1" spc="-10" dirty="0">
                <a:solidFill>
                  <a:srgbClr val="FF840D"/>
                </a:solidFill>
                <a:latin typeface="Arial"/>
                <a:cs typeface="Arial"/>
              </a:rPr>
              <a:t>Veritabanı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600" b="1" i="1" spc="-10" dirty="0">
                <a:solidFill>
                  <a:srgbClr val="FF840D"/>
                </a:solidFill>
                <a:latin typeface="Arial"/>
                <a:cs typeface="Arial"/>
              </a:rPr>
              <a:t>Yönetimi: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SQL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(Structured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Query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Language),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PL/SQL</a:t>
            </a:r>
            <a:r>
              <a:rPr sz="2800" spc="-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(Oracle),</a:t>
            </a:r>
            <a:r>
              <a:rPr sz="28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T-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SQL</a:t>
            </a:r>
            <a:r>
              <a:rPr sz="2800" spc="-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(Microsoft</a:t>
            </a:r>
            <a:r>
              <a:rPr sz="2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SQL</a:t>
            </a:r>
            <a:r>
              <a:rPr sz="2800" spc="-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Server)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8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Betik</a:t>
            </a:r>
            <a:r>
              <a:rPr sz="26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(Scripting)</a:t>
            </a:r>
            <a:r>
              <a:rPr sz="26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Dilleri:</a:t>
            </a:r>
            <a:r>
              <a:rPr sz="2600" b="1" i="1" spc="-3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Python,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JavaScript,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Bash,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Perl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16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37105" y="3089224"/>
            <a:ext cx="922591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Algoritmalar</a:t>
            </a:r>
            <a:r>
              <a:rPr sz="4900" b="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9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4900" b="0" spc="-2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9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Akış</a:t>
            </a:r>
            <a:r>
              <a:rPr sz="4900" b="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9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Diyagramları</a:t>
            </a:r>
            <a:endParaRPr sz="4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450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Algoritma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1058" y="1665312"/>
            <a:ext cx="6412865" cy="37515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6985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b="1" i="1" dirty="0">
                <a:solidFill>
                  <a:srgbClr val="2C241F"/>
                </a:solidFill>
                <a:latin typeface="Arial"/>
                <a:cs typeface="Arial"/>
              </a:rPr>
              <a:t>Algoritma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,</a:t>
            </a:r>
            <a:r>
              <a:rPr sz="28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belli</a:t>
            </a:r>
            <a:r>
              <a:rPr sz="28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problemi</a:t>
            </a:r>
            <a:r>
              <a:rPr sz="28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çözmek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8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8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amaca</a:t>
            </a:r>
            <a:r>
              <a:rPr sz="28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ulaşmak</a:t>
            </a:r>
            <a:r>
              <a:rPr sz="28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tasarlanan</a:t>
            </a:r>
            <a:r>
              <a:rPr sz="28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yoldur.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işi</a:t>
            </a:r>
            <a:r>
              <a:rPr sz="28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tanımlanan,</a:t>
            </a:r>
            <a:r>
              <a:rPr sz="28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durumundan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başladığında,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açıkça</a:t>
            </a:r>
            <a:r>
              <a:rPr sz="2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belirlenmiş</a:t>
            </a:r>
            <a:r>
              <a:rPr sz="28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</a:t>
            </a:r>
            <a:r>
              <a:rPr sz="28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durumunda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sonlanan,</a:t>
            </a:r>
            <a:r>
              <a:rPr sz="28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sonlu</a:t>
            </a:r>
            <a:r>
              <a:rPr sz="28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</a:t>
            </a:r>
            <a:r>
              <a:rPr sz="2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kümesidir.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7452" y="1767839"/>
            <a:ext cx="3300984" cy="44973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639310"/>
            <a:chOff x="1338072" y="1411224"/>
            <a:chExt cx="9813290" cy="463931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0027" y="1943100"/>
              <a:ext cx="4782312" cy="410717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01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Algoritmanın</a:t>
            </a:r>
            <a:r>
              <a:rPr spc="-185" dirty="0"/>
              <a:t> </a:t>
            </a:r>
            <a:r>
              <a:rPr dirty="0"/>
              <a:t>Adım</a:t>
            </a:r>
            <a:r>
              <a:rPr spc="-200" dirty="0"/>
              <a:t> </a:t>
            </a:r>
            <a:r>
              <a:rPr dirty="0"/>
              <a:t>Adım</a:t>
            </a:r>
            <a:r>
              <a:rPr spc="-155" dirty="0"/>
              <a:t> </a:t>
            </a:r>
            <a:r>
              <a:rPr spc="-10" dirty="0"/>
              <a:t>Yazılması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00194" y="1801329"/>
            <a:ext cx="1176020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7510">
              <a:lnSpc>
                <a:spcPct val="120100"/>
              </a:lnSpc>
              <a:spcBef>
                <a:spcPts val="100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basit halinde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6507" y="1801329"/>
            <a:ext cx="4262755" cy="412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885" marR="1924685" indent="-337820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1155" algn="l"/>
              </a:tabLst>
            </a:pP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Algoritmalar, 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adımlar</a:t>
            </a:r>
            <a:endParaRPr sz="2800">
              <a:latin typeface="Microsoft Sans Serif"/>
              <a:cs typeface="Microsoft Sans Serif"/>
            </a:endParaRPr>
          </a:p>
          <a:p>
            <a:pPr marL="351155" marR="9525" algn="just">
              <a:lnSpc>
                <a:spcPct val="120000"/>
              </a:lnSpc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yazılarak</a:t>
            </a:r>
            <a:r>
              <a:rPr sz="28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</a:t>
            </a:r>
            <a:r>
              <a:rPr sz="28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süreci planlanır.</a:t>
            </a:r>
            <a:endParaRPr sz="2800">
              <a:latin typeface="Microsoft Sans Serif"/>
              <a:cs typeface="Microsoft Sans Serif"/>
            </a:endParaRPr>
          </a:p>
          <a:p>
            <a:pPr marL="802005" marR="5080" lvl="1" indent="-338455" algn="just">
              <a:lnSpc>
                <a:spcPct val="120000"/>
              </a:lnSpc>
              <a:spcBef>
                <a:spcPts val="1140"/>
              </a:spcBef>
              <a:buClr>
                <a:srgbClr val="F88556"/>
              </a:buClr>
              <a:buSzPct val="90384"/>
              <a:buFont typeface="Wingdings"/>
              <a:buChar char=""/>
              <a:tabLst>
                <a:tab pos="802005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Yan</a:t>
            </a:r>
            <a:r>
              <a:rPr sz="26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tarafta,</a:t>
            </a:r>
            <a:r>
              <a:rPr sz="26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sayının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faktöriyelini</a:t>
            </a:r>
            <a:r>
              <a:rPr sz="2600" spc="-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hesaplayan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algoritmanın</a:t>
            </a:r>
            <a:r>
              <a:rPr sz="26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adımları bulunmaktadır.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0028" y="1943100"/>
            <a:ext cx="4782820" cy="4107179"/>
          </a:xfrm>
          <a:prstGeom prst="rect">
            <a:avLst/>
          </a:prstGeom>
          <a:ln w="9144">
            <a:solidFill>
              <a:srgbClr val="FFB168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523240" indent="-342900">
              <a:lnSpc>
                <a:spcPct val="100000"/>
              </a:lnSpc>
              <a:spcBef>
                <a:spcPts val="20"/>
              </a:spcBef>
              <a:buChar char="•"/>
              <a:tabLst>
                <a:tab pos="5232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Başla.</a:t>
            </a:r>
            <a:endParaRPr sz="2400">
              <a:latin typeface="Microsoft Sans Serif"/>
              <a:cs typeface="Microsoft Sans Serif"/>
            </a:endParaRPr>
          </a:p>
          <a:p>
            <a:pPr marL="523240" indent="-342900">
              <a:lnSpc>
                <a:spcPct val="100000"/>
              </a:lnSpc>
              <a:spcBef>
                <a:spcPts val="200"/>
              </a:spcBef>
              <a:buChar char="•"/>
              <a:tabLst>
                <a:tab pos="5232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Girdi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(n).</a:t>
            </a:r>
            <a:endParaRPr sz="2400">
              <a:latin typeface="Microsoft Sans Serif"/>
              <a:cs typeface="Microsoft Sans Serif"/>
            </a:endParaRPr>
          </a:p>
          <a:p>
            <a:pPr marL="523240" indent="-342900">
              <a:lnSpc>
                <a:spcPts val="2740"/>
              </a:lnSpc>
              <a:spcBef>
                <a:spcPts val="215"/>
              </a:spcBef>
              <a:buChar char="•"/>
              <a:tabLst>
                <a:tab pos="5232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Faktöriyel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değişkenini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1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endParaRPr sz="2400">
              <a:latin typeface="Microsoft Sans Serif"/>
              <a:cs typeface="Microsoft Sans Serif"/>
            </a:endParaRPr>
          </a:p>
          <a:p>
            <a:pPr marL="523240">
              <a:lnSpc>
                <a:spcPts val="2740"/>
              </a:lnSpc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başlat.</a:t>
            </a:r>
            <a:endParaRPr sz="2400">
              <a:latin typeface="Microsoft Sans Serif"/>
              <a:cs typeface="Microsoft Sans Serif"/>
            </a:endParaRPr>
          </a:p>
          <a:p>
            <a:pPr marL="523240" marR="125730" indent="-342900">
              <a:lnSpc>
                <a:spcPts val="2590"/>
              </a:lnSpc>
              <a:spcBef>
                <a:spcPts val="545"/>
              </a:spcBef>
              <a:buChar char="•"/>
              <a:tabLst>
                <a:tab pos="5232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Eğer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=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0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ise sonucu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1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 belirle.</a:t>
            </a:r>
            <a:endParaRPr sz="2400">
              <a:latin typeface="Microsoft Sans Serif"/>
              <a:cs typeface="Microsoft Sans Serif"/>
            </a:endParaRPr>
          </a:p>
          <a:p>
            <a:pPr marL="523240" indent="-342900">
              <a:lnSpc>
                <a:spcPts val="2735"/>
              </a:lnSpc>
              <a:spcBef>
                <a:spcPts val="170"/>
              </a:spcBef>
              <a:buChar char="•"/>
              <a:tabLst>
                <a:tab pos="5232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&gt;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0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iken,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sayısını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faktöriyel</a:t>
            </a:r>
            <a:endParaRPr sz="2400">
              <a:latin typeface="Microsoft Sans Serif"/>
              <a:cs typeface="Microsoft Sans Serif"/>
            </a:endParaRPr>
          </a:p>
          <a:p>
            <a:pPr marL="523240">
              <a:lnSpc>
                <a:spcPts val="2735"/>
              </a:lnSpc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çarp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n’yi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1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azalt.</a:t>
            </a:r>
            <a:endParaRPr sz="2400">
              <a:latin typeface="Microsoft Sans Serif"/>
              <a:cs typeface="Microsoft Sans Serif"/>
            </a:endParaRPr>
          </a:p>
          <a:p>
            <a:pPr marL="523240" marR="217170" indent="-342900">
              <a:lnSpc>
                <a:spcPts val="2590"/>
              </a:lnSpc>
              <a:spcBef>
                <a:spcPts val="545"/>
              </a:spcBef>
              <a:buChar char="•"/>
              <a:tabLst>
                <a:tab pos="5232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İşlem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tamamlanınca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faktöriyel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değişkenini</a:t>
            </a:r>
            <a:r>
              <a:rPr sz="2400" spc="-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döndür.</a:t>
            </a:r>
            <a:endParaRPr sz="2400">
              <a:latin typeface="Microsoft Sans Serif"/>
              <a:cs typeface="Microsoft Sans Serif"/>
            </a:endParaRPr>
          </a:p>
          <a:p>
            <a:pPr marL="523240" indent="-342900">
              <a:lnSpc>
                <a:spcPct val="100000"/>
              </a:lnSpc>
              <a:spcBef>
                <a:spcPts val="180"/>
              </a:spcBef>
              <a:buChar char="•"/>
              <a:tabLst>
                <a:tab pos="5232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Bitir.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708660"/>
            <a:chOff x="1338072" y="1411224"/>
            <a:chExt cx="9813290" cy="708660"/>
          </a:xfrm>
        </p:grpSpPr>
        <p:sp>
          <p:nvSpPr>
            <p:cNvPr id="4" name="object 4"/>
            <p:cNvSpPr/>
            <p:nvPr/>
          </p:nvSpPr>
          <p:spPr>
            <a:xfrm>
              <a:off x="1338072" y="1411223"/>
              <a:ext cx="9813290" cy="701040"/>
            </a:xfrm>
            <a:custGeom>
              <a:avLst/>
              <a:gdLst/>
              <a:ahLst/>
              <a:cxnLst/>
              <a:rect l="l" t="t" r="r" b="b"/>
              <a:pathLst>
                <a:path w="9813290" h="701039">
                  <a:moveTo>
                    <a:pt x="7507224" y="458470"/>
                  </a:moveTo>
                  <a:lnTo>
                    <a:pt x="7503401" y="439585"/>
                  </a:lnTo>
                  <a:lnTo>
                    <a:pt x="7493013" y="424167"/>
                  </a:lnTo>
                  <a:lnTo>
                    <a:pt x="7477595" y="413778"/>
                  </a:lnTo>
                  <a:lnTo>
                    <a:pt x="7458710" y="409956"/>
                  </a:lnTo>
                  <a:lnTo>
                    <a:pt x="6440170" y="409956"/>
                  </a:lnTo>
                  <a:lnTo>
                    <a:pt x="6421272" y="413778"/>
                  </a:lnTo>
                  <a:lnTo>
                    <a:pt x="6405854" y="424167"/>
                  </a:lnTo>
                  <a:lnTo>
                    <a:pt x="6395466" y="439585"/>
                  </a:lnTo>
                  <a:lnTo>
                    <a:pt x="6391656" y="458470"/>
                  </a:lnTo>
                  <a:lnTo>
                    <a:pt x="6391656" y="652526"/>
                  </a:lnTo>
                  <a:lnTo>
                    <a:pt x="6395466" y="671423"/>
                  </a:lnTo>
                  <a:lnTo>
                    <a:pt x="6405854" y="686841"/>
                  </a:lnTo>
                  <a:lnTo>
                    <a:pt x="6421272" y="697230"/>
                  </a:lnTo>
                  <a:lnTo>
                    <a:pt x="6440170" y="701040"/>
                  </a:lnTo>
                  <a:lnTo>
                    <a:pt x="7458710" y="701040"/>
                  </a:lnTo>
                  <a:lnTo>
                    <a:pt x="7477595" y="697230"/>
                  </a:lnTo>
                  <a:lnTo>
                    <a:pt x="7493013" y="686841"/>
                  </a:lnTo>
                  <a:lnTo>
                    <a:pt x="7503401" y="671423"/>
                  </a:lnTo>
                  <a:lnTo>
                    <a:pt x="7507224" y="652526"/>
                  </a:lnTo>
                  <a:lnTo>
                    <a:pt x="7507224" y="458470"/>
                  </a:lnTo>
                  <a:close/>
                </a:path>
                <a:path w="9813290" h="701039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29727" y="1821180"/>
              <a:ext cx="1115695" cy="291465"/>
            </a:xfrm>
            <a:custGeom>
              <a:avLst/>
              <a:gdLst/>
              <a:ahLst/>
              <a:cxnLst/>
              <a:rect l="l" t="t" r="r" b="b"/>
              <a:pathLst>
                <a:path w="1115695" h="291464">
                  <a:moveTo>
                    <a:pt x="0" y="48514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1067053" y="0"/>
                  </a:lnTo>
                  <a:lnTo>
                    <a:pt x="1085939" y="3811"/>
                  </a:lnTo>
                  <a:lnTo>
                    <a:pt x="1101359" y="14208"/>
                  </a:lnTo>
                  <a:lnTo>
                    <a:pt x="1111756" y="29628"/>
                  </a:lnTo>
                  <a:lnTo>
                    <a:pt x="1115568" y="48514"/>
                  </a:lnTo>
                  <a:lnTo>
                    <a:pt x="1115568" y="242570"/>
                  </a:lnTo>
                  <a:lnTo>
                    <a:pt x="1111756" y="261455"/>
                  </a:lnTo>
                  <a:lnTo>
                    <a:pt x="1101359" y="276875"/>
                  </a:lnTo>
                  <a:lnTo>
                    <a:pt x="1085939" y="287272"/>
                  </a:lnTo>
                  <a:lnTo>
                    <a:pt x="1067053" y="291084"/>
                  </a:lnTo>
                  <a:lnTo>
                    <a:pt x="48514" y="291084"/>
                  </a:lnTo>
                  <a:lnTo>
                    <a:pt x="29628" y="287272"/>
                  </a:lnTo>
                  <a:lnTo>
                    <a:pt x="14208" y="276875"/>
                  </a:lnTo>
                  <a:lnTo>
                    <a:pt x="3811" y="261455"/>
                  </a:lnTo>
                  <a:lnTo>
                    <a:pt x="0" y="242570"/>
                  </a:lnTo>
                  <a:lnTo>
                    <a:pt x="0" y="48514"/>
                  </a:lnTo>
                  <a:close/>
                </a:path>
              </a:pathLst>
            </a:custGeom>
            <a:ln w="15240">
              <a:solidFill>
                <a:srgbClr val="B760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46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Algoritmanın</a:t>
            </a:r>
            <a:r>
              <a:rPr spc="-180" dirty="0"/>
              <a:t> </a:t>
            </a:r>
            <a:r>
              <a:rPr dirty="0"/>
              <a:t>Akış</a:t>
            </a:r>
            <a:r>
              <a:rPr spc="-100" dirty="0"/>
              <a:t> </a:t>
            </a:r>
            <a:r>
              <a:rPr dirty="0"/>
              <a:t>Diyagramı</a:t>
            </a:r>
            <a:r>
              <a:rPr spc="-80" dirty="0"/>
              <a:t> </a:t>
            </a:r>
            <a:r>
              <a:rPr dirty="0"/>
              <a:t>ile</a:t>
            </a:r>
            <a:r>
              <a:rPr spc="-100" dirty="0"/>
              <a:t> </a:t>
            </a:r>
            <a:r>
              <a:rPr spc="-10" dirty="0"/>
              <a:t>Gösterimi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7221" y="1610969"/>
            <a:ext cx="5327650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  <a:tab pos="1190625" algn="l"/>
                <a:tab pos="2929890" algn="l"/>
                <a:tab pos="3495040" algn="l"/>
              </a:tabLst>
            </a:pP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Akış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diyagramı,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algoritmanın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6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sürecin</a:t>
            </a:r>
            <a:r>
              <a:rPr sz="26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grafiksel</a:t>
            </a:r>
            <a:r>
              <a:rPr sz="26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temsilidir.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3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  <a:tab pos="1289685" algn="l"/>
                <a:tab pos="3495040" algn="l"/>
              </a:tabLst>
            </a:pP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Akış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diyagramları,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algoritmanın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7221" y="3178272"/>
            <a:ext cx="5328285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algn="just">
              <a:lnSpc>
                <a:spcPct val="120000"/>
              </a:lnSpc>
              <a:spcBef>
                <a:spcPts val="95"/>
              </a:spcBef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adımlarını</a:t>
            </a:r>
            <a:r>
              <a:rPr sz="26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simgeler</a:t>
            </a:r>
            <a:r>
              <a:rPr sz="26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6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adımların</a:t>
            </a:r>
            <a:r>
              <a:rPr sz="26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arasındaki</a:t>
            </a:r>
            <a:r>
              <a:rPr sz="26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bağlantıları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oklarla</a:t>
            </a:r>
            <a:r>
              <a:rPr sz="26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gösterir.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714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6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diyagramlar,</a:t>
            </a:r>
            <a:r>
              <a:rPr sz="26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9441" y="5219191"/>
            <a:ext cx="203708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0000"/>
              </a:lnSpc>
              <a:spcBef>
                <a:spcPts val="100"/>
              </a:spcBef>
              <a:tabLst>
                <a:tab pos="139763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görsel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hale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anlaşılmasını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5548" y="5219191"/>
            <a:ext cx="2496185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745614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getirerek kolaylaştırır.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9253" y="1858517"/>
            <a:ext cx="1096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BAŞLA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22107" y="5775959"/>
            <a:ext cx="1130935" cy="307975"/>
            <a:chOff x="7722107" y="5775959"/>
            <a:chExt cx="1130935" cy="307975"/>
          </a:xfrm>
        </p:grpSpPr>
        <p:sp>
          <p:nvSpPr>
            <p:cNvPr id="13" name="object 13"/>
            <p:cNvSpPr/>
            <p:nvPr/>
          </p:nvSpPr>
          <p:spPr>
            <a:xfrm>
              <a:off x="7729727" y="5783579"/>
              <a:ext cx="1115695" cy="292735"/>
            </a:xfrm>
            <a:custGeom>
              <a:avLst/>
              <a:gdLst/>
              <a:ahLst/>
              <a:cxnLst/>
              <a:rect l="l" t="t" r="r" b="b"/>
              <a:pathLst>
                <a:path w="1115695" h="292735">
                  <a:moveTo>
                    <a:pt x="1066800" y="0"/>
                  </a:moveTo>
                  <a:lnTo>
                    <a:pt x="48768" y="0"/>
                  </a:lnTo>
                  <a:lnTo>
                    <a:pt x="29789" y="3832"/>
                  </a:lnTo>
                  <a:lnTo>
                    <a:pt x="14287" y="14282"/>
                  </a:lnTo>
                  <a:lnTo>
                    <a:pt x="3833" y="29784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3" y="262823"/>
                  </a:lnTo>
                  <a:lnTo>
                    <a:pt x="14287" y="278325"/>
                  </a:lnTo>
                  <a:lnTo>
                    <a:pt x="29789" y="288775"/>
                  </a:lnTo>
                  <a:lnTo>
                    <a:pt x="48768" y="292608"/>
                  </a:lnTo>
                  <a:lnTo>
                    <a:pt x="1066800" y="292608"/>
                  </a:lnTo>
                  <a:lnTo>
                    <a:pt x="1085778" y="288775"/>
                  </a:lnTo>
                  <a:lnTo>
                    <a:pt x="1101280" y="278325"/>
                  </a:lnTo>
                  <a:lnTo>
                    <a:pt x="1111734" y="262823"/>
                  </a:lnTo>
                  <a:lnTo>
                    <a:pt x="1115568" y="243840"/>
                  </a:lnTo>
                  <a:lnTo>
                    <a:pt x="1115568" y="48768"/>
                  </a:lnTo>
                  <a:lnTo>
                    <a:pt x="1111734" y="29784"/>
                  </a:lnTo>
                  <a:lnTo>
                    <a:pt x="1101280" y="14282"/>
                  </a:lnTo>
                  <a:lnTo>
                    <a:pt x="1085778" y="3832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29727" y="5783579"/>
              <a:ext cx="1115695" cy="292735"/>
            </a:xfrm>
            <a:custGeom>
              <a:avLst/>
              <a:gdLst/>
              <a:ahLst/>
              <a:cxnLst/>
              <a:rect l="l" t="t" r="r" b="b"/>
              <a:pathLst>
                <a:path w="1115695" h="292735">
                  <a:moveTo>
                    <a:pt x="0" y="48768"/>
                  </a:moveTo>
                  <a:lnTo>
                    <a:pt x="3833" y="29784"/>
                  </a:lnTo>
                  <a:lnTo>
                    <a:pt x="14287" y="14282"/>
                  </a:lnTo>
                  <a:lnTo>
                    <a:pt x="29789" y="3832"/>
                  </a:lnTo>
                  <a:lnTo>
                    <a:pt x="48768" y="0"/>
                  </a:lnTo>
                  <a:lnTo>
                    <a:pt x="1066800" y="0"/>
                  </a:lnTo>
                  <a:lnTo>
                    <a:pt x="1085778" y="3832"/>
                  </a:lnTo>
                  <a:lnTo>
                    <a:pt x="1101280" y="14282"/>
                  </a:lnTo>
                  <a:lnTo>
                    <a:pt x="1111734" y="29784"/>
                  </a:lnTo>
                  <a:lnTo>
                    <a:pt x="1115568" y="48768"/>
                  </a:lnTo>
                  <a:lnTo>
                    <a:pt x="1115568" y="243840"/>
                  </a:lnTo>
                  <a:lnTo>
                    <a:pt x="1111734" y="262823"/>
                  </a:lnTo>
                  <a:lnTo>
                    <a:pt x="1101280" y="278325"/>
                  </a:lnTo>
                  <a:lnTo>
                    <a:pt x="1085778" y="288775"/>
                  </a:lnTo>
                  <a:lnTo>
                    <a:pt x="1066800" y="292608"/>
                  </a:lnTo>
                  <a:lnTo>
                    <a:pt x="48768" y="292608"/>
                  </a:lnTo>
                  <a:lnTo>
                    <a:pt x="29789" y="288775"/>
                  </a:lnTo>
                  <a:lnTo>
                    <a:pt x="14287" y="278325"/>
                  </a:lnTo>
                  <a:lnTo>
                    <a:pt x="3833" y="262823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5240">
              <a:solidFill>
                <a:srgbClr val="B760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39264" y="5822696"/>
            <a:ext cx="1096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BİTİR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06640" y="2302764"/>
            <a:ext cx="1762125" cy="350520"/>
            <a:chOff x="7406640" y="2302764"/>
            <a:chExt cx="1762125" cy="350520"/>
          </a:xfrm>
        </p:grpSpPr>
        <p:sp>
          <p:nvSpPr>
            <p:cNvPr id="17" name="object 17"/>
            <p:cNvSpPr/>
            <p:nvPr/>
          </p:nvSpPr>
          <p:spPr>
            <a:xfrm>
              <a:off x="7414260" y="2310384"/>
              <a:ext cx="1746885" cy="335280"/>
            </a:xfrm>
            <a:custGeom>
              <a:avLst/>
              <a:gdLst/>
              <a:ahLst/>
              <a:cxnLst/>
              <a:rect l="l" t="t" r="r" b="b"/>
              <a:pathLst>
                <a:path w="1746884" h="335280">
                  <a:moveTo>
                    <a:pt x="1746504" y="0"/>
                  </a:moveTo>
                  <a:lnTo>
                    <a:pt x="349250" y="0"/>
                  </a:lnTo>
                  <a:lnTo>
                    <a:pt x="0" y="335279"/>
                  </a:lnTo>
                  <a:lnTo>
                    <a:pt x="1397254" y="335279"/>
                  </a:lnTo>
                  <a:lnTo>
                    <a:pt x="1746504" y="0"/>
                  </a:lnTo>
                  <a:close/>
                </a:path>
              </a:pathLst>
            </a:custGeom>
            <a:solidFill>
              <a:srgbClr val="F870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14260" y="2310384"/>
              <a:ext cx="1746885" cy="335280"/>
            </a:xfrm>
            <a:custGeom>
              <a:avLst/>
              <a:gdLst/>
              <a:ahLst/>
              <a:cxnLst/>
              <a:rect l="l" t="t" r="r" b="b"/>
              <a:pathLst>
                <a:path w="1746884" h="335280">
                  <a:moveTo>
                    <a:pt x="0" y="335279"/>
                  </a:moveTo>
                  <a:lnTo>
                    <a:pt x="349250" y="0"/>
                  </a:lnTo>
                  <a:lnTo>
                    <a:pt x="1746504" y="0"/>
                  </a:lnTo>
                  <a:lnTo>
                    <a:pt x="1397254" y="335279"/>
                  </a:lnTo>
                  <a:lnTo>
                    <a:pt x="0" y="335279"/>
                  </a:lnTo>
                  <a:close/>
                </a:path>
              </a:pathLst>
            </a:custGeom>
            <a:ln w="15240">
              <a:solidFill>
                <a:srgbClr val="B65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39531" y="2278126"/>
            <a:ext cx="69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Sayısını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Gir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2756" y="4226052"/>
            <a:ext cx="1405255" cy="611505"/>
            <a:chOff x="7572756" y="4226052"/>
            <a:chExt cx="1405255" cy="611505"/>
          </a:xfrm>
        </p:grpSpPr>
        <p:sp>
          <p:nvSpPr>
            <p:cNvPr id="21" name="object 21"/>
            <p:cNvSpPr/>
            <p:nvPr/>
          </p:nvSpPr>
          <p:spPr>
            <a:xfrm>
              <a:off x="7580376" y="4233672"/>
              <a:ext cx="1390015" cy="596265"/>
            </a:xfrm>
            <a:custGeom>
              <a:avLst/>
              <a:gdLst/>
              <a:ahLst/>
              <a:cxnLst/>
              <a:rect l="l" t="t" r="r" b="b"/>
              <a:pathLst>
                <a:path w="1390015" h="596264">
                  <a:moveTo>
                    <a:pt x="694944" y="0"/>
                  </a:moveTo>
                  <a:lnTo>
                    <a:pt x="0" y="297941"/>
                  </a:lnTo>
                  <a:lnTo>
                    <a:pt x="694944" y="595883"/>
                  </a:lnTo>
                  <a:lnTo>
                    <a:pt x="1389888" y="297941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EBC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80376" y="4233672"/>
              <a:ext cx="1390015" cy="596265"/>
            </a:xfrm>
            <a:custGeom>
              <a:avLst/>
              <a:gdLst/>
              <a:ahLst/>
              <a:cxnLst/>
              <a:rect l="l" t="t" r="r" b="b"/>
              <a:pathLst>
                <a:path w="1390015" h="596264">
                  <a:moveTo>
                    <a:pt x="0" y="297941"/>
                  </a:moveTo>
                  <a:lnTo>
                    <a:pt x="694944" y="0"/>
                  </a:lnTo>
                  <a:lnTo>
                    <a:pt x="1389888" y="297941"/>
                  </a:lnTo>
                  <a:lnTo>
                    <a:pt x="694944" y="595883"/>
                  </a:lnTo>
                  <a:lnTo>
                    <a:pt x="0" y="297941"/>
                  </a:lnTo>
                  <a:close/>
                </a:path>
              </a:pathLst>
            </a:custGeom>
            <a:ln w="15240">
              <a:solidFill>
                <a:srgbClr val="AC8D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090661" y="4424298"/>
            <a:ext cx="369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12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256776" y="4296155"/>
            <a:ext cx="1470660" cy="471170"/>
            <a:chOff x="9256776" y="4296155"/>
            <a:chExt cx="1470660" cy="471170"/>
          </a:xfrm>
        </p:grpSpPr>
        <p:sp>
          <p:nvSpPr>
            <p:cNvPr id="25" name="object 25"/>
            <p:cNvSpPr/>
            <p:nvPr/>
          </p:nvSpPr>
          <p:spPr>
            <a:xfrm>
              <a:off x="9264396" y="4303775"/>
              <a:ext cx="1455420" cy="455930"/>
            </a:xfrm>
            <a:custGeom>
              <a:avLst/>
              <a:gdLst/>
              <a:ahLst/>
              <a:cxnLst/>
              <a:rect l="l" t="t" r="r" b="b"/>
              <a:pathLst>
                <a:path w="1455420" h="455929">
                  <a:moveTo>
                    <a:pt x="1455420" y="0"/>
                  </a:moveTo>
                  <a:lnTo>
                    <a:pt x="0" y="0"/>
                  </a:lnTo>
                  <a:lnTo>
                    <a:pt x="0" y="455675"/>
                  </a:lnTo>
                  <a:lnTo>
                    <a:pt x="1455420" y="455675"/>
                  </a:lnTo>
                  <a:lnTo>
                    <a:pt x="1455420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64396" y="4303775"/>
              <a:ext cx="1455420" cy="455930"/>
            </a:xfrm>
            <a:custGeom>
              <a:avLst/>
              <a:gdLst/>
              <a:ahLst/>
              <a:cxnLst/>
              <a:rect l="l" t="t" r="r" b="b"/>
              <a:pathLst>
                <a:path w="1455420" h="455929">
                  <a:moveTo>
                    <a:pt x="0" y="455675"/>
                  </a:moveTo>
                  <a:lnTo>
                    <a:pt x="1455420" y="455675"/>
                  </a:lnTo>
                  <a:lnTo>
                    <a:pt x="1455420" y="0"/>
                  </a:lnTo>
                  <a:lnTo>
                    <a:pt x="0" y="0"/>
                  </a:lnTo>
                  <a:lnTo>
                    <a:pt x="0" y="455675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344025" y="4332858"/>
            <a:ext cx="1297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r>
              <a:rPr sz="12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sayısını</a:t>
            </a:r>
            <a:r>
              <a:rPr sz="12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2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ile</a:t>
            </a:r>
            <a:r>
              <a:rPr sz="12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çarp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2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sayısını</a:t>
            </a:r>
            <a:r>
              <a:rPr sz="120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2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azalt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37704" y="5126735"/>
            <a:ext cx="1475740" cy="416559"/>
            <a:chOff x="7537704" y="5126735"/>
            <a:chExt cx="1475740" cy="416559"/>
          </a:xfrm>
        </p:grpSpPr>
        <p:sp>
          <p:nvSpPr>
            <p:cNvPr id="29" name="object 29"/>
            <p:cNvSpPr/>
            <p:nvPr/>
          </p:nvSpPr>
          <p:spPr>
            <a:xfrm>
              <a:off x="7545324" y="5134355"/>
              <a:ext cx="1460500" cy="401320"/>
            </a:xfrm>
            <a:custGeom>
              <a:avLst/>
              <a:gdLst/>
              <a:ahLst/>
              <a:cxnLst/>
              <a:rect l="l" t="t" r="r" b="b"/>
              <a:pathLst>
                <a:path w="1460500" h="401320">
                  <a:moveTo>
                    <a:pt x="1459992" y="0"/>
                  </a:moveTo>
                  <a:lnTo>
                    <a:pt x="291973" y="0"/>
                  </a:lnTo>
                  <a:lnTo>
                    <a:pt x="0" y="400812"/>
                  </a:lnTo>
                  <a:lnTo>
                    <a:pt x="1168019" y="400812"/>
                  </a:lnTo>
                  <a:lnTo>
                    <a:pt x="1459992" y="0"/>
                  </a:lnTo>
                  <a:close/>
                </a:path>
              </a:pathLst>
            </a:custGeom>
            <a:solidFill>
              <a:srgbClr val="F870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45324" y="5134355"/>
              <a:ext cx="1460500" cy="401320"/>
            </a:xfrm>
            <a:custGeom>
              <a:avLst/>
              <a:gdLst/>
              <a:ahLst/>
              <a:cxnLst/>
              <a:rect l="l" t="t" r="r" b="b"/>
              <a:pathLst>
                <a:path w="1460500" h="401320">
                  <a:moveTo>
                    <a:pt x="0" y="400812"/>
                  </a:moveTo>
                  <a:lnTo>
                    <a:pt x="291973" y="0"/>
                  </a:lnTo>
                  <a:lnTo>
                    <a:pt x="1459992" y="0"/>
                  </a:lnTo>
                  <a:lnTo>
                    <a:pt x="1168019" y="400812"/>
                  </a:lnTo>
                  <a:lnTo>
                    <a:pt x="0" y="400812"/>
                  </a:lnTo>
                  <a:close/>
                </a:path>
              </a:pathLst>
            </a:custGeom>
            <a:ln w="15240">
              <a:solidFill>
                <a:srgbClr val="B65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60614" y="5135626"/>
            <a:ext cx="633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sayısını göster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84947" y="3369564"/>
            <a:ext cx="1405255" cy="611505"/>
            <a:chOff x="7584947" y="3369564"/>
            <a:chExt cx="1405255" cy="611505"/>
          </a:xfrm>
        </p:grpSpPr>
        <p:sp>
          <p:nvSpPr>
            <p:cNvPr id="33" name="object 33"/>
            <p:cNvSpPr/>
            <p:nvPr/>
          </p:nvSpPr>
          <p:spPr>
            <a:xfrm>
              <a:off x="7592567" y="3377184"/>
              <a:ext cx="1390015" cy="596265"/>
            </a:xfrm>
            <a:custGeom>
              <a:avLst/>
              <a:gdLst/>
              <a:ahLst/>
              <a:cxnLst/>
              <a:rect l="l" t="t" r="r" b="b"/>
              <a:pathLst>
                <a:path w="1390015" h="596264">
                  <a:moveTo>
                    <a:pt x="694943" y="0"/>
                  </a:moveTo>
                  <a:lnTo>
                    <a:pt x="0" y="297941"/>
                  </a:lnTo>
                  <a:lnTo>
                    <a:pt x="694943" y="595883"/>
                  </a:lnTo>
                  <a:lnTo>
                    <a:pt x="1389887" y="297941"/>
                  </a:lnTo>
                  <a:lnTo>
                    <a:pt x="694943" y="0"/>
                  </a:lnTo>
                  <a:close/>
                </a:path>
              </a:pathLst>
            </a:custGeom>
            <a:solidFill>
              <a:srgbClr val="EBC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92567" y="3377184"/>
              <a:ext cx="1390015" cy="596265"/>
            </a:xfrm>
            <a:custGeom>
              <a:avLst/>
              <a:gdLst/>
              <a:ahLst/>
              <a:cxnLst/>
              <a:rect l="l" t="t" r="r" b="b"/>
              <a:pathLst>
                <a:path w="1390015" h="596264">
                  <a:moveTo>
                    <a:pt x="0" y="297941"/>
                  </a:moveTo>
                  <a:lnTo>
                    <a:pt x="694943" y="0"/>
                  </a:lnTo>
                  <a:lnTo>
                    <a:pt x="1389887" y="297941"/>
                  </a:lnTo>
                  <a:lnTo>
                    <a:pt x="694943" y="595883"/>
                  </a:lnTo>
                  <a:lnTo>
                    <a:pt x="0" y="297941"/>
                  </a:lnTo>
                  <a:close/>
                </a:path>
              </a:pathLst>
            </a:custGeom>
            <a:ln w="15240">
              <a:solidFill>
                <a:srgbClr val="AC8D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102854" y="3567176"/>
            <a:ext cx="369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2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249411" y="2112264"/>
            <a:ext cx="76200" cy="731520"/>
            <a:chOff x="8249411" y="2112264"/>
            <a:chExt cx="76200" cy="73152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9411" y="2112264"/>
              <a:ext cx="76200" cy="1978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9411" y="2645664"/>
              <a:ext cx="76200" cy="19786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671816" y="2842260"/>
            <a:ext cx="1233170" cy="352425"/>
          </a:xfrm>
          <a:prstGeom prst="rect">
            <a:avLst/>
          </a:prstGeom>
          <a:solidFill>
            <a:srgbClr val="EC3846"/>
          </a:solidFill>
          <a:ln w="15240">
            <a:solidFill>
              <a:srgbClr val="AD253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r>
              <a:rPr sz="12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sayısını</a:t>
            </a:r>
            <a:r>
              <a:rPr sz="12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12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yap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237219" y="3194304"/>
            <a:ext cx="3007360" cy="2590165"/>
            <a:chOff x="8237219" y="3194304"/>
            <a:chExt cx="3007360" cy="2590165"/>
          </a:xfrm>
        </p:grpSpPr>
        <p:sp>
          <p:nvSpPr>
            <p:cNvPr id="41" name="object 41"/>
            <p:cNvSpPr/>
            <p:nvPr/>
          </p:nvSpPr>
          <p:spPr>
            <a:xfrm>
              <a:off x="8240775" y="3972814"/>
              <a:ext cx="76200" cy="260985"/>
            </a:xfrm>
            <a:custGeom>
              <a:avLst/>
              <a:gdLst/>
              <a:ahLst/>
              <a:cxnLst/>
              <a:rect l="l" t="t" r="r" b="b"/>
              <a:pathLst>
                <a:path w="76200" h="260985">
                  <a:moveTo>
                    <a:pt x="0" y="183006"/>
                  </a:moveTo>
                  <a:lnTo>
                    <a:pt x="34544" y="260985"/>
                  </a:lnTo>
                  <a:lnTo>
                    <a:pt x="69873" y="197866"/>
                  </a:lnTo>
                  <a:lnTo>
                    <a:pt x="43815" y="197866"/>
                  </a:lnTo>
                  <a:lnTo>
                    <a:pt x="31115" y="197231"/>
                  </a:lnTo>
                  <a:lnTo>
                    <a:pt x="31616" y="186562"/>
                  </a:lnTo>
                  <a:lnTo>
                    <a:pt x="31714" y="184486"/>
                  </a:lnTo>
                  <a:lnTo>
                    <a:pt x="0" y="183006"/>
                  </a:lnTo>
                  <a:close/>
                </a:path>
                <a:path w="76200" h="260985">
                  <a:moveTo>
                    <a:pt x="31714" y="184486"/>
                  </a:moveTo>
                  <a:lnTo>
                    <a:pt x="31115" y="197231"/>
                  </a:lnTo>
                  <a:lnTo>
                    <a:pt x="43815" y="197866"/>
                  </a:lnTo>
                  <a:lnTo>
                    <a:pt x="44345" y="186562"/>
                  </a:lnTo>
                  <a:lnTo>
                    <a:pt x="44415" y="185079"/>
                  </a:lnTo>
                  <a:lnTo>
                    <a:pt x="31714" y="184486"/>
                  </a:lnTo>
                  <a:close/>
                </a:path>
                <a:path w="76200" h="260985">
                  <a:moveTo>
                    <a:pt x="44415" y="185079"/>
                  </a:moveTo>
                  <a:lnTo>
                    <a:pt x="43844" y="197231"/>
                  </a:lnTo>
                  <a:lnTo>
                    <a:pt x="43815" y="197866"/>
                  </a:lnTo>
                  <a:lnTo>
                    <a:pt x="69873" y="197866"/>
                  </a:lnTo>
                  <a:lnTo>
                    <a:pt x="76200" y="186562"/>
                  </a:lnTo>
                  <a:lnTo>
                    <a:pt x="44415" y="185079"/>
                  </a:lnTo>
                  <a:close/>
                </a:path>
                <a:path w="76200" h="260985">
                  <a:moveTo>
                    <a:pt x="40385" y="0"/>
                  </a:moveTo>
                  <a:lnTo>
                    <a:pt x="31783" y="183006"/>
                  </a:lnTo>
                  <a:lnTo>
                    <a:pt x="31714" y="184486"/>
                  </a:lnTo>
                  <a:lnTo>
                    <a:pt x="44415" y="185079"/>
                  </a:lnTo>
                  <a:lnTo>
                    <a:pt x="53085" y="508"/>
                  </a:lnTo>
                  <a:lnTo>
                    <a:pt x="40385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5728" y="5534914"/>
              <a:ext cx="76073" cy="24932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237219" y="4829555"/>
              <a:ext cx="76200" cy="304165"/>
            </a:xfrm>
            <a:custGeom>
              <a:avLst/>
              <a:gdLst/>
              <a:ahLst/>
              <a:cxnLst/>
              <a:rect l="l" t="t" r="r" b="b"/>
              <a:pathLst>
                <a:path w="76200" h="304164">
                  <a:moveTo>
                    <a:pt x="31750" y="227711"/>
                  </a:moveTo>
                  <a:lnTo>
                    <a:pt x="0" y="227711"/>
                  </a:lnTo>
                  <a:lnTo>
                    <a:pt x="38100" y="303911"/>
                  </a:lnTo>
                  <a:lnTo>
                    <a:pt x="69850" y="240411"/>
                  </a:lnTo>
                  <a:lnTo>
                    <a:pt x="31750" y="240411"/>
                  </a:lnTo>
                  <a:lnTo>
                    <a:pt x="31750" y="227711"/>
                  </a:lnTo>
                  <a:close/>
                </a:path>
                <a:path w="76200" h="304164">
                  <a:moveTo>
                    <a:pt x="44450" y="0"/>
                  </a:moveTo>
                  <a:lnTo>
                    <a:pt x="31750" y="0"/>
                  </a:lnTo>
                  <a:lnTo>
                    <a:pt x="31750" y="240411"/>
                  </a:lnTo>
                  <a:lnTo>
                    <a:pt x="44450" y="240411"/>
                  </a:lnTo>
                  <a:lnTo>
                    <a:pt x="44450" y="0"/>
                  </a:lnTo>
                  <a:close/>
                </a:path>
                <a:path w="76200" h="304164">
                  <a:moveTo>
                    <a:pt x="76200" y="227711"/>
                  </a:moveTo>
                  <a:lnTo>
                    <a:pt x="44450" y="227711"/>
                  </a:lnTo>
                  <a:lnTo>
                    <a:pt x="44450" y="240411"/>
                  </a:lnTo>
                  <a:lnTo>
                    <a:pt x="69850" y="240411"/>
                  </a:lnTo>
                  <a:lnTo>
                    <a:pt x="76200" y="227711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9411" y="3194304"/>
              <a:ext cx="76200" cy="19786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237220" y="3668013"/>
              <a:ext cx="3007360" cy="1704339"/>
            </a:xfrm>
            <a:custGeom>
              <a:avLst/>
              <a:gdLst/>
              <a:ahLst/>
              <a:cxnLst/>
              <a:rect l="l" t="t" r="r" b="b"/>
              <a:pathLst>
                <a:path w="3007359" h="1704339">
                  <a:moveTo>
                    <a:pt x="1026033" y="864362"/>
                  </a:moveTo>
                  <a:lnTo>
                    <a:pt x="1013333" y="858012"/>
                  </a:lnTo>
                  <a:lnTo>
                    <a:pt x="949833" y="826262"/>
                  </a:lnTo>
                  <a:lnTo>
                    <a:pt x="949833" y="858012"/>
                  </a:lnTo>
                  <a:lnTo>
                    <a:pt x="733044" y="858012"/>
                  </a:lnTo>
                  <a:lnTo>
                    <a:pt x="733044" y="870712"/>
                  </a:lnTo>
                  <a:lnTo>
                    <a:pt x="949833" y="870712"/>
                  </a:lnTo>
                  <a:lnTo>
                    <a:pt x="949833" y="902462"/>
                  </a:lnTo>
                  <a:lnTo>
                    <a:pt x="1013333" y="870712"/>
                  </a:lnTo>
                  <a:lnTo>
                    <a:pt x="1026033" y="864362"/>
                  </a:lnTo>
                  <a:close/>
                </a:path>
                <a:path w="3007359" h="1704339">
                  <a:moveTo>
                    <a:pt x="2717927" y="333502"/>
                  </a:moveTo>
                  <a:lnTo>
                    <a:pt x="2715133" y="330708"/>
                  </a:lnTo>
                  <a:lnTo>
                    <a:pt x="34544" y="330708"/>
                  </a:lnTo>
                  <a:lnTo>
                    <a:pt x="31750" y="333502"/>
                  </a:lnTo>
                  <a:lnTo>
                    <a:pt x="31750" y="489458"/>
                  </a:lnTo>
                  <a:lnTo>
                    <a:pt x="0" y="489458"/>
                  </a:lnTo>
                  <a:lnTo>
                    <a:pt x="38100" y="565658"/>
                  </a:lnTo>
                  <a:lnTo>
                    <a:pt x="69850" y="502158"/>
                  </a:lnTo>
                  <a:lnTo>
                    <a:pt x="76200" y="489458"/>
                  </a:lnTo>
                  <a:lnTo>
                    <a:pt x="44450" y="489458"/>
                  </a:lnTo>
                  <a:lnTo>
                    <a:pt x="44450" y="343408"/>
                  </a:lnTo>
                  <a:lnTo>
                    <a:pt x="2705227" y="343408"/>
                  </a:lnTo>
                  <a:lnTo>
                    <a:pt x="2705227" y="857504"/>
                  </a:lnTo>
                  <a:lnTo>
                    <a:pt x="2482977" y="857504"/>
                  </a:lnTo>
                  <a:lnTo>
                    <a:pt x="2482977" y="870204"/>
                  </a:lnTo>
                  <a:lnTo>
                    <a:pt x="2715133" y="870204"/>
                  </a:lnTo>
                  <a:lnTo>
                    <a:pt x="2717927" y="867410"/>
                  </a:lnTo>
                  <a:lnTo>
                    <a:pt x="2717927" y="863854"/>
                  </a:lnTo>
                  <a:lnTo>
                    <a:pt x="2717927" y="857504"/>
                  </a:lnTo>
                  <a:lnTo>
                    <a:pt x="2717927" y="343408"/>
                  </a:lnTo>
                  <a:lnTo>
                    <a:pt x="2717927" y="337058"/>
                  </a:lnTo>
                  <a:lnTo>
                    <a:pt x="2717927" y="333502"/>
                  </a:lnTo>
                  <a:close/>
                </a:path>
                <a:path w="3007359" h="1704339">
                  <a:moveTo>
                    <a:pt x="3006979" y="2794"/>
                  </a:moveTo>
                  <a:lnTo>
                    <a:pt x="3004185" y="0"/>
                  </a:lnTo>
                  <a:lnTo>
                    <a:pt x="746633" y="0"/>
                  </a:lnTo>
                  <a:lnTo>
                    <a:pt x="746633" y="12700"/>
                  </a:lnTo>
                  <a:lnTo>
                    <a:pt x="2994279" y="12700"/>
                  </a:lnTo>
                  <a:lnTo>
                    <a:pt x="2994279" y="1659636"/>
                  </a:lnTo>
                  <a:lnTo>
                    <a:pt x="699516" y="1659636"/>
                  </a:lnTo>
                  <a:lnTo>
                    <a:pt x="699516" y="1627886"/>
                  </a:lnTo>
                  <a:lnTo>
                    <a:pt x="623316" y="1665986"/>
                  </a:lnTo>
                  <a:lnTo>
                    <a:pt x="699516" y="1704086"/>
                  </a:lnTo>
                  <a:lnTo>
                    <a:pt x="699516" y="1672336"/>
                  </a:lnTo>
                  <a:lnTo>
                    <a:pt x="3004185" y="1672336"/>
                  </a:lnTo>
                  <a:lnTo>
                    <a:pt x="3006979" y="1669415"/>
                  </a:lnTo>
                  <a:lnTo>
                    <a:pt x="3006979" y="1665986"/>
                  </a:lnTo>
                  <a:lnTo>
                    <a:pt x="3006979" y="1659636"/>
                  </a:lnTo>
                  <a:lnTo>
                    <a:pt x="3006979" y="12712"/>
                  </a:lnTo>
                  <a:lnTo>
                    <a:pt x="3006979" y="6362"/>
                  </a:lnTo>
                  <a:lnTo>
                    <a:pt x="3006979" y="2794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5770" y="3080080"/>
            <a:ext cx="84334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Yazılım</a:t>
            </a:r>
            <a:r>
              <a:rPr sz="5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Geliştirme</a:t>
            </a:r>
            <a:r>
              <a:rPr sz="5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Süreçleri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18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Yazılım</a:t>
            </a:r>
            <a:r>
              <a:rPr spc="-145" dirty="0"/>
              <a:t> </a:t>
            </a:r>
            <a:r>
              <a:rPr spc="-10" dirty="0"/>
              <a:t>Geliştirme</a:t>
            </a:r>
            <a:r>
              <a:rPr spc="-229" dirty="0"/>
              <a:t> </a:t>
            </a:r>
            <a:r>
              <a:rPr spc="-10" dirty="0"/>
              <a:t>Aşamaları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1734"/>
            <a:ext cx="9581515" cy="168148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50520" marR="5080" indent="-338455" algn="just">
              <a:lnSpc>
                <a:spcPct val="119800"/>
              </a:lnSpc>
              <a:spcBef>
                <a:spcPts val="14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Gereksinim</a:t>
            </a:r>
            <a:r>
              <a:rPr sz="2400" b="1" i="1" spc="1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Analizi:</a:t>
            </a:r>
            <a:r>
              <a:rPr sz="2400" b="1" i="1" spc="1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hangi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işlevleri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getirmesi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gerektiği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ihtiyaçları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belirlenir.</a:t>
            </a:r>
            <a:r>
              <a:rPr sz="22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aşamada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kullanıcılar,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paydaşlar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geliştiricilerle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yapılan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görüşmelerle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gereksinimler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netleştirilir.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gereksinimler</a:t>
            </a:r>
            <a:r>
              <a:rPr sz="22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belgelenir.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5332" y="3814317"/>
            <a:ext cx="67678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45870" algn="l"/>
                <a:tab pos="1776095" algn="l"/>
                <a:tab pos="2818765" algn="l"/>
                <a:tab pos="4686935" algn="l"/>
                <a:tab pos="551180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arayüzü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bileşenlerinin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nasıl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etkileşime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3141" y="3298647"/>
            <a:ext cx="7995920" cy="8763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15"/>
              </a:spcBef>
              <a:tabLst>
                <a:tab pos="1589405" algn="l"/>
                <a:tab pos="2966085" algn="l"/>
                <a:tab pos="3884929" algn="l"/>
                <a:tab pos="4940935" algn="l"/>
                <a:tab pos="6292850" algn="l"/>
                <a:tab pos="6976109" algn="l"/>
              </a:tabLst>
            </a:pP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Tasarımı: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yapısı,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mimarisi,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yapıları,</a:t>
            </a:r>
            <a:endParaRPr sz="2200">
              <a:latin typeface="Microsoft Sans Serif"/>
              <a:cs typeface="Microsoft Sans Serif"/>
            </a:endParaRPr>
          </a:p>
          <a:p>
            <a:pPr marR="5715" algn="r">
              <a:lnSpc>
                <a:spcPct val="100000"/>
              </a:lnSpc>
              <a:spcBef>
                <a:spcPts val="560"/>
              </a:spcBef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gireceği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3298647"/>
            <a:ext cx="1497965" cy="127825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50520" marR="5080" indent="-338455" algn="just">
              <a:lnSpc>
                <a:spcPct val="119700"/>
              </a:lnSpc>
              <a:spcBef>
                <a:spcPts val="15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Sistem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 planlanır.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82873" y="4216653"/>
            <a:ext cx="7844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4045" algn="l"/>
                <a:tab pos="1792605" algn="l"/>
                <a:tab pos="3077210" algn="l"/>
                <a:tab pos="3803015" algn="l"/>
                <a:tab pos="5697220" algn="l"/>
                <a:tab pos="6546215" algn="l"/>
                <a:tab pos="7117715" algn="l"/>
              </a:tabLst>
            </a:pP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bileşenlerinin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nasıl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arada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4427980"/>
            <a:ext cx="9582150" cy="23368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160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çalışacağına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dair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teknik bir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rehber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endParaRPr sz="22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19800"/>
              </a:lnSpc>
              <a:spcBef>
                <a:spcPts val="106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Kodlama</a:t>
            </a:r>
            <a:r>
              <a:rPr sz="2400" b="1" i="1" spc="5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(Geliştirme):</a:t>
            </a:r>
            <a:r>
              <a:rPr sz="2400" b="1" i="1" spc="509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Tasarım</a:t>
            </a:r>
            <a:r>
              <a:rPr sz="22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aşamasında</a:t>
            </a:r>
            <a:r>
              <a:rPr sz="22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belirlenen</a:t>
            </a:r>
            <a:r>
              <a:rPr sz="22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</a:t>
            </a:r>
            <a:r>
              <a:rPr sz="22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plan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doğrultusunda</a:t>
            </a:r>
            <a:r>
              <a:rPr sz="22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2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geliştirilir.</a:t>
            </a:r>
            <a:r>
              <a:rPr sz="22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aşamada</a:t>
            </a:r>
            <a:r>
              <a:rPr sz="22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programcılar,</a:t>
            </a:r>
            <a:r>
              <a:rPr sz="22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fonksiyonel</a:t>
            </a:r>
            <a:r>
              <a:rPr sz="22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gereksinimlerini</a:t>
            </a:r>
            <a:r>
              <a:rPr sz="22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karşılamak</a:t>
            </a:r>
            <a:r>
              <a:rPr sz="22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</a:t>
            </a:r>
            <a:r>
              <a:rPr sz="22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yazarlar.</a:t>
            </a:r>
            <a:r>
              <a:rPr sz="22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süreçte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programlama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dilleri,</a:t>
            </a:r>
            <a:r>
              <a:rPr sz="22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çerçeveler</a:t>
            </a:r>
            <a:r>
              <a:rPr sz="22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18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Yazılım</a:t>
            </a:r>
            <a:r>
              <a:rPr spc="-145" dirty="0"/>
              <a:t> </a:t>
            </a:r>
            <a:r>
              <a:rPr spc="-10" dirty="0"/>
              <a:t>Geliştirme</a:t>
            </a:r>
            <a:r>
              <a:rPr spc="-229" dirty="0"/>
              <a:t> </a:t>
            </a:r>
            <a:r>
              <a:rPr spc="-10" dirty="0"/>
              <a:t>Aşamaları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785" cy="513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Test:</a:t>
            </a:r>
            <a:r>
              <a:rPr sz="2400" b="1" i="1" spc="1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bileşenleri,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işlevsellik,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güvenlik,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etkileşimi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açılardan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test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Test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aşamasında,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hatasız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çalıştığından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emin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olmak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dizi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test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yapılır.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Dağıtım</a:t>
            </a:r>
            <a:r>
              <a:rPr sz="2400" b="1" i="1" spc="1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400" b="1" i="1" spc="17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Entegrasyon:</a:t>
            </a:r>
            <a:r>
              <a:rPr sz="2400" b="1" i="1" spc="1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Yazılım,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dağıtılır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entegre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aşama,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kullanıcıya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ulaştırılmasını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sistemdeki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bileşenlerle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entegrasyonunun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sağlanmasını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Bakım</a:t>
            </a:r>
            <a:r>
              <a:rPr sz="24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400" b="1" i="1" spc="16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Destek:</a:t>
            </a:r>
            <a:r>
              <a:rPr sz="2400" b="1" i="1" spc="15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Yazılım,</a:t>
            </a:r>
            <a:r>
              <a:rPr sz="24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4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kullanıldıkça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çıkan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</a:t>
            </a:r>
            <a:r>
              <a:rPr sz="24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çözülür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4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güncellemeleri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yapılır.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Bakım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aşamasında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düzeltmeleri,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eklemeleri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iyileştirmeleri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533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Yazılım</a:t>
            </a:r>
            <a:r>
              <a:rPr spc="-195" dirty="0"/>
              <a:t> </a:t>
            </a:r>
            <a:r>
              <a:rPr dirty="0"/>
              <a:t>Geliştirme</a:t>
            </a:r>
            <a:r>
              <a:rPr spc="-220" dirty="0"/>
              <a:t> </a:t>
            </a:r>
            <a:r>
              <a:rPr spc="-10" dirty="0"/>
              <a:t>Yöntemleri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0850"/>
            <a:ext cx="9582150" cy="487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Şelale</a:t>
            </a:r>
            <a:r>
              <a:rPr sz="2200" b="1" i="1" spc="22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Modeli:</a:t>
            </a:r>
            <a:r>
              <a:rPr sz="2200" b="1" i="1" spc="20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2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</a:t>
            </a:r>
            <a:r>
              <a:rPr sz="22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sırasıyla</a:t>
            </a:r>
            <a:r>
              <a:rPr sz="22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yapılır.</a:t>
            </a:r>
            <a:r>
              <a:rPr sz="22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Aşamalar</a:t>
            </a:r>
            <a:r>
              <a:rPr sz="22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birbirini</a:t>
            </a:r>
            <a:r>
              <a:rPr sz="22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takip</a:t>
            </a:r>
            <a:r>
              <a:rPr sz="22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eder,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nedenle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dönüşler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zordur.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Küçük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net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projede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iyi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çalışır.</a:t>
            </a:r>
            <a:endParaRPr sz="22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Çevik</a:t>
            </a:r>
            <a:r>
              <a:rPr sz="2200" b="1" i="1" spc="2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(Agile)</a:t>
            </a:r>
            <a:r>
              <a:rPr sz="2200" b="1" i="1" spc="2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Metodolojisi:</a:t>
            </a:r>
            <a:r>
              <a:rPr sz="2200" b="1" i="1" spc="2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Esnek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iteratif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süreçtir.</a:t>
            </a:r>
            <a:r>
              <a:rPr sz="22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süreci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küçük</a:t>
            </a:r>
            <a:r>
              <a:rPr sz="22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parçalara</a:t>
            </a:r>
            <a:r>
              <a:rPr sz="22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bölünerek,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parça</a:t>
            </a:r>
            <a:r>
              <a:rPr sz="22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döngülerle</a:t>
            </a:r>
            <a:r>
              <a:rPr sz="22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çalışılır.</a:t>
            </a:r>
            <a:r>
              <a:rPr sz="22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yöntem,</a:t>
            </a:r>
            <a:r>
              <a:rPr sz="22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</a:t>
            </a:r>
            <a:r>
              <a:rPr sz="2200" spc="5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</a:t>
            </a:r>
            <a:r>
              <a:rPr sz="2200" spc="5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bildirimlerine</a:t>
            </a:r>
            <a:r>
              <a:rPr sz="22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dayalı</a:t>
            </a:r>
            <a:r>
              <a:rPr sz="2200" spc="4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</a:t>
            </a:r>
            <a:r>
              <a:rPr sz="22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iyileştirme</a:t>
            </a:r>
            <a:r>
              <a:rPr sz="22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200">
              <a:latin typeface="Microsoft Sans Serif"/>
              <a:cs typeface="Microsoft Sans Serif"/>
            </a:endParaRPr>
          </a:p>
          <a:p>
            <a:pPr marL="350520" marR="8255" indent="-338455" algn="just">
              <a:lnSpc>
                <a:spcPct val="120100"/>
              </a:lnSpc>
              <a:spcBef>
                <a:spcPts val="108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Scrum:</a:t>
            </a:r>
            <a:r>
              <a:rPr sz="2200" b="1" i="1" spc="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Çevik</a:t>
            </a:r>
            <a:r>
              <a:rPr sz="22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metodolojinin</a:t>
            </a:r>
            <a:r>
              <a:rPr sz="22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türüdür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projeyi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</a:t>
            </a:r>
            <a:r>
              <a:rPr sz="22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dilimlerinde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(sprint)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yönetir.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sprint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sonunda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ürün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parçası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teslim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endParaRPr sz="22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DevOps:</a:t>
            </a:r>
            <a:r>
              <a:rPr sz="2200" b="1" i="1" spc="2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2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2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operasyonları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arasındaki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işbirliğini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artırmaya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yönelik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yaklaşımdır.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geliştirilmesi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dağıtılmasını</a:t>
            </a:r>
            <a:r>
              <a:rPr sz="22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95"/>
              </a:spcBef>
            </a:pPr>
            <a:r>
              <a:rPr dirty="0"/>
              <a:t>Yazılım</a:t>
            </a:r>
            <a:r>
              <a:rPr spc="-195" dirty="0"/>
              <a:t> </a:t>
            </a:r>
            <a:r>
              <a:rPr dirty="0"/>
              <a:t>Geliştirmede</a:t>
            </a:r>
            <a:r>
              <a:rPr spc="-135" dirty="0"/>
              <a:t> </a:t>
            </a:r>
            <a:r>
              <a:rPr dirty="0"/>
              <a:t>Kullanılan</a:t>
            </a:r>
            <a:r>
              <a:rPr spc="-240" dirty="0"/>
              <a:t> </a:t>
            </a:r>
            <a:r>
              <a:rPr spc="-10" dirty="0"/>
              <a:t>Araçlar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1885" y="1516888"/>
            <a:ext cx="660717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20100"/>
              </a:lnSpc>
              <a:spcBef>
                <a:spcPts val="100"/>
              </a:spcBef>
              <a:tabLst>
                <a:tab pos="1134110" algn="l"/>
                <a:tab pos="2045335" algn="l"/>
                <a:tab pos="2202815" algn="l"/>
                <a:tab pos="2736215" algn="l"/>
                <a:tab pos="3885565" algn="l"/>
                <a:tab pos="4542155" algn="l"/>
                <a:tab pos="5067935" algn="l"/>
                <a:tab pos="5643880" algn="l"/>
              </a:tabLst>
            </a:pP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Development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		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Environment):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Visual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Studio, IntelliJ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IDEA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geliştirmeyi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1516888"/>
            <a:ext cx="282194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135380" algn="l"/>
              </a:tabLst>
            </a:pPr>
            <a:r>
              <a:rPr sz="2400" b="1" i="1" spc="-25" dirty="0">
                <a:solidFill>
                  <a:srgbClr val="FF840D"/>
                </a:solidFill>
                <a:latin typeface="Arial"/>
                <a:cs typeface="Arial"/>
              </a:rPr>
              <a:t>IDE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(Integrated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Eclipse,Netbeans, hızlandırır.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2973768"/>
            <a:ext cx="9582150" cy="33782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0520" indent="-337820" algn="just">
              <a:lnSpc>
                <a:spcPct val="100000"/>
              </a:lnSpc>
              <a:spcBef>
                <a:spcPts val="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Sürüm</a:t>
            </a:r>
            <a:r>
              <a:rPr sz="2400" b="1" i="1" spc="254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Kontrol</a:t>
            </a:r>
            <a:r>
              <a:rPr sz="2400" b="1" i="1" spc="254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Sistemleri:</a:t>
            </a:r>
            <a:r>
              <a:rPr sz="2400" b="1" i="1" spc="254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Git,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SVN,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Mercurial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araçlar,</a:t>
            </a:r>
            <a:endParaRPr sz="24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sürümlerinin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yönetilmesini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Test</a:t>
            </a:r>
            <a:r>
              <a:rPr sz="2400" b="1" i="1" spc="2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Araçları:</a:t>
            </a:r>
            <a:r>
              <a:rPr sz="2400" b="1" i="1" spc="2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JUnit,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Selenium,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Postman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araçlar,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kalitesini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test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etmek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Yazılım</a:t>
            </a:r>
            <a:r>
              <a:rPr sz="2400" b="1" i="1" spc="15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Entegrasyonu</a:t>
            </a:r>
            <a:r>
              <a:rPr sz="2400" b="1" i="1" spc="15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4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Sürekli</a:t>
            </a:r>
            <a:r>
              <a:rPr sz="24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Dağıtım</a:t>
            </a:r>
            <a:r>
              <a:rPr sz="24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Araçları:</a:t>
            </a:r>
            <a:r>
              <a:rPr sz="24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Jenkins,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Travis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CI,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Circle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  gibi  araçlar,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entegrasyon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dağıtım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süreçlerini</a:t>
            </a:r>
            <a:r>
              <a:rPr sz="2400" spc="-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69363" y="3080080"/>
            <a:ext cx="86525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5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54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54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me</a:t>
            </a: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5400" spc="-2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Programlama</a:t>
            </a:r>
            <a:r>
              <a:rPr sz="5400" spc="-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Yapıları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901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85" dirty="0"/>
              <a:t> </a:t>
            </a:r>
            <a:r>
              <a:rPr dirty="0"/>
              <a:t>Değişkenler</a:t>
            </a:r>
            <a:r>
              <a:rPr spc="-80" dirty="0"/>
              <a:t> </a:t>
            </a:r>
            <a:r>
              <a:rPr dirty="0"/>
              <a:t>ve</a:t>
            </a:r>
            <a:r>
              <a:rPr spc="-100" dirty="0"/>
              <a:t> </a:t>
            </a:r>
            <a:r>
              <a:rPr dirty="0"/>
              <a:t>Veri</a:t>
            </a:r>
            <a:r>
              <a:rPr spc="-85" dirty="0"/>
              <a:t> </a:t>
            </a:r>
            <a:r>
              <a:rPr spc="-10" dirty="0"/>
              <a:t>Tipleri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2925"/>
            <a:ext cx="9582785" cy="500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Değişkenler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,</a:t>
            </a:r>
            <a:r>
              <a:rPr sz="26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programda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saklanması  için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</a:t>
            </a:r>
            <a:r>
              <a:rPr sz="26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alanlarıdır.</a:t>
            </a:r>
            <a:r>
              <a:rPr sz="26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6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değişken,</a:t>
            </a:r>
            <a:r>
              <a:rPr sz="26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6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600" b="1" i="1" spc="3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tipi</a:t>
            </a:r>
            <a:r>
              <a:rPr sz="2600" b="1" i="1" spc="3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tanımlanır.</a:t>
            </a:r>
            <a:r>
              <a:rPr sz="2600" spc="6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600" spc="6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tipleri,</a:t>
            </a:r>
            <a:r>
              <a:rPr sz="2600" spc="6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6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değişkenin</a:t>
            </a:r>
            <a:r>
              <a:rPr sz="2600" spc="6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alabileceği</a:t>
            </a:r>
            <a:r>
              <a:rPr sz="2600" spc="6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600" spc="6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türünü belirtir.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73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600" b="1" i="1" spc="-1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solidFill>
                  <a:srgbClr val="2C241F"/>
                </a:solidFill>
                <a:latin typeface="Arial"/>
                <a:cs typeface="Arial"/>
              </a:rPr>
              <a:t>Tipleri:</a:t>
            </a:r>
            <a:endParaRPr sz="2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714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Sayısal</a:t>
            </a:r>
            <a:r>
              <a:rPr sz="2600" b="1" i="1" spc="-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600" b="1" i="1" spc="-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Tipleri:</a:t>
            </a:r>
            <a:r>
              <a:rPr sz="2600" b="1" i="1" spc="-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int,</a:t>
            </a:r>
            <a:r>
              <a:rPr sz="26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float,</a:t>
            </a:r>
            <a:r>
              <a:rPr sz="26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double,</a:t>
            </a:r>
            <a:r>
              <a:rPr sz="26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decimal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73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Karakter</a:t>
            </a:r>
            <a:r>
              <a:rPr sz="2600" b="1" i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600" b="1" i="1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Metin</a:t>
            </a:r>
            <a:r>
              <a:rPr sz="2600" b="1" i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6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Tipleri:</a:t>
            </a:r>
            <a:r>
              <a:rPr sz="2600" b="1" i="1" spc="-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char,</a:t>
            </a:r>
            <a:r>
              <a:rPr sz="26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string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73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Mantıksal</a:t>
            </a:r>
            <a:r>
              <a:rPr sz="2600" b="1" i="1" spc="-1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600" b="1" i="1" spc="-1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Tipi:</a:t>
            </a:r>
            <a:r>
              <a:rPr sz="2600" b="1" i="1" spc="-11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bool</a:t>
            </a:r>
            <a:r>
              <a:rPr sz="26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(True/False</a:t>
            </a:r>
            <a:r>
              <a:rPr sz="26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değerlerini</a:t>
            </a:r>
            <a:r>
              <a:rPr sz="26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tutar)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72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802005" algn="l"/>
              </a:tabLst>
            </a:pP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Diğer</a:t>
            </a:r>
            <a:r>
              <a:rPr sz="2600" b="1" i="1" spc="-1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600" b="1" i="1" spc="-12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b="1" i="1" dirty="0">
                <a:solidFill>
                  <a:srgbClr val="FF840D"/>
                </a:solidFill>
                <a:latin typeface="Arial"/>
                <a:cs typeface="Arial"/>
              </a:rPr>
              <a:t>Tipleri:</a:t>
            </a:r>
            <a:r>
              <a:rPr sz="2600" b="1" i="1" spc="-11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DateTime,</a:t>
            </a:r>
            <a:r>
              <a:rPr sz="26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object,</a:t>
            </a:r>
            <a:r>
              <a:rPr sz="26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array,</a:t>
            </a:r>
            <a:r>
              <a:rPr sz="26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enum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54295"/>
            <a:chOff x="1338072" y="1411224"/>
            <a:chExt cx="9813290" cy="515429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1027" y="4873752"/>
              <a:ext cx="7251192" cy="16916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40600" y="778891"/>
            <a:ext cx="36893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55" dirty="0"/>
              <a:t> </a:t>
            </a:r>
            <a:r>
              <a:rPr dirty="0"/>
              <a:t>Kontrol</a:t>
            </a:r>
            <a:r>
              <a:rPr spc="-114" dirty="0"/>
              <a:t> </a:t>
            </a:r>
            <a:r>
              <a:rPr spc="-10" dirty="0"/>
              <a:t>Yapıları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2925"/>
            <a:ext cx="9582150" cy="301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26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yapıları,</a:t>
            </a:r>
            <a:r>
              <a:rPr sz="26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programın</a:t>
            </a:r>
            <a:r>
              <a:rPr sz="26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akışını</a:t>
            </a:r>
            <a:r>
              <a:rPr sz="26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belirleyen</a:t>
            </a:r>
            <a:r>
              <a:rPr sz="26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yapılardır.</a:t>
            </a:r>
            <a:r>
              <a:rPr sz="26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</a:t>
            </a:r>
            <a:r>
              <a:rPr sz="26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6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program,</a:t>
            </a:r>
            <a:r>
              <a:rPr sz="2600" spc="5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6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koşullara</a:t>
            </a:r>
            <a:r>
              <a:rPr sz="26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600" spc="5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600" spc="5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 izleyebilir.</a:t>
            </a:r>
            <a:endParaRPr sz="2600">
              <a:latin typeface="Microsoft Sans Serif"/>
              <a:cs typeface="Microsoft Sans Serif"/>
            </a:endParaRPr>
          </a:p>
          <a:p>
            <a:pPr marL="349250" marR="5715" indent="-33718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Koşul</a:t>
            </a:r>
            <a:r>
              <a:rPr sz="26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içeren</a:t>
            </a:r>
            <a:r>
              <a:rPr sz="26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ifade</a:t>
            </a:r>
            <a:r>
              <a:rPr sz="26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mantıksal</a:t>
            </a:r>
            <a:r>
              <a:rPr sz="26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6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tabi</a:t>
            </a:r>
            <a:r>
              <a:rPr sz="26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tutulur</a:t>
            </a:r>
            <a:r>
              <a:rPr sz="26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6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sonuçta 	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26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6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6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YANLIŞ</a:t>
            </a:r>
            <a:r>
              <a:rPr sz="26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türünde</a:t>
            </a:r>
            <a:r>
              <a:rPr sz="26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sonuca</a:t>
            </a:r>
            <a:r>
              <a:rPr sz="26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ulaşılır.</a:t>
            </a:r>
            <a:r>
              <a:rPr sz="26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 	</a:t>
            </a:r>
            <a:r>
              <a:rPr sz="26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akışı</a:t>
            </a:r>
            <a:r>
              <a:rPr sz="26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6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sonuca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6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devam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1027" y="4873752"/>
            <a:ext cx="7251700" cy="1691639"/>
          </a:xfrm>
          <a:prstGeom prst="rect">
            <a:avLst/>
          </a:prstGeom>
          <a:ln w="9144">
            <a:solidFill>
              <a:srgbClr val="FFB168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8380" marR="1320800" indent="-460375">
              <a:lnSpc>
                <a:spcPct val="100000"/>
              </a:lnSpc>
              <a:spcBef>
                <a:spcPts val="295"/>
              </a:spcBef>
            </a:pPr>
            <a:r>
              <a:rPr sz="2600" dirty="0">
                <a:latin typeface="Microsoft Sans Serif"/>
                <a:cs typeface="Microsoft Sans Serif"/>
              </a:rPr>
              <a:t>if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pass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==</a:t>
            </a:r>
            <a:r>
              <a:rPr sz="2600" spc="-10" dirty="0">
                <a:latin typeface="Microsoft Sans Serif"/>
                <a:cs typeface="Microsoft Sans Serif"/>
              </a:rPr>
              <a:t> 1024) Console.WriteLine("Şifre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Doğru");</a:t>
            </a:r>
            <a:endParaRPr sz="2600">
              <a:latin typeface="Microsoft Sans Serif"/>
              <a:cs typeface="Microsoft Sans Serif"/>
            </a:endParaRPr>
          </a:p>
          <a:p>
            <a:pPr marL="548005">
              <a:lnSpc>
                <a:spcPct val="100000"/>
              </a:lnSpc>
            </a:pPr>
            <a:r>
              <a:rPr sz="2600" spc="-20" dirty="0">
                <a:latin typeface="Microsoft Sans Serif"/>
                <a:cs typeface="Microsoft Sans Serif"/>
              </a:rPr>
              <a:t>else</a:t>
            </a:r>
            <a:endParaRPr sz="2600">
              <a:latin typeface="Microsoft Sans Serif"/>
              <a:cs typeface="Microsoft Sans Serif"/>
            </a:endParaRPr>
          </a:p>
          <a:p>
            <a:pPr marL="1008380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Microsoft Sans Serif"/>
                <a:cs typeface="Microsoft Sans Serif"/>
              </a:rPr>
              <a:t>Console.WriteLine("Hatalı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Şifre!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");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373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20" dirty="0"/>
              <a:t> </a:t>
            </a:r>
            <a:r>
              <a:rPr spc="-10" dirty="0"/>
              <a:t>Döngüler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08340"/>
            <a:ext cx="9587230" cy="1562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5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Döngüler,</a:t>
            </a:r>
            <a:r>
              <a:rPr sz="28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8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koşul</a:t>
            </a:r>
            <a:r>
              <a:rPr sz="28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sağlandığı</a:t>
            </a:r>
            <a:r>
              <a:rPr sz="28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sürece</a:t>
            </a:r>
            <a:r>
              <a:rPr sz="28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</a:t>
            </a:r>
            <a:r>
              <a:rPr sz="28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bloğunu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tekrarlamak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yapılar,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işlemlerin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8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tekrarlanmasını</a:t>
            </a:r>
            <a:r>
              <a:rPr sz="28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2864" y="3732276"/>
            <a:ext cx="6265164" cy="18166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02864" y="3732276"/>
            <a:ext cx="6265545" cy="1816735"/>
          </a:xfrm>
          <a:prstGeom prst="rect">
            <a:avLst/>
          </a:prstGeom>
          <a:ln w="9144">
            <a:solidFill>
              <a:srgbClr val="FFB168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latin typeface="Microsoft Sans Serif"/>
                <a:cs typeface="Microsoft Sans Serif"/>
              </a:rPr>
              <a:t>for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int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1;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&lt;=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10;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i++)</a:t>
            </a:r>
            <a:endParaRPr sz="2800">
              <a:latin typeface="Microsoft Sans Serif"/>
              <a:cs typeface="Microsoft Sans Serif"/>
            </a:endParaRPr>
          </a:p>
          <a:p>
            <a:pPr marL="549910">
              <a:lnSpc>
                <a:spcPct val="100000"/>
              </a:lnSpc>
            </a:pPr>
            <a:r>
              <a:rPr sz="2800" spc="-50" dirty="0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1042035">
              <a:lnSpc>
                <a:spcPct val="100000"/>
              </a:lnSpc>
            </a:pPr>
            <a:r>
              <a:rPr sz="2800" spc="-10" dirty="0">
                <a:latin typeface="Microsoft Sans Serif"/>
                <a:cs typeface="Microsoft Sans Serif"/>
              </a:rPr>
              <a:t>Console.WriteLine("Bilgisayar");</a:t>
            </a:r>
            <a:endParaRPr sz="2800">
              <a:latin typeface="Microsoft Sans Serif"/>
              <a:cs typeface="Microsoft Sans Serif"/>
            </a:endParaRPr>
          </a:p>
          <a:p>
            <a:pPr marL="549910">
              <a:lnSpc>
                <a:spcPct val="100000"/>
              </a:lnSpc>
            </a:pPr>
            <a:r>
              <a:rPr sz="2800" spc="-50" dirty="0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878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14" dirty="0"/>
              <a:t> </a:t>
            </a:r>
            <a:r>
              <a:rPr dirty="0"/>
              <a:t>Fonksiyonlar</a:t>
            </a:r>
            <a:r>
              <a:rPr spc="-110" dirty="0"/>
              <a:t> </a:t>
            </a:r>
            <a:r>
              <a:rPr spc="-10" dirty="0"/>
              <a:t>(Metodlar)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5"/>
              </a:spcBef>
            </a:pPr>
            <a:r>
              <a:rPr dirty="0"/>
              <a:t>Fonksiyonlar,</a:t>
            </a:r>
            <a:r>
              <a:rPr spc="80" dirty="0"/>
              <a:t> </a:t>
            </a:r>
            <a:r>
              <a:rPr dirty="0"/>
              <a:t>belirli</a:t>
            </a:r>
            <a:r>
              <a:rPr spc="75" dirty="0"/>
              <a:t> </a:t>
            </a:r>
            <a:r>
              <a:rPr dirty="0"/>
              <a:t>bir</a:t>
            </a:r>
            <a:r>
              <a:rPr spc="85" dirty="0"/>
              <a:t> </a:t>
            </a:r>
            <a:r>
              <a:rPr dirty="0"/>
              <a:t>görevi</a:t>
            </a:r>
            <a:r>
              <a:rPr spc="85" dirty="0"/>
              <a:t> </a:t>
            </a:r>
            <a:r>
              <a:rPr dirty="0"/>
              <a:t>yerine</a:t>
            </a:r>
            <a:r>
              <a:rPr spc="85" dirty="0"/>
              <a:t> </a:t>
            </a:r>
            <a:r>
              <a:rPr dirty="0"/>
              <a:t>getiren</a:t>
            </a:r>
            <a:r>
              <a:rPr spc="75" dirty="0"/>
              <a:t> </a:t>
            </a:r>
            <a:r>
              <a:rPr dirty="0"/>
              <a:t>ve</a:t>
            </a:r>
            <a:r>
              <a:rPr spc="75" dirty="0"/>
              <a:t> </a:t>
            </a:r>
            <a:r>
              <a:rPr dirty="0"/>
              <a:t>genellikle</a:t>
            </a:r>
            <a:r>
              <a:rPr spc="85" dirty="0"/>
              <a:t> </a:t>
            </a:r>
            <a:r>
              <a:rPr spc="-25" dirty="0"/>
              <a:t>bir </a:t>
            </a:r>
            <a:r>
              <a:rPr dirty="0"/>
              <a:t>değer</a:t>
            </a:r>
            <a:r>
              <a:rPr spc="150" dirty="0"/>
              <a:t>  </a:t>
            </a:r>
            <a:r>
              <a:rPr dirty="0"/>
              <a:t>döndüren</a:t>
            </a:r>
            <a:r>
              <a:rPr spc="155" dirty="0"/>
              <a:t>  </a:t>
            </a:r>
            <a:r>
              <a:rPr dirty="0"/>
              <a:t>kod</a:t>
            </a:r>
            <a:r>
              <a:rPr spc="160" dirty="0"/>
              <a:t>  </a:t>
            </a:r>
            <a:r>
              <a:rPr dirty="0"/>
              <a:t>bloklarıdır.</a:t>
            </a:r>
            <a:r>
              <a:rPr spc="150" dirty="0"/>
              <a:t>  </a:t>
            </a:r>
            <a:r>
              <a:rPr dirty="0"/>
              <a:t>Fonksiyonlar,</a:t>
            </a:r>
            <a:r>
              <a:rPr spc="160" dirty="0"/>
              <a:t>  </a:t>
            </a:r>
            <a:r>
              <a:rPr spc="-10" dirty="0"/>
              <a:t>programın </a:t>
            </a:r>
            <a:r>
              <a:rPr dirty="0"/>
              <a:t>daha</a:t>
            </a:r>
            <a:r>
              <a:rPr spc="325" dirty="0"/>
              <a:t> </a:t>
            </a:r>
            <a:r>
              <a:rPr dirty="0"/>
              <a:t>modüler</a:t>
            </a:r>
            <a:r>
              <a:rPr spc="340" dirty="0"/>
              <a:t> </a:t>
            </a:r>
            <a:r>
              <a:rPr dirty="0"/>
              <a:t>olmasını</a:t>
            </a:r>
            <a:r>
              <a:rPr spc="335" dirty="0"/>
              <a:t> </a:t>
            </a:r>
            <a:r>
              <a:rPr dirty="0"/>
              <a:t>sağlar</a:t>
            </a:r>
            <a:r>
              <a:rPr spc="340" dirty="0"/>
              <a:t> </a:t>
            </a:r>
            <a:r>
              <a:rPr dirty="0"/>
              <a:t>ve</a:t>
            </a:r>
            <a:r>
              <a:rPr spc="330" dirty="0"/>
              <a:t> </a:t>
            </a:r>
            <a:r>
              <a:rPr dirty="0"/>
              <a:t>aynı</a:t>
            </a:r>
            <a:r>
              <a:rPr spc="330" dirty="0"/>
              <a:t> </a:t>
            </a:r>
            <a:r>
              <a:rPr dirty="0"/>
              <a:t>kodun</a:t>
            </a:r>
            <a:r>
              <a:rPr spc="315" dirty="0"/>
              <a:t> </a:t>
            </a:r>
            <a:r>
              <a:rPr dirty="0"/>
              <a:t>farklı</a:t>
            </a:r>
            <a:r>
              <a:rPr spc="325" dirty="0"/>
              <a:t> </a:t>
            </a:r>
            <a:r>
              <a:rPr spc="-10" dirty="0"/>
              <a:t>yerlerde </a:t>
            </a:r>
            <a:r>
              <a:rPr dirty="0"/>
              <a:t>tekrar</a:t>
            </a:r>
            <a:r>
              <a:rPr spc="105" dirty="0"/>
              <a:t> </a:t>
            </a:r>
            <a:r>
              <a:rPr dirty="0"/>
              <a:t>kullanılmasını</a:t>
            </a:r>
            <a:r>
              <a:rPr spc="125" dirty="0"/>
              <a:t> </a:t>
            </a:r>
            <a:r>
              <a:rPr spc="-10" dirty="0"/>
              <a:t>sağlar.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752" y="4111752"/>
            <a:ext cx="5286756" cy="1815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30752" y="4111752"/>
            <a:ext cx="5287010" cy="1815464"/>
          </a:xfrm>
          <a:prstGeom prst="rect">
            <a:avLst/>
          </a:prstGeom>
          <a:ln w="9144">
            <a:solidFill>
              <a:srgbClr val="FFB168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latin typeface="Microsoft Sans Serif"/>
                <a:cs typeface="Microsoft Sans Serif"/>
              </a:rPr>
              <a:t>int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Topla(int </a:t>
            </a:r>
            <a:r>
              <a:rPr sz="2800" dirty="0">
                <a:latin typeface="Microsoft Sans Serif"/>
                <a:cs typeface="Microsoft Sans Serif"/>
              </a:rPr>
              <a:t>a,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int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b)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</a:pPr>
            <a:r>
              <a:rPr sz="2800" spc="-50" dirty="0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1006475">
              <a:lnSpc>
                <a:spcPct val="100000"/>
              </a:lnSpc>
            </a:pPr>
            <a:r>
              <a:rPr sz="2800" dirty="0">
                <a:latin typeface="Microsoft Sans Serif"/>
                <a:cs typeface="Microsoft Sans Serif"/>
              </a:rPr>
              <a:t>return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b;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</a:pPr>
            <a:r>
              <a:rPr sz="2800" spc="-50" dirty="0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81265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20" dirty="0"/>
              <a:t> </a:t>
            </a:r>
            <a:r>
              <a:rPr spc="-10" dirty="0"/>
              <a:t>Diziler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08340"/>
            <a:ext cx="4091940" cy="309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5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Dizi,</a:t>
            </a:r>
            <a:r>
              <a:rPr sz="28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8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türde</a:t>
            </a:r>
            <a:r>
              <a:rPr sz="28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</a:t>
            </a:r>
            <a:r>
              <a:rPr sz="2800" spc="65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veriyi</a:t>
            </a:r>
            <a:r>
              <a:rPr sz="2800" spc="65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</a:t>
            </a:r>
            <a:r>
              <a:rPr sz="2800" spc="65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değişkende</a:t>
            </a:r>
            <a:r>
              <a:rPr sz="2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saklamamıza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olanak</a:t>
            </a:r>
            <a:r>
              <a:rPr sz="28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tanır.</a:t>
            </a:r>
            <a:r>
              <a:rPr sz="28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Diziler,</a:t>
            </a:r>
            <a:r>
              <a:rPr sz="28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sabit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6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boyuta</a:t>
            </a:r>
            <a:r>
              <a:rPr sz="2800" spc="6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</a:t>
            </a:r>
            <a:r>
              <a:rPr sz="2800" spc="6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indekslerle</a:t>
            </a:r>
            <a:r>
              <a:rPr sz="2800" spc="-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erişilir.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5188" y="1667255"/>
            <a:ext cx="5413248" cy="45872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95188" y="1667255"/>
            <a:ext cx="5413375" cy="4587240"/>
          </a:xfrm>
          <a:prstGeom prst="rect">
            <a:avLst/>
          </a:prstGeom>
          <a:ln w="9144">
            <a:solidFill>
              <a:srgbClr val="FFB168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85"/>
              </a:spcBef>
            </a:pPr>
            <a:r>
              <a:rPr sz="2800" dirty="0">
                <a:latin typeface="Microsoft Sans Serif"/>
                <a:cs typeface="Microsoft Sans Serif"/>
              </a:rPr>
              <a:t>int[]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sayilar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new </a:t>
            </a:r>
            <a:r>
              <a:rPr sz="2800" spc="-10" dirty="0">
                <a:latin typeface="Microsoft Sans Serif"/>
                <a:cs typeface="Microsoft Sans Serif"/>
              </a:rPr>
              <a:t>int[5];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  <a:spcBef>
                <a:spcPts val="1875"/>
              </a:spcBef>
            </a:pPr>
            <a:r>
              <a:rPr sz="2800" dirty="0">
                <a:latin typeface="Microsoft Sans Serif"/>
                <a:cs typeface="Microsoft Sans Serif"/>
              </a:rPr>
              <a:t>sayilar[0]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1;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  <a:spcBef>
                <a:spcPts val="1870"/>
              </a:spcBef>
            </a:pPr>
            <a:r>
              <a:rPr sz="2800" dirty="0">
                <a:latin typeface="Microsoft Sans Serif"/>
                <a:cs typeface="Microsoft Sans Serif"/>
              </a:rPr>
              <a:t>sayilar[1]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2;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  <a:spcBef>
                <a:spcPts val="1875"/>
              </a:spcBef>
            </a:pPr>
            <a:r>
              <a:rPr sz="2800" dirty="0">
                <a:latin typeface="Microsoft Sans Serif"/>
                <a:cs typeface="Microsoft Sans Serif"/>
              </a:rPr>
              <a:t>sayilar[2]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3;</a:t>
            </a:r>
            <a:endParaRPr sz="28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  <a:spcBef>
                <a:spcPts val="1875"/>
              </a:spcBef>
            </a:pPr>
            <a:r>
              <a:rPr sz="2800" dirty="0">
                <a:latin typeface="Microsoft Sans Serif"/>
                <a:cs typeface="Microsoft Sans Serif"/>
              </a:rPr>
              <a:t>sayilar[3]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4;</a:t>
            </a:r>
            <a:endParaRPr sz="2800">
              <a:latin typeface="Microsoft Sans Serif"/>
              <a:cs typeface="Microsoft Sans Serif"/>
            </a:endParaRPr>
          </a:p>
          <a:p>
            <a:pPr marL="549275" marR="189865">
              <a:lnSpc>
                <a:spcPct val="155700"/>
              </a:lnSpc>
            </a:pPr>
            <a:r>
              <a:rPr sz="2800" dirty="0">
                <a:latin typeface="Microsoft Sans Serif"/>
                <a:cs typeface="Microsoft Sans Serif"/>
              </a:rPr>
              <a:t>sayilar[4]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5; </a:t>
            </a:r>
            <a:r>
              <a:rPr sz="2800" spc="-10" dirty="0">
                <a:latin typeface="Microsoft Sans Serif"/>
                <a:cs typeface="Microsoft Sans Serif"/>
              </a:rPr>
              <a:t>Console.WriteLine(sayilar[2]);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9/23/2025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1794</Words>
  <Application>Microsoft Office PowerPoint</Application>
  <PresentationFormat>Geniş ekran</PresentationFormat>
  <Paragraphs>282</Paragraphs>
  <Slides>31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31</vt:i4>
      </vt:variant>
    </vt:vector>
  </HeadingPairs>
  <TitlesOfParts>
    <vt:vector size="36" baseType="lpstr">
      <vt:lpstr>Arial</vt:lpstr>
      <vt:lpstr>Lucida Sans Unicode</vt:lpstr>
      <vt:lpstr>Microsoft Sans Serif</vt:lpstr>
      <vt:lpstr>Wingdings</vt:lpstr>
      <vt:lpstr>Office Theme</vt:lpstr>
      <vt:lpstr>PROGRAMLAMA DİLLERİ VE YAZILIM GELİŞTİRME</vt:lpstr>
      <vt:lpstr>PowerPoint Sunusu</vt:lpstr>
      <vt:lpstr>Programlama Dili Nedir?</vt:lpstr>
      <vt:lpstr>Kaynak Kod Nedir?</vt:lpstr>
      <vt:lpstr>Makine Dili Nedir?</vt:lpstr>
      <vt:lpstr>Derleme İşlemi ve Derleyici Nedir?</vt:lpstr>
      <vt:lpstr>Programlama Dillerinin Tarihçesi</vt:lpstr>
      <vt:lpstr>PowerPoint Sunusu</vt:lpstr>
      <vt:lpstr>1. Programlama Dilinin Seviyesi</vt:lpstr>
      <vt:lpstr>Seviyelerine Göre Programlama Dilleri</vt:lpstr>
      <vt:lpstr>2. Programların Çalışma Türleri</vt:lpstr>
      <vt:lpstr>Çalışma Türlerine Göre Programlama Dilleri</vt:lpstr>
      <vt:lpstr>3. Programlama Dillerinin Kullanım Alanları</vt:lpstr>
      <vt:lpstr>3. Programlama Dillerinin Kullanım Alanları</vt:lpstr>
      <vt:lpstr>Kullanım Alanlarına Göre Programlama Dilleri</vt:lpstr>
      <vt:lpstr>Kullanım Alanlarına Göre Programlama Dilleri</vt:lpstr>
      <vt:lpstr>Algoritmalar ve Akış Diyagramları</vt:lpstr>
      <vt:lpstr>Algoritma</vt:lpstr>
      <vt:lpstr>Algoritmanın Adım Adım Yazılması</vt:lpstr>
      <vt:lpstr>Algoritmanın Akış Diyagramı ile Gösterimi</vt:lpstr>
      <vt:lpstr>PowerPoint Sunusu</vt:lpstr>
      <vt:lpstr>Yazılım Geliştirme Aşamaları</vt:lpstr>
      <vt:lpstr>Yazılım Geliştirme Aşamaları</vt:lpstr>
      <vt:lpstr>Yazılım Geliştirme Yöntemleri</vt:lpstr>
      <vt:lpstr>Yazılım Geliştirmede Kullanılan Araçlar</vt:lpstr>
      <vt:lpstr>PowerPoint Sunusu</vt:lpstr>
      <vt:lpstr>1. Değişkenler ve Veri Tipleri</vt:lpstr>
      <vt:lpstr>2. Kontrol Yapıları</vt:lpstr>
      <vt:lpstr>3. Döngüler</vt:lpstr>
      <vt:lpstr>4. Fonksiyonlar (Metodlar)</vt:lpstr>
      <vt:lpstr>5. Diziler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Progamlama Dilleri ve Yazılım Geliştirme</dc:title>
  <dc:creator>Erkan Kaynak</dc:creator>
  <cp:lastModifiedBy>Halil Arslan</cp:lastModifiedBy>
  <cp:revision>3</cp:revision>
  <dcterms:created xsi:type="dcterms:W3CDTF">2025-10-19T19:03:37Z</dcterms:created>
  <dcterms:modified xsi:type="dcterms:W3CDTF">2025-11-07T11:43:20Z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