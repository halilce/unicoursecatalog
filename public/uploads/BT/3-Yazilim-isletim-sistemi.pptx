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5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C241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C241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39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6380" y="778891"/>
            <a:ext cx="8745092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08340"/>
            <a:ext cx="9580880" cy="272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C241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44309" y="0"/>
            <a:ext cx="7961630" cy="6858000"/>
            <a:chOff x="1007363" y="0"/>
            <a:chExt cx="7961630" cy="6858000"/>
          </a:xfrm>
        </p:grpSpPr>
        <p:sp>
          <p:nvSpPr>
            <p:cNvPr id="9" name="object 9"/>
            <p:cNvSpPr/>
            <p:nvPr/>
          </p:nvSpPr>
          <p:spPr>
            <a:xfrm>
              <a:off x="1007363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7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74496" y="2088896"/>
            <a:ext cx="294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19933" y="2121865"/>
            <a:ext cx="593915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6840"/>
              </a:lnSpc>
              <a:spcBef>
                <a:spcPts val="100"/>
              </a:spcBef>
            </a:pPr>
            <a:r>
              <a:rPr sz="6000" b="0" dirty="0">
                <a:solidFill>
                  <a:srgbClr val="FFFFFF"/>
                </a:solidFill>
                <a:latin typeface="Microsoft Sans Serif"/>
                <a:cs typeface="Microsoft Sans Serif"/>
              </a:rPr>
              <a:t>Yazılım</a:t>
            </a:r>
            <a:r>
              <a:rPr sz="6000" b="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0" b="0" dirty="0">
                <a:solidFill>
                  <a:srgbClr val="FFFFFF"/>
                </a:solidFill>
                <a:latin typeface="Microsoft Sans Serif"/>
                <a:cs typeface="Microsoft Sans Serif"/>
              </a:rPr>
              <a:t>ve</a:t>
            </a:r>
            <a:r>
              <a:rPr sz="6000" b="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0" b="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İşletim</a:t>
            </a:r>
            <a:endParaRPr sz="6000">
              <a:latin typeface="Microsoft Sans Serif"/>
              <a:cs typeface="Microsoft Sans Serif"/>
            </a:endParaRPr>
          </a:p>
          <a:p>
            <a:pPr marR="5080" algn="r">
              <a:lnSpc>
                <a:spcPts val="6840"/>
              </a:lnSpc>
            </a:pPr>
            <a:r>
              <a:rPr sz="6000" b="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Sistemleri</a:t>
            </a:r>
            <a:endParaRPr sz="6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95"/>
              </a:spcBef>
            </a:pPr>
            <a:r>
              <a:rPr lang="tr-TR" sz="2400" spc="-10" dirty="0" err="1" smtClean="0">
                <a:solidFill>
                  <a:srgbClr val="FFFFFF"/>
                </a:solidFill>
                <a:latin typeface="Microsoft Sans Serif"/>
                <a:cs typeface="Microsoft Sans Serif"/>
              </a:rPr>
              <a:t>Öğr</a:t>
            </a: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. </a:t>
            </a: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Gör. Halil ARSLAN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77606" y="3080080"/>
            <a:ext cx="26447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YAZILIM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966970"/>
            <a:chOff x="1338072" y="1411224"/>
            <a:chExt cx="9813290" cy="496697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4748" y="4245863"/>
              <a:ext cx="4989576" cy="213207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0606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170" dirty="0"/>
              <a:t> </a:t>
            </a:r>
            <a:r>
              <a:rPr spc="-10" dirty="0"/>
              <a:t>Yazılım</a:t>
            </a:r>
            <a:r>
              <a:rPr spc="-95" dirty="0"/>
              <a:t> </a:t>
            </a:r>
            <a:r>
              <a:rPr spc="-10" dirty="0"/>
              <a:t>Nedir?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latin typeface="Arial"/>
                <a:cs typeface="Arial"/>
              </a:rPr>
              <a:t>Yazılım</a:t>
            </a:r>
            <a:r>
              <a:rPr sz="2400" dirty="0"/>
              <a:t>,</a:t>
            </a:r>
            <a:r>
              <a:rPr sz="2400" spc="425" dirty="0"/>
              <a:t>  </a:t>
            </a:r>
            <a:r>
              <a:rPr sz="2400" dirty="0"/>
              <a:t>bilgisayar</a:t>
            </a:r>
            <a:r>
              <a:rPr sz="2400" spc="450" dirty="0"/>
              <a:t>  </a:t>
            </a:r>
            <a:r>
              <a:rPr sz="2400" dirty="0"/>
              <a:t>veya</a:t>
            </a:r>
            <a:r>
              <a:rPr sz="2400" spc="434" dirty="0"/>
              <a:t>  </a:t>
            </a:r>
            <a:r>
              <a:rPr sz="2400" dirty="0"/>
              <a:t>elektronik</a:t>
            </a:r>
            <a:r>
              <a:rPr sz="2400" spc="430" dirty="0"/>
              <a:t>  </a:t>
            </a:r>
            <a:r>
              <a:rPr sz="2400" dirty="0"/>
              <a:t>cihazlarda</a:t>
            </a:r>
            <a:r>
              <a:rPr sz="2400" spc="440" dirty="0"/>
              <a:t>  </a:t>
            </a:r>
            <a:r>
              <a:rPr sz="2400" dirty="0"/>
              <a:t>belirli</a:t>
            </a:r>
            <a:r>
              <a:rPr sz="2400" spc="440" dirty="0"/>
              <a:t>  </a:t>
            </a:r>
            <a:r>
              <a:rPr sz="2400" spc="-10" dirty="0"/>
              <a:t>işlevleri gerçekleştiren</a:t>
            </a:r>
            <a:r>
              <a:rPr sz="2400" dirty="0"/>
              <a:t> </a:t>
            </a:r>
            <a:r>
              <a:rPr sz="2400" spc="-10" dirty="0"/>
              <a:t>komutlar,</a:t>
            </a:r>
            <a:r>
              <a:rPr sz="2400" spc="-30" dirty="0"/>
              <a:t> </a:t>
            </a:r>
            <a:r>
              <a:rPr sz="2400" dirty="0"/>
              <a:t>veri</a:t>
            </a:r>
            <a:r>
              <a:rPr sz="2400" spc="-25" dirty="0"/>
              <a:t> </a:t>
            </a:r>
            <a:r>
              <a:rPr sz="2400" dirty="0"/>
              <a:t>yapıları</a:t>
            </a:r>
            <a:r>
              <a:rPr sz="2400" spc="10" dirty="0"/>
              <a:t> </a:t>
            </a:r>
            <a:r>
              <a:rPr sz="2400" dirty="0"/>
              <a:t>ve</a:t>
            </a:r>
            <a:r>
              <a:rPr sz="2400" spc="-35" dirty="0"/>
              <a:t> </a:t>
            </a:r>
            <a:r>
              <a:rPr sz="2400" dirty="0"/>
              <a:t>algoritmalar</a:t>
            </a:r>
            <a:r>
              <a:rPr sz="2400" spc="10" dirty="0"/>
              <a:t> </a:t>
            </a:r>
            <a:r>
              <a:rPr sz="2400" spc="-10" dirty="0"/>
              <a:t>bütünüdür.</a:t>
            </a:r>
            <a:endParaRPr sz="2400">
              <a:latin typeface="Arial"/>
              <a:cs typeface="Arial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/>
              <a:t>Bir</a:t>
            </a:r>
            <a:r>
              <a:rPr sz="2400" spc="254" dirty="0"/>
              <a:t>  </a:t>
            </a:r>
            <a:r>
              <a:rPr sz="2400" dirty="0"/>
              <a:t>cihazın</a:t>
            </a:r>
            <a:r>
              <a:rPr sz="2400" spc="254" dirty="0"/>
              <a:t>  </a:t>
            </a:r>
            <a:r>
              <a:rPr sz="2400" dirty="0"/>
              <a:t>belirli</a:t>
            </a:r>
            <a:r>
              <a:rPr sz="2400" spc="254" dirty="0"/>
              <a:t>  </a:t>
            </a:r>
            <a:r>
              <a:rPr sz="2400" dirty="0"/>
              <a:t>bir</a:t>
            </a:r>
            <a:r>
              <a:rPr sz="2400" spc="254" dirty="0"/>
              <a:t>  </a:t>
            </a:r>
            <a:r>
              <a:rPr sz="2400" dirty="0"/>
              <a:t>görevi</a:t>
            </a:r>
            <a:r>
              <a:rPr sz="2400" spc="260" dirty="0"/>
              <a:t>  </a:t>
            </a:r>
            <a:r>
              <a:rPr sz="2400" dirty="0"/>
              <a:t>yapabilmesi</a:t>
            </a:r>
            <a:r>
              <a:rPr sz="2400" spc="254" dirty="0"/>
              <a:t>  </a:t>
            </a:r>
            <a:r>
              <a:rPr sz="2400" dirty="0"/>
              <a:t>için</a:t>
            </a:r>
            <a:r>
              <a:rPr sz="2400" spc="250" dirty="0"/>
              <a:t>  </a:t>
            </a:r>
            <a:r>
              <a:rPr sz="2400" dirty="0"/>
              <a:t>ihtiyaç</a:t>
            </a:r>
            <a:r>
              <a:rPr sz="2400" spc="254" dirty="0"/>
              <a:t>  </a:t>
            </a:r>
            <a:r>
              <a:rPr sz="2400" spc="-10" dirty="0"/>
              <a:t>duyduğu </a:t>
            </a:r>
            <a:r>
              <a:rPr sz="2400" dirty="0"/>
              <a:t>talimatları</a:t>
            </a:r>
            <a:r>
              <a:rPr sz="2400" spc="114" dirty="0"/>
              <a:t> </a:t>
            </a:r>
            <a:r>
              <a:rPr sz="2400" dirty="0"/>
              <a:t>içeren</a:t>
            </a:r>
            <a:r>
              <a:rPr sz="2400" spc="120" dirty="0"/>
              <a:t> </a:t>
            </a:r>
            <a:r>
              <a:rPr sz="2400" dirty="0"/>
              <a:t>yazılım,</a:t>
            </a:r>
            <a:r>
              <a:rPr sz="2400" spc="135" dirty="0"/>
              <a:t> </a:t>
            </a:r>
            <a:r>
              <a:rPr sz="2400" dirty="0"/>
              <a:t>bilgisayarların</a:t>
            </a:r>
            <a:r>
              <a:rPr sz="2400" spc="130" dirty="0"/>
              <a:t> </a:t>
            </a:r>
            <a:r>
              <a:rPr sz="2400" dirty="0"/>
              <a:t>donanımını</a:t>
            </a:r>
            <a:r>
              <a:rPr sz="2400" spc="120" dirty="0"/>
              <a:t> </a:t>
            </a:r>
            <a:r>
              <a:rPr sz="2400" dirty="0"/>
              <a:t>yönetir</a:t>
            </a:r>
            <a:r>
              <a:rPr sz="2400" spc="125" dirty="0"/>
              <a:t> </a:t>
            </a:r>
            <a:r>
              <a:rPr sz="2400" dirty="0"/>
              <a:t>ve</a:t>
            </a:r>
            <a:r>
              <a:rPr sz="2400" spc="125" dirty="0"/>
              <a:t> </a:t>
            </a:r>
            <a:r>
              <a:rPr sz="2400" spc="-10" dirty="0"/>
              <a:t>belirli </a:t>
            </a:r>
            <a:r>
              <a:rPr sz="2400" dirty="0"/>
              <a:t>işlevlerin</a:t>
            </a:r>
            <a:r>
              <a:rPr sz="2400" spc="-75" dirty="0"/>
              <a:t> </a:t>
            </a:r>
            <a:r>
              <a:rPr sz="2400" spc="-10" dirty="0"/>
              <a:t>gerçekleştirilmesini</a:t>
            </a:r>
            <a:r>
              <a:rPr sz="2400" spc="-85" dirty="0"/>
              <a:t> </a:t>
            </a:r>
            <a:r>
              <a:rPr sz="2400" spc="-10" dirty="0"/>
              <a:t>sağlar.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4815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170" dirty="0"/>
              <a:t> </a:t>
            </a:r>
            <a:r>
              <a:rPr spc="-10" dirty="0"/>
              <a:t>Yazılımın</a:t>
            </a:r>
            <a:r>
              <a:rPr spc="-100" dirty="0"/>
              <a:t> </a:t>
            </a:r>
            <a:r>
              <a:rPr spc="-10" dirty="0"/>
              <a:t>Özellikleri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66287"/>
            <a:ext cx="9437370" cy="5113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İşlevsellik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4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4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görevleri</a:t>
            </a:r>
            <a:r>
              <a:rPr sz="24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</a:t>
            </a:r>
            <a:r>
              <a:rPr sz="24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getirme</a:t>
            </a:r>
            <a:r>
              <a:rPr sz="24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4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ihtiyaçlarını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karşılama</a:t>
            </a:r>
            <a:r>
              <a:rPr sz="2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yeteneği.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8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Kullanılabilirlik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dostu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arayüzler ve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kolay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öğrenilebilirlik.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64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408555" algn="l"/>
                <a:tab pos="3600450" algn="l"/>
                <a:tab pos="5011420" algn="l"/>
                <a:tab pos="5845175" algn="l"/>
                <a:tab pos="6765925" algn="l"/>
                <a:tab pos="7857490" algn="l"/>
                <a:tab pos="8456295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Performans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Verimli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tepki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süresi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endParaRPr sz="24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kullanımı.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Güvenlik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korunması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yetkisiz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erişimin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engellenmesi.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546985" algn="l"/>
                <a:tab pos="3582035" algn="l"/>
                <a:tab pos="5634990" algn="l"/>
                <a:tab pos="6230620" algn="l"/>
                <a:tab pos="7898130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Taşınabilirlik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platformlarda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cihazlarda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çalışabilme</a:t>
            </a:r>
            <a:endParaRPr sz="24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yeteneği.</a:t>
            </a:r>
            <a:endParaRPr sz="2400">
              <a:latin typeface="Microsoft Sans Serif"/>
              <a:cs typeface="Microsoft Sans Serif"/>
            </a:endParaRPr>
          </a:p>
          <a:p>
            <a:pPr marL="350520" marR="6350" indent="-338455">
              <a:lnSpc>
                <a:spcPct val="1201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3120390" algn="l"/>
                <a:tab pos="4653280" algn="l"/>
                <a:tab pos="6377305" algn="l"/>
                <a:tab pos="7336155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Ölçeklenebilirlik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Büyüyen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ihtiyaçlara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genişletilebilme kapasitesi.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1935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165" dirty="0"/>
              <a:t> </a:t>
            </a:r>
            <a:r>
              <a:rPr spc="-10" dirty="0"/>
              <a:t>Yazılım</a:t>
            </a:r>
            <a:r>
              <a:rPr spc="-100" dirty="0"/>
              <a:t> </a:t>
            </a:r>
            <a:r>
              <a:rPr dirty="0"/>
              <a:t>ile</a:t>
            </a:r>
            <a:r>
              <a:rPr spc="-95" dirty="0"/>
              <a:t> </a:t>
            </a:r>
            <a:r>
              <a:rPr dirty="0"/>
              <a:t>Donanım</a:t>
            </a:r>
            <a:r>
              <a:rPr spc="-100" dirty="0"/>
              <a:t> </a:t>
            </a:r>
            <a:r>
              <a:rPr spc="-10" dirty="0"/>
              <a:t>İlişkisi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66519" y="1579394"/>
            <a:ext cx="9662160" cy="3889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885" marR="5080" indent="-337820" algn="just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1155" algn="l"/>
              </a:tabLst>
            </a:pP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Yazılım,</a:t>
            </a:r>
            <a:r>
              <a:rPr sz="2800" b="1" spc="1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</a:t>
            </a:r>
            <a:r>
              <a:rPr sz="28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donanımını</a:t>
            </a:r>
            <a:r>
              <a:rPr sz="28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yönetmek</a:t>
            </a:r>
            <a:r>
              <a:rPr sz="28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8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işlevleri 	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</a:t>
            </a:r>
            <a:r>
              <a:rPr sz="2800" spc="5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getirmek</a:t>
            </a:r>
            <a:r>
              <a:rPr sz="2800" spc="5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amacıyla</a:t>
            </a:r>
            <a:r>
              <a:rPr sz="2800" spc="5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</a:t>
            </a:r>
            <a:r>
              <a:rPr sz="2800" spc="5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programlar</a:t>
            </a:r>
            <a:r>
              <a:rPr sz="2800" spc="5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spc="5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 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yapılarıdır.</a:t>
            </a:r>
            <a:endParaRPr sz="2800">
              <a:latin typeface="Microsoft Sans Serif"/>
              <a:cs typeface="Microsoft Sans Serif"/>
            </a:endParaRPr>
          </a:p>
          <a:p>
            <a:pPr marL="349885" marR="5080" indent="-337820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1155" algn="l"/>
              </a:tabLst>
            </a:pP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Donanım</a:t>
            </a:r>
            <a:r>
              <a:rPr sz="2800" b="1" spc="4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ise,</a:t>
            </a:r>
            <a:r>
              <a:rPr sz="28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8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çalışmasını</a:t>
            </a:r>
            <a:r>
              <a:rPr sz="28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sağlamak</a:t>
            </a:r>
            <a:r>
              <a:rPr sz="2800" spc="4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8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gerekli 	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fiziksel</a:t>
            </a:r>
            <a:r>
              <a:rPr sz="2800" spc="6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bileşenleri</a:t>
            </a:r>
            <a:r>
              <a:rPr sz="2800" spc="6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oluşturarak,</a:t>
            </a:r>
            <a:r>
              <a:rPr sz="2800" spc="6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800" spc="6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işlevselliğini 	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destekleyen</a:t>
            </a:r>
            <a:r>
              <a:rPr sz="2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altyapı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8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764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donanım,</a:t>
            </a:r>
            <a:r>
              <a:rPr sz="2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birbirini</a:t>
            </a:r>
            <a:r>
              <a:rPr sz="2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tamamlayan iki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unsurdur.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7078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170" dirty="0"/>
              <a:t> </a:t>
            </a:r>
            <a:r>
              <a:rPr spc="-10" dirty="0"/>
              <a:t>Yazılım</a:t>
            </a:r>
            <a:r>
              <a:rPr spc="-95" dirty="0"/>
              <a:t> </a:t>
            </a:r>
            <a:r>
              <a:rPr spc="-10" dirty="0"/>
              <a:t>Çeşitleri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08340"/>
            <a:ext cx="9587230" cy="2589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5"/>
              </a:spcBef>
            </a:pP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Sistem</a:t>
            </a:r>
            <a:r>
              <a:rPr sz="2800" b="1" spc="204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Yazılımları:</a:t>
            </a:r>
            <a:r>
              <a:rPr sz="2800" b="1" spc="215" dirty="0">
                <a:solidFill>
                  <a:srgbClr val="2C241F"/>
                </a:solidFill>
                <a:latin typeface="Arial"/>
                <a:cs typeface="Arial"/>
              </a:rPr>
              <a:t> 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</a:t>
            </a:r>
            <a:r>
              <a:rPr sz="28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donanımıyla</a:t>
            </a:r>
            <a:r>
              <a:rPr sz="28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doğrudan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iletişim</a:t>
            </a:r>
            <a:r>
              <a:rPr sz="28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kuran</a:t>
            </a:r>
            <a:r>
              <a:rPr sz="28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8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yazılımların</a:t>
            </a:r>
            <a:r>
              <a:rPr sz="28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çalışması</a:t>
            </a:r>
            <a:r>
              <a:rPr sz="28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8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gerekli</a:t>
            </a:r>
            <a:r>
              <a:rPr sz="28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temel</a:t>
            </a:r>
            <a:r>
              <a:rPr sz="28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yazılımlardır.</a:t>
            </a:r>
            <a:endParaRPr sz="2800">
              <a:latin typeface="Microsoft Sans Serif"/>
              <a:cs typeface="Microsoft Sans Serif"/>
            </a:endParaRPr>
          </a:p>
          <a:p>
            <a:pPr marL="354965" indent="-342265" algn="just">
              <a:lnSpc>
                <a:spcPct val="100000"/>
              </a:lnSpc>
              <a:spcBef>
                <a:spcPts val="174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İşletim</a:t>
            </a:r>
            <a:r>
              <a:rPr sz="2400" b="1" i="1" spc="30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Sistemi:</a:t>
            </a:r>
            <a:r>
              <a:rPr sz="2400" b="1" i="1" spc="30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Bilgisayarın</a:t>
            </a:r>
            <a:r>
              <a:rPr sz="24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temel</a:t>
            </a:r>
            <a:r>
              <a:rPr sz="24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işlevlerini</a:t>
            </a:r>
            <a:r>
              <a:rPr sz="2400" spc="3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4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yazılımların</a:t>
            </a:r>
            <a:endParaRPr sz="2400">
              <a:latin typeface="Microsoft Sans Serif"/>
              <a:cs typeface="Microsoft Sans Serif"/>
            </a:endParaRPr>
          </a:p>
          <a:p>
            <a:pPr marL="355600" algn="just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çalışmasını</a:t>
            </a:r>
            <a:r>
              <a:rPr sz="24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 Örneğin, Windows,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macOS,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Linux,</a:t>
            </a:r>
            <a:r>
              <a:rPr sz="2400" spc="-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Android.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4283709"/>
            <a:ext cx="9580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226945" algn="l"/>
                <a:tab pos="3816350" algn="l"/>
                <a:tab pos="5674360" algn="l"/>
                <a:tab pos="6892290" algn="l"/>
                <a:tab pos="8582660" algn="l"/>
              </a:tabLst>
            </a:pPr>
            <a:r>
              <a:rPr sz="2400" b="1" i="1" spc="-10" dirty="0">
                <a:solidFill>
                  <a:srgbClr val="F34D09"/>
                </a:solidFill>
                <a:latin typeface="Arial"/>
                <a:cs typeface="Arial"/>
              </a:rPr>
              <a:t>Sürücüler: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aygıtlarının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sistemiyle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uyumlu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4509668"/>
            <a:ext cx="9581515" cy="162306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78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çalışmasını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r>
              <a:rPr sz="24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4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yazıcı</a:t>
            </a:r>
            <a:r>
              <a:rPr sz="24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sürücüleri.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814195" algn="l"/>
                <a:tab pos="3732529" algn="l"/>
                <a:tab pos="4513580" algn="l"/>
                <a:tab pos="6192520" algn="l"/>
                <a:tab pos="7515859" algn="l"/>
                <a:tab pos="9093200" algn="l"/>
              </a:tabLst>
            </a:pPr>
            <a:r>
              <a:rPr sz="2400" b="1" i="1" spc="-10" dirty="0">
                <a:solidFill>
                  <a:srgbClr val="F34D09"/>
                </a:solidFill>
                <a:latin typeface="Arial"/>
                <a:cs typeface="Arial"/>
              </a:rPr>
              <a:t>Yardımcı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2400" b="1" i="1" spc="-10" dirty="0">
                <a:solidFill>
                  <a:srgbClr val="F34D09"/>
                </a:solidFill>
                <a:latin typeface="Arial"/>
                <a:cs typeface="Arial"/>
              </a:rPr>
              <a:t>Programlar: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Disk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birleştirme,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antivirüs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gibi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bakım</a:t>
            </a:r>
            <a:r>
              <a:rPr sz="24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amaçlı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7078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170" dirty="0"/>
              <a:t> </a:t>
            </a:r>
            <a:r>
              <a:rPr spc="-10" dirty="0"/>
              <a:t>Yazılım</a:t>
            </a:r>
            <a:r>
              <a:rPr spc="-95" dirty="0"/>
              <a:t> </a:t>
            </a:r>
            <a:r>
              <a:rPr spc="-10" dirty="0"/>
              <a:t>Çeşitleri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94561"/>
            <a:ext cx="9585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Uygulama</a:t>
            </a:r>
            <a:r>
              <a:rPr sz="2800" b="1" spc="1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Yazılımları:</a:t>
            </a:r>
            <a:r>
              <a:rPr sz="2800" b="1" spc="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8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görevi</a:t>
            </a:r>
            <a:r>
              <a:rPr sz="28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</a:t>
            </a:r>
            <a:r>
              <a:rPr sz="28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getirmek</a:t>
            </a:r>
            <a:r>
              <a:rPr sz="28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73969" y="2107183"/>
            <a:ext cx="856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sıkça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2085" y="2021230"/>
            <a:ext cx="8303895" cy="3950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2305050" algn="l"/>
                <a:tab pos="4775200" algn="l"/>
                <a:tab pos="6354445" algn="l"/>
              </a:tabLst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yazılımlardır.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Günlük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hayatımızda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kullandığımız</a:t>
            </a:r>
            <a:r>
              <a:rPr sz="28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programlar</a:t>
            </a:r>
            <a:r>
              <a:rPr sz="28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8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kategoriye</a:t>
            </a:r>
            <a:r>
              <a:rPr sz="2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girer:</a:t>
            </a:r>
            <a:endParaRPr sz="28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74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Ofis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Yazılımları</a:t>
            </a:r>
            <a:endParaRPr sz="2400">
              <a:latin typeface="Microsoft Sans Serif"/>
              <a:cs typeface="Microsoft Sans Serif"/>
            </a:endParaRPr>
          </a:p>
          <a:p>
            <a:pPr marL="356870" indent="-338455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Eğlence</a:t>
            </a:r>
            <a:r>
              <a:rPr sz="2400" spc="-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Yazılımları</a:t>
            </a:r>
            <a:endParaRPr sz="2400">
              <a:latin typeface="Microsoft Sans Serif"/>
              <a:cs typeface="Microsoft Sans Serif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Grafik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Tasarım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Yazılımları</a:t>
            </a:r>
            <a:endParaRPr sz="2400">
              <a:latin typeface="Microsoft Sans Serif"/>
              <a:cs typeface="Microsoft Sans Serif"/>
            </a:endParaRPr>
          </a:p>
          <a:p>
            <a:pPr marL="356870" indent="-338455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Eğlence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Oyun</a:t>
            </a:r>
            <a:r>
              <a:rPr sz="2400" spc="-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Yazılımları</a:t>
            </a:r>
            <a:endParaRPr sz="2400">
              <a:latin typeface="Microsoft Sans Serif"/>
              <a:cs typeface="Microsoft Sans Serif"/>
            </a:endParaRPr>
          </a:p>
          <a:p>
            <a:pPr marL="356870" indent="-338455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Ortamları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93233" y="3080080"/>
            <a:ext cx="56286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İŞLETİM</a:t>
            </a:r>
            <a:r>
              <a:rPr sz="54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SİSTEMİ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8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10015855" cy="3947160"/>
            <a:chOff x="1338072" y="1411224"/>
            <a:chExt cx="10015855" cy="394716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3188" y="1690116"/>
              <a:ext cx="2610611" cy="366826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0106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90" dirty="0"/>
              <a:t> </a:t>
            </a:r>
            <a:r>
              <a:rPr dirty="0"/>
              <a:t>İşletim</a:t>
            </a:r>
            <a:r>
              <a:rPr spc="-70" dirty="0"/>
              <a:t> </a:t>
            </a:r>
            <a:r>
              <a:rPr dirty="0"/>
              <a:t>Sistemi</a:t>
            </a:r>
            <a:r>
              <a:rPr spc="-80" dirty="0"/>
              <a:t> </a:t>
            </a:r>
            <a:r>
              <a:rPr spc="-10" dirty="0"/>
              <a:t>Kavramı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6227" y="1569300"/>
            <a:ext cx="7347584" cy="1562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İşletim</a:t>
            </a:r>
            <a:r>
              <a:rPr sz="28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sistemi,</a:t>
            </a:r>
            <a:r>
              <a:rPr sz="28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8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bilgisayarın</a:t>
            </a:r>
            <a:r>
              <a:rPr sz="28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donanımı</a:t>
            </a:r>
            <a:r>
              <a:rPr sz="2800" spc="3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ile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8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arasındaki</a:t>
            </a:r>
            <a:r>
              <a:rPr sz="28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iletişimi</a:t>
            </a:r>
            <a:r>
              <a:rPr sz="28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sağlayan,</a:t>
            </a:r>
            <a:r>
              <a:rPr sz="28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temel yazılımdır.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4555" y="3844797"/>
            <a:ext cx="47332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15135" algn="l"/>
                <a:tab pos="2722245" algn="l"/>
              </a:tabLst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yönetir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kullanıcıların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6227" y="3246780"/>
            <a:ext cx="734885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37820" marR="6350" indent="-337820" algn="r">
              <a:lnSpc>
                <a:spcPct val="100000"/>
              </a:lnSpc>
              <a:spcBef>
                <a:spcPts val="77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37820" algn="l"/>
                <a:tab pos="2831465" algn="l"/>
                <a:tab pos="3720465" algn="l"/>
                <a:tab pos="5401310" algn="l"/>
              </a:tabLst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Bilgisayardaki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tüm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kaynaklarını</a:t>
            </a:r>
            <a:endParaRPr sz="280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çalıştırdığı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6227" y="4270209"/>
            <a:ext cx="7347584" cy="2214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715">
              <a:lnSpc>
                <a:spcPct val="120100"/>
              </a:lnSpc>
              <a:spcBef>
                <a:spcPts val="100"/>
              </a:spcBef>
              <a:tabLst>
                <a:tab pos="2355215" algn="l"/>
                <a:tab pos="4202430" algn="l"/>
                <a:tab pos="5532755" algn="l"/>
              </a:tabLst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yazılımların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donanımla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uyumlu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çalışmasını sağlar.</a:t>
            </a:r>
            <a:endParaRPr sz="28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100"/>
              </a:lnSpc>
              <a:spcBef>
                <a:spcPts val="109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  <a:tab pos="2863850" algn="l"/>
                <a:tab pos="4904740" algn="l"/>
                <a:tab pos="6228080" algn="l"/>
              </a:tabLst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Bilgisayardaki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programlar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sayesinde</a:t>
            </a:r>
            <a:r>
              <a:rPr sz="28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</a:t>
            </a:r>
            <a:r>
              <a:rPr sz="28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birimlerini</a:t>
            </a:r>
            <a:r>
              <a:rPr sz="28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kullanırlar.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9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95" dirty="0"/>
              <a:t> </a:t>
            </a:r>
            <a:r>
              <a:rPr dirty="0"/>
              <a:t>İşletim</a:t>
            </a:r>
            <a:r>
              <a:rPr spc="-85" dirty="0"/>
              <a:t> </a:t>
            </a:r>
            <a:r>
              <a:rPr dirty="0"/>
              <a:t>Sisteminin</a:t>
            </a:r>
            <a:r>
              <a:rPr spc="-85" dirty="0"/>
              <a:t> </a:t>
            </a:r>
            <a:r>
              <a:rPr spc="-10" dirty="0"/>
              <a:t>Görevleri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35162"/>
            <a:ext cx="9589770" cy="500570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325"/>
              </a:spcBef>
              <a:buClr>
                <a:srgbClr val="F88556"/>
              </a:buClr>
              <a:buSzPct val="89473"/>
              <a:buAutoNum type="arabicPeriod"/>
              <a:tabLst>
                <a:tab pos="527685" algn="l"/>
                <a:tab pos="1690370" algn="l"/>
                <a:tab pos="2922270" algn="l"/>
                <a:tab pos="4302760" algn="l"/>
                <a:tab pos="5241925" algn="l"/>
                <a:tab pos="6003925" algn="l"/>
                <a:tab pos="6389370" algn="l"/>
                <a:tab pos="7584440" algn="l"/>
                <a:tab pos="8094980" algn="l"/>
              </a:tabLst>
            </a:pPr>
            <a:r>
              <a:rPr sz="1900" b="1" i="1" spc="-10" dirty="0">
                <a:solidFill>
                  <a:srgbClr val="F34D09"/>
                </a:solidFill>
                <a:latin typeface="Arial"/>
                <a:cs typeface="Arial"/>
              </a:rPr>
              <a:t>Donanım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1900" b="1" i="1" spc="-10" dirty="0">
                <a:solidFill>
                  <a:srgbClr val="F34D09"/>
                </a:solidFill>
                <a:latin typeface="Arial"/>
                <a:cs typeface="Arial"/>
              </a:rPr>
              <a:t>Yönetimi: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Bilgisayarın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işlemci,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bellek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depolama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donanımlarını</a:t>
            </a:r>
            <a:endParaRPr sz="1900">
              <a:latin typeface="Microsoft Sans Serif"/>
              <a:cs typeface="Microsoft Sans Serif"/>
            </a:endParaRPr>
          </a:p>
          <a:p>
            <a:pPr marL="527685">
              <a:lnSpc>
                <a:spcPct val="100000"/>
              </a:lnSpc>
              <a:spcBef>
                <a:spcPts val="229"/>
              </a:spcBef>
            </a:pP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yönetir.</a:t>
            </a:r>
            <a:endParaRPr sz="1900">
              <a:latin typeface="Microsoft Sans Serif"/>
              <a:cs typeface="Microsoft Sans Serif"/>
            </a:endParaRPr>
          </a:p>
          <a:p>
            <a:pPr marL="527685" marR="7620" indent="-515620">
              <a:lnSpc>
                <a:spcPct val="110000"/>
              </a:lnSpc>
              <a:spcBef>
                <a:spcPts val="1090"/>
              </a:spcBef>
              <a:buClr>
                <a:srgbClr val="F88556"/>
              </a:buClr>
              <a:buSzPct val="89473"/>
              <a:buAutoNum type="arabicPeriod" startAt="2"/>
              <a:tabLst>
                <a:tab pos="527685" algn="l"/>
                <a:tab pos="1516380" algn="l"/>
                <a:tab pos="2640330" algn="l"/>
                <a:tab pos="4004310" algn="l"/>
                <a:tab pos="5144135" algn="l"/>
                <a:tab pos="6323965" algn="l"/>
                <a:tab pos="7369809" algn="l"/>
                <a:tab pos="9319260" algn="l"/>
              </a:tabLst>
            </a:pPr>
            <a:r>
              <a:rPr sz="1900" b="1" i="1" spc="-10" dirty="0">
                <a:solidFill>
                  <a:srgbClr val="F34D09"/>
                </a:solidFill>
                <a:latin typeface="Arial"/>
                <a:cs typeface="Arial"/>
              </a:rPr>
              <a:t>Dosya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1900" b="1" i="1" spc="-10" dirty="0">
                <a:solidFill>
                  <a:srgbClr val="F34D09"/>
                </a:solidFill>
                <a:latin typeface="Arial"/>
                <a:cs typeface="Arial"/>
              </a:rPr>
              <a:t>Sistemi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1900" b="1" i="1" spc="-10" dirty="0">
                <a:solidFill>
                  <a:srgbClr val="F34D09"/>
                </a:solidFill>
                <a:latin typeface="Arial"/>
                <a:cs typeface="Arial"/>
              </a:rPr>
              <a:t>Yönetimi: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Verilerin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halinde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düzenlenmesini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saklanmasını</a:t>
            </a:r>
            <a:r>
              <a:rPr sz="19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190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335"/>
              </a:spcBef>
              <a:buClr>
                <a:srgbClr val="F88556"/>
              </a:buClr>
              <a:buSzPct val="89473"/>
              <a:buAutoNum type="arabicPeriod" startAt="2"/>
              <a:tabLst>
                <a:tab pos="527685" algn="l"/>
              </a:tabLst>
            </a:pP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Kullanıcı</a:t>
            </a:r>
            <a:r>
              <a:rPr sz="1900" b="1" i="1" spc="35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Arayüzü</a:t>
            </a:r>
            <a:r>
              <a:rPr sz="1900" b="1" i="1" spc="35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Sağlama:</a:t>
            </a:r>
            <a:r>
              <a:rPr sz="1900" b="1" i="1" spc="35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Kullanıcının</a:t>
            </a:r>
            <a:r>
              <a:rPr sz="19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bilgisayarla</a:t>
            </a:r>
            <a:r>
              <a:rPr sz="19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etkileşime</a:t>
            </a:r>
            <a:r>
              <a:rPr sz="19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geçebileceği</a:t>
            </a:r>
            <a:r>
              <a:rPr sz="19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endParaRPr sz="1900">
              <a:latin typeface="Microsoft Sans Serif"/>
              <a:cs typeface="Microsoft Sans Serif"/>
            </a:endParaRPr>
          </a:p>
          <a:p>
            <a:pPr marL="527685">
              <a:lnSpc>
                <a:spcPct val="100000"/>
              </a:lnSpc>
              <a:spcBef>
                <a:spcPts val="229"/>
              </a:spcBef>
            </a:pP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sunar.</a:t>
            </a:r>
            <a:endParaRPr sz="1900">
              <a:latin typeface="Microsoft Sans Serif"/>
              <a:cs typeface="Microsoft Sans Serif"/>
            </a:endParaRPr>
          </a:p>
          <a:p>
            <a:pPr marL="527685" marR="7620" indent="-515620">
              <a:lnSpc>
                <a:spcPct val="110000"/>
              </a:lnSpc>
              <a:spcBef>
                <a:spcPts val="1105"/>
              </a:spcBef>
              <a:buClr>
                <a:srgbClr val="F88556"/>
              </a:buClr>
              <a:buSzPct val="89473"/>
              <a:buAutoNum type="arabicPeriod" startAt="4"/>
              <a:tabLst>
                <a:tab pos="527685" algn="l"/>
                <a:tab pos="1760855" algn="l"/>
                <a:tab pos="2983230" algn="l"/>
                <a:tab pos="3496310" algn="l"/>
                <a:tab pos="4839335" algn="l"/>
                <a:tab pos="6644005" algn="l"/>
                <a:tab pos="8444230" algn="l"/>
                <a:tab pos="8940800" algn="l"/>
              </a:tabLst>
            </a:pPr>
            <a:r>
              <a:rPr sz="1900" b="1" i="1" spc="-10" dirty="0">
                <a:solidFill>
                  <a:srgbClr val="F34D09"/>
                </a:solidFill>
                <a:latin typeface="Arial"/>
                <a:cs typeface="Arial"/>
              </a:rPr>
              <a:t>Program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1900" b="1" i="1" spc="-10" dirty="0">
                <a:solidFill>
                  <a:srgbClr val="F34D09"/>
                </a:solidFill>
                <a:latin typeface="Arial"/>
                <a:cs typeface="Arial"/>
              </a:rPr>
              <a:t>Yürütme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1900" b="1" i="1" spc="-25" dirty="0">
                <a:solidFill>
                  <a:srgbClr val="F34D09"/>
                </a:solidFill>
                <a:latin typeface="Arial"/>
                <a:cs typeface="Arial"/>
              </a:rPr>
              <a:t>ve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1900" b="1" i="1" spc="-10" dirty="0">
                <a:solidFill>
                  <a:srgbClr val="F34D09"/>
                </a:solidFill>
                <a:latin typeface="Arial"/>
                <a:cs typeface="Arial"/>
              </a:rPr>
              <a:t>Yönetme: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Uygulamaların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çalıştırılmasını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bellek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kullanımlarını</a:t>
            </a:r>
            <a:r>
              <a:rPr sz="19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yönetir.</a:t>
            </a:r>
            <a:endParaRPr sz="190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320"/>
              </a:spcBef>
              <a:buClr>
                <a:srgbClr val="F88556"/>
              </a:buClr>
              <a:buSzPct val="89473"/>
              <a:buAutoNum type="arabicPeriod" startAt="4"/>
              <a:tabLst>
                <a:tab pos="527685" algn="l"/>
              </a:tabLst>
            </a:pP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Güvenlik</a:t>
            </a:r>
            <a:r>
              <a:rPr sz="1900" b="1" i="1" spc="37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ve</a:t>
            </a:r>
            <a:r>
              <a:rPr sz="1900" b="1" i="1" spc="38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Erişim</a:t>
            </a:r>
            <a:r>
              <a:rPr sz="1900" b="1" i="1" spc="37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Kontrolü:</a:t>
            </a:r>
            <a:r>
              <a:rPr sz="1900" b="1" i="1" spc="38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19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hesapları</a:t>
            </a:r>
            <a:r>
              <a:rPr sz="19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9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izinlerle</a:t>
            </a:r>
            <a:r>
              <a:rPr sz="1900" spc="3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19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güvenliğini</a:t>
            </a:r>
            <a:endParaRPr sz="1900">
              <a:latin typeface="Microsoft Sans Serif"/>
              <a:cs typeface="Microsoft Sans Serif"/>
            </a:endParaRPr>
          </a:p>
          <a:p>
            <a:pPr marL="527685">
              <a:lnSpc>
                <a:spcPct val="100000"/>
              </a:lnSpc>
              <a:spcBef>
                <a:spcPts val="229"/>
              </a:spcBef>
            </a:pP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190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330"/>
              </a:spcBef>
              <a:buClr>
                <a:srgbClr val="F88556"/>
              </a:buClr>
              <a:buSzPct val="89473"/>
              <a:buAutoNum type="arabicPeriod" startAt="6"/>
              <a:tabLst>
                <a:tab pos="527685" algn="l"/>
              </a:tabLst>
            </a:pP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Hata</a:t>
            </a:r>
            <a:r>
              <a:rPr sz="1900" b="1" i="1" spc="-5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Yönetimi:</a:t>
            </a:r>
            <a:r>
              <a:rPr sz="1900" b="1" i="1" spc="-4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19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hatalarını</a:t>
            </a:r>
            <a:r>
              <a:rPr sz="19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algılar</a:t>
            </a:r>
            <a:r>
              <a:rPr sz="19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9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gerekli</a:t>
            </a:r>
            <a:r>
              <a:rPr sz="19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önlemleri</a:t>
            </a:r>
            <a:r>
              <a:rPr sz="19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alır.</a:t>
            </a:r>
            <a:endParaRPr sz="1900">
              <a:latin typeface="Microsoft Sans Serif"/>
              <a:cs typeface="Microsoft Sans Serif"/>
            </a:endParaRPr>
          </a:p>
          <a:p>
            <a:pPr marL="527685" indent="-514984">
              <a:lnSpc>
                <a:spcPct val="100000"/>
              </a:lnSpc>
              <a:spcBef>
                <a:spcPts val="1330"/>
              </a:spcBef>
              <a:buClr>
                <a:srgbClr val="F88556"/>
              </a:buClr>
              <a:buSzPct val="89473"/>
              <a:buAutoNum type="arabicPeriod" startAt="6"/>
              <a:tabLst>
                <a:tab pos="527685" algn="l"/>
              </a:tabLst>
            </a:pP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Kaynak</a:t>
            </a:r>
            <a:r>
              <a:rPr sz="1900" b="1" i="1" spc="19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Paylaşımı</a:t>
            </a:r>
            <a:r>
              <a:rPr sz="1900" b="1" i="1" spc="21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ve</a:t>
            </a:r>
            <a:r>
              <a:rPr sz="1900" b="1" i="1" spc="21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Çoklu</a:t>
            </a:r>
            <a:r>
              <a:rPr sz="1900" b="1" i="1" spc="20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Görev</a:t>
            </a:r>
            <a:r>
              <a:rPr sz="1900" b="1" i="1" spc="20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F34D09"/>
                </a:solidFill>
                <a:latin typeface="Arial"/>
                <a:cs typeface="Arial"/>
              </a:rPr>
              <a:t>Yönetimi:</a:t>
            </a:r>
            <a:r>
              <a:rPr sz="1900" b="1" i="1" spc="19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Aynı</a:t>
            </a:r>
            <a:r>
              <a:rPr sz="19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anda</a:t>
            </a:r>
            <a:r>
              <a:rPr sz="19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birden</a:t>
            </a:r>
            <a:r>
              <a:rPr sz="19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fazla</a:t>
            </a:r>
            <a:r>
              <a:rPr sz="19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görevin</a:t>
            </a:r>
            <a:r>
              <a:rPr sz="19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endParaRPr sz="1900">
              <a:latin typeface="Microsoft Sans Serif"/>
              <a:cs typeface="Microsoft Sans Serif"/>
            </a:endParaRPr>
          </a:p>
          <a:p>
            <a:pPr marL="527685">
              <a:lnSpc>
                <a:spcPct val="100000"/>
              </a:lnSpc>
              <a:spcBef>
                <a:spcPts val="234"/>
              </a:spcBef>
            </a:pP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kaynağın</a:t>
            </a:r>
            <a:r>
              <a:rPr sz="19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verimli</a:t>
            </a:r>
            <a:r>
              <a:rPr sz="19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kullanılmasını</a:t>
            </a:r>
            <a:r>
              <a:rPr sz="19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10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94121" y="2918075"/>
            <a:ext cx="5628640" cy="200025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İŞLETİM</a:t>
            </a:r>
            <a:r>
              <a:rPr sz="540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SİSTEMİ</a:t>
            </a:r>
            <a:endParaRPr sz="5400">
              <a:latin typeface="Microsoft Sans Serif"/>
              <a:cs typeface="Microsoft Sans Serif"/>
            </a:endParaRPr>
          </a:p>
          <a:p>
            <a:pPr marL="2451100">
              <a:lnSpc>
                <a:spcPct val="100000"/>
              </a:lnSpc>
              <a:spcBef>
                <a:spcPts val="1300"/>
              </a:spcBef>
            </a:pP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Bileşenleri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363" y="170179"/>
            <a:ext cx="249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11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8045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70" dirty="0"/>
              <a:t> </a:t>
            </a:r>
            <a:r>
              <a:rPr dirty="0"/>
              <a:t>Çekirdek</a:t>
            </a:r>
            <a:r>
              <a:rPr spc="-60" dirty="0"/>
              <a:t> </a:t>
            </a:r>
            <a:r>
              <a:rPr spc="-10" dirty="0"/>
              <a:t>(Kernel)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2085" y="1520850"/>
            <a:ext cx="9587230" cy="505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100"/>
              </a:lnSpc>
              <a:spcBef>
                <a:spcPts val="100"/>
              </a:spcBef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İşletim</a:t>
            </a:r>
            <a:r>
              <a:rPr sz="2200" spc="5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sisteminin</a:t>
            </a:r>
            <a:r>
              <a:rPr sz="22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200" spc="4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temel</a:t>
            </a:r>
            <a:r>
              <a:rPr sz="22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merkezi</a:t>
            </a:r>
            <a:r>
              <a:rPr sz="2200" spc="4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parçasıdır.</a:t>
            </a:r>
            <a:r>
              <a:rPr sz="22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İşletim</a:t>
            </a:r>
            <a:r>
              <a:rPr sz="2200" spc="5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sisteminin</a:t>
            </a:r>
            <a:r>
              <a:rPr sz="2200" spc="5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kalbi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 da bilinir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</a:t>
            </a:r>
            <a:r>
              <a:rPr sz="22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</a:t>
            </a:r>
            <a:r>
              <a:rPr sz="22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arasında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doğrudan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iletişimi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sağlar.</a:t>
            </a:r>
            <a:endParaRPr sz="2200">
              <a:latin typeface="Microsoft Sans Serif"/>
              <a:cs typeface="Microsoft Sans Serif"/>
            </a:endParaRPr>
          </a:p>
          <a:p>
            <a:pPr marL="355600" marR="5080" indent="-342900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560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Bellek</a:t>
            </a:r>
            <a:r>
              <a:rPr sz="2200" b="1" i="1" spc="12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Yönetimi:</a:t>
            </a:r>
            <a:r>
              <a:rPr sz="2200" b="1" i="1" spc="114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Belleğin</a:t>
            </a:r>
            <a:r>
              <a:rPr sz="22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etkin</a:t>
            </a:r>
            <a:r>
              <a:rPr sz="22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kullanımı,</a:t>
            </a:r>
            <a:r>
              <a:rPr sz="22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belleğin</a:t>
            </a:r>
            <a:r>
              <a:rPr sz="22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bölümlenmesi</a:t>
            </a:r>
            <a:r>
              <a:rPr sz="22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süreçlerin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ihtiyaç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duyduğu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bellek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alanlarının tahsis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edilmesi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alır.</a:t>
            </a:r>
            <a:endParaRPr sz="2200">
              <a:latin typeface="Microsoft Sans Serif"/>
              <a:cs typeface="Microsoft Sans Serif"/>
            </a:endParaRPr>
          </a:p>
          <a:p>
            <a:pPr marL="356870" marR="6985" indent="-338455" algn="just">
              <a:lnSpc>
                <a:spcPct val="120000"/>
              </a:lnSpc>
              <a:spcBef>
                <a:spcPts val="120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687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Süreç</a:t>
            </a:r>
            <a:r>
              <a:rPr sz="2200" b="1" i="1" spc="-1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(Process)</a:t>
            </a:r>
            <a:r>
              <a:rPr sz="2200" b="1" i="1" spc="-1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Yönetimi:</a:t>
            </a:r>
            <a:r>
              <a:rPr sz="2200" b="1" i="1" spc="-1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Bilgisayarda</a:t>
            </a:r>
            <a:r>
              <a:rPr sz="22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aynı</a:t>
            </a:r>
            <a:r>
              <a:rPr sz="22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anda</a:t>
            </a:r>
            <a:r>
              <a:rPr sz="22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çalışan</a:t>
            </a:r>
            <a:r>
              <a:rPr sz="22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uygulamaların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verimli</a:t>
            </a:r>
            <a:r>
              <a:rPr sz="2200" spc="3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3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200" spc="3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yönetilmesi</a:t>
            </a:r>
            <a:r>
              <a:rPr sz="22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2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süreçlerin</a:t>
            </a:r>
            <a:r>
              <a:rPr sz="22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başlatılması,</a:t>
            </a:r>
            <a:r>
              <a:rPr sz="22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durdurulması,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sıraya</a:t>
            </a:r>
            <a:r>
              <a:rPr sz="22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konulması</a:t>
            </a:r>
            <a:r>
              <a:rPr sz="22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kontrol</a:t>
            </a:r>
            <a:r>
              <a:rPr sz="22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edilmesi.</a:t>
            </a:r>
            <a:endParaRPr sz="2200">
              <a:latin typeface="Microsoft Sans Serif"/>
              <a:cs typeface="Microsoft Sans Serif"/>
            </a:endParaRPr>
          </a:p>
          <a:p>
            <a:pPr marL="356870" marR="5080" indent="-338455" algn="just">
              <a:lnSpc>
                <a:spcPct val="120000"/>
              </a:lnSpc>
              <a:spcBef>
                <a:spcPts val="12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687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Cihaz</a:t>
            </a:r>
            <a:r>
              <a:rPr sz="2200" b="1" i="1" spc="-1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Yönetimi:</a:t>
            </a:r>
            <a:r>
              <a:rPr sz="2200" b="1" i="1" spc="-2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bileşenlerine</a:t>
            </a:r>
            <a:r>
              <a:rPr sz="22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erişim</a:t>
            </a:r>
            <a:r>
              <a:rPr sz="22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sağlama,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aygıt</a:t>
            </a:r>
            <a:r>
              <a:rPr sz="22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sürücülerini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yönetme</a:t>
            </a:r>
            <a:r>
              <a:rPr sz="22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</a:t>
            </a:r>
            <a:r>
              <a:rPr sz="22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kaynaklarını</a:t>
            </a:r>
            <a:r>
              <a:rPr sz="22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yazılımlara</a:t>
            </a:r>
            <a:r>
              <a:rPr sz="22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tahsis etme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işlemlerini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içerir.</a:t>
            </a:r>
            <a:endParaRPr sz="2200">
              <a:latin typeface="Microsoft Sans Serif"/>
              <a:cs typeface="Microsoft Sans Serif"/>
            </a:endParaRPr>
          </a:p>
          <a:p>
            <a:pPr marL="356870" indent="-338455">
              <a:lnSpc>
                <a:spcPct val="100000"/>
              </a:lnSpc>
              <a:spcBef>
                <a:spcPts val="172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687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Güvenlik</a:t>
            </a:r>
            <a:r>
              <a:rPr sz="2200" b="1" i="1" spc="254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ve</a:t>
            </a:r>
            <a:r>
              <a:rPr sz="2200" b="1" i="1" spc="25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Erişim</a:t>
            </a:r>
            <a:r>
              <a:rPr sz="2200" b="1" i="1" spc="24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Kontrolü:</a:t>
            </a:r>
            <a:r>
              <a:rPr sz="2200" b="1" i="1" spc="24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Çekirdek,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22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güvenliği</a:t>
            </a:r>
            <a:r>
              <a:rPr sz="22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2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ilgilenir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endParaRPr sz="2200">
              <a:latin typeface="Microsoft Sans Serif"/>
              <a:cs typeface="Microsoft Sans Serif"/>
            </a:endParaRPr>
          </a:p>
          <a:p>
            <a:pPr marL="35687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yetkisiz</a:t>
            </a:r>
            <a:r>
              <a:rPr sz="22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erişimleri</a:t>
            </a:r>
            <a:r>
              <a:rPr sz="22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engeller.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936490"/>
            <a:chOff x="1338072" y="1411224"/>
            <a:chExt cx="9813290" cy="493649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752" y="2555748"/>
              <a:ext cx="2959607" cy="16657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1752" y="4547616"/>
              <a:ext cx="2959607" cy="179984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0414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40" dirty="0"/>
              <a:t> </a:t>
            </a:r>
            <a:r>
              <a:rPr spc="-10" dirty="0"/>
              <a:t>Kullanıcı</a:t>
            </a:r>
            <a:r>
              <a:rPr spc="-145" dirty="0"/>
              <a:t> </a:t>
            </a:r>
            <a:r>
              <a:rPr dirty="0"/>
              <a:t>Arayüzü</a:t>
            </a:r>
            <a:r>
              <a:rPr spc="-40" dirty="0"/>
              <a:t> </a:t>
            </a:r>
            <a:r>
              <a:rPr dirty="0"/>
              <a:t>(GUI</a:t>
            </a:r>
            <a:r>
              <a:rPr spc="-20" dirty="0"/>
              <a:t> </a:t>
            </a:r>
            <a:r>
              <a:rPr dirty="0"/>
              <a:t>ve</a:t>
            </a:r>
            <a:r>
              <a:rPr spc="-55" dirty="0"/>
              <a:t> </a:t>
            </a:r>
            <a:r>
              <a:rPr spc="-20" dirty="0"/>
              <a:t>CLI)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67861" y="1784426"/>
            <a:ext cx="42487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9370" algn="l"/>
                <a:tab pos="292798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kullandığı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2085" y="1711007"/>
            <a:ext cx="1617980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Kullanıcının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arabirimdir.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8180" y="2730242"/>
            <a:ext cx="6266815" cy="1342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 algn="just">
              <a:lnSpc>
                <a:spcPct val="120100"/>
              </a:lnSpc>
              <a:spcBef>
                <a:spcPts val="95"/>
              </a:spcBef>
              <a:buSzPct val="89583"/>
              <a:buFont typeface="Wingdings"/>
              <a:buChar char=""/>
              <a:tabLst>
                <a:tab pos="350520" algn="l"/>
                <a:tab pos="433705" algn="l"/>
              </a:tabLst>
            </a:pPr>
            <a:r>
              <a:rPr sz="2400" dirty="0">
                <a:solidFill>
                  <a:srgbClr val="F88556"/>
                </a:solidFill>
                <a:latin typeface="Microsoft Sans Serif"/>
                <a:cs typeface="Microsoft Sans Serif"/>
              </a:rPr>
              <a:t>	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GUI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(Graphical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User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Interface):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Kullanıcıya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simgeler,</a:t>
            </a:r>
            <a:r>
              <a:rPr sz="24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pencereler,</a:t>
            </a:r>
            <a:r>
              <a:rPr sz="24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menüler</a:t>
            </a:r>
            <a:r>
              <a:rPr sz="24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görsel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bileşenlerle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etkileşim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imkanı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8180" y="4503610"/>
            <a:ext cx="3604260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482725" algn="l"/>
              </a:tabLst>
            </a:pP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CLI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(Command</a:t>
            </a:r>
            <a:endParaRPr sz="24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75"/>
              </a:spcBef>
              <a:tabLst>
                <a:tab pos="233680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Kullanıcıların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komutları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6350" y="4503610"/>
            <a:ext cx="2630170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245235" algn="l"/>
              </a:tabLst>
            </a:pP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Line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Interface):</a:t>
            </a:r>
            <a:endParaRPr sz="2400">
              <a:latin typeface="Microsoft Sans Serif"/>
              <a:cs typeface="Microsoft Sans Serif"/>
            </a:endParaRPr>
          </a:p>
          <a:p>
            <a:pPr marL="173990">
              <a:lnSpc>
                <a:spcPct val="100000"/>
              </a:lnSpc>
              <a:spcBef>
                <a:spcPts val="575"/>
              </a:spcBef>
              <a:tabLst>
                <a:tab pos="1141730" algn="l"/>
                <a:tab pos="227901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metin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tabanlı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86508" y="5455411"/>
            <a:ext cx="3739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arayüzden</a:t>
            </a:r>
            <a:r>
              <a:rPr sz="2400" spc="-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girmesini</a:t>
            </a:r>
            <a:r>
              <a:rPr sz="2400" spc="-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6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9971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15" dirty="0"/>
              <a:t> </a:t>
            </a:r>
            <a:r>
              <a:rPr dirty="0"/>
              <a:t>Dosya</a:t>
            </a:r>
            <a:r>
              <a:rPr spc="-15" dirty="0"/>
              <a:t> </a:t>
            </a:r>
            <a:r>
              <a:rPr spc="-10" dirty="0"/>
              <a:t>Sistemi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1515" cy="503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715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408430" algn="l"/>
                <a:tab pos="2635250" algn="l"/>
                <a:tab pos="3318510" algn="l"/>
                <a:tab pos="3833495" algn="l"/>
                <a:tab pos="5433695" algn="l"/>
                <a:tab pos="6270625" algn="l"/>
                <a:tab pos="839851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nasıl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depolandığını,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organize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edildiğini</a:t>
            </a:r>
            <a:r>
              <a:rPr sz="2400" spc="-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erişildiğini</a:t>
            </a:r>
            <a:r>
              <a:rPr sz="24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tanımlar.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412875" algn="l"/>
                <a:tab pos="2626360" algn="l"/>
                <a:tab pos="3620135" algn="l"/>
                <a:tab pos="5089525" algn="l"/>
                <a:tab pos="6743065" algn="l"/>
                <a:tab pos="8160384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İşletim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aracılığıyla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kategorize eder,</a:t>
            </a:r>
            <a:r>
              <a:rPr sz="24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isimlendirir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düzen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içinde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saklar.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kullanabilir:</a:t>
            </a:r>
            <a:endParaRPr sz="24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65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80200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NTFS</a:t>
            </a:r>
            <a:r>
              <a:rPr sz="2000" b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(Windows)</a:t>
            </a:r>
            <a:endParaRPr sz="20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80200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HFS+</a:t>
            </a:r>
            <a:r>
              <a:rPr sz="2000" b="1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APFS</a:t>
            </a:r>
            <a:r>
              <a:rPr sz="2000" b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(macOS)</a:t>
            </a:r>
            <a:endParaRPr sz="20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7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80200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EXT</a:t>
            </a: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serisi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(Linux)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14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490345" algn="l"/>
                <a:tab pos="3054350" algn="l"/>
                <a:tab pos="4159885" algn="l"/>
                <a:tab pos="5641340" algn="l"/>
                <a:tab pos="6407785" algn="l"/>
                <a:tab pos="8159115" algn="l"/>
                <a:tab pos="875665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ayrıca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yedekleme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erişim</a:t>
            </a:r>
            <a:endParaRPr sz="24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kontrolünü</a:t>
            </a:r>
            <a:r>
              <a:rPr sz="2400" spc="-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sağlama</a:t>
            </a:r>
            <a:r>
              <a:rPr sz="2400" spc="-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-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önemli</a:t>
            </a:r>
            <a:r>
              <a:rPr sz="2400" spc="-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özellikleri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94121" y="2918075"/>
            <a:ext cx="5628005" cy="200025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İŞLETİM</a:t>
            </a:r>
            <a:r>
              <a:rPr sz="540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SİSTEMİ</a:t>
            </a:r>
            <a:endParaRPr sz="5400">
              <a:latin typeface="Microsoft Sans Serif"/>
              <a:cs typeface="Microsoft Sans Serif"/>
            </a:endParaRPr>
          </a:p>
          <a:p>
            <a:pPr marL="3670300">
              <a:lnSpc>
                <a:spcPct val="100000"/>
              </a:lnSpc>
              <a:spcBef>
                <a:spcPts val="1300"/>
              </a:spcBef>
            </a:pP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Türleri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15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8855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114" dirty="0"/>
              <a:t> </a:t>
            </a:r>
            <a:r>
              <a:rPr dirty="0"/>
              <a:t>Kişisel</a:t>
            </a:r>
            <a:r>
              <a:rPr spc="-110" dirty="0"/>
              <a:t> </a:t>
            </a:r>
            <a:r>
              <a:rPr dirty="0"/>
              <a:t>Bilgisayar</a:t>
            </a:r>
            <a:r>
              <a:rPr spc="-100" dirty="0"/>
              <a:t> </a:t>
            </a:r>
            <a:r>
              <a:rPr dirty="0"/>
              <a:t>İşletim</a:t>
            </a:r>
            <a:r>
              <a:rPr spc="-95" dirty="0"/>
              <a:t> </a:t>
            </a:r>
            <a:r>
              <a:rPr spc="-10" dirty="0"/>
              <a:t>Sistemleri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289306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  <a:tabLst>
                <a:tab pos="1198245" algn="l"/>
                <a:tab pos="198183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Kişisel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bilgisayarlar Kullanıcıların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günlük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2470" y="1516888"/>
            <a:ext cx="650748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6990">
              <a:lnSpc>
                <a:spcPct val="120100"/>
              </a:lnSpc>
              <a:spcBef>
                <a:spcPts val="100"/>
              </a:spcBef>
              <a:tabLst>
                <a:tab pos="989330" algn="l"/>
                <a:tab pos="1167765" algn="l"/>
                <a:tab pos="1751330" algn="l"/>
                <a:tab pos="2032000" algn="l"/>
                <a:tab pos="3557270" algn="l"/>
                <a:tab pos="3630929" algn="l"/>
                <a:tab pos="4084954" algn="l"/>
                <a:tab pos="4801235" algn="l"/>
                <a:tab pos="5205095" algn="l"/>
              </a:tabLst>
            </a:pP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(PC)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sistemleridir.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işlerini,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oyun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oynamayı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medya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tüketimini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2468371"/>
            <a:ext cx="7755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kolaylaştırır.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dostu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arayüzlere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sahiptir.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3047187"/>
            <a:ext cx="95802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056130" algn="l"/>
                <a:tab pos="3563620" algn="l"/>
                <a:tab pos="5207000" algn="l"/>
                <a:tab pos="6836409" algn="l"/>
                <a:tab pos="7446009" algn="l"/>
                <a:tab pos="8736330" algn="l"/>
              </a:tabLst>
            </a:pPr>
            <a:r>
              <a:rPr sz="2400" b="1" i="1" spc="-10" dirty="0">
                <a:solidFill>
                  <a:srgbClr val="F34D09"/>
                </a:solidFill>
                <a:latin typeface="Arial"/>
                <a:cs typeface="Arial"/>
              </a:rPr>
              <a:t>Windows: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Microsoft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popüler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kişisel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3274821"/>
            <a:ext cx="9580880" cy="3077210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350520" algn="just">
              <a:lnSpc>
                <a:spcPct val="100000"/>
              </a:lnSpc>
              <a:spcBef>
                <a:spcPts val="1764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</a:t>
            </a:r>
            <a:r>
              <a:rPr sz="24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-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</a:t>
            </a:r>
            <a:endParaRPr sz="2400">
              <a:latin typeface="Microsoft Sans Serif"/>
              <a:cs typeface="Microsoft Sans Serif"/>
            </a:endParaRPr>
          </a:p>
          <a:p>
            <a:pPr marL="350520" marR="6350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macOS:</a:t>
            </a:r>
            <a:r>
              <a:rPr sz="2400" b="1" i="1" spc="39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</a:t>
            </a:r>
            <a:r>
              <a:rPr sz="24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4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</a:t>
            </a:r>
            <a:r>
              <a:rPr sz="24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Macintosh</a:t>
            </a:r>
            <a:r>
              <a:rPr sz="24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bilgisayarlarda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 işletim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Linux:</a:t>
            </a:r>
            <a:r>
              <a:rPr sz="2400" b="1" i="1" spc="-4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 kaynaklı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 işletim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 Linux,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dağıtımlara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(örneğin</a:t>
            </a:r>
            <a:r>
              <a:rPr sz="24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Ubuntu,</a:t>
            </a:r>
            <a:r>
              <a:rPr sz="24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Fedora)</a:t>
            </a:r>
            <a:r>
              <a:rPr sz="24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sahiptir</a:t>
            </a:r>
            <a:r>
              <a:rPr sz="24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kişisel</a:t>
            </a:r>
            <a:r>
              <a:rPr sz="24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bilgisayarlarda</a:t>
            </a:r>
            <a:r>
              <a:rPr sz="24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kullanılmaktadır.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16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46779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75" dirty="0"/>
              <a:t> </a:t>
            </a:r>
            <a:r>
              <a:rPr dirty="0"/>
              <a:t>Mobil</a:t>
            </a:r>
            <a:r>
              <a:rPr spc="-75" dirty="0"/>
              <a:t> </a:t>
            </a:r>
            <a:r>
              <a:rPr dirty="0"/>
              <a:t>İşletim</a:t>
            </a:r>
            <a:r>
              <a:rPr spc="-45" dirty="0"/>
              <a:t> </a:t>
            </a:r>
            <a:r>
              <a:rPr spc="-10" dirty="0"/>
              <a:t>Sistemleri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20850"/>
            <a:ext cx="9582150" cy="446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20000"/>
              </a:lnSpc>
              <a:spcBef>
                <a:spcPts val="100"/>
              </a:spcBef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Akıllı</a:t>
            </a:r>
            <a:r>
              <a:rPr sz="22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telefonlar,</a:t>
            </a:r>
            <a:r>
              <a:rPr sz="22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tabletler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2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taşınabilir</a:t>
            </a:r>
            <a:r>
              <a:rPr sz="22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</a:t>
            </a:r>
            <a:r>
              <a:rPr sz="22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2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</a:t>
            </a:r>
            <a:r>
              <a:rPr sz="22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sistemleridir.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2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dokunmatik</a:t>
            </a:r>
            <a:r>
              <a:rPr sz="22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ekranlı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arayüzler</a:t>
            </a:r>
            <a:r>
              <a:rPr sz="22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mağazalarıyla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entegre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olurlar.</a:t>
            </a:r>
            <a:endParaRPr sz="2200">
              <a:latin typeface="Microsoft Sans Serif"/>
              <a:cs typeface="Microsoft Sans Serif"/>
            </a:endParaRPr>
          </a:p>
          <a:p>
            <a:pPr marL="350520" marR="6985" indent="-338455" algn="just">
              <a:lnSpc>
                <a:spcPct val="1201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Android:</a:t>
            </a:r>
            <a:r>
              <a:rPr sz="2200" b="1" i="1" spc="-1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Google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2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geliştirilen,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2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kaynaklı</a:t>
            </a:r>
            <a:r>
              <a:rPr sz="22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mobil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dünya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genelinde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2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2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mobil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OS'dur.</a:t>
            </a:r>
            <a:endParaRPr sz="22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100"/>
              </a:lnSpc>
              <a:spcBef>
                <a:spcPts val="108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iOS/iPadOS/watchOS:</a:t>
            </a:r>
            <a:r>
              <a:rPr sz="2200" b="1" i="1" spc="38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</a:t>
            </a:r>
            <a:r>
              <a:rPr sz="22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2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</a:t>
            </a:r>
            <a:r>
              <a:rPr sz="22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yalnızca</a:t>
            </a:r>
            <a:r>
              <a:rPr sz="22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iPhone,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iPad</a:t>
            </a:r>
            <a:r>
              <a:rPr sz="22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Watch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cihazlarında</a:t>
            </a:r>
            <a:r>
              <a:rPr sz="22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2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sistemleridir.</a:t>
            </a:r>
            <a:r>
              <a:rPr sz="22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iPadOS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watchOS,</a:t>
            </a:r>
            <a:r>
              <a:rPr sz="22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iOS’a</a:t>
            </a:r>
            <a:r>
              <a:rPr sz="22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benzer</a:t>
            </a:r>
            <a:r>
              <a:rPr sz="22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fakat</a:t>
            </a:r>
            <a:r>
              <a:rPr sz="22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sınırlı</a:t>
            </a:r>
            <a:r>
              <a:rPr sz="22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uygulamalıdır.</a:t>
            </a:r>
            <a:endParaRPr sz="2200">
              <a:latin typeface="Microsoft Sans Serif"/>
              <a:cs typeface="Microsoft Sans Serif"/>
            </a:endParaRPr>
          </a:p>
          <a:p>
            <a:pPr marL="350520" marR="762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HarmonyOS:</a:t>
            </a:r>
            <a:r>
              <a:rPr sz="2200" b="1" i="1" spc="12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Huawei</a:t>
            </a:r>
            <a:r>
              <a:rPr sz="22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Technologies</a:t>
            </a:r>
            <a:r>
              <a:rPr sz="22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2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</a:t>
            </a:r>
            <a:r>
              <a:rPr sz="22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Huawei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telefon,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tablet,</a:t>
            </a:r>
            <a:r>
              <a:rPr sz="22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IoT</a:t>
            </a:r>
            <a:r>
              <a:rPr sz="22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cihazlarında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17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5295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50" dirty="0"/>
              <a:t> </a:t>
            </a:r>
            <a:r>
              <a:rPr dirty="0"/>
              <a:t>Sunucu</a:t>
            </a:r>
            <a:r>
              <a:rPr spc="-55" dirty="0"/>
              <a:t> </a:t>
            </a:r>
            <a:r>
              <a:rPr dirty="0"/>
              <a:t>İşletim</a:t>
            </a:r>
            <a:r>
              <a:rPr spc="-35" dirty="0"/>
              <a:t> </a:t>
            </a:r>
            <a:r>
              <a:rPr spc="-10" dirty="0"/>
              <a:t>Sistemleri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4055" cy="5274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</a:t>
            </a:r>
            <a:r>
              <a:rPr sz="24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4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sunucularda</a:t>
            </a:r>
            <a:r>
              <a:rPr sz="24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çalışmak</a:t>
            </a:r>
            <a:r>
              <a:rPr sz="24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üzere</a:t>
            </a:r>
            <a:r>
              <a:rPr sz="24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tasarlanmıştır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yüksek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performans,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ağ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yönetimi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özelliklerine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sahiptir.</a:t>
            </a:r>
            <a:r>
              <a:rPr sz="24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</a:t>
            </a:r>
            <a:r>
              <a:rPr sz="24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4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4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sayıda</a:t>
            </a:r>
            <a:r>
              <a:rPr sz="24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kullanıcıya</a:t>
            </a:r>
            <a:r>
              <a:rPr sz="24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hizmet verebilir.</a:t>
            </a:r>
            <a:endParaRPr sz="2400">
              <a:latin typeface="Microsoft Sans Serif"/>
              <a:cs typeface="Microsoft Sans Serif"/>
            </a:endParaRPr>
          </a:p>
          <a:p>
            <a:pPr marL="350520" marR="8255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Windows</a:t>
            </a:r>
            <a:r>
              <a:rPr sz="2400" b="1" i="1" spc="8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Server:</a:t>
            </a:r>
            <a:r>
              <a:rPr sz="2400" b="1" i="1" spc="9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Microsoft'un</a:t>
            </a:r>
            <a:r>
              <a:rPr sz="24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ortamları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geliştirdiği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</a:t>
            </a:r>
            <a:endParaRPr sz="2400">
              <a:latin typeface="Microsoft Sans Serif"/>
              <a:cs typeface="Microsoft Sans Serif"/>
            </a:endParaRPr>
          </a:p>
          <a:p>
            <a:pPr marL="350520" marR="6985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Linux</a:t>
            </a:r>
            <a:r>
              <a:rPr sz="2400" b="1" i="1" spc="17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Server</a:t>
            </a:r>
            <a:r>
              <a:rPr sz="2400" b="1" i="1" spc="17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Dağıtımları:</a:t>
            </a:r>
            <a:r>
              <a:rPr sz="2400" b="1" i="1" spc="17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Red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Enterprise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Linux,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Ubuntu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Server</a:t>
            </a:r>
            <a:r>
              <a:rPr sz="24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4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dağıtımlar</a:t>
            </a:r>
            <a:r>
              <a:rPr sz="24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</a:t>
            </a:r>
            <a:r>
              <a:rPr sz="24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</a:t>
            </a:r>
            <a:r>
              <a:rPr sz="24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</a:t>
            </a:r>
            <a:r>
              <a:rPr sz="24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 kullanılır.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Unix:</a:t>
            </a:r>
            <a:r>
              <a:rPr sz="2400" b="1" i="1" spc="28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400" spc="3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kullanıcılı,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4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görevli</a:t>
            </a:r>
            <a:r>
              <a:rPr sz="24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</a:t>
            </a:r>
            <a:endParaRPr sz="2400">
              <a:latin typeface="Microsoft Sans Serif"/>
              <a:cs typeface="Microsoft Sans Serif"/>
            </a:endParaRPr>
          </a:p>
          <a:p>
            <a:pPr marL="350520" algn="just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4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işletmelerde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yaygındır.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18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100" dirty="0"/>
              <a:t> </a:t>
            </a:r>
            <a:r>
              <a:rPr dirty="0"/>
              <a:t>Gömülü</a:t>
            </a:r>
            <a:r>
              <a:rPr spc="-90" dirty="0"/>
              <a:t> </a:t>
            </a:r>
            <a:r>
              <a:rPr dirty="0"/>
              <a:t>Sistemler</a:t>
            </a:r>
            <a:r>
              <a:rPr spc="-90" dirty="0"/>
              <a:t> </a:t>
            </a:r>
            <a:r>
              <a:rPr dirty="0"/>
              <a:t>için</a:t>
            </a:r>
            <a:r>
              <a:rPr spc="-95" dirty="0"/>
              <a:t> </a:t>
            </a:r>
            <a:r>
              <a:rPr dirty="0"/>
              <a:t>İşletim</a:t>
            </a:r>
            <a:r>
              <a:rPr spc="-85" dirty="0"/>
              <a:t> </a:t>
            </a:r>
            <a:r>
              <a:rPr spc="-10" dirty="0"/>
              <a:t>Sistemleri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90294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2465" algn="l"/>
              </a:tabLst>
            </a:pP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2029459"/>
            <a:ext cx="1602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6214" y="1516888"/>
            <a:ext cx="7793990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20100"/>
              </a:lnSpc>
              <a:spcBef>
                <a:spcPts val="100"/>
              </a:spcBef>
              <a:tabLst>
                <a:tab pos="1411605" algn="l"/>
                <a:tab pos="1697989" algn="l"/>
                <a:tab pos="2698115" algn="l"/>
                <a:tab pos="3324225" algn="l"/>
                <a:tab pos="3418840" algn="l"/>
                <a:tab pos="4444365" algn="l"/>
                <a:tab pos="4836160" algn="l"/>
                <a:tab pos="5561965" algn="l"/>
                <a:tab pos="6387465" algn="l"/>
                <a:tab pos="701865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getirmek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üzere donanım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sistemlerinde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kaynakları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2255529"/>
            <a:ext cx="9582150" cy="307848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75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sınırlıdır</a:t>
            </a:r>
            <a:r>
              <a:rPr sz="24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4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işlevlere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odaklanır.</a:t>
            </a:r>
            <a:endParaRPr sz="2400">
              <a:latin typeface="Microsoft Sans Serif"/>
              <a:cs typeface="Microsoft Sans Serif"/>
            </a:endParaRPr>
          </a:p>
          <a:p>
            <a:pPr marL="350520" marR="635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RTOS</a:t>
            </a:r>
            <a:r>
              <a:rPr sz="2400" b="1" i="1" spc="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(Gerçek</a:t>
            </a:r>
            <a:r>
              <a:rPr sz="2400" b="1" i="1" spc="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Zamanlı</a:t>
            </a:r>
            <a:r>
              <a:rPr sz="2400" b="1" i="1" spc="-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İşletim  Sistemi):</a:t>
            </a:r>
            <a:r>
              <a:rPr sz="2400" b="1" i="1" spc="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Zamanlama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yanıt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sürelerinin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kritik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olduğu</a:t>
            </a:r>
            <a:r>
              <a:rPr sz="24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tasarlanmıştır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(örneğin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otomotiv</a:t>
            </a:r>
            <a:r>
              <a:rPr sz="2400" spc="-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4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endüstriyel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kontrol</a:t>
            </a:r>
            <a:r>
              <a:rPr sz="24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sistemleri).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664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Embedded</a:t>
            </a:r>
            <a:r>
              <a:rPr sz="2400" b="1" i="1" spc="2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Linux:</a:t>
            </a:r>
            <a:r>
              <a:rPr sz="2400" b="1" i="1" spc="1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Gömülü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</a:t>
            </a:r>
            <a:r>
              <a:rPr sz="2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özelleştirilmiş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Linux</a:t>
            </a:r>
            <a:endParaRPr sz="24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dağıtımıdır.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19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09570" y="3098368"/>
            <a:ext cx="8510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POPÜLER</a:t>
            </a:r>
            <a:r>
              <a:rPr sz="4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İŞLETİM</a:t>
            </a:r>
            <a:r>
              <a:rPr sz="4400" spc="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SİSTEMLERİ</a:t>
            </a:r>
            <a:endParaRPr sz="4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218680">
              <a:lnSpc>
                <a:spcPct val="100000"/>
              </a:lnSpc>
              <a:spcBef>
                <a:spcPts val="95"/>
              </a:spcBef>
            </a:pPr>
            <a:r>
              <a:rPr dirty="0"/>
              <a:t>1. </a:t>
            </a:r>
            <a:r>
              <a:rPr spc="-20" dirty="0"/>
              <a:t>UNIX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76680"/>
            <a:ext cx="9582150" cy="118427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Geliştirici:</a:t>
            </a:r>
            <a:r>
              <a:rPr sz="2400" b="1" i="1" spc="-4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AT&amp;T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1645920" algn="l"/>
                <a:tab pos="2620010" algn="l"/>
                <a:tab pos="3510279" algn="l"/>
                <a:tab pos="4453890" algn="l"/>
                <a:tab pos="4953635" algn="l"/>
                <a:tab pos="5843905" algn="l"/>
                <a:tab pos="7139305" algn="l"/>
                <a:tab pos="8301990" algn="l"/>
                <a:tab pos="8787130" algn="l"/>
              </a:tabLst>
            </a:pPr>
            <a:r>
              <a:rPr sz="2400" b="1" i="1" spc="-10" dirty="0">
                <a:solidFill>
                  <a:srgbClr val="F34D09"/>
                </a:solidFill>
                <a:latin typeface="Arial"/>
                <a:cs typeface="Arial"/>
              </a:rPr>
              <a:t>Özellikler: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Güçlü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çoklu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çoklu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desteği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bilinir.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1241" y="2535805"/>
            <a:ext cx="3815079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795" marR="5080" indent="-125730">
              <a:lnSpc>
                <a:spcPct val="120000"/>
              </a:lnSpc>
              <a:spcBef>
                <a:spcPts val="95"/>
              </a:spcBef>
              <a:tabLst>
                <a:tab pos="1276350" algn="l"/>
                <a:tab pos="1631314" algn="l"/>
                <a:tab pos="2768600" algn="l"/>
                <a:tab pos="335534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sistemlerinde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Birçok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modern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7511" y="2535805"/>
            <a:ext cx="4013200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685" marR="5080" indent="-134620">
              <a:lnSpc>
                <a:spcPct val="120000"/>
              </a:lnSpc>
              <a:spcBef>
                <a:spcPts val="95"/>
              </a:spcBef>
              <a:tabLst>
                <a:tab pos="1242695" algn="l"/>
                <a:tab pos="1300480" algn="l"/>
                <a:tab pos="2641600" algn="l"/>
                <a:tab pos="294767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yüksek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gerektiren işletim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sisteminin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temelini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2535805"/>
            <a:ext cx="1483360" cy="1342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 ortamlarda oluşturur.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5847" y="3602735"/>
            <a:ext cx="3866388" cy="290017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2852" y="4058411"/>
            <a:ext cx="1845564" cy="89611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9525">
              <a:lnSpc>
                <a:spcPct val="100000"/>
              </a:lnSpc>
              <a:spcBef>
                <a:spcPts val="95"/>
              </a:spcBef>
            </a:pPr>
            <a:r>
              <a:rPr dirty="0"/>
              <a:t>2. </a:t>
            </a:r>
            <a:r>
              <a:rPr spc="-10" dirty="0"/>
              <a:t>Windows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76680"/>
            <a:ext cx="9582150" cy="307911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8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Geliştirici:</a:t>
            </a:r>
            <a:r>
              <a:rPr sz="2400" b="1" i="1" spc="-4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Microsoft</a:t>
            </a:r>
            <a:endParaRPr sz="24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Özellikler:</a:t>
            </a:r>
            <a:r>
              <a:rPr sz="2400" b="1" i="1" spc="46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4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dostu</a:t>
            </a:r>
            <a:r>
              <a:rPr sz="2400" spc="5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arayüz,</a:t>
            </a:r>
            <a:r>
              <a:rPr sz="24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geniş</a:t>
            </a:r>
            <a:r>
              <a:rPr sz="2400" spc="5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</a:t>
            </a:r>
            <a:r>
              <a:rPr sz="24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desteği,</a:t>
            </a:r>
            <a:r>
              <a:rPr sz="24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oyunlar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</a:t>
            </a:r>
            <a:r>
              <a:rPr sz="24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tercih</a:t>
            </a:r>
            <a:r>
              <a:rPr sz="24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edilir.</a:t>
            </a:r>
            <a:r>
              <a:rPr sz="24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Windows,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4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ev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kullanıcıları</a:t>
            </a:r>
            <a:r>
              <a:rPr sz="24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de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işletmeler</a:t>
            </a:r>
            <a:r>
              <a:rPr sz="24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</a:t>
            </a:r>
            <a:r>
              <a:rPr sz="24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r>
              <a:rPr sz="24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sürümleri</a:t>
            </a:r>
            <a:r>
              <a:rPr sz="24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 sunar.</a:t>
            </a:r>
            <a:endParaRPr sz="24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167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Son</a:t>
            </a:r>
            <a:r>
              <a:rPr sz="2400" b="1" i="1" spc="-7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sürümü:</a:t>
            </a:r>
            <a:r>
              <a:rPr sz="2400" b="1" i="1" spc="-3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11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94103" y="3648455"/>
            <a:ext cx="9409430" cy="2883535"/>
            <a:chOff x="1594103" y="3648455"/>
            <a:chExt cx="9409430" cy="2883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600" y="3648455"/>
              <a:ext cx="4678680" cy="28834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4103" y="4608575"/>
              <a:ext cx="1530096" cy="10683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87515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MacOS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76680"/>
            <a:ext cx="9580245" cy="118427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Geliştirici:</a:t>
            </a:r>
            <a:r>
              <a:rPr sz="2400" b="1" i="1" spc="-4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1610995" algn="l"/>
                <a:tab pos="2667635" algn="l"/>
                <a:tab pos="3909695" algn="l"/>
                <a:tab pos="5001260" algn="l"/>
                <a:tab pos="6348095" algn="l"/>
                <a:tab pos="6813550" algn="l"/>
                <a:tab pos="7735570" algn="l"/>
              </a:tabLst>
            </a:pPr>
            <a:r>
              <a:rPr sz="2400" b="1" i="1" spc="-10" dirty="0">
                <a:solidFill>
                  <a:srgbClr val="F34D09"/>
                </a:solidFill>
                <a:latin typeface="Arial"/>
                <a:cs typeface="Arial"/>
              </a:rPr>
              <a:t>Özellikler: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Estetik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tasarım,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yüksek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ekosistemiyle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2608579"/>
            <a:ext cx="9580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0895" algn="l"/>
                <a:tab pos="3300095" algn="l"/>
                <a:tab pos="5028565" algn="l"/>
                <a:tab pos="6415405" algn="l"/>
                <a:tab pos="871982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entegrasyon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sunar.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yaratıcı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profesyoneller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(grafik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2834945"/>
            <a:ext cx="6938645" cy="1181735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tasarımcılar,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video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editörleri)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tercih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edilir.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Son</a:t>
            </a:r>
            <a:r>
              <a:rPr sz="2400" b="1" i="1" spc="-2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sürümü:</a:t>
            </a:r>
            <a:r>
              <a:rPr sz="2400" b="1" i="1" spc="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macOS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Tahoe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23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90472" y="3704844"/>
            <a:ext cx="9309100" cy="2788920"/>
            <a:chOff x="1490472" y="3704844"/>
            <a:chExt cx="9309100" cy="27889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472" y="4030980"/>
              <a:ext cx="1251204" cy="12512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0716" y="3704844"/>
              <a:ext cx="4308347" cy="2788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55155">
              <a:lnSpc>
                <a:spcPct val="100000"/>
              </a:lnSpc>
              <a:spcBef>
                <a:spcPts val="95"/>
              </a:spcBef>
            </a:pPr>
            <a:r>
              <a:rPr dirty="0"/>
              <a:t>4. </a:t>
            </a:r>
            <a:r>
              <a:rPr spc="-10" dirty="0"/>
              <a:t>LINUX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76680"/>
            <a:ext cx="9580245" cy="206248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8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Geliştirici:</a:t>
            </a:r>
            <a:r>
              <a:rPr sz="2400" b="1" i="1" spc="-17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toplulukları</a:t>
            </a:r>
            <a:endParaRPr sz="24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Özellikler:</a:t>
            </a:r>
            <a:r>
              <a:rPr sz="2400" b="1" i="1" spc="7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Özelleştirilebilirlik,</a:t>
            </a:r>
            <a:r>
              <a:rPr sz="24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düşük</a:t>
            </a:r>
            <a:r>
              <a:rPr sz="24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24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gereksinimleri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bilinir.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dağıtımları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(Ubuntu,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Fedora,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CentOS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…)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bulunur.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Sunucular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geliştiriciler arasında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popülerdir.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84960" y="3707891"/>
            <a:ext cx="9435465" cy="2767965"/>
            <a:chOff x="1584960" y="3707891"/>
            <a:chExt cx="9435465" cy="276796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9339" y="3707891"/>
              <a:ext cx="4870704" cy="27401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0736" y="3880103"/>
              <a:ext cx="915924" cy="8717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9260" y="3886199"/>
              <a:ext cx="854963" cy="8656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1648" y="3896867"/>
              <a:ext cx="646176" cy="8549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4960" y="5077967"/>
              <a:ext cx="2511552" cy="139750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61125">
              <a:lnSpc>
                <a:spcPct val="100000"/>
              </a:lnSpc>
              <a:spcBef>
                <a:spcPts val="95"/>
              </a:spcBef>
            </a:pPr>
            <a:r>
              <a:rPr dirty="0"/>
              <a:t>5. </a:t>
            </a:r>
            <a:r>
              <a:rPr spc="-40" dirty="0"/>
              <a:t>PARDUS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90294"/>
            <a:ext cx="9582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06575" algn="l"/>
                <a:tab pos="3371850" algn="l"/>
                <a:tab pos="3997960" algn="l"/>
                <a:tab pos="5638165" algn="l"/>
                <a:tab pos="7313295" algn="l"/>
              </a:tabLst>
            </a:pPr>
            <a:r>
              <a:rPr sz="2400" b="1" i="1" spc="-10" dirty="0">
                <a:solidFill>
                  <a:srgbClr val="F34D09"/>
                </a:solidFill>
                <a:latin typeface="Arial"/>
                <a:cs typeface="Arial"/>
              </a:rPr>
              <a:t>Geliştirici: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TÜBİTAK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ve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ULAKBİM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tarafından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geliştirilmektedir.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1816099"/>
            <a:ext cx="9582150" cy="263969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8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Türkiye'nin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yerli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milli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Linux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tabanlı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</a:t>
            </a:r>
            <a:endParaRPr sz="24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Özellikler:</a:t>
            </a:r>
            <a:r>
              <a:rPr sz="2400" b="1" i="1" spc="42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kodlu</a:t>
            </a:r>
            <a:r>
              <a:rPr sz="24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Pardus,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4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dostu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arayüzü,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güvenliği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özelleştirilebilir</a:t>
            </a:r>
            <a:r>
              <a:rPr sz="24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yapısıyla</a:t>
            </a:r>
            <a:r>
              <a:rPr sz="24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4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bireysel</a:t>
            </a:r>
            <a:r>
              <a:rPr sz="24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4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kurumsal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kullanıcılara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yönelik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araçlar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sunar.</a:t>
            </a:r>
            <a:endParaRPr sz="24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1664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Son</a:t>
            </a:r>
            <a:r>
              <a:rPr sz="2400" b="1" i="1" spc="-8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sürüm:</a:t>
            </a:r>
            <a:r>
              <a:rPr sz="2400" b="1" i="1" spc="-6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Pardus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23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27988" y="4113276"/>
            <a:ext cx="9512935" cy="2482850"/>
            <a:chOff x="1427988" y="4113276"/>
            <a:chExt cx="9512935" cy="24828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2547" y="4113276"/>
              <a:ext cx="3508248" cy="24825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7988" y="4619244"/>
              <a:ext cx="1220724" cy="140055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8000">
              <a:lnSpc>
                <a:spcPct val="100000"/>
              </a:lnSpc>
              <a:spcBef>
                <a:spcPts val="95"/>
              </a:spcBef>
            </a:pPr>
            <a:r>
              <a:rPr dirty="0"/>
              <a:t>6.</a:t>
            </a:r>
            <a:r>
              <a:rPr spc="-40" dirty="0"/>
              <a:t> </a:t>
            </a:r>
            <a:r>
              <a:rPr dirty="0"/>
              <a:t>CHROME</a:t>
            </a:r>
            <a:r>
              <a:rPr spc="-40" dirty="0"/>
              <a:t> </a:t>
            </a:r>
            <a:r>
              <a:rPr spc="-25" dirty="0"/>
              <a:t>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76680"/>
            <a:ext cx="9581515" cy="307911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8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Geliştirici:</a:t>
            </a:r>
            <a:r>
              <a:rPr sz="2400" b="1" i="1" spc="-4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Google</a:t>
            </a:r>
            <a:endParaRPr sz="24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Özellikler:</a:t>
            </a:r>
            <a:r>
              <a:rPr sz="2400" b="1" i="1" spc="17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Temel</a:t>
            </a:r>
            <a:r>
              <a:rPr sz="24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web</a:t>
            </a:r>
            <a:r>
              <a:rPr sz="24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uygulamalarını</a:t>
            </a:r>
            <a:r>
              <a:rPr sz="24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çalıştırmaya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odaklanmış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hafif</a:t>
            </a:r>
            <a:r>
              <a:rPr sz="24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</a:t>
            </a:r>
            <a:r>
              <a:rPr sz="24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4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Chromebook</a:t>
            </a:r>
            <a:r>
              <a:rPr sz="24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cihazlarında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r>
              <a:rPr sz="24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açılış</a:t>
            </a:r>
            <a:r>
              <a:rPr sz="24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süreleri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bulut</a:t>
            </a:r>
            <a:r>
              <a:rPr sz="24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tabanlı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uygulamalarla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dikkat çeker.</a:t>
            </a:r>
            <a:endParaRPr sz="24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167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Son</a:t>
            </a:r>
            <a:r>
              <a:rPr sz="2400" b="1" i="1" spc="-8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sürüm:</a:t>
            </a:r>
            <a:r>
              <a:rPr sz="2400" b="1" i="1" spc="-5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ChromeOS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129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62455" y="3939540"/>
            <a:ext cx="9630410" cy="2534920"/>
            <a:chOff x="1362455" y="3939540"/>
            <a:chExt cx="9630410" cy="25349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4620" y="3939540"/>
              <a:ext cx="4507991" cy="25344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2455" y="4515612"/>
              <a:ext cx="1712976" cy="122377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26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55385">
              <a:lnSpc>
                <a:spcPct val="100000"/>
              </a:lnSpc>
              <a:spcBef>
                <a:spcPts val="95"/>
              </a:spcBef>
            </a:pPr>
            <a:r>
              <a:rPr dirty="0"/>
              <a:t>7.</a:t>
            </a:r>
            <a:r>
              <a:rPr spc="-130" dirty="0"/>
              <a:t> </a:t>
            </a:r>
            <a:r>
              <a:rPr spc="-10" dirty="0"/>
              <a:t>ANDROID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76680"/>
            <a:ext cx="9582150" cy="264033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8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Geliştirici:</a:t>
            </a:r>
            <a:r>
              <a:rPr sz="2400" b="1" i="1" spc="-4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Google</a:t>
            </a:r>
            <a:endParaRPr sz="24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Özellikler:</a:t>
            </a:r>
            <a:r>
              <a:rPr sz="2400" b="1" i="1" spc="3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Mobil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</a:t>
            </a:r>
            <a:r>
              <a:rPr sz="24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geliştirilmiş</a:t>
            </a:r>
            <a:r>
              <a:rPr sz="24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kaynaklı</a:t>
            </a:r>
            <a:r>
              <a:rPr sz="24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</a:t>
            </a:r>
            <a:r>
              <a:rPr sz="24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Geniş</a:t>
            </a:r>
            <a:r>
              <a:rPr sz="24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</a:t>
            </a:r>
            <a:r>
              <a:rPr sz="24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yelpazesi</a:t>
            </a:r>
            <a:r>
              <a:rPr sz="24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özelleştirilebilir</a:t>
            </a:r>
            <a:r>
              <a:rPr sz="24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</a:t>
            </a:r>
            <a:r>
              <a:rPr sz="24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sunar.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Akıllı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telefonlar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tabletler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</a:t>
            </a:r>
            <a:endParaRPr sz="24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167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Son</a:t>
            </a:r>
            <a:r>
              <a:rPr sz="2400" b="1" i="1" spc="-9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sürüm:</a:t>
            </a:r>
            <a:r>
              <a:rPr sz="2400" b="1" i="1" spc="-6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Android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15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70660" y="3814571"/>
            <a:ext cx="9540240" cy="2670175"/>
            <a:chOff x="1470660" y="3814571"/>
            <a:chExt cx="9540240" cy="26701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5912" y="3814571"/>
              <a:ext cx="4094988" cy="26700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0660" y="4162043"/>
              <a:ext cx="1485900" cy="14874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27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05065">
              <a:lnSpc>
                <a:spcPct val="100000"/>
              </a:lnSpc>
              <a:spcBef>
                <a:spcPts val="95"/>
              </a:spcBef>
            </a:pPr>
            <a:r>
              <a:rPr dirty="0"/>
              <a:t>8. </a:t>
            </a:r>
            <a:r>
              <a:rPr spc="-25" dirty="0"/>
              <a:t>iOS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76680"/>
            <a:ext cx="9583420" cy="264033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8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Geliştirici:</a:t>
            </a:r>
            <a:r>
              <a:rPr sz="2400" b="1" i="1" spc="-4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</a:t>
            </a:r>
            <a:endParaRPr sz="24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Özellikler:</a:t>
            </a:r>
            <a:r>
              <a:rPr sz="2400" b="1" i="1" spc="6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iPhone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iPad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cihazları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geliştirilmiştir.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Güvenlik,</a:t>
            </a:r>
            <a:r>
              <a:rPr sz="24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</a:t>
            </a:r>
            <a:r>
              <a:rPr sz="24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4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deneyimi</a:t>
            </a:r>
            <a:r>
              <a:rPr sz="24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</a:t>
            </a:r>
            <a:r>
              <a:rPr sz="24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plandadır.</a:t>
            </a:r>
            <a:r>
              <a:rPr sz="24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ekosistemi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oldukça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zengindir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sadece</a:t>
            </a:r>
            <a:r>
              <a:rPr sz="2400" spc="-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cihazlarında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çalışır.</a:t>
            </a:r>
            <a:endParaRPr sz="24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167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Son</a:t>
            </a:r>
            <a:r>
              <a:rPr sz="2400" b="1" i="1" spc="-7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sürüm:</a:t>
            </a:r>
            <a:r>
              <a:rPr sz="2400" b="1" i="1" spc="-4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iOS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18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04188" y="3826764"/>
            <a:ext cx="9479280" cy="2555875"/>
            <a:chOff x="1504188" y="3826764"/>
            <a:chExt cx="9479280" cy="25558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0152" y="3826764"/>
              <a:ext cx="4433315" cy="25557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4188" y="4218432"/>
              <a:ext cx="1095756" cy="109575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28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56910">
              <a:lnSpc>
                <a:spcPct val="100000"/>
              </a:lnSpc>
              <a:spcBef>
                <a:spcPts val="95"/>
              </a:spcBef>
            </a:pPr>
            <a:r>
              <a:rPr dirty="0"/>
              <a:t>9.</a:t>
            </a:r>
            <a:r>
              <a:rPr spc="-15" dirty="0"/>
              <a:t> </a:t>
            </a:r>
            <a:r>
              <a:rPr spc="-10" dirty="0"/>
              <a:t>HarmonyOS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76680"/>
            <a:ext cx="9580880" cy="118427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Geliştirici:</a:t>
            </a:r>
            <a:r>
              <a:rPr sz="2400" b="1" i="1" spc="-9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Huawei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Technologies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Özellikler:</a:t>
            </a:r>
            <a:r>
              <a:rPr sz="2400" b="1" i="1" spc="17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Huawei</a:t>
            </a:r>
            <a:r>
              <a:rPr sz="24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geliştirilen,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telefon,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tablet,</a:t>
            </a:r>
            <a:r>
              <a:rPr sz="24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akıllı</a:t>
            </a:r>
            <a:r>
              <a:rPr sz="24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saat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2535805"/>
            <a:ext cx="5854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  <a:tabLst>
                <a:tab pos="840105" algn="l"/>
                <a:tab pos="1917700" algn="l"/>
                <a:tab pos="2876550" algn="l"/>
                <a:tab pos="3194685" algn="l"/>
                <a:tab pos="4234180" algn="l"/>
                <a:tab pos="4606290" algn="l"/>
                <a:tab pos="5102860" algn="l"/>
              </a:tabLst>
            </a:pP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IoT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cihazlarında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yönlü Kullanıcılara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arasında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kesintisiz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02143" y="2535805"/>
            <a:ext cx="2000250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8115">
              <a:lnSpc>
                <a:spcPct val="120000"/>
              </a:lnSpc>
              <a:spcBef>
                <a:spcPts val="95"/>
              </a:spcBef>
              <a:tabLst>
                <a:tab pos="902335" algn="l"/>
                <a:tab pos="946785" algn="l"/>
                <a:tab pos="1495425" algn="l"/>
              </a:tabLst>
            </a:pP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 geçiş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48190" y="2535805"/>
            <a:ext cx="13836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 marR="5080" indent="-52069">
              <a:lnSpc>
                <a:spcPct val="120000"/>
              </a:lnSpc>
              <a:spcBef>
                <a:spcPts val="95"/>
              </a:spcBef>
            </a:pP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paylaşımı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3413505"/>
            <a:ext cx="9581515" cy="1481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1101725" algn="l"/>
                <a:tab pos="2126615" algn="l"/>
                <a:tab pos="3319779" algn="l"/>
                <a:tab pos="5138420" algn="l"/>
                <a:tab pos="6142355" algn="l"/>
                <a:tab pos="7080250" algn="l"/>
                <a:tab pos="8323580" algn="l"/>
                <a:tab pos="883856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imkânı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sunar.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Yüksek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düşük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enerji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tüketimi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güçlü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özellikleriyle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çıkar.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Son</a:t>
            </a:r>
            <a:r>
              <a:rPr sz="2400" b="1" i="1" spc="-4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sürüm:</a:t>
            </a:r>
            <a:r>
              <a:rPr sz="2400" b="1" i="1" spc="-1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HarmonyOS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3.0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29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1432" y="4200144"/>
            <a:ext cx="9363710" cy="2263140"/>
            <a:chOff x="1551432" y="4200144"/>
            <a:chExt cx="9363710" cy="226314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1432" y="5029200"/>
              <a:ext cx="1190244" cy="11902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6208" y="4200144"/>
              <a:ext cx="4678680" cy="22631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00394" y="3006928"/>
            <a:ext cx="47523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Açık </a:t>
            </a: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Kaynak</a:t>
            </a:r>
            <a:r>
              <a:rPr sz="54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ve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1821" y="3994861"/>
            <a:ext cx="70485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Ticari</a:t>
            </a:r>
            <a:r>
              <a:rPr sz="5400" spc="-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İşletim</a:t>
            </a:r>
            <a:r>
              <a:rPr sz="5400" spc="-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Sistemleri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2565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185" dirty="0"/>
              <a:t> </a:t>
            </a:r>
            <a:r>
              <a:rPr dirty="0"/>
              <a:t>Açık</a:t>
            </a:r>
            <a:r>
              <a:rPr spc="-75" dirty="0"/>
              <a:t> </a:t>
            </a:r>
            <a:r>
              <a:rPr dirty="0"/>
              <a:t>Kaynak</a:t>
            </a:r>
            <a:r>
              <a:rPr spc="-65" dirty="0"/>
              <a:t> </a:t>
            </a:r>
            <a:r>
              <a:rPr dirty="0"/>
              <a:t>İşletim</a:t>
            </a:r>
            <a:r>
              <a:rPr spc="-50" dirty="0"/>
              <a:t> </a:t>
            </a:r>
            <a:r>
              <a:rPr spc="-10" dirty="0"/>
              <a:t>Sistemleri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b="1" i="1" dirty="0">
                <a:latin typeface="Arial"/>
                <a:cs typeface="Arial"/>
              </a:rPr>
              <a:t>Açık</a:t>
            </a:r>
            <a:r>
              <a:rPr b="1" i="1" spc="-5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kaynak</a:t>
            </a:r>
            <a:r>
              <a:rPr b="1" i="1" spc="-5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işletim</a:t>
            </a:r>
            <a:r>
              <a:rPr b="1" i="1" spc="-4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sistemleri</a:t>
            </a:r>
            <a:r>
              <a:rPr dirty="0"/>
              <a:t>,</a:t>
            </a:r>
            <a:r>
              <a:rPr spc="-30" dirty="0"/>
              <a:t> </a:t>
            </a:r>
            <a:r>
              <a:rPr dirty="0"/>
              <a:t>kaynak</a:t>
            </a:r>
            <a:r>
              <a:rPr spc="-15" dirty="0"/>
              <a:t> </a:t>
            </a:r>
            <a:r>
              <a:rPr dirty="0"/>
              <a:t>kodunun</a:t>
            </a:r>
            <a:r>
              <a:rPr spc="-20" dirty="0"/>
              <a:t> </a:t>
            </a:r>
            <a:r>
              <a:rPr spc="-10" dirty="0"/>
              <a:t>kamuya </a:t>
            </a:r>
            <a:r>
              <a:rPr dirty="0"/>
              <a:t>açık</a:t>
            </a:r>
            <a:r>
              <a:rPr spc="340" dirty="0"/>
              <a:t>   </a:t>
            </a:r>
            <a:r>
              <a:rPr dirty="0"/>
              <a:t>olduğu</a:t>
            </a:r>
            <a:r>
              <a:rPr spc="345" dirty="0"/>
              <a:t>   </a:t>
            </a:r>
            <a:r>
              <a:rPr dirty="0"/>
              <a:t>ve</a:t>
            </a:r>
            <a:r>
              <a:rPr spc="345" dirty="0"/>
              <a:t>   </a:t>
            </a:r>
            <a:r>
              <a:rPr dirty="0"/>
              <a:t>kullanıcıların</a:t>
            </a:r>
            <a:r>
              <a:rPr spc="345" dirty="0"/>
              <a:t>   </a:t>
            </a:r>
            <a:r>
              <a:rPr dirty="0"/>
              <a:t>bu</a:t>
            </a:r>
            <a:r>
              <a:rPr spc="345" dirty="0"/>
              <a:t>   </a:t>
            </a:r>
            <a:r>
              <a:rPr dirty="0"/>
              <a:t>kodu</a:t>
            </a:r>
            <a:r>
              <a:rPr spc="340" dirty="0"/>
              <a:t>   </a:t>
            </a:r>
            <a:r>
              <a:rPr spc="-10" dirty="0"/>
              <a:t>inceleyip, değiştirebildiği</a:t>
            </a:r>
            <a:r>
              <a:rPr spc="-40" dirty="0"/>
              <a:t> </a:t>
            </a:r>
            <a:r>
              <a:rPr dirty="0"/>
              <a:t>işletim</a:t>
            </a:r>
            <a:r>
              <a:rPr spc="-60" dirty="0"/>
              <a:t> </a:t>
            </a:r>
            <a:r>
              <a:rPr spc="-10" dirty="0"/>
              <a:t>sistemleridir.</a:t>
            </a:r>
          </a:p>
          <a:p>
            <a:pPr marL="350520" marR="8255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dirty="0"/>
              <a:t>Kullanıcılar,</a:t>
            </a:r>
            <a:r>
              <a:rPr spc="465" dirty="0"/>
              <a:t> </a:t>
            </a:r>
            <a:r>
              <a:rPr dirty="0"/>
              <a:t>kod</a:t>
            </a:r>
            <a:r>
              <a:rPr spc="480" dirty="0"/>
              <a:t> </a:t>
            </a:r>
            <a:r>
              <a:rPr dirty="0"/>
              <a:t>üzerinde</a:t>
            </a:r>
            <a:r>
              <a:rPr spc="495" dirty="0"/>
              <a:t> </a:t>
            </a:r>
            <a:r>
              <a:rPr dirty="0"/>
              <a:t>değişiklik</a:t>
            </a:r>
            <a:r>
              <a:rPr spc="484" dirty="0"/>
              <a:t> </a:t>
            </a:r>
            <a:r>
              <a:rPr dirty="0"/>
              <a:t>yaparak</a:t>
            </a:r>
            <a:r>
              <a:rPr spc="480" dirty="0"/>
              <a:t> </a:t>
            </a:r>
            <a:r>
              <a:rPr spc="-10" dirty="0"/>
              <a:t>özelleştirme </a:t>
            </a:r>
            <a:r>
              <a:rPr dirty="0"/>
              <a:t>ve</a:t>
            </a:r>
            <a:r>
              <a:rPr spc="-60" dirty="0"/>
              <a:t> </a:t>
            </a:r>
            <a:r>
              <a:rPr dirty="0"/>
              <a:t>geliştirme</a:t>
            </a:r>
            <a:r>
              <a:rPr spc="-25" dirty="0"/>
              <a:t> </a:t>
            </a:r>
            <a:r>
              <a:rPr spc="-10" dirty="0"/>
              <a:t>yapabilirler.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1164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Özellikler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20850"/>
            <a:ext cx="9582150" cy="487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Ücretsiz</a:t>
            </a:r>
            <a:r>
              <a:rPr sz="2200" b="1" i="1" spc="3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Kullanım:</a:t>
            </a:r>
            <a:r>
              <a:rPr sz="2200" b="1" i="1" spc="4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2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2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2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2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2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ücretsiz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2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sunulur.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Kullanıcılar,</a:t>
            </a:r>
            <a:r>
              <a:rPr sz="22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</a:t>
            </a:r>
            <a:r>
              <a:rPr sz="22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indirebilir,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kurabilir ve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kullanabilir.</a:t>
            </a:r>
            <a:endParaRPr sz="2200">
              <a:latin typeface="Microsoft Sans Serif"/>
              <a:cs typeface="Microsoft Sans Serif"/>
            </a:endParaRPr>
          </a:p>
          <a:p>
            <a:pPr marL="350520" marR="6985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Topluluk</a:t>
            </a:r>
            <a:r>
              <a:rPr sz="2200" b="1" i="1" spc="6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Desteği:</a:t>
            </a:r>
            <a:r>
              <a:rPr sz="2200" b="1" i="1" spc="5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2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2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projeleri</a:t>
            </a:r>
            <a:r>
              <a:rPr sz="22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2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geniş</a:t>
            </a:r>
            <a:r>
              <a:rPr sz="22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topluluk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2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desteklenir.</a:t>
            </a:r>
            <a:r>
              <a:rPr sz="22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</a:t>
            </a:r>
            <a:r>
              <a:rPr sz="22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forumlar</a:t>
            </a:r>
            <a:r>
              <a:rPr sz="22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sosyal</a:t>
            </a:r>
            <a:r>
              <a:rPr sz="22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medya</a:t>
            </a:r>
            <a:r>
              <a:rPr sz="22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üzerinden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yardım</a:t>
            </a:r>
            <a:r>
              <a:rPr sz="22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alabilir.</a:t>
            </a:r>
            <a:endParaRPr sz="2200">
              <a:latin typeface="Microsoft Sans Serif"/>
              <a:cs typeface="Microsoft Sans Serif"/>
            </a:endParaRPr>
          </a:p>
          <a:p>
            <a:pPr marL="350520" marR="5715" indent="-338455" algn="just">
              <a:lnSpc>
                <a:spcPct val="120100"/>
              </a:lnSpc>
              <a:spcBef>
                <a:spcPts val="108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Geliştirme</a:t>
            </a:r>
            <a:r>
              <a:rPr sz="2200" b="1" i="1" spc="17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ve</a:t>
            </a:r>
            <a:r>
              <a:rPr sz="2200" b="1" i="1" spc="16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Özelleştirme:</a:t>
            </a:r>
            <a:r>
              <a:rPr sz="2200" b="1" i="1" spc="15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Kullanıcılar,</a:t>
            </a:r>
            <a:r>
              <a:rPr sz="22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</a:t>
            </a:r>
            <a:r>
              <a:rPr sz="22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ihtiyaçlarına</a:t>
            </a:r>
            <a:r>
              <a:rPr sz="22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22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</a:t>
            </a:r>
            <a:r>
              <a:rPr sz="22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değişiklik</a:t>
            </a:r>
            <a:r>
              <a:rPr sz="22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yapabilir.</a:t>
            </a:r>
            <a:r>
              <a:rPr sz="22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2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durum,</a:t>
            </a:r>
            <a:r>
              <a:rPr sz="22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esneklik</a:t>
            </a:r>
            <a:r>
              <a:rPr sz="22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özelleştirilebilirlik sağlar.</a:t>
            </a:r>
            <a:endParaRPr sz="2200">
              <a:latin typeface="Microsoft Sans Serif"/>
              <a:cs typeface="Microsoft Sans Serif"/>
            </a:endParaRPr>
          </a:p>
          <a:p>
            <a:pPr marL="350520" marR="5715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Güvenlik:</a:t>
            </a:r>
            <a:r>
              <a:rPr sz="2200" b="1" i="1" spc="34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2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kodunun</a:t>
            </a:r>
            <a:r>
              <a:rPr sz="22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2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olması,</a:t>
            </a:r>
            <a:r>
              <a:rPr sz="22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birçok</a:t>
            </a:r>
            <a:r>
              <a:rPr sz="2200" spc="3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geliştiricinin</a:t>
            </a:r>
            <a:r>
              <a:rPr sz="22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kodu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inceleyerek</a:t>
            </a:r>
            <a:r>
              <a:rPr sz="22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</a:t>
            </a:r>
            <a:r>
              <a:rPr sz="22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açıklarını</a:t>
            </a:r>
            <a:r>
              <a:rPr sz="22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bulmasına</a:t>
            </a:r>
            <a:r>
              <a:rPr sz="22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olanak</a:t>
            </a:r>
            <a:r>
              <a:rPr sz="22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tanır.</a:t>
            </a:r>
            <a:r>
              <a:rPr sz="22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Ancak,</a:t>
            </a:r>
            <a:r>
              <a:rPr sz="22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2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kötü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niyetli</a:t>
            </a:r>
            <a:r>
              <a:rPr sz="22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kişiler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2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kullanılabilir.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811395"/>
            <a:chOff x="1338072" y="1411224"/>
            <a:chExt cx="9813290" cy="481139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9468" y="4940808"/>
              <a:ext cx="2147316" cy="12816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6092" y="5364480"/>
              <a:ext cx="2185416" cy="4358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1987" y="5081015"/>
              <a:ext cx="792479" cy="9372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38515" y="5065776"/>
              <a:ext cx="2784348" cy="103174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583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Örnekler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48180" y="1516888"/>
            <a:ext cx="9582785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Linux:</a:t>
            </a:r>
            <a:r>
              <a:rPr sz="2400" b="1" spc="20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4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popüler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4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4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sistemlerinden</a:t>
            </a:r>
            <a:r>
              <a:rPr sz="24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biridir.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dağıtımları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(ör.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Ubuntu,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Fedora,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Debian,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Pardus)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mevcuttur.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8180" y="2608579"/>
            <a:ext cx="9582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002789" algn="l"/>
                <a:tab pos="2874645" algn="l"/>
                <a:tab pos="4051300" algn="l"/>
                <a:tab pos="4653280" algn="l"/>
                <a:tab pos="5779770" algn="l"/>
                <a:tab pos="7398384" algn="l"/>
                <a:tab pos="8642350" algn="l"/>
                <a:tab pos="9227820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FreeBSD: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Unix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tabanlı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ağ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8180" y="2834945"/>
            <a:ext cx="9580880" cy="1620520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77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Android: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kaynaklı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mobil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birçok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cihazda kullanılmaktadır.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33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4358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80" dirty="0"/>
              <a:t> </a:t>
            </a:r>
            <a:r>
              <a:rPr dirty="0"/>
              <a:t>Ticari</a:t>
            </a:r>
            <a:r>
              <a:rPr spc="-80" dirty="0"/>
              <a:t> </a:t>
            </a:r>
            <a:r>
              <a:rPr dirty="0"/>
              <a:t>İşletim</a:t>
            </a:r>
            <a:r>
              <a:rPr spc="-70" dirty="0"/>
              <a:t> </a:t>
            </a:r>
            <a:r>
              <a:rPr spc="-10" dirty="0"/>
              <a:t>Sistemleri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marR="6350" indent="-338455" algn="just">
              <a:lnSpc>
                <a:spcPct val="120000"/>
              </a:lnSpc>
              <a:spcBef>
                <a:spcPts val="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b="1" i="1" dirty="0">
                <a:latin typeface="Arial"/>
                <a:cs typeface="Arial"/>
              </a:rPr>
              <a:t>Ticari</a:t>
            </a:r>
            <a:r>
              <a:rPr b="1" i="1" spc="509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işletim</a:t>
            </a:r>
            <a:r>
              <a:rPr b="1" i="1" spc="50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sistemleri</a:t>
            </a:r>
            <a:r>
              <a:rPr dirty="0"/>
              <a:t>,</a:t>
            </a:r>
            <a:r>
              <a:rPr spc="540" dirty="0"/>
              <a:t> </a:t>
            </a:r>
            <a:r>
              <a:rPr dirty="0"/>
              <a:t>genellikle</a:t>
            </a:r>
            <a:r>
              <a:rPr spc="560" dirty="0"/>
              <a:t> </a:t>
            </a:r>
            <a:r>
              <a:rPr dirty="0"/>
              <a:t>bir</a:t>
            </a:r>
            <a:r>
              <a:rPr spc="560" dirty="0"/>
              <a:t> </a:t>
            </a:r>
            <a:r>
              <a:rPr dirty="0"/>
              <a:t>şirket</a:t>
            </a:r>
            <a:r>
              <a:rPr spc="540" dirty="0"/>
              <a:t> </a:t>
            </a:r>
            <a:r>
              <a:rPr spc="-10" dirty="0"/>
              <a:t>tarafından </a:t>
            </a:r>
            <a:r>
              <a:rPr dirty="0"/>
              <a:t>geliştirilen</a:t>
            </a:r>
            <a:r>
              <a:rPr spc="65" dirty="0"/>
              <a:t>  </a:t>
            </a:r>
            <a:r>
              <a:rPr dirty="0"/>
              <a:t>ve</a:t>
            </a:r>
            <a:r>
              <a:rPr spc="65" dirty="0"/>
              <a:t>  </a:t>
            </a:r>
            <a:r>
              <a:rPr dirty="0"/>
              <a:t>dağıtımı</a:t>
            </a:r>
            <a:r>
              <a:rPr spc="65" dirty="0"/>
              <a:t>  </a:t>
            </a:r>
            <a:r>
              <a:rPr dirty="0"/>
              <a:t>lisans</a:t>
            </a:r>
            <a:r>
              <a:rPr spc="65" dirty="0"/>
              <a:t>  </a:t>
            </a:r>
            <a:r>
              <a:rPr dirty="0"/>
              <a:t>ücreti</a:t>
            </a:r>
            <a:r>
              <a:rPr spc="65" dirty="0"/>
              <a:t>  </a:t>
            </a:r>
            <a:r>
              <a:rPr dirty="0"/>
              <a:t>karşılığında</a:t>
            </a:r>
            <a:r>
              <a:rPr spc="70" dirty="0"/>
              <a:t>  </a:t>
            </a:r>
            <a:r>
              <a:rPr spc="-10" dirty="0"/>
              <a:t>yapılan yazılımlardır.</a:t>
            </a: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350520" algn="l"/>
              </a:tabLst>
            </a:pPr>
            <a:r>
              <a:rPr dirty="0"/>
              <a:t>Kullanıcıların</a:t>
            </a:r>
            <a:r>
              <a:rPr spc="90" dirty="0"/>
              <a:t>  </a:t>
            </a:r>
            <a:r>
              <a:rPr dirty="0"/>
              <a:t>işletim</a:t>
            </a:r>
            <a:r>
              <a:rPr spc="75" dirty="0"/>
              <a:t>  </a:t>
            </a:r>
            <a:r>
              <a:rPr dirty="0"/>
              <a:t>sistemini</a:t>
            </a:r>
            <a:r>
              <a:rPr spc="85" dirty="0"/>
              <a:t>  </a:t>
            </a:r>
            <a:r>
              <a:rPr dirty="0"/>
              <a:t>kullanabilmesi</a:t>
            </a:r>
            <a:r>
              <a:rPr spc="90" dirty="0"/>
              <a:t>  </a:t>
            </a:r>
            <a:r>
              <a:rPr dirty="0"/>
              <a:t>için</a:t>
            </a:r>
            <a:r>
              <a:rPr spc="85" dirty="0"/>
              <a:t>  </a:t>
            </a:r>
            <a:r>
              <a:rPr spc="-10" dirty="0"/>
              <a:t>lisans </a:t>
            </a:r>
            <a:r>
              <a:rPr dirty="0"/>
              <a:t>satın</a:t>
            </a:r>
            <a:r>
              <a:rPr spc="95" dirty="0"/>
              <a:t> </a:t>
            </a:r>
            <a:r>
              <a:rPr dirty="0"/>
              <a:t>alması</a:t>
            </a:r>
            <a:r>
              <a:rPr spc="105" dirty="0"/>
              <a:t> </a:t>
            </a:r>
            <a:r>
              <a:rPr spc="-10" dirty="0"/>
              <a:t>gerekir.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34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1164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Özellikler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20850"/>
            <a:ext cx="9581515" cy="446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Ticari</a:t>
            </a:r>
            <a:r>
              <a:rPr sz="2200" b="1" i="1" spc="54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Lisans:</a:t>
            </a:r>
            <a:r>
              <a:rPr sz="2200" b="1" i="1" spc="-3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Kullanıcılar,  yazılımı</a:t>
            </a:r>
            <a:r>
              <a:rPr sz="22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kullanabilmek  için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lisans</a:t>
            </a:r>
            <a:r>
              <a:rPr sz="22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bedeli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ödemek</a:t>
            </a:r>
            <a:r>
              <a:rPr sz="22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zorundadır.</a:t>
            </a:r>
            <a:r>
              <a:rPr sz="22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Bu,</a:t>
            </a:r>
            <a:r>
              <a:rPr sz="22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2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gelişimini</a:t>
            </a:r>
            <a:r>
              <a:rPr sz="22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</a:t>
            </a:r>
            <a:r>
              <a:rPr sz="22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hizmetlerini</a:t>
            </a:r>
            <a:r>
              <a:rPr sz="22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finanse eder.</a:t>
            </a:r>
            <a:endParaRPr sz="2200">
              <a:latin typeface="Microsoft Sans Serif"/>
              <a:cs typeface="Microsoft Sans Serif"/>
            </a:endParaRPr>
          </a:p>
          <a:p>
            <a:pPr marL="350520" marR="5715" indent="-338455" algn="just">
              <a:lnSpc>
                <a:spcPct val="1201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Resmi</a:t>
            </a:r>
            <a:r>
              <a:rPr sz="2200" b="1" i="1" spc="16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Destek:</a:t>
            </a:r>
            <a:r>
              <a:rPr sz="2200" b="1" i="1" spc="170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Ticari</a:t>
            </a:r>
            <a:r>
              <a:rPr sz="22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</a:t>
            </a:r>
            <a:r>
              <a:rPr sz="22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2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resmi</a:t>
            </a:r>
            <a:r>
              <a:rPr sz="22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</a:t>
            </a:r>
            <a:r>
              <a:rPr sz="22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hizmetleri</a:t>
            </a:r>
            <a:r>
              <a:rPr sz="22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sunar.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Kullanıcılar,</a:t>
            </a:r>
            <a:r>
              <a:rPr sz="22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sorunları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teknik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</a:t>
            </a:r>
            <a:r>
              <a:rPr sz="22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alabilirler.</a:t>
            </a:r>
            <a:endParaRPr sz="22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100"/>
              </a:lnSpc>
              <a:spcBef>
                <a:spcPts val="108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Kullanım</a:t>
            </a:r>
            <a:r>
              <a:rPr sz="2200" b="1" i="1" spc="6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Kolaylığı:</a:t>
            </a:r>
            <a:r>
              <a:rPr sz="2200" b="1" i="1" spc="65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Ticari</a:t>
            </a:r>
            <a:r>
              <a:rPr sz="22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2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</a:t>
            </a:r>
            <a:r>
              <a:rPr sz="22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2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2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dostu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arayüzler</a:t>
            </a:r>
            <a:r>
              <a:rPr sz="22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belgelerle</a:t>
            </a:r>
            <a:r>
              <a:rPr sz="22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birlikte</a:t>
            </a:r>
            <a:r>
              <a:rPr sz="22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gelir.</a:t>
            </a:r>
            <a:r>
              <a:rPr sz="22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Bu,</a:t>
            </a:r>
            <a:r>
              <a:rPr sz="2200" spc="3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2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</a:t>
            </a:r>
            <a:r>
              <a:rPr sz="22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2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öğrenmeyi kolaylaştırır.</a:t>
            </a:r>
            <a:endParaRPr sz="2200">
              <a:latin typeface="Microsoft Sans Serif"/>
              <a:cs typeface="Microsoft Sans Serif"/>
            </a:endParaRPr>
          </a:p>
          <a:p>
            <a:pPr marL="350520" marR="762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Güvenlik</a:t>
            </a:r>
            <a:r>
              <a:rPr sz="2200" b="1" i="1" spc="215" dirty="0">
                <a:solidFill>
                  <a:srgbClr val="F34D09"/>
                </a:solidFill>
                <a:latin typeface="Arial"/>
                <a:cs typeface="Arial"/>
              </a:rPr>
              <a:t>  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ve</a:t>
            </a:r>
            <a:r>
              <a:rPr sz="2200" b="1" i="1" spc="204" dirty="0">
                <a:solidFill>
                  <a:srgbClr val="F34D09"/>
                </a:solidFill>
                <a:latin typeface="Arial"/>
                <a:cs typeface="Arial"/>
              </a:rPr>
              <a:t>   </a:t>
            </a:r>
            <a:r>
              <a:rPr sz="2200" b="1" i="1" dirty="0">
                <a:solidFill>
                  <a:srgbClr val="F34D09"/>
                </a:solidFill>
                <a:latin typeface="Arial"/>
                <a:cs typeface="Arial"/>
              </a:rPr>
              <a:t>Güncellemeler:</a:t>
            </a:r>
            <a:r>
              <a:rPr sz="2200" b="1" i="1" spc="210" dirty="0">
                <a:solidFill>
                  <a:srgbClr val="F34D09"/>
                </a:solidFill>
                <a:latin typeface="Arial"/>
                <a:cs typeface="Arial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Ticari</a:t>
            </a:r>
            <a:r>
              <a:rPr sz="22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2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2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 güncellemeleri</a:t>
            </a:r>
            <a:r>
              <a:rPr sz="22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2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</a:t>
            </a:r>
            <a:r>
              <a:rPr sz="22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2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düzenli</a:t>
            </a:r>
            <a:r>
              <a:rPr sz="22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2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güncellemeler</a:t>
            </a:r>
            <a:r>
              <a:rPr sz="22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alır.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35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195570"/>
            <a:chOff x="1338072" y="1411224"/>
            <a:chExt cx="9813290" cy="519557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6231" y="5544312"/>
              <a:ext cx="2933699" cy="7299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1368" y="5192268"/>
              <a:ext cx="1514856" cy="1414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9183" y="5326380"/>
              <a:ext cx="2478024" cy="11475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583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Örnekler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48180" y="1516888"/>
            <a:ext cx="9579610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Windows:</a:t>
            </a:r>
            <a:r>
              <a:rPr sz="2400" b="1" spc="3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Microsoft</a:t>
            </a:r>
            <a:r>
              <a:rPr sz="24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4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</a:t>
            </a:r>
            <a:r>
              <a:rPr sz="24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4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</a:t>
            </a:r>
            <a:r>
              <a:rPr sz="24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ticari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sistemlerinden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biridir.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Kişisel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bilgisayarlar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sunucular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sürümleri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bulunmaktadır.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8180" y="3047187"/>
            <a:ext cx="95802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891664" algn="l"/>
                <a:tab pos="3059430" algn="l"/>
                <a:tab pos="4820920" algn="l"/>
                <a:tab pos="6569075" algn="l"/>
                <a:tab pos="7279640" algn="l"/>
                <a:tab pos="8785225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macOS: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yalnızca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8180" y="3274821"/>
            <a:ext cx="9580245" cy="1619885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764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donanımlarında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çalışan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iOS:</a:t>
            </a:r>
            <a:r>
              <a:rPr sz="2400" b="1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Apple tarafından geliştirilen,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iPhone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 iPad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cihazları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birlikte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gelen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sistemidir.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36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47165">
              <a:lnSpc>
                <a:spcPct val="100000"/>
              </a:lnSpc>
              <a:spcBef>
                <a:spcPts val="95"/>
              </a:spcBef>
            </a:pPr>
            <a:r>
              <a:rPr dirty="0"/>
              <a:t>Açık</a:t>
            </a:r>
            <a:r>
              <a:rPr spc="-75" dirty="0"/>
              <a:t> </a:t>
            </a:r>
            <a:r>
              <a:rPr dirty="0"/>
              <a:t>Kaynak</a:t>
            </a:r>
            <a:r>
              <a:rPr spc="-65" dirty="0"/>
              <a:t> </a:t>
            </a:r>
            <a:r>
              <a:rPr dirty="0"/>
              <a:t>ve</a:t>
            </a:r>
            <a:r>
              <a:rPr spc="-70" dirty="0"/>
              <a:t> </a:t>
            </a:r>
            <a:r>
              <a:rPr dirty="0"/>
              <a:t>Ticari</a:t>
            </a:r>
            <a:r>
              <a:rPr spc="-50" dirty="0"/>
              <a:t> </a:t>
            </a:r>
            <a:r>
              <a:rPr spc="-10" dirty="0"/>
              <a:t>Karşılaştırma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2785" cy="337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8255" indent="-338455" algn="just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Maliyet:</a:t>
            </a:r>
            <a:r>
              <a:rPr sz="2400" b="1" i="1" spc="3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</a:t>
            </a:r>
            <a:r>
              <a:rPr sz="24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ücretsizdir,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ticari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ise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lisans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ücreti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gerektirir.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Esneklik:</a:t>
            </a:r>
            <a:r>
              <a:rPr sz="2400" b="1" i="1" spc="265" dirty="0">
                <a:solidFill>
                  <a:srgbClr val="F34D0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yazılımlar,</a:t>
            </a:r>
            <a:r>
              <a:rPr sz="24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kullanıcıların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kodu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değiştirme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özelleştirme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imkanı</a:t>
            </a:r>
            <a:r>
              <a:rPr sz="2400" spc="5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sunar;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ticari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kapalıdır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sınırlı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özelleştirme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seçenekleri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sunar.</a:t>
            </a:r>
            <a:endParaRPr sz="2400">
              <a:latin typeface="Microsoft Sans Serif"/>
              <a:cs typeface="Microsoft Sans Serif"/>
            </a:endParaRPr>
          </a:p>
          <a:p>
            <a:pPr marL="350520" marR="6350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F34D09"/>
                </a:solidFill>
                <a:latin typeface="Arial"/>
                <a:cs typeface="Arial"/>
              </a:rPr>
              <a:t>Destek:</a:t>
            </a:r>
            <a:r>
              <a:rPr sz="2400" b="1" i="1" spc="220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Ticari</a:t>
            </a:r>
            <a:r>
              <a:rPr sz="24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</a:t>
            </a:r>
            <a:r>
              <a:rPr sz="24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resmi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sunarken,</a:t>
            </a:r>
            <a:r>
              <a:rPr sz="24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kaynak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sistemlerde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topluluklar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tarafından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sağlanır.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137859"/>
            <a:ext cx="140335" cy="478790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9.10.2025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37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1508</Words>
  <Application>Microsoft Office PowerPoint</Application>
  <PresentationFormat>Geniş ekran</PresentationFormat>
  <Paragraphs>310</Paragraphs>
  <Slides>37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2" baseType="lpstr">
      <vt:lpstr>Arial</vt:lpstr>
      <vt:lpstr>Lucida Sans Unicode</vt:lpstr>
      <vt:lpstr>Microsoft Sans Serif</vt:lpstr>
      <vt:lpstr>Wingdings</vt:lpstr>
      <vt:lpstr>Office Theme</vt:lpstr>
      <vt:lpstr>Yazılım ve İşletim Sistemleri</vt:lpstr>
      <vt:lpstr>PowerPoint Sunusu</vt:lpstr>
      <vt:lpstr>1. Yazılım Nedir?</vt:lpstr>
      <vt:lpstr>2. Yazılımın Özellikleri</vt:lpstr>
      <vt:lpstr>3. Yazılım ile Donanım İlişkisi</vt:lpstr>
      <vt:lpstr>4. Yazılım Çeşitleri</vt:lpstr>
      <vt:lpstr>4. Yazılım Çeşitleri</vt:lpstr>
      <vt:lpstr>PowerPoint Sunusu</vt:lpstr>
      <vt:lpstr>1. İşletim Sistemi Kavramı</vt:lpstr>
      <vt:lpstr>2. İşletim Sisteminin Görevleri</vt:lpstr>
      <vt:lpstr>PowerPoint Sunusu</vt:lpstr>
      <vt:lpstr>1. Çekirdek (Kernel)</vt:lpstr>
      <vt:lpstr>2. Kullanıcı Arayüzü (GUI ve CLI)</vt:lpstr>
      <vt:lpstr>3. Dosya Sistemi</vt:lpstr>
      <vt:lpstr>PowerPoint Sunusu</vt:lpstr>
      <vt:lpstr>1. Kişisel Bilgisayar İşletim Sistemleri</vt:lpstr>
      <vt:lpstr>2. Mobil İşletim Sistemleri</vt:lpstr>
      <vt:lpstr>3. Sunucu İşletim Sistemleri</vt:lpstr>
      <vt:lpstr>4. Gömülü Sistemler için İşletim Sistemleri</vt:lpstr>
      <vt:lpstr>PowerPoint Sunusu</vt:lpstr>
      <vt:lpstr>1. UNIX</vt:lpstr>
      <vt:lpstr>2. Windows</vt:lpstr>
      <vt:lpstr>3. MacOS</vt:lpstr>
      <vt:lpstr>4. LINUX</vt:lpstr>
      <vt:lpstr>5. PARDUS</vt:lpstr>
      <vt:lpstr>6. CHROME OS</vt:lpstr>
      <vt:lpstr>7. ANDROID</vt:lpstr>
      <vt:lpstr>8. iOS</vt:lpstr>
      <vt:lpstr>9. HarmonyOS</vt:lpstr>
      <vt:lpstr>PowerPoint Sunusu</vt:lpstr>
      <vt:lpstr>1. Açık Kaynak İşletim Sistemleri</vt:lpstr>
      <vt:lpstr>Özellikler</vt:lpstr>
      <vt:lpstr>Örnekler</vt:lpstr>
      <vt:lpstr>2. Ticari İşletim Sistemleri</vt:lpstr>
      <vt:lpstr>Özellikler</vt:lpstr>
      <vt:lpstr>Örnekler</vt:lpstr>
      <vt:lpstr>Açık Kaynak ve Ticari Karşılaştırma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İşletim Sistemleri</dc:title>
  <dc:creator>Öğr. Gör. Erkan KAYNAK</dc:creator>
  <cp:lastModifiedBy>Halil Arslan</cp:lastModifiedBy>
  <cp:revision>3</cp:revision>
  <dcterms:created xsi:type="dcterms:W3CDTF">2025-10-19T19:00:00Z</dcterms:created>
  <dcterms:modified xsi:type="dcterms:W3CDTF">2025-11-07T11:36:16Z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