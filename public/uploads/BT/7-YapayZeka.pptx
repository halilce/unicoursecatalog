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95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52591" y="778891"/>
            <a:ext cx="5277484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43180" cy="6858000"/>
          </a:xfrm>
          <a:custGeom>
            <a:avLst/>
            <a:gdLst/>
            <a:ahLst/>
            <a:cxnLst/>
            <a:rect l="l" t="t" r="r" b="b"/>
            <a:pathLst>
              <a:path w="43180" h="6858000">
                <a:moveTo>
                  <a:pt x="0" y="6858000"/>
                </a:moveTo>
                <a:lnTo>
                  <a:pt x="42671" y="6858000"/>
                </a:lnTo>
                <a:lnTo>
                  <a:pt x="42671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1004316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61644" y="0"/>
            <a:ext cx="6350" cy="6858000"/>
          </a:xfrm>
          <a:custGeom>
            <a:avLst/>
            <a:gdLst/>
            <a:ahLst/>
            <a:cxnLst/>
            <a:rect l="l" t="t" r="r" b="b"/>
            <a:pathLst>
              <a:path w="6350" h="6858000">
                <a:moveTo>
                  <a:pt x="0" y="6858000"/>
                </a:moveTo>
                <a:lnTo>
                  <a:pt x="6096" y="6858000"/>
                </a:lnTo>
                <a:lnTo>
                  <a:pt x="6096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67740" y="0"/>
            <a:ext cx="10372725" cy="6858000"/>
          </a:xfrm>
          <a:custGeom>
            <a:avLst/>
            <a:gdLst/>
            <a:ahLst/>
            <a:cxnLst/>
            <a:rect l="l" t="t" r="r" b="b"/>
            <a:pathLst>
              <a:path w="10372725" h="6858000">
                <a:moveTo>
                  <a:pt x="10372344" y="0"/>
                </a:moveTo>
                <a:lnTo>
                  <a:pt x="0" y="0"/>
                </a:lnTo>
                <a:lnTo>
                  <a:pt x="0" y="6858000"/>
                </a:lnTo>
                <a:lnTo>
                  <a:pt x="10372344" y="6858000"/>
                </a:lnTo>
                <a:lnTo>
                  <a:pt x="10372344" y="0"/>
                </a:lnTo>
                <a:close/>
              </a:path>
            </a:pathLst>
          </a:custGeom>
          <a:solidFill>
            <a:srgbClr val="2C241F">
              <a:alpha val="9215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1376660" y="0"/>
            <a:ext cx="27940" cy="6858000"/>
          </a:xfrm>
          <a:custGeom>
            <a:avLst/>
            <a:gdLst/>
            <a:ahLst/>
            <a:cxnLst/>
            <a:rect l="l" t="t" r="r" b="b"/>
            <a:pathLst>
              <a:path w="27940" h="6858000">
                <a:moveTo>
                  <a:pt x="27431" y="0"/>
                </a:moveTo>
                <a:lnTo>
                  <a:pt x="0" y="0"/>
                </a:lnTo>
                <a:lnTo>
                  <a:pt x="0" y="6858000"/>
                </a:lnTo>
                <a:lnTo>
                  <a:pt x="27431" y="6858000"/>
                </a:lnTo>
                <a:lnTo>
                  <a:pt x="27431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31592" y="2104643"/>
            <a:ext cx="9360408" cy="475335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0476" cy="68579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0"/>
            <a:ext cx="965200" cy="6858000"/>
          </a:xfrm>
          <a:custGeom>
            <a:avLst/>
            <a:gdLst/>
            <a:ahLst/>
            <a:cxnLst/>
            <a:rect l="l" t="t" r="r" b="b"/>
            <a:pathLst>
              <a:path w="965200" h="6858000">
                <a:moveTo>
                  <a:pt x="964691" y="0"/>
                </a:moveTo>
                <a:lnTo>
                  <a:pt x="0" y="0"/>
                </a:lnTo>
                <a:lnTo>
                  <a:pt x="0" y="6858000"/>
                </a:lnTo>
                <a:lnTo>
                  <a:pt x="964691" y="6858000"/>
                </a:lnTo>
                <a:lnTo>
                  <a:pt x="964691" y="0"/>
                </a:lnTo>
                <a:close/>
              </a:path>
            </a:pathLst>
          </a:custGeom>
          <a:solidFill>
            <a:srgbClr val="2C24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43936" y="778891"/>
            <a:ext cx="8487537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1" i="0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48180" y="1559813"/>
            <a:ext cx="9581515" cy="4777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1">
                <a:solidFill>
                  <a:srgbClr val="2C241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hyperlink" Target="https://turkiye.ai/wp-content/uploads/2025/07/TRAI_girisimler_haritasi_2025.pdf" TargetMode="Externa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8007350" cy="6858000"/>
            <a:chOff x="961644" y="0"/>
            <a:chExt cx="8007350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7364" y="0"/>
              <a:ext cx="7934325" cy="6858000"/>
            </a:xfrm>
            <a:custGeom>
              <a:avLst/>
              <a:gdLst/>
              <a:ahLst/>
              <a:cxnLst/>
              <a:rect l="l" t="t" r="r" b="b"/>
              <a:pathLst>
                <a:path w="7934325" h="6858000">
                  <a:moveTo>
                    <a:pt x="79339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933944" y="6858000"/>
                  </a:lnTo>
                  <a:lnTo>
                    <a:pt x="79339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941308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74496" y="2088896"/>
            <a:ext cx="2940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140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24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4425188" y="2193163"/>
            <a:ext cx="40347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Yapay</a:t>
            </a:r>
            <a:r>
              <a:rPr sz="6000" b="0" spc="-36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000" b="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Zeka</a:t>
            </a:r>
            <a:endParaRPr sz="6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933825" y="4997727"/>
            <a:ext cx="4526915" cy="522579"/>
          </a:xfrm>
          <a:prstGeom prst="rect">
            <a:avLst/>
          </a:prstGeom>
        </p:spPr>
        <p:txBody>
          <a:bodyPr vert="horz" wrap="square" lIns="0" tIns="15176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195"/>
              </a:spcBef>
            </a:pPr>
            <a:r>
              <a:rPr sz="2400" spc="-10" dirty="0" err="1" smtClean="0">
                <a:solidFill>
                  <a:srgbClr val="FFFFFF"/>
                </a:solidFill>
                <a:latin typeface="Microsoft Sans Serif"/>
                <a:cs typeface="Microsoft Sans Serif"/>
              </a:rPr>
              <a:t>Bölümü</a:t>
            </a:r>
            <a:endParaRPr sz="2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3677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00" dirty="0"/>
              <a:t> </a:t>
            </a:r>
            <a:r>
              <a:rPr dirty="0"/>
              <a:t>Zeka</a:t>
            </a:r>
            <a:r>
              <a:rPr spc="-95" dirty="0"/>
              <a:t> </a:t>
            </a:r>
            <a:r>
              <a:rPr spc="-10" dirty="0"/>
              <a:t>Nedir?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10000"/>
              </a:lnSpc>
              <a:spcBef>
                <a:spcPts val="9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0" i="0" dirty="0">
                <a:latin typeface="Microsoft Sans Serif"/>
                <a:cs typeface="Microsoft Sans Serif"/>
              </a:rPr>
              <a:t>Yapay</a:t>
            </a:r>
            <a:r>
              <a:rPr sz="2600" b="0" i="0" spc="180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Zeka</a:t>
            </a:r>
            <a:r>
              <a:rPr sz="2600" b="0" i="0" spc="18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(Artificial</a:t>
            </a:r>
            <a:r>
              <a:rPr sz="2600" b="0" i="0" spc="18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Intelligence),</a:t>
            </a:r>
            <a:r>
              <a:rPr sz="2600" b="0" i="0" spc="18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bilgisayar</a:t>
            </a:r>
            <a:r>
              <a:rPr sz="2600" b="0" i="0" spc="175" dirty="0">
                <a:latin typeface="Microsoft Sans Serif"/>
                <a:cs typeface="Microsoft Sans Serif"/>
              </a:rPr>
              <a:t>  </a:t>
            </a:r>
            <a:r>
              <a:rPr sz="2600" b="0" i="0" spc="-10" dirty="0">
                <a:latin typeface="Microsoft Sans Serif"/>
                <a:cs typeface="Microsoft Sans Serif"/>
              </a:rPr>
              <a:t>sistemlerinin </a:t>
            </a:r>
            <a:r>
              <a:rPr sz="2600" b="0" i="0" dirty="0">
                <a:latin typeface="Microsoft Sans Serif"/>
                <a:cs typeface="Microsoft Sans Serif"/>
              </a:rPr>
              <a:t>insan</a:t>
            </a:r>
            <a:r>
              <a:rPr sz="2600" b="0" i="0" spc="80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zekasını</a:t>
            </a:r>
            <a:r>
              <a:rPr sz="2600" b="0" i="0" spc="7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taklit</a:t>
            </a:r>
            <a:r>
              <a:rPr sz="2600" b="0" i="0" spc="7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ederek</a:t>
            </a:r>
            <a:r>
              <a:rPr sz="2600" b="0" i="0" spc="8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çeşitli</a:t>
            </a:r>
            <a:r>
              <a:rPr sz="2600" b="0" i="0" spc="80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görevleri</a:t>
            </a:r>
            <a:r>
              <a:rPr sz="2600" b="0" i="0" spc="75" dirty="0">
                <a:latin typeface="Microsoft Sans Serif"/>
                <a:cs typeface="Microsoft Sans Serif"/>
              </a:rPr>
              <a:t>  </a:t>
            </a:r>
            <a:r>
              <a:rPr sz="2600" b="0" i="0" dirty="0">
                <a:latin typeface="Microsoft Sans Serif"/>
                <a:cs typeface="Microsoft Sans Serif"/>
              </a:rPr>
              <a:t>yerine</a:t>
            </a:r>
            <a:r>
              <a:rPr sz="2600" b="0" i="0" spc="85" dirty="0">
                <a:latin typeface="Microsoft Sans Serif"/>
                <a:cs typeface="Microsoft Sans Serif"/>
              </a:rPr>
              <a:t>  </a:t>
            </a:r>
            <a:r>
              <a:rPr sz="2600" b="0" i="0" spc="-10" dirty="0">
                <a:latin typeface="Microsoft Sans Serif"/>
                <a:cs typeface="Microsoft Sans Serif"/>
              </a:rPr>
              <a:t>getirme yeteneğidir.</a:t>
            </a:r>
            <a:endParaRPr sz="26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405"/>
              </a:spcBef>
              <a:buClr>
                <a:srgbClr val="F88556"/>
              </a:buClr>
              <a:buSzPct val="90384"/>
              <a:buFont typeface="Wingdings"/>
              <a:buChar char=""/>
              <a:tabLst>
                <a:tab pos="350520" algn="l"/>
              </a:tabLst>
            </a:pPr>
            <a:r>
              <a:rPr sz="2600" b="0" i="0" dirty="0">
                <a:latin typeface="Microsoft Sans Serif"/>
                <a:cs typeface="Microsoft Sans Serif"/>
              </a:rPr>
              <a:t>Bu</a:t>
            </a:r>
            <a:r>
              <a:rPr sz="2600" b="0" i="0" spc="-40" dirty="0">
                <a:latin typeface="Microsoft Sans Serif"/>
                <a:cs typeface="Microsoft Sans Serif"/>
              </a:rPr>
              <a:t> </a:t>
            </a:r>
            <a:r>
              <a:rPr sz="2600" b="0" i="0" dirty="0">
                <a:latin typeface="Microsoft Sans Serif"/>
                <a:cs typeface="Microsoft Sans Serif"/>
              </a:rPr>
              <a:t>görevler</a:t>
            </a:r>
            <a:r>
              <a:rPr sz="2600" b="0" i="0" spc="-50" dirty="0">
                <a:latin typeface="Microsoft Sans Serif"/>
                <a:cs typeface="Microsoft Sans Serif"/>
              </a:rPr>
              <a:t> </a:t>
            </a:r>
            <a:r>
              <a:rPr sz="2600" b="0" i="0" spc="-10" dirty="0">
                <a:latin typeface="Microsoft Sans Serif"/>
                <a:cs typeface="Microsoft Sans Serif"/>
              </a:rPr>
              <a:t>arasında;</a:t>
            </a:r>
            <a:endParaRPr sz="26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41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80200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öğrenme,</a:t>
            </a:r>
            <a:endParaRPr sz="2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3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80200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çözme,</a:t>
            </a:r>
            <a:endParaRPr sz="2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3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80200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verme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3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802005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endParaRPr sz="2400">
              <a:latin typeface="Microsoft Sans Serif"/>
              <a:cs typeface="Microsoft Sans Serif"/>
            </a:endParaRPr>
          </a:p>
          <a:p>
            <a:pPr marL="381000">
              <a:lnSpc>
                <a:spcPct val="100000"/>
              </a:lnSpc>
              <a:spcBef>
                <a:spcPts val="1395"/>
              </a:spcBef>
            </a:pPr>
            <a:r>
              <a:rPr sz="2600" b="0" i="0" dirty="0">
                <a:latin typeface="Microsoft Sans Serif"/>
                <a:cs typeface="Microsoft Sans Serif"/>
              </a:rPr>
              <a:t>karmaşık</a:t>
            </a:r>
            <a:r>
              <a:rPr sz="2600" b="0" i="0" spc="25" dirty="0">
                <a:latin typeface="Microsoft Sans Serif"/>
                <a:cs typeface="Microsoft Sans Serif"/>
              </a:rPr>
              <a:t> </a:t>
            </a:r>
            <a:r>
              <a:rPr sz="2600" b="0" i="0" dirty="0">
                <a:latin typeface="Microsoft Sans Serif"/>
                <a:cs typeface="Microsoft Sans Serif"/>
              </a:rPr>
              <a:t>işlemler</a:t>
            </a:r>
            <a:r>
              <a:rPr sz="2600" b="0" i="0" spc="25" dirty="0">
                <a:latin typeface="Microsoft Sans Serif"/>
                <a:cs typeface="Microsoft Sans Serif"/>
              </a:rPr>
              <a:t> </a:t>
            </a:r>
            <a:r>
              <a:rPr sz="2600" b="0" i="0" dirty="0">
                <a:latin typeface="Microsoft Sans Serif"/>
                <a:cs typeface="Microsoft Sans Serif"/>
              </a:rPr>
              <a:t>yer</a:t>
            </a:r>
            <a:r>
              <a:rPr sz="2600" b="0" i="0" spc="30" dirty="0">
                <a:latin typeface="Microsoft Sans Serif"/>
                <a:cs typeface="Microsoft Sans Serif"/>
              </a:rPr>
              <a:t> </a:t>
            </a:r>
            <a:r>
              <a:rPr sz="2600" b="0" i="0" spc="-10" dirty="0">
                <a:latin typeface="Microsoft Sans Serif"/>
                <a:cs typeface="Microsoft Sans Serif"/>
              </a:rPr>
              <a:t>alır.</a:t>
            </a:r>
            <a:endParaRPr sz="26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1844" y="2976372"/>
            <a:ext cx="4357115" cy="34533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312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25" dirty="0"/>
              <a:t>Tarihçesi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 algn="just">
              <a:lnSpc>
                <a:spcPct val="100000"/>
              </a:lnSpc>
              <a:spcBef>
                <a:spcPts val="9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1950'ler:</a:t>
            </a:r>
            <a:r>
              <a:rPr sz="1900" spc="490" dirty="0">
                <a:solidFill>
                  <a:srgbClr val="FF840D"/>
                </a:solidFill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Dartmouth</a:t>
            </a:r>
            <a:r>
              <a:rPr sz="1900" b="0" i="0" spc="15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Konferansı</a:t>
            </a:r>
            <a:r>
              <a:rPr sz="1900" b="0" i="0" spc="15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ile</a:t>
            </a:r>
            <a:r>
              <a:rPr sz="1900" b="0" i="0" spc="1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1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zekâ</a:t>
            </a:r>
            <a:r>
              <a:rPr sz="1900" b="0" i="0" spc="1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terimi</a:t>
            </a:r>
            <a:r>
              <a:rPr sz="1900" b="0" i="0" spc="5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ilk</a:t>
            </a:r>
            <a:r>
              <a:rPr sz="1900" b="0" i="0" spc="1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kez</a:t>
            </a:r>
            <a:r>
              <a:rPr sz="1900" b="0" i="0" spc="15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kullanıldı</a:t>
            </a:r>
            <a:r>
              <a:rPr sz="1900" b="0" i="0" spc="1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ve</a:t>
            </a:r>
            <a:r>
              <a:rPr sz="1900" b="0" i="0" spc="5" dirty="0">
                <a:latin typeface="Microsoft Sans Serif"/>
                <a:cs typeface="Microsoft Sans Serif"/>
              </a:rPr>
              <a:t>  </a:t>
            </a:r>
            <a:r>
              <a:rPr sz="1900" b="0" i="0" spc="-10" dirty="0">
                <a:latin typeface="Microsoft Sans Serif"/>
                <a:cs typeface="Microsoft Sans Serif"/>
              </a:rPr>
              <a:t>alanın </a:t>
            </a:r>
            <a:r>
              <a:rPr sz="1900" b="0" i="0" dirty="0">
                <a:latin typeface="Microsoft Sans Serif"/>
                <a:cs typeface="Microsoft Sans Serif"/>
              </a:rPr>
              <a:t>temelleri</a:t>
            </a:r>
            <a:r>
              <a:rPr sz="1900" b="0" i="0" spc="25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atıldı.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Alan</a:t>
            </a:r>
            <a:r>
              <a:rPr sz="1900" b="0" i="0" spc="229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Turing'in</a:t>
            </a:r>
            <a:r>
              <a:rPr sz="1900" b="0" i="0" spc="24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Turing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Testi,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makinelerin</a:t>
            </a:r>
            <a:r>
              <a:rPr sz="1900" b="0" i="0" spc="254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düşünme</a:t>
            </a:r>
            <a:r>
              <a:rPr sz="1900" b="0" i="0" spc="24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yeteneğini</a:t>
            </a:r>
            <a:r>
              <a:rPr sz="1900" b="0" i="0" spc="24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ölçmek </a:t>
            </a:r>
            <a:r>
              <a:rPr sz="1900" b="0" i="0" dirty="0">
                <a:latin typeface="Microsoft Sans Serif"/>
                <a:cs typeface="Microsoft Sans Serif"/>
              </a:rPr>
              <a:t>için</a:t>
            </a:r>
            <a:r>
              <a:rPr sz="1900" b="0" i="0" spc="-3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önemli</a:t>
            </a:r>
            <a:r>
              <a:rPr sz="1900" b="0" i="0" spc="-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bir</a:t>
            </a:r>
            <a:r>
              <a:rPr sz="1900" b="0" i="0" spc="-2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ölçüt</a:t>
            </a:r>
            <a:r>
              <a:rPr sz="1900" b="0" i="0" spc="-2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olarak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kabul</a:t>
            </a:r>
            <a:r>
              <a:rPr sz="1900" b="0" i="0" spc="-15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edildi.</a:t>
            </a:r>
            <a:endParaRPr sz="19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1960'lar</a:t>
            </a:r>
            <a:r>
              <a:rPr sz="1900" spc="470" dirty="0">
                <a:solidFill>
                  <a:srgbClr val="FF840D"/>
                </a:solidFill>
              </a:rPr>
              <a:t> </a:t>
            </a:r>
            <a:r>
              <a:rPr sz="1900" dirty="0">
                <a:solidFill>
                  <a:srgbClr val="FF840D"/>
                </a:solidFill>
              </a:rPr>
              <a:t>ve</a:t>
            </a:r>
            <a:r>
              <a:rPr sz="1900" spc="475" dirty="0">
                <a:solidFill>
                  <a:srgbClr val="FF840D"/>
                </a:solidFill>
              </a:rPr>
              <a:t> </a:t>
            </a:r>
            <a:r>
              <a:rPr sz="1900" dirty="0">
                <a:solidFill>
                  <a:srgbClr val="FF840D"/>
                </a:solidFill>
              </a:rPr>
              <a:t>1970'ler:</a:t>
            </a:r>
            <a:r>
              <a:rPr sz="1900" spc="470" dirty="0">
                <a:solidFill>
                  <a:srgbClr val="FF840D"/>
                </a:solidFill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49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zekada</a:t>
            </a:r>
            <a:r>
              <a:rPr sz="1900" b="0" i="0" spc="49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büyük  bir  heyecan</a:t>
            </a:r>
            <a:r>
              <a:rPr sz="1900" b="0" i="0" spc="49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yaşandı  ancak</a:t>
            </a:r>
            <a:r>
              <a:rPr sz="1900" b="0" i="0" spc="49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beklenen </a:t>
            </a:r>
            <a:r>
              <a:rPr sz="1900" b="0" i="0" dirty="0">
                <a:latin typeface="Microsoft Sans Serif"/>
                <a:cs typeface="Microsoft Sans Serif"/>
              </a:rPr>
              <a:t>başarılar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elde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edilemeyince</a:t>
            </a:r>
            <a:r>
              <a:rPr sz="1900" b="0" i="0" spc="4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"yapay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zekâ</a:t>
            </a:r>
            <a:r>
              <a:rPr sz="1900" b="0" i="0" spc="-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kışı"</a:t>
            </a:r>
            <a:r>
              <a:rPr sz="1900" b="0" i="0" spc="-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olarak adlandırılan</a:t>
            </a:r>
            <a:r>
              <a:rPr sz="1900" b="0" i="0" spc="4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bir</a:t>
            </a:r>
            <a:r>
              <a:rPr sz="1900" b="0" i="0" spc="-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dönem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yaşandı.</a:t>
            </a:r>
            <a:endParaRPr sz="19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1980'ler:</a:t>
            </a:r>
            <a:r>
              <a:rPr sz="1900" spc="295" dirty="0">
                <a:solidFill>
                  <a:srgbClr val="FF840D"/>
                </a:solidFill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Uzman</a:t>
            </a:r>
            <a:r>
              <a:rPr sz="1900" b="0" i="0" spc="3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sistemler</a:t>
            </a:r>
            <a:r>
              <a:rPr sz="1900" b="0" i="0" spc="33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gibi</a:t>
            </a:r>
            <a:r>
              <a:rPr sz="1900" b="0" i="0" spc="3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bilgi</a:t>
            </a:r>
            <a:r>
              <a:rPr sz="1900" b="0" i="0" spc="3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tabanlı</a:t>
            </a:r>
            <a:r>
              <a:rPr sz="1900" b="0" i="0" spc="3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sistemlerin</a:t>
            </a:r>
            <a:r>
              <a:rPr sz="1900" b="0" i="0" spc="3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geliştirilmesiyle</a:t>
            </a:r>
            <a:r>
              <a:rPr sz="1900" b="0" i="0" spc="3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325" dirty="0">
                <a:latin typeface="Microsoft Sans Serif"/>
                <a:cs typeface="Microsoft Sans Serif"/>
              </a:rPr>
              <a:t> </a:t>
            </a:r>
            <a:r>
              <a:rPr sz="1900" b="0" i="0" spc="-20" dirty="0">
                <a:latin typeface="Microsoft Sans Serif"/>
                <a:cs typeface="Microsoft Sans Serif"/>
              </a:rPr>
              <a:t>zeka</a:t>
            </a:r>
            <a:endParaRPr sz="1900">
              <a:latin typeface="Microsoft Sans Serif"/>
              <a:cs typeface="Microsoft Sans Serif"/>
            </a:endParaRPr>
          </a:p>
          <a:p>
            <a:pPr marL="350520" algn="just">
              <a:lnSpc>
                <a:spcPct val="100000"/>
              </a:lnSpc>
            </a:pPr>
            <a:r>
              <a:rPr sz="1900" b="0" i="0" dirty="0">
                <a:latin typeface="Microsoft Sans Serif"/>
                <a:cs typeface="Microsoft Sans Serif"/>
              </a:rPr>
              <a:t>yeniden</a:t>
            </a:r>
            <a:r>
              <a:rPr sz="1900" b="0" i="0" spc="-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ilgi</a:t>
            </a:r>
            <a:r>
              <a:rPr sz="1900" b="0" i="0" spc="-4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gördü.</a:t>
            </a:r>
            <a:endParaRPr sz="1900">
              <a:latin typeface="Microsoft Sans Serif"/>
              <a:cs typeface="Microsoft Sans Serif"/>
            </a:endParaRPr>
          </a:p>
          <a:p>
            <a:pPr marL="350520" marR="7620" indent="-338455" algn="just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1990'lar:</a:t>
            </a:r>
            <a:r>
              <a:rPr sz="1900" spc="-25" dirty="0">
                <a:solidFill>
                  <a:srgbClr val="FF840D"/>
                </a:solidFill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İnternetin</a:t>
            </a:r>
            <a:r>
              <a:rPr sz="1900" b="0" i="0" spc="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yaygınlaşmasıyla</a:t>
            </a:r>
            <a:r>
              <a:rPr sz="1900" b="0" i="0" spc="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birlikte</a:t>
            </a:r>
            <a:r>
              <a:rPr sz="1900" b="0" i="0" spc="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büyük veri</a:t>
            </a:r>
            <a:r>
              <a:rPr sz="1900" b="0" i="0" spc="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ortaya</a:t>
            </a:r>
            <a:r>
              <a:rPr sz="1900" b="0" i="0" spc="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çıktı ve</a:t>
            </a:r>
            <a:r>
              <a:rPr sz="1900" b="0" i="0" spc="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veri</a:t>
            </a:r>
            <a:r>
              <a:rPr sz="1900" b="0" i="0" spc="-5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madenciliği </a:t>
            </a:r>
            <a:r>
              <a:rPr sz="1900" b="0" i="0" dirty="0">
                <a:latin typeface="Microsoft Sans Serif"/>
                <a:cs typeface="Microsoft Sans Serif"/>
              </a:rPr>
              <a:t>gibi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-2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zeka</a:t>
            </a:r>
            <a:r>
              <a:rPr sz="1900" b="0" i="0" spc="-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teknikleri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önem</a:t>
            </a:r>
            <a:r>
              <a:rPr sz="1900" b="0" i="0" spc="-10" dirty="0">
                <a:latin typeface="Microsoft Sans Serif"/>
                <a:cs typeface="Microsoft Sans Serif"/>
              </a:rPr>
              <a:t> kazandı.</a:t>
            </a:r>
            <a:endParaRPr sz="19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2000'ler</a:t>
            </a:r>
            <a:r>
              <a:rPr sz="1900" spc="-20" dirty="0">
                <a:solidFill>
                  <a:srgbClr val="FF840D"/>
                </a:solidFill>
              </a:rPr>
              <a:t> </a:t>
            </a:r>
            <a:r>
              <a:rPr sz="1900" dirty="0">
                <a:solidFill>
                  <a:srgbClr val="FF840D"/>
                </a:solidFill>
              </a:rPr>
              <a:t>ve</a:t>
            </a:r>
            <a:r>
              <a:rPr sz="1900" spc="-15" dirty="0">
                <a:solidFill>
                  <a:srgbClr val="FF840D"/>
                </a:solidFill>
              </a:rPr>
              <a:t> </a:t>
            </a:r>
            <a:r>
              <a:rPr sz="1900" dirty="0">
                <a:solidFill>
                  <a:srgbClr val="FF840D"/>
                </a:solidFill>
              </a:rPr>
              <a:t>Sonrası:</a:t>
            </a:r>
            <a:r>
              <a:rPr sz="1900" spc="-10" dirty="0">
                <a:solidFill>
                  <a:srgbClr val="FF840D"/>
                </a:solidFill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Derin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öğrenme</a:t>
            </a:r>
            <a:r>
              <a:rPr sz="1900" b="0" i="0" spc="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algoritmalarının</a:t>
            </a:r>
            <a:r>
              <a:rPr sz="1900" b="0" i="0" spc="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gelişmesiyle</a:t>
            </a:r>
            <a:r>
              <a:rPr sz="1900" b="0" i="0" spc="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birlikte</a:t>
            </a:r>
            <a:r>
              <a:rPr sz="1900" b="0" i="0" spc="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1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zeka, </a:t>
            </a:r>
            <a:r>
              <a:rPr sz="1900" b="0" i="0" dirty="0">
                <a:latin typeface="Microsoft Sans Serif"/>
                <a:cs typeface="Microsoft Sans Serif"/>
              </a:rPr>
              <a:t>görüntü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tanıma,</a:t>
            </a:r>
            <a:r>
              <a:rPr sz="1900" b="0" i="0" spc="-3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doğal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dil</a:t>
            </a:r>
            <a:r>
              <a:rPr sz="1900" b="0" i="0" spc="-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işleme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gibi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alanlarda</a:t>
            </a:r>
            <a:r>
              <a:rPr sz="1900" b="0" i="0" spc="-1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büyük</a:t>
            </a:r>
            <a:r>
              <a:rPr sz="1900" b="0" i="0" spc="-2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sıçramalar</a:t>
            </a:r>
            <a:r>
              <a:rPr sz="1900" b="0" i="0" spc="-5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yaptı.</a:t>
            </a:r>
            <a:endParaRPr sz="1900">
              <a:latin typeface="Microsoft Sans Serif"/>
              <a:cs typeface="Microsoft Sans Serif"/>
            </a:endParaRPr>
          </a:p>
          <a:p>
            <a:pPr marL="350520" marR="6985" indent="-338455" algn="just">
              <a:lnSpc>
                <a:spcPct val="100000"/>
              </a:lnSpc>
              <a:spcBef>
                <a:spcPts val="1090"/>
              </a:spcBef>
              <a:buClr>
                <a:srgbClr val="F88556"/>
              </a:buClr>
              <a:buSzPct val="89473"/>
              <a:buFont typeface="Wingdings"/>
              <a:buChar char=""/>
              <a:tabLst>
                <a:tab pos="350520" algn="l"/>
              </a:tabLst>
            </a:pPr>
            <a:r>
              <a:rPr sz="1900" dirty="0">
                <a:solidFill>
                  <a:srgbClr val="FF840D"/>
                </a:solidFill>
              </a:rPr>
              <a:t>Günümüz:</a:t>
            </a:r>
            <a:r>
              <a:rPr sz="1900" spc="55" dirty="0">
                <a:solidFill>
                  <a:srgbClr val="FF840D"/>
                </a:solidFill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Yapay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zeka,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hayatımızın</a:t>
            </a:r>
            <a:r>
              <a:rPr sz="1900" b="0" i="0" spc="9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her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alanında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yer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alıyor.</a:t>
            </a:r>
            <a:r>
              <a:rPr sz="1900" b="0" i="0" spc="80" dirty="0">
                <a:latin typeface="Microsoft Sans Serif"/>
                <a:cs typeface="Microsoft Sans Serif"/>
              </a:rPr>
              <a:t>  </a:t>
            </a:r>
            <a:r>
              <a:rPr sz="1900" b="0" i="0" dirty="0">
                <a:latin typeface="Microsoft Sans Serif"/>
                <a:cs typeface="Microsoft Sans Serif"/>
              </a:rPr>
              <a:t>Akıllı</a:t>
            </a:r>
            <a:r>
              <a:rPr sz="1900" b="0" i="0" spc="75" dirty="0">
                <a:latin typeface="Microsoft Sans Serif"/>
                <a:cs typeface="Microsoft Sans Serif"/>
              </a:rPr>
              <a:t>  </a:t>
            </a:r>
            <a:r>
              <a:rPr sz="1900" b="0" i="0" spc="-10" dirty="0">
                <a:latin typeface="Microsoft Sans Serif"/>
                <a:cs typeface="Microsoft Sans Serif"/>
              </a:rPr>
              <a:t>telefonlardan </a:t>
            </a:r>
            <a:r>
              <a:rPr sz="1900" b="0" i="0" dirty="0">
                <a:latin typeface="Microsoft Sans Serif"/>
                <a:cs typeface="Microsoft Sans Serif"/>
              </a:rPr>
              <a:t>otonom</a:t>
            </a:r>
            <a:r>
              <a:rPr sz="1900" b="0" i="0" spc="24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araçlara,</a:t>
            </a:r>
            <a:r>
              <a:rPr sz="1900" b="0" i="0" spc="24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sağlık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hizmetlerinden</a:t>
            </a:r>
            <a:r>
              <a:rPr sz="1900" b="0" i="0" spc="254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finans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sektörüne</a:t>
            </a:r>
            <a:r>
              <a:rPr sz="1900" b="0" i="0" spc="240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kadar</a:t>
            </a:r>
            <a:r>
              <a:rPr sz="1900" b="0" i="0" spc="24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birçok</a:t>
            </a:r>
            <a:r>
              <a:rPr sz="1900" b="0" i="0" spc="235" dirty="0">
                <a:latin typeface="Microsoft Sans Serif"/>
                <a:cs typeface="Microsoft Sans Serif"/>
              </a:rPr>
              <a:t> </a:t>
            </a:r>
            <a:r>
              <a:rPr sz="1900" b="0" i="0" dirty="0">
                <a:latin typeface="Microsoft Sans Serif"/>
                <a:cs typeface="Microsoft Sans Serif"/>
              </a:rPr>
              <a:t>alanda</a:t>
            </a:r>
            <a:r>
              <a:rPr sz="1900" b="0" i="0" spc="24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yapay </a:t>
            </a:r>
            <a:r>
              <a:rPr sz="1900" b="0" i="0" dirty="0">
                <a:latin typeface="Microsoft Sans Serif"/>
                <a:cs typeface="Microsoft Sans Serif"/>
              </a:rPr>
              <a:t>zeka</a:t>
            </a:r>
            <a:r>
              <a:rPr sz="1900" b="0" i="0" spc="-30" dirty="0">
                <a:latin typeface="Microsoft Sans Serif"/>
                <a:cs typeface="Microsoft Sans Serif"/>
              </a:rPr>
              <a:t> </a:t>
            </a:r>
            <a:r>
              <a:rPr sz="1900" b="0" i="0" spc="-10" dirty="0">
                <a:latin typeface="Microsoft Sans Serif"/>
                <a:cs typeface="Microsoft Sans Serif"/>
              </a:rPr>
              <a:t>kullanılıyor.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38072" y="1411224"/>
            <a:ext cx="9813290" cy="5232400"/>
            <a:chOff x="1338072" y="1411224"/>
            <a:chExt cx="9813290" cy="5232400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16708" y="1482852"/>
              <a:ext cx="7726680" cy="51602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312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25" dirty="0"/>
              <a:t>Tarihçesi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58080" y="6620052"/>
            <a:ext cx="46793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icrosoft Sans Serif"/>
                <a:cs typeface="Microsoft Sans Serif"/>
              </a:rPr>
              <a:t>https://upload.wikimedia.org/wikipedia/commons/f/f2/AI-</a:t>
            </a:r>
            <a:r>
              <a:rPr sz="1000" spc="-20" dirty="0">
                <a:latin typeface="Microsoft Sans Serif"/>
                <a:cs typeface="Microsoft Sans Serif"/>
              </a:rPr>
              <a:t>History-</a:t>
            </a:r>
            <a:r>
              <a:rPr sz="1000" spc="-10" dirty="0">
                <a:latin typeface="Microsoft Sans Serif"/>
                <a:cs typeface="Microsoft Sans Serif"/>
              </a:rPr>
              <a:t>Timeline-300dpi.jpg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7325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35" dirty="0"/>
              <a:t> </a:t>
            </a:r>
            <a:r>
              <a:rPr dirty="0"/>
              <a:t>Zeka’nın</a:t>
            </a:r>
            <a:r>
              <a:rPr spc="-100" dirty="0"/>
              <a:t> </a:t>
            </a:r>
            <a:r>
              <a:rPr dirty="0"/>
              <a:t>Genel</a:t>
            </a:r>
            <a:r>
              <a:rPr spc="-105" dirty="0"/>
              <a:t> </a:t>
            </a:r>
            <a:r>
              <a:rPr spc="-10" dirty="0"/>
              <a:t>Özellikleri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8180" y="1520850"/>
            <a:ext cx="9582150" cy="529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985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  <a:tab pos="1849120" algn="l"/>
                <a:tab pos="2797175" algn="l"/>
                <a:tab pos="3564890" algn="l"/>
                <a:tab pos="5001260" algn="l"/>
                <a:tab pos="5939790" algn="l"/>
                <a:tab pos="7189470" algn="l"/>
                <a:tab pos="8113395" algn="l"/>
                <a:tab pos="9053830" algn="l"/>
              </a:tabLst>
            </a:pP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Öğrenme: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alarak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</a:t>
            </a:r>
            <a:r>
              <a:rPr sz="22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öğrenir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bilgileri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tahminlerde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bulunur.</a:t>
            </a:r>
            <a:endParaRPr sz="22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  <a:tab pos="1663064" algn="l"/>
                <a:tab pos="2868930" algn="l"/>
                <a:tab pos="4244975" algn="l"/>
                <a:tab pos="5825490" algn="l"/>
                <a:tab pos="6753859" algn="l"/>
                <a:tab pos="7804150" algn="l"/>
                <a:tab pos="8822055" algn="l"/>
              </a:tabLst>
            </a:pP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Problem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Çözme: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problemleri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yolları bulabilir.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Karar</a:t>
            </a:r>
            <a:r>
              <a:rPr sz="2200" b="1" i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Verme:</a:t>
            </a:r>
            <a:r>
              <a:rPr sz="22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Verilen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</a:t>
            </a:r>
            <a:r>
              <a:rPr sz="22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doğrultusunda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2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kararı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verebilir.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3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Doğal</a:t>
            </a:r>
            <a:r>
              <a:rPr sz="22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Dil</a:t>
            </a:r>
            <a:r>
              <a:rPr sz="22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İşleme:</a:t>
            </a:r>
            <a:r>
              <a:rPr sz="2200" b="1" i="1" spc="-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</a:t>
            </a:r>
            <a:r>
              <a:rPr sz="22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dilini</a:t>
            </a:r>
            <a:r>
              <a:rPr sz="22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anlayabilir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üretebilir.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3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  <a:tab pos="1675130" algn="l"/>
                <a:tab pos="2861310" algn="l"/>
                <a:tab pos="4467860" algn="l"/>
                <a:tab pos="5421630" algn="l"/>
                <a:tab pos="6497320" algn="l"/>
                <a:tab pos="7854315" algn="l"/>
                <a:tab pos="9273540" algn="l"/>
              </a:tabLst>
            </a:pP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Görüntü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İşleme: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Görüntüleri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nesneleri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tanıyabilir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2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30"/>
              </a:spcBef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sınıflandırabilir.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Ses</a:t>
            </a:r>
            <a:r>
              <a:rPr sz="22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Tanıma:</a:t>
            </a:r>
            <a:r>
              <a:rPr sz="22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Sesleri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2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konuşmaları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anlayabilir.</a:t>
            </a:r>
            <a:endParaRPr sz="2200">
              <a:latin typeface="Microsoft Sans Serif"/>
              <a:cs typeface="Microsoft Sans Serif"/>
            </a:endParaRPr>
          </a:p>
          <a:p>
            <a:pPr marL="350520" marR="7620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  <a:tab pos="1705610" algn="l"/>
                <a:tab pos="2566670" algn="l"/>
                <a:tab pos="3053080" algn="l"/>
                <a:tab pos="4052570" algn="l"/>
                <a:tab pos="4899025" algn="l"/>
                <a:tab pos="6054090" algn="l"/>
                <a:tab pos="7177405" algn="l"/>
                <a:tab pos="8162290" algn="l"/>
                <a:tab pos="8632825" algn="l"/>
              </a:tabLst>
            </a:pP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Özerklik: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ölçüde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hareket edebilir.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7740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7960614" y="3080080"/>
            <a:ext cx="29616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TÜRLERİ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963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14" dirty="0"/>
              <a:t> </a:t>
            </a:r>
            <a:r>
              <a:rPr dirty="0"/>
              <a:t>Zeka</a:t>
            </a:r>
            <a:r>
              <a:rPr spc="-110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8180" y="1350840"/>
            <a:ext cx="9582150" cy="5081270"/>
          </a:xfrm>
          <a:prstGeom prst="rect">
            <a:avLst/>
          </a:prstGeom>
        </p:spPr>
        <p:txBody>
          <a:bodyPr vert="horz" wrap="square" lIns="0" tIns="224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0"/>
              </a:spcBef>
            </a:pPr>
            <a:r>
              <a:rPr sz="2400" b="1" dirty="0">
                <a:solidFill>
                  <a:srgbClr val="FF840D"/>
                </a:solidFill>
                <a:latin typeface="Arial"/>
                <a:cs typeface="Arial"/>
              </a:rPr>
              <a:t>Dar</a:t>
            </a:r>
            <a:r>
              <a:rPr sz="2400" b="1" spc="-1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400" b="1" spc="-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400" b="1" spc="-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FF840D"/>
                </a:solidFill>
                <a:latin typeface="Arial"/>
                <a:cs typeface="Arial"/>
              </a:rPr>
              <a:t>(Narrow</a:t>
            </a:r>
            <a:r>
              <a:rPr sz="2400" b="1" spc="-1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3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Belirli</a:t>
            </a:r>
            <a:r>
              <a:rPr sz="20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görevi</a:t>
            </a:r>
            <a:r>
              <a:rPr sz="20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sınırlı</a:t>
            </a:r>
            <a:r>
              <a:rPr sz="20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bir</a:t>
            </a:r>
            <a:r>
              <a:rPr sz="2000" b="1" spc="-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işlevi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tasarlanmıştır.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10000"/>
              </a:lnSpc>
              <a:spcBef>
                <a:spcPts val="10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sadece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tasarlandığı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alanda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iyi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gösterir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ancak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başka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alanlarda </a:t>
            </a:r>
            <a:r>
              <a:rPr sz="2000" u="sng" spc="-10" dirty="0">
                <a:solidFill>
                  <a:srgbClr val="2C241F"/>
                </a:solidFill>
                <a:uFill>
                  <a:solidFill>
                    <a:srgbClr val="2C241F"/>
                  </a:solidFill>
                </a:uFill>
                <a:latin typeface="Microsoft Sans Serif"/>
                <a:cs typeface="Microsoft Sans Serif"/>
              </a:rPr>
              <a:t>kullanılamaz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Günümüzde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türüdür.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Günümüzdeki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sistemlerinin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tamamı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dar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sınıfına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girer.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33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5673090" algn="l"/>
              </a:tabLst>
            </a:pPr>
            <a:r>
              <a:rPr sz="2000" u="sng" dirty="0">
                <a:solidFill>
                  <a:srgbClr val="2C241F"/>
                </a:solidFill>
                <a:uFill>
                  <a:solidFill>
                    <a:srgbClr val="2C241F"/>
                  </a:solidFill>
                </a:uFill>
                <a:latin typeface="Microsoft Sans Serif"/>
                <a:cs typeface="Microsoft Sans Serif"/>
              </a:rPr>
              <a:t>Örnekler: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Satranç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oynayan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bilgisayarlar,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yüz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tanıma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sesli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asistanlar</a:t>
            </a:r>
            <a:endParaRPr sz="20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(Siri,</a:t>
            </a:r>
            <a:r>
              <a:rPr sz="2000" spc="-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Alexa),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ChatGPT,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Copilot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vb…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Özellikleri: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34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Tek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görevi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getirmek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optimize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edilmiştir.</a:t>
            </a:r>
            <a:endParaRPr sz="20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33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80200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zekasıyla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karşılaştırıldığında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sınırlıdır.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963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14" dirty="0"/>
              <a:t> </a:t>
            </a:r>
            <a:r>
              <a:rPr dirty="0"/>
              <a:t>Zeka</a:t>
            </a:r>
            <a:r>
              <a:rPr spc="-110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448180" y="1594561"/>
            <a:ext cx="9582150" cy="47764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840D"/>
                </a:solidFill>
                <a:latin typeface="Arial"/>
                <a:cs typeface="Arial"/>
              </a:rPr>
              <a:t>Genel</a:t>
            </a:r>
            <a:r>
              <a:rPr sz="2800" b="1" spc="-1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800" b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800" b="1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840D"/>
                </a:solidFill>
                <a:latin typeface="Arial"/>
                <a:cs typeface="Arial"/>
              </a:rPr>
              <a:t>(General</a:t>
            </a:r>
            <a:r>
              <a:rPr sz="2800" b="1" spc="-1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800">
              <a:latin typeface="Arial"/>
              <a:cs typeface="Arial"/>
            </a:endParaRPr>
          </a:p>
          <a:p>
            <a:pPr marL="350520" marR="5715" indent="-338455">
              <a:lnSpc>
                <a:spcPct val="120000"/>
              </a:lnSpc>
              <a:spcBef>
                <a:spcPts val="11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306195" algn="l"/>
                <a:tab pos="2265045" algn="l"/>
                <a:tab pos="3136900" algn="l"/>
                <a:tab pos="4447540" algn="l"/>
                <a:tab pos="5130800" algn="l"/>
                <a:tab pos="6202045" algn="l"/>
                <a:tab pos="7023734" algn="l"/>
                <a:tab pos="812990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insanlar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20" dirty="0">
                <a:solidFill>
                  <a:srgbClr val="2C241F"/>
                </a:solidFill>
                <a:latin typeface="Arial"/>
                <a:cs typeface="Arial"/>
              </a:rPr>
              <a:t>gibi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birden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fazla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alanda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400" b="1" spc="-10" dirty="0">
                <a:solidFill>
                  <a:srgbClr val="2C241F"/>
                </a:solidFill>
                <a:latin typeface="Arial"/>
                <a:cs typeface="Arial"/>
              </a:rPr>
              <a:t>düşünme,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öğrenme</a:t>
            </a:r>
            <a:r>
              <a:rPr sz="2400" b="1" spc="-6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problem</a:t>
            </a:r>
            <a:r>
              <a:rPr sz="2400" b="1" spc="-8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2C241F"/>
                </a:solidFill>
                <a:latin typeface="Arial"/>
                <a:cs typeface="Arial"/>
              </a:rPr>
              <a:t>çözme</a:t>
            </a:r>
            <a:r>
              <a:rPr sz="24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yeteneğine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7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897890" algn="l"/>
                <a:tab pos="1428115" algn="l"/>
                <a:tab pos="1941830" algn="l"/>
                <a:tab pos="2929890" algn="l"/>
                <a:tab pos="3833495" algn="l"/>
                <a:tab pos="4769485" algn="l"/>
                <a:tab pos="6388100" algn="l"/>
                <a:tab pos="7290434" algn="l"/>
                <a:tab pos="8942070" algn="l"/>
              </a:tabLst>
            </a:pP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görevlerde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becerilerini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taklit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edebilir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durumlara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adapte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Teorik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kavramdır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henüz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geliştirilmemiştir.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b="1" i="1" spc="-10" dirty="0">
                <a:solidFill>
                  <a:srgbClr val="2C241F"/>
                </a:solidFill>
                <a:latin typeface="Arial"/>
                <a:cs typeface="Arial"/>
              </a:rPr>
              <a:t>Özellikleri:</a:t>
            </a:r>
            <a:endParaRPr sz="24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660"/>
              </a:spcBef>
              <a:buClr>
                <a:srgbClr val="F88556"/>
              </a:buClr>
              <a:buSzPct val="89130"/>
              <a:buFont typeface="Wingdings"/>
              <a:buChar char=""/>
              <a:tabLst>
                <a:tab pos="802005" algn="l"/>
              </a:tabLst>
            </a:pP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3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alanlarda</a:t>
            </a:r>
            <a:r>
              <a:rPr sz="23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</a:t>
            </a:r>
            <a:r>
              <a:rPr sz="23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edinebilir</a:t>
            </a:r>
            <a:r>
              <a:rPr sz="23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3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uygulayabilir.</a:t>
            </a:r>
            <a:endParaRPr sz="23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655"/>
              </a:spcBef>
              <a:buClr>
                <a:srgbClr val="F88556"/>
              </a:buClr>
              <a:buSzPct val="89130"/>
              <a:buFont typeface="Wingdings"/>
              <a:buChar char=""/>
              <a:tabLst>
                <a:tab pos="802005" algn="l"/>
              </a:tabLst>
            </a:pP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3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3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</a:t>
            </a:r>
            <a:r>
              <a:rPr sz="23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</a:t>
            </a:r>
            <a:r>
              <a:rPr sz="23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3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kompleks</a:t>
            </a:r>
            <a:r>
              <a:rPr sz="23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sorunlara</a:t>
            </a:r>
            <a:r>
              <a:rPr sz="23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</a:t>
            </a:r>
            <a:r>
              <a:rPr sz="23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üretebilir.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5963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14" dirty="0"/>
              <a:t> </a:t>
            </a:r>
            <a:r>
              <a:rPr dirty="0"/>
              <a:t>Zeka</a:t>
            </a:r>
            <a:r>
              <a:rPr spc="-110" dirty="0"/>
              <a:t> </a:t>
            </a:r>
            <a:r>
              <a:rPr spc="-10" dirty="0"/>
              <a:t>Türleri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i="0" dirty="0">
                <a:solidFill>
                  <a:srgbClr val="FF840D"/>
                </a:solidFill>
                <a:latin typeface="Arial"/>
                <a:cs typeface="Arial"/>
              </a:rPr>
              <a:t>Süper</a:t>
            </a:r>
            <a:r>
              <a:rPr sz="2200" i="0" spc="-1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i="0" spc="-10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200" i="0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i="0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200" i="0" spc="-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i="0" dirty="0">
                <a:solidFill>
                  <a:srgbClr val="FF840D"/>
                </a:solidFill>
                <a:latin typeface="Arial"/>
                <a:cs typeface="Arial"/>
              </a:rPr>
              <a:t>(Super</a:t>
            </a:r>
            <a:r>
              <a:rPr sz="2200" i="0" spc="-14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i="0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200">
              <a:latin typeface="Arial"/>
              <a:cs typeface="Arial"/>
            </a:endParaRPr>
          </a:p>
          <a:p>
            <a:pPr marL="350520" marR="5715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i="0" dirty="0">
                <a:latin typeface="Arial"/>
                <a:cs typeface="Arial"/>
              </a:rPr>
              <a:t>İnsan</a:t>
            </a:r>
            <a:r>
              <a:rPr sz="2200" i="0" spc="270" dirty="0">
                <a:latin typeface="Arial"/>
                <a:cs typeface="Arial"/>
              </a:rPr>
              <a:t> </a:t>
            </a:r>
            <a:r>
              <a:rPr sz="2200" i="0" dirty="0">
                <a:latin typeface="Arial"/>
                <a:cs typeface="Arial"/>
              </a:rPr>
              <a:t>zekasını</a:t>
            </a:r>
            <a:r>
              <a:rPr sz="2200" i="0" spc="280" dirty="0">
                <a:latin typeface="Arial"/>
                <a:cs typeface="Arial"/>
              </a:rPr>
              <a:t> </a:t>
            </a:r>
            <a:r>
              <a:rPr sz="2200" i="0" dirty="0">
                <a:latin typeface="Arial"/>
                <a:cs typeface="Arial"/>
              </a:rPr>
              <a:t>aşan</a:t>
            </a:r>
            <a:r>
              <a:rPr sz="2200" b="0" i="0" dirty="0">
                <a:latin typeface="Microsoft Sans Serif"/>
                <a:cs typeface="Microsoft Sans Serif"/>
              </a:rPr>
              <a:t>,</a:t>
            </a:r>
            <a:r>
              <a:rPr sz="2200" b="0" i="0" spc="31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kendi</a:t>
            </a:r>
            <a:r>
              <a:rPr sz="2200" b="0" i="0" spc="30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kendine</a:t>
            </a:r>
            <a:r>
              <a:rPr sz="2200" b="0" i="0" spc="29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öğrenen</a:t>
            </a:r>
            <a:r>
              <a:rPr sz="2200" b="0" i="0" spc="3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ve</a:t>
            </a:r>
            <a:r>
              <a:rPr sz="2200" b="0" i="0" spc="29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gelişen,</a:t>
            </a:r>
            <a:r>
              <a:rPr sz="2200" b="0" i="0" spc="30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hatta</a:t>
            </a:r>
            <a:r>
              <a:rPr sz="2200" b="0" i="0" spc="305" dirty="0">
                <a:latin typeface="Microsoft Sans Serif"/>
                <a:cs typeface="Microsoft Sans Serif"/>
              </a:rPr>
              <a:t> </a:t>
            </a:r>
            <a:r>
              <a:rPr sz="2200" b="0" i="0" spc="-10" dirty="0">
                <a:latin typeface="Microsoft Sans Serif"/>
                <a:cs typeface="Microsoft Sans Serif"/>
              </a:rPr>
              <a:t>insanlığı </a:t>
            </a:r>
            <a:r>
              <a:rPr sz="2200" b="0" i="0" dirty="0">
                <a:latin typeface="Microsoft Sans Serif"/>
                <a:cs typeface="Microsoft Sans Serif"/>
              </a:rPr>
              <a:t>aşabilecek</a:t>
            </a:r>
            <a:r>
              <a:rPr sz="2200" b="0" i="0" spc="-5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potansiyele</a:t>
            </a:r>
            <a:r>
              <a:rPr sz="2200" b="0" i="0" spc="-4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sahip</a:t>
            </a:r>
            <a:r>
              <a:rPr sz="2200" b="0" i="0" spc="-5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tamamen</a:t>
            </a:r>
            <a:r>
              <a:rPr sz="2200" b="0" i="0" spc="-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teorik</a:t>
            </a:r>
            <a:r>
              <a:rPr sz="2200" b="0" i="0" spc="-4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bir</a:t>
            </a:r>
            <a:r>
              <a:rPr sz="2200" b="0" i="0" spc="-7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YZ</a:t>
            </a:r>
            <a:r>
              <a:rPr sz="2200" b="0" i="0" spc="-50" dirty="0">
                <a:latin typeface="Microsoft Sans Serif"/>
                <a:cs typeface="Microsoft Sans Serif"/>
              </a:rPr>
              <a:t> </a:t>
            </a:r>
            <a:r>
              <a:rPr sz="2200" b="0" i="0" spc="-10" dirty="0">
                <a:latin typeface="Microsoft Sans Serif"/>
                <a:cs typeface="Microsoft Sans Serif"/>
              </a:rPr>
              <a:t>türüdür.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0" i="0" dirty="0">
                <a:latin typeface="Microsoft Sans Serif"/>
                <a:cs typeface="Microsoft Sans Serif"/>
              </a:rPr>
              <a:t>Bu</a:t>
            </a:r>
            <a:r>
              <a:rPr sz="2200" b="0" i="0" spc="20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tür</a:t>
            </a:r>
            <a:r>
              <a:rPr sz="2200" b="0" i="0" spc="20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bir</a:t>
            </a:r>
            <a:r>
              <a:rPr sz="2200" b="0" i="0" spc="2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yapay</a:t>
            </a:r>
            <a:r>
              <a:rPr sz="2200" b="0" i="0" spc="19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zeka,</a:t>
            </a:r>
            <a:r>
              <a:rPr sz="2200" b="0" i="0" spc="21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yaratıcı</a:t>
            </a:r>
            <a:r>
              <a:rPr sz="2200" b="0" i="0" spc="19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düşünme,</a:t>
            </a:r>
            <a:r>
              <a:rPr sz="2200" b="0" i="0" spc="21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karmaşık</a:t>
            </a:r>
            <a:r>
              <a:rPr sz="2200" b="0" i="0" spc="21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problemleri</a:t>
            </a:r>
            <a:r>
              <a:rPr sz="2200" b="0" i="0" spc="2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çözme</a:t>
            </a:r>
            <a:r>
              <a:rPr sz="2200" b="0" i="0" spc="215" dirty="0">
                <a:latin typeface="Microsoft Sans Serif"/>
                <a:cs typeface="Microsoft Sans Serif"/>
              </a:rPr>
              <a:t> </a:t>
            </a:r>
            <a:r>
              <a:rPr sz="2200" b="0" i="0" spc="-25" dirty="0">
                <a:latin typeface="Microsoft Sans Serif"/>
                <a:cs typeface="Microsoft Sans Serif"/>
              </a:rPr>
              <a:t>ve</a:t>
            </a:r>
            <a:endParaRPr sz="22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30"/>
              </a:spcBef>
            </a:pPr>
            <a:r>
              <a:rPr sz="2200" b="0" i="0" dirty="0">
                <a:latin typeface="Microsoft Sans Serif"/>
                <a:cs typeface="Microsoft Sans Serif"/>
              </a:rPr>
              <a:t>etik</a:t>
            </a:r>
            <a:r>
              <a:rPr sz="2200" b="0" i="0" spc="-3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kararlar</a:t>
            </a:r>
            <a:r>
              <a:rPr sz="2200" b="0" i="0" spc="-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alma</a:t>
            </a:r>
            <a:r>
              <a:rPr sz="2200" b="0" i="0" spc="-1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gibi</a:t>
            </a:r>
            <a:r>
              <a:rPr sz="2200" b="0" i="0" spc="-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alanlarda</a:t>
            </a:r>
            <a:r>
              <a:rPr sz="2200" b="0" i="0" spc="-1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insanları</a:t>
            </a:r>
            <a:r>
              <a:rPr sz="2200" b="0" i="0" spc="-10" dirty="0">
                <a:latin typeface="Microsoft Sans Serif"/>
                <a:cs typeface="Microsoft Sans Serif"/>
              </a:rPr>
              <a:t> aşar.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3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b="0" i="0" dirty="0">
                <a:latin typeface="Microsoft Sans Serif"/>
                <a:cs typeface="Microsoft Sans Serif"/>
              </a:rPr>
              <a:t>Geliştirilmesi</a:t>
            </a:r>
            <a:r>
              <a:rPr sz="2200" b="0" i="0" spc="-2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için</a:t>
            </a:r>
            <a:r>
              <a:rPr sz="2200" b="0" i="0" spc="-4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çok</a:t>
            </a:r>
            <a:r>
              <a:rPr sz="2200" b="0" i="0" spc="-4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daha</a:t>
            </a:r>
            <a:r>
              <a:rPr sz="2200" b="0" i="0" spc="-2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fazla</a:t>
            </a:r>
            <a:r>
              <a:rPr sz="2200" b="0" i="0" spc="-35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araştırma ve</a:t>
            </a:r>
            <a:r>
              <a:rPr sz="2200" b="0" i="0" spc="-20" dirty="0">
                <a:latin typeface="Microsoft Sans Serif"/>
                <a:cs typeface="Microsoft Sans Serif"/>
              </a:rPr>
              <a:t> </a:t>
            </a:r>
            <a:r>
              <a:rPr sz="2200" b="0" i="0" dirty="0">
                <a:latin typeface="Microsoft Sans Serif"/>
                <a:cs typeface="Microsoft Sans Serif"/>
              </a:rPr>
              <a:t>teknoloji</a:t>
            </a:r>
            <a:r>
              <a:rPr sz="2200" b="0" i="0" spc="-35" dirty="0">
                <a:latin typeface="Microsoft Sans Serif"/>
                <a:cs typeface="Microsoft Sans Serif"/>
              </a:rPr>
              <a:t> </a:t>
            </a:r>
            <a:r>
              <a:rPr sz="2200" b="0" i="0" spc="-10" dirty="0">
                <a:latin typeface="Microsoft Sans Serif"/>
                <a:cs typeface="Microsoft Sans Serif"/>
              </a:rPr>
              <a:t>gerekmektedir.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3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spc="-10" dirty="0"/>
              <a:t>Özellikleri:</a:t>
            </a:r>
            <a:endParaRPr sz="2200"/>
          </a:p>
          <a:p>
            <a:pPr marL="802005" lvl="1" indent="-338455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02005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</a:t>
            </a:r>
            <a:r>
              <a:rPr sz="22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kendini</a:t>
            </a:r>
            <a:r>
              <a:rPr sz="22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2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kapasitesine</a:t>
            </a:r>
            <a:r>
              <a:rPr sz="22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endParaRPr sz="22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63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802005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teorik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hem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pratik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anlamda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insanların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ilerisinde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9091" y="170179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2470">
              <a:lnSpc>
                <a:spcPct val="100000"/>
              </a:lnSpc>
              <a:spcBef>
                <a:spcPts val="95"/>
              </a:spcBef>
            </a:pPr>
            <a:r>
              <a:rPr sz="3100" dirty="0"/>
              <a:t>Mevcut</a:t>
            </a:r>
            <a:r>
              <a:rPr sz="3100" spc="-170" dirty="0"/>
              <a:t> </a:t>
            </a:r>
            <a:r>
              <a:rPr sz="3100" spc="-10" dirty="0"/>
              <a:t>Yapay</a:t>
            </a:r>
            <a:r>
              <a:rPr sz="3100" spc="-145" dirty="0"/>
              <a:t> </a:t>
            </a:r>
            <a:r>
              <a:rPr sz="3100" dirty="0"/>
              <a:t>Zeka</a:t>
            </a:r>
            <a:r>
              <a:rPr sz="3100" spc="-145" dirty="0"/>
              <a:t> </a:t>
            </a:r>
            <a:r>
              <a:rPr sz="3100" dirty="0"/>
              <a:t>Sistemlerinin</a:t>
            </a:r>
            <a:r>
              <a:rPr sz="3100" spc="-105" dirty="0"/>
              <a:t> </a:t>
            </a:r>
            <a:r>
              <a:rPr sz="3100" spc="-10" dirty="0"/>
              <a:t>Sınırları</a:t>
            </a:r>
            <a:endParaRPr sz="3100"/>
          </a:p>
        </p:txBody>
      </p:sp>
      <p:sp>
        <p:nvSpPr>
          <p:cNvPr id="14" name="object 14"/>
          <p:cNvSpPr txBox="1"/>
          <p:nvPr/>
        </p:nvSpPr>
        <p:spPr>
          <a:xfrm>
            <a:off x="1448180" y="1588769"/>
            <a:ext cx="9580245" cy="2791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Günümüzdeki</a:t>
            </a:r>
            <a:r>
              <a:rPr sz="22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2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2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(Dar</a:t>
            </a:r>
            <a:r>
              <a:rPr sz="2200" spc="-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2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Zeka);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35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Uzmanlık</a:t>
            </a:r>
            <a:r>
              <a:rPr sz="22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alanlarının</a:t>
            </a:r>
            <a:r>
              <a:rPr sz="22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dışına</a:t>
            </a:r>
            <a:r>
              <a:rPr sz="22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çıktıklarında</a:t>
            </a:r>
            <a:r>
              <a:rPr sz="22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r>
              <a:rPr sz="22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gösteremezler.</a:t>
            </a:r>
            <a:endParaRPr sz="22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2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</a:tabLst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2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odaklıdırlar;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dolayısıyla</a:t>
            </a:r>
            <a:r>
              <a:rPr sz="22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verilerdeki</a:t>
            </a:r>
            <a:r>
              <a:rPr sz="22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önyargılar</a:t>
            </a:r>
            <a:r>
              <a:rPr sz="22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endParaRPr sz="22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25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hatalar</a:t>
            </a:r>
            <a:r>
              <a:rPr sz="22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sonuçlara</a:t>
            </a:r>
            <a:r>
              <a:rPr sz="22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yansıyabilir.</a:t>
            </a:r>
            <a:endParaRPr sz="2200">
              <a:latin typeface="Microsoft Sans Serif"/>
              <a:cs typeface="Microsoft Sans Serif"/>
            </a:endParaRPr>
          </a:p>
          <a:p>
            <a:pPr marL="350520" marR="5715" indent="-338455">
              <a:lnSpc>
                <a:spcPct val="120000"/>
              </a:lnSpc>
              <a:spcBef>
                <a:spcPts val="1110"/>
              </a:spcBef>
              <a:buClr>
                <a:srgbClr val="F88556"/>
              </a:buClr>
              <a:buSzPct val="88636"/>
              <a:buFont typeface="Wingdings"/>
              <a:buChar char=""/>
              <a:tabLst>
                <a:tab pos="350520" algn="l"/>
                <a:tab pos="1203960" algn="l"/>
                <a:tab pos="2694940" algn="l"/>
                <a:tab pos="3716020" algn="l"/>
                <a:tab pos="4443095" algn="l"/>
                <a:tab pos="5915660" algn="l"/>
                <a:tab pos="7204709" algn="l"/>
                <a:tab pos="8899525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kendilerine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"genel"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"bağımsız"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düşünme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kapasitesine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değillerdir.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48180" y="4494237"/>
            <a:ext cx="3308985" cy="83121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  <a:tabLst>
                <a:tab pos="818515" algn="l"/>
                <a:tab pos="1304925" algn="l"/>
                <a:tab pos="211582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Yani,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şu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1356360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kapsamlı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özelliklerinden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90694" y="4494237"/>
            <a:ext cx="6236970" cy="83121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44780">
              <a:lnSpc>
                <a:spcPct val="100000"/>
              </a:lnSpc>
              <a:spcBef>
                <a:spcPts val="635"/>
              </a:spcBef>
              <a:tabLst>
                <a:tab pos="1080770" algn="l"/>
                <a:tab pos="1862455" algn="l"/>
                <a:tab pos="3308985" algn="l"/>
                <a:tab pos="4168775" algn="l"/>
                <a:tab pos="5555615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zekasının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  <a:tabLst>
                <a:tab pos="1123315" algn="l"/>
                <a:tab pos="1753235" algn="l"/>
                <a:tab pos="2272665" algn="l"/>
                <a:tab pos="3434079" algn="l"/>
                <a:tab pos="4807585" algn="l"/>
              </a:tabLst>
            </a:pP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ziyade,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dar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spesifik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alanlarda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48180" y="5367629"/>
            <a:ext cx="9583420" cy="13042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gösterecek</a:t>
            </a:r>
            <a:r>
              <a:rPr sz="22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2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tasarlanmışlardır.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62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 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araştırmaları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devam</a:t>
            </a:r>
            <a:r>
              <a:rPr sz="22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etse de,</a:t>
            </a:r>
            <a:r>
              <a:rPr sz="22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 açısından</a:t>
            </a:r>
            <a:r>
              <a:rPr sz="22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oldukça</a:t>
            </a:r>
            <a:endParaRPr sz="22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uzak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2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hedef</a:t>
            </a:r>
            <a:r>
              <a:rPr sz="22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2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2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değerlendirilmektedir.</a:t>
            </a:r>
            <a:endParaRPr sz="22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67740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2C241F">
                <a:alpha val="92156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023740" y="3080080"/>
            <a:ext cx="689800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TEMEL</a:t>
            </a:r>
            <a:r>
              <a:rPr sz="5400" spc="-17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BİLEŞENLERİ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363" y="170179"/>
            <a:ext cx="2495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11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38072" y="1411224"/>
            <a:ext cx="9813290" cy="5213985"/>
            <a:chOff x="1338072" y="1411224"/>
            <a:chExt cx="9813290" cy="5213985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6407" y="1616964"/>
              <a:ext cx="4922520" cy="5007864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38072" y="1411224"/>
            <a:ext cx="9886315" cy="5229225"/>
            <a:chOff x="1338072" y="1411224"/>
            <a:chExt cx="9886315" cy="5229225"/>
          </a:xfrm>
        </p:grpSpPr>
        <p:sp>
          <p:nvSpPr>
            <p:cNvPr id="13" name="object 13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36763" y="4082796"/>
              <a:ext cx="3587496" cy="2557272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42085" y="1483094"/>
            <a:ext cx="9589770" cy="51022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69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Makine</a:t>
            </a:r>
            <a:r>
              <a:rPr sz="2000" b="1" i="1" spc="-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Öğrenimi:</a:t>
            </a:r>
            <a:endParaRPr sz="2000" dirty="0">
              <a:latin typeface="Arial"/>
              <a:cs typeface="Arial"/>
            </a:endParaRPr>
          </a:p>
          <a:p>
            <a:pPr marL="355600" marR="5080" indent="-33718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687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terimlerinin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yerde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birbirinin</a:t>
            </a:r>
            <a:r>
              <a:rPr sz="20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kullanıldığını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görebilseniz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teknik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birçok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dalından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yalnızca</a:t>
            </a:r>
            <a:r>
              <a:rPr sz="20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biridir.</a:t>
            </a:r>
            <a:endParaRPr sz="2000" dirty="0">
              <a:latin typeface="Microsoft Sans Serif"/>
              <a:cs typeface="Microsoft Sans Serif"/>
            </a:endParaRPr>
          </a:p>
          <a:p>
            <a:pPr marL="356235" indent="-337820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623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ilişkilendirmek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istatistiksel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bilimidir.</a:t>
            </a:r>
            <a:endParaRPr sz="2000" dirty="0">
              <a:latin typeface="Microsoft Sans Serif"/>
              <a:cs typeface="Microsoft Sans Serif"/>
            </a:endParaRPr>
          </a:p>
          <a:p>
            <a:pPr marL="355600" indent="-33718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560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000" spc="4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miktarda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geçmiş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veriyi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işlemek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düzenlerini</a:t>
            </a:r>
            <a:endParaRPr sz="2000" dirty="0">
              <a:latin typeface="Microsoft Sans Serif"/>
              <a:cs typeface="Microsoft Sans Serif"/>
            </a:endParaRPr>
          </a:p>
          <a:p>
            <a:pPr marL="356870" algn="just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tanımlamak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algoritmalarını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endParaRPr sz="2000" dirty="0">
              <a:latin typeface="Microsoft Sans Serif"/>
              <a:cs typeface="Microsoft Sans Serif"/>
            </a:endParaRPr>
          </a:p>
          <a:p>
            <a:pPr marL="370840" marR="3477260" indent="-358775" algn="just">
              <a:lnSpc>
                <a:spcPct val="100000"/>
              </a:lnSpc>
              <a:spcBef>
                <a:spcPts val="96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7211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Mevcut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bağlamda,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öğrenimi,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bağımsız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tekniklerini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desteklemek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kullanabileceğiniz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modelleri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adı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verilen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dizi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istatistiksel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tekniği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ifade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eder.</a:t>
            </a:r>
            <a:endParaRPr sz="2000" dirty="0">
              <a:latin typeface="Microsoft Sans Serif"/>
              <a:cs typeface="Microsoft Sans Serif"/>
            </a:endParaRPr>
          </a:p>
          <a:p>
            <a:pPr marL="370840" marR="3475990" indent="-358775" algn="just">
              <a:lnSpc>
                <a:spcPct val="100000"/>
              </a:lnSpc>
              <a:spcBef>
                <a:spcPts val="6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7211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spam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filtresi,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önceki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e-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postaları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spam</a:t>
            </a:r>
            <a:r>
              <a:rPr sz="20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mesajları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otomatik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 	filtreleyebilir.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8" name="object 8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8147" y="1483094"/>
            <a:ext cx="9592945" cy="28886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69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Derin</a:t>
            </a:r>
            <a:r>
              <a:rPr sz="20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Öğrenme:</a:t>
            </a:r>
            <a:endParaRPr sz="2000" dirty="0">
              <a:latin typeface="Arial"/>
              <a:cs typeface="Arial"/>
            </a:endParaRPr>
          </a:p>
          <a:p>
            <a:pPr marL="360680" indent="-338455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6068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öğrenme,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öğrenimini bir adım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ileri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götürür.</a:t>
            </a:r>
            <a:endParaRPr sz="2000" dirty="0">
              <a:latin typeface="Microsoft Sans Serif"/>
              <a:cs typeface="Microsoft Sans Serif"/>
            </a:endParaRPr>
          </a:p>
          <a:p>
            <a:pPr marL="360680" marR="6985" indent="-338455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6068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modelleri,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bilgiyi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öğrenmek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işlemek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çalışan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sinir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ağlarını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endParaRPr sz="2000" dirty="0">
              <a:latin typeface="Microsoft Sans Serif"/>
              <a:cs typeface="Microsoft Sans Serif"/>
            </a:endParaRPr>
          </a:p>
          <a:p>
            <a:pPr marL="360680" indent="-338455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60680" algn="l"/>
                <a:tab pos="1156335" algn="l"/>
                <a:tab pos="2019300" algn="l"/>
                <a:tab pos="2488565" algn="l"/>
                <a:tab pos="3648075" algn="l"/>
                <a:tab pos="4709160" algn="l"/>
                <a:tab pos="5277485" algn="l"/>
                <a:tab pos="6128385" algn="l"/>
                <a:tab pos="6722745" algn="l"/>
                <a:tab pos="7797165" algn="l"/>
                <a:tab pos="8958580" algn="l"/>
              </a:tabLst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küçük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birimleri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mikro</a:t>
            </a:r>
            <a:endParaRPr sz="2000" dirty="0">
              <a:latin typeface="Microsoft Sans Serif"/>
              <a:cs typeface="Microsoft Sans Serif"/>
            </a:endParaRPr>
          </a:p>
          <a:p>
            <a:pPr marL="360680">
              <a:lnSpc>
                <a:spcPct val="100000"/>
              </a:lnSpc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matematiksel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gerçekleştiren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milyonlarca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bileşeninden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oluşurlar.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marR="3166110" indent="-338455">
              <a:lnSpc>
                <a:spcPct val="100000"/>
              </a:lnSpc>
              <a:spcBef>
                <a:spcPts val="95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582420" algn="l"/>
                <a:tab pos="2192020" algn="l"/>
                <a:tab pos="3647440" algn="l"/>
                <a:tab pos="5567680" algn="l"/>
                <a:tab pos="627697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görüntüyü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sınıflandırmak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o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görüntüdeki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pikselleri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işlerler.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38147" y="4421581"/>
            <a:ext cx="556641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457325" algn="l"/>
                <a:tab pos="1938655" algn="l"/>
                <a:tab pos="3326129" algn="l"/>
                <a:tab pos="3896360" algn="l"/>
                <a:tab pos="501650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Modern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AI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şiir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222617" y="4421581"/>
            <a:ext cx="64579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8147" y="4726940"/>
            <a:ext cx="6431915" cy="1931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istemlerinden</a:t>
            </a:r>
            <a:r>
              <a:rPr sz="20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görüntüler</a:t>
            </a:r>
            <a:r>
              <a:rPr sz="20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oluşturmak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gerçekleştirmek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sinir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ağını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birleştirir.</a:t>
            </a:r>
            <a:endParaRPr sz="2000">
              <a:latin typeface="Microsoft Sans Serif"/>
              <a:cs typeface="Microsoft Sans Serif"/>
            </a:endParaRPr>
          </a:p>
          <a:p>
            <a:pPr marL="349250" marR="5080" indent="-33718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yüz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yüzlerini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oldukça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doğrulukla 	tanıyabilir.</a:t>
            </a:r>
            <a:endParaRPr sz="200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47659" y="4030979"/>
            <a:ext cx="3276600" cy="2433828"/>
          </a:xfrm>
          <a:prstGeom prst="rect">
            <a:avLst/>
          </a:prstGeom>
        </p:spPr>
      </p:pic>
      <p:sp>
        <p:nvSpPr>
          <p:cNvPr id="21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31592" y="2104643"/>
              <a:ext cx="9360408" cy="475335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0476" cy="685799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965200" cy="6858000"/>
            </a:xfrm>
            <a:custGeom>
              <a:avLst/>
              <a:gdLst/>
              <a:ahLst/>
              <a:cxnLst/>
              <a:rect l="l" t="t" r="r" b="b"/>
              <a:pathLst>
                <a:path w="965200" h="6858000">
                  <a:moveTo>
                    <a:pt x="96469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964691" y="6858000"/>
                  </a:lnTo>
                  <a:lnTo>
                    <a:pt x="964691" y="0"/>
                  </a:lnTo>
                  <a:close/>
                </a:path>
              </a:pathLst>
            </a:custGeom>
            <a:solidFill>
              <a:srgbClr val="2C24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61644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19" h="6858000">
                  <a:moveTo>
                    <a:pt x="45719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19" y="6858000"/>
                  </a:lnTo>
                  <a:lnTo>
                    <a:pt x="45719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15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11679" y="1022603"/>
            <a:ext cx="9604248" cy="49255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311140"/>
            <a:chOff x="1338072" y="1411224"/>
            <a:chExt cx="9813290" cy="531114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5872" y="4183380"/>
              <a:ext cx="4512564" cy="253898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16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483094"/>
            <a:ext cx="9584055" cy="316103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Bilişsel</a:t>
            </a:r>
            <a:r>
              <a:rPr sz="2000" b="1" i="1" spc="-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Hesaplama:</a:t>
            </a:r>
            <a:endParaRPr sz="2000" dirty="0">
              <a:latin typeface="Arial"/>
              <a:cs typeface="Arial"/>
            </a:endParaRPr>
          </a:p>
          <a:p>
            <a:pPr marL="337820" indent="-337820" algn="ctr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378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zihninin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mekanizmalarını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taklit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problemleri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çözen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endParaRPr sz="2000" dirty="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yaklaşımıdır.</a:t>
            </a:r>
            <a:endParaRPr sz="200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Görüntü</a:t>
            </a:r>
            <a:r>
              <a:rPr sz="2000" b="1" i="1" spc="-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İşleme:</a:t>
            </a:r>
            <a:endParaRPr sz="2000" dirty="0">
              <a:latin typeface="Arial"/>
              <a:cs typeface="Arial"/>
            </a:endParaRPr>
          </a:p>
          <a:p>
            <a:pPr marL="337820" indent="-337820" algn="ctr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378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Makinelerin,</a:t>
            </a:r>
            <a:r>
              <a:rPr sz="20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20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videoların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içeriğini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“görmesini”</a:t>
            </a:r>
            <a:r>
              <a:rPr sz="20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anlamasını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sağlamak</a:t>
            </a:r>
            <a:endParaRPr sz="2000" dirty="0">
              <a:latin typeface="Microsoft Sans Serif"/>
              <a:cs typeface="Microsoft Sans Serif"/>
            </a:endParaRPr>
          </a:p>
          <a:p>
            <a:pPr marR="50165" algn="ctr">
              <a:lnSpc>
                <a:spcPct val="100000"/>
              </a:lnSpc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görme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kopyalamayı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amaçlayan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bilimi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alanıdır.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marR="4632325" indent="-338455" algn="just">
              <a:lnSpc>
                <a:spcPct val="100000"/>
              </a:lnSpc>
              <a:spcBef>
                <a:spcPts val="6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Videolardan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görüntülerden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öngörüler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çıkarmak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öğrenme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tekniklerini</a:t>
            </a:r>
            <a:r>
              <a:rPr sz="20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4694301"/>
            <a:ext cx="495744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0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490345" algn="l"/>
                <a:tab pos="1797050" algn="l"/>
                <a:tab pos="2627630" algn="l"/>
                <a:tab pos="3257550" algn="l"/>
                <a:tab pos="395541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Uygunsuz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çevrimiçi içerikleri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izlemek,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yüzleri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004053" y="4999101"/>
            <a:ext cx="14008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2077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86508" y="5303901"/>
            <a:ext cx="4617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ayrıntılarını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sınıflandırmak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39236" y="5608726"/>
            <a:ext cx="2061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yararlanabilirsiniz.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115817" y="5913221"/>
            <a:ext cx="211645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49605" algn="l"/>
              </a:tabLst>
            </a:pP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kamyonlarda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78017" y="5608726"/>
            <a:ext cx="929005" cy="63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endParaRPr sz="2000">
              <a:latin typeface="Microsoft Sans Serif"/>
              <a:cs typeface="Microsoft Sans Serif"/>
            </a:endParaRPr>
          </a:p>
          <a:p>
            <a:pPr marL="108585">
              <a:lnSpc>
                <a:spcPct val="100000"/>
              </a:lnSpc>
              <a:spcBef>
                <a:spcPts val="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çevreyi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86508" y="5608726"/>
            <a:ext cx="986155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bundan otomobil izlemek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48736" y="6218631"/>
            <a:ext cx="3558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77520" algn="l"/>
                <a:tab pos="1212215" algn="l"/>
                <a:tab pos="2272665" algn="l"/>
                <a:tab pos="3149600" algn="l"/>
              </a:tabLst>
            </a:pP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anlık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almak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86508" y="6523431"/>
            <a:ext cx="111633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önemlidir.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9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26990"/>
            <a:chOff x="1338072" y="1411224"/>
            <a:chExt cx="9813290" cy="51269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68895" y="3910584"/>
              <a:ext cx="3939540" cy="2627376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585721"/>
            <a:ext cx="9582150" cy="2213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Doğal</a:t>
            </a:r>
            <a:r>
              <a:rPr sz="2000" b="1" i="1" spc="-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Dil</a:t>
            </a:r>
            <a:r>
              <a:rPr sz="2000" b="1" i="1" spc="-2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İşleme</a:t>
            </a:r>
            <a:r>
              <a:rPr sz="2000" b="1" i="1" spc="-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(NLP</a:t>
            </a:r>
            <a:r>
              <a:rPr sz="2000" b="1" i="1" spc="-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–</a:t>
            </a:r>
            <a:r>
              <a:rPr sz="2000" b="1" i="1" spc="-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Natural</a:t>
            </a:r>
            <a:r>
              <a:rPr sz="2000" b="1" i="1" spc="-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Language</a:t>
            </a:r>
            <a:r>
              <a:rPr sz="2000" b="1" i="1" spc="-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Processing):</a:t>
            </a:r>
            <a:endParaRPr sz="2000" dirty="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Makinelere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dilini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okuma,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üretme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sunar.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iletişim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kurmak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düşük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seviyeli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dili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Böyle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birler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sıfırlardan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oluşur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insanlar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onu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çözmekte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zorlanır.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Benzer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şekilde,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dillerini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anlamakta</a:t>
            </a:r>
            <a:r>
              <a:rPr sz="20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zorlanır.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4023842"/>
            <a:ext cx="4605655" cy="7575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397635" algn="l"/>
                <a:tab pos="2307590" algn="l"/>
                <a:tab pos="3912870" algn="l"/>
                <a:tab pos="4309110" algn="l"/>
              </a:tabLst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NLP,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yapılandırılmamış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dil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bilgisayarların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anlayabileceği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16828" y="4023842"/>
            <a:ext cx="974725" cy="75755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8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verilerini</a:t>
            </a:r>
            <a:endParaRPr sz="2000">
              <a:latin typeface="Microsoft Sans Serif"/>
              <a:cs typeface="Microsoft Sans Serif"/>
            </a:endParaRPr>
          </a:p>
          <a:p>
            <a:pPr marR="5715" algn="r">
              <a:lnSpc>
                <a:spcPct val="100000"/>
              </a:lnSpc>
              <a:spcBef>
                <a:spcPts val="48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forma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8180" y="4816221"/>
            <a:ext cx="5644515" cy="1569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dönüştürmek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sesli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asistanlar,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doğal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kullanıcıların</a:t>
            </a:r>
            <a:r>
              <a:rPr sz="20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komutlarını</a:t>
            </a:r>
            <a:r>
              <a:rPr sz="20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anlayabilir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uygun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yanıtlayabilir.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80600" cy="5340350"/>
            <a:chOff x="1338072" y="1411224"/>
            <a:chExt cx="9880600" cy="534035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03819" y="3009898"/>
              <a:ext cx="3514344" cy="374142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585721"/>
            <a:ext cx="9579610" cy="2169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0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Sinir</a:t>
            </a:r>
            <a:r>
              <a:rPr sz="2000" b="1" i="1" spc="-13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Ağları:</a:t>
            </a:r>
            <a:endParaRPr sz="2000" dirty="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Biyolojik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sinir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sisteminden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ilham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alınarak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matematiksel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modellerdir.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beyninin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bilgiyi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şeklini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simüle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etmek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tasarlanmış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bileşenidir.</a:t>
            </a:r>
            <a:endParaRPr sz="2000" dirty="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24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141730" algn="l"/>
                <a:tab pos="2035175" algn="l"/>
                <a:tab pos="3053080" algn="l"/>
                <a:tab pos="3874770" algn="l"/>
                <a:tab pos="4978400" algn="l"/>
              </a:tabLst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YSA,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zekaya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737095" y="3789934"/>
            <a:ext cx="7023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48180" y="3729583"/>
            <a:ext cx="5100320" cy="1263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>
              <a:lnSpc>
                <a:spcPct val="120000"/>
              </a:lnSpc>
              <a:spcBef>
                <a:spcPts val="100"/>
              </a:spcBef>
              <a:tabLst>
                <a:tab pos="1792605" algn="l"/>
                <a:tab pos="2641600" algn="l"/>
                <a:tab pos="3122930" algn="l"/>
                <a:tab pos="381381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yetenekleri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teknolojinin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 kabul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edilebilir.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öğrenmede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sıklıkla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16405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60" dirty="0"/>
              <a:t> </a:t>
            </a:r>
            <a:r>
              <a:rPr dirty="0"/>
              <a:t>Zeka’nın</a:t>
            </a:r>
            <a:r>
              <a:rPr spc="-145" dirty="0"/>
              <a:t> </a:t>
            </a:r>
            <a:r>
              <a:rPr spc="-25" dirty="0"/>
              <a:t>Temel</a:t>
            </a:r>
            <a:r>
              <a:rPr spc="-150" dirty="0"/>
              <a:t> </a:t>
            </a:r>
            <a:r>
              <a:rPr spc="-10" dirty="0"/>
              <a:t>Bileşenleri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07744"/>
            <a:ext cx="9582150" cy="3495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indent="-338455" algn="just">
              <a:lnSpc>
                <a:spcPct val="13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bileşenler</a:t>
            </a:r>
            <a:r>
              <a:rPr sz="24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</a:t>
            </a:r>
            <a:r>
              <a:rPr sz="24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çalışarak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sistemlerinin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akıllı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hale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gelmesini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araç,</a:t>
            </a:r>
            <a:r>
              <a:rPr sz="24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24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çevresini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algılar,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nesneleri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tanımlar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doğal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dil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sayesinde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sesli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komutları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anlar.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Tüm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işlemler,</a:t>
            </a:r>
            <a:r>
              <a:rPr sz="24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sinir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ağları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aracılığıyla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araya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getirilerek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aracın</a:t>
            </a:r>
            <a:r>
              <a:rPr sz="2400" spc="4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400" spc="5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hareket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etmesini</a:t>
            </a:r>
            <a:r>
              <a:rPr sz="24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559933" y="3080080"/>
            <a:ext cx="53632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TEKNOLOJİLERİ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491990">
              <a:lnSpc>
                <a:spcPct val="100000"/>
              </a:lnSpc>
              <a:spcBef>
                <a:spcPts val="95"/>
              </a:spcBef>
            </a:pPr>
            <a:r>
              <a:rPr dirty="0"/>
              <a:t>Görüntü</a:t>
            </a:r>
            <a:r>
              <a:rPr spc="-110" dirty="0"/>
              <a:t> </a:t>
            </a:r>
            <a:r>
              <a:rPr spc="-10" dirty="0"/>
              <a:t>Oluşturma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3420" cy="3816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715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oluşturma,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sıfırdan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açıklamalara</a:t>
            </a:r>
            <a:r>
              <a:rPr sz="24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dayalı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görüntüler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oluşturmasıdır.</a:t>
            </a:r>
            <a:endParaRPr sz="2400">
              <a:latin typeface="Microsoft Sans Serif"/>
              <a:cs typeface="Microsoft Sans Serif"/>
            </a:endParaRPr>
          </a:p>
          <a:p>
            <a:pPr marL="350520" marR="7620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"dağların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ardında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batımı"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basit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</a:t>
            </a:r>
            <a:r>
              <a:rPr sz="24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istemi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</a:t>
            </a:r>
            <a:r>
              <a:rPr sz="24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sahnenin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gerçekçi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sanatsal</a:t>
            </a:r>
            <a:r>
              <a:rPr sz="24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görüntüsünü</a:t>
            </a:r>
            <a:r>
              <a:rPr sz="2400" spc="-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oluşturabilir.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Sanat,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eğlence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pazarlama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alanlarında  kullanılan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teknoloji,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içerik</a:t>
            </a:r>
            <a:r>
              <a:rPr sz="24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oluşturucuların,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kavramları</a:t>
            </a:r>
            <a:r>
              <a:rPr sz="24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4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</a:t>
            </a:r>
            <a:r>
              <a:rPr sz="24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 görselleştirmesini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66665">
              <a:lnSpc>
                <a:spcPct val="100000"/>
              </a:lnSpc>
              <a:spcBef>
                <a:spcPts val="95"/>
              </a:spcBef>
            </a:pPr>
            <a:r>
              <a:rPr dirty="0"/>
              <a:t>Metin</a:t>
            </a:r>
            <a:r>
              <a:rPr spc="-60" dirty="0"/>
              <a:t> </a:t>
            </a:r>
            <a:r>
              <a:rPr spc="-10" dirty="0"/>
              <a:t>Oluşturma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785" cy="293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231265" algn="l"/>
                <a:tab pos="2792730" algn="l"/>
                <a:tab pos="3740150" algn="l"/>
                <a:tab pos="4944745" algn="l"/>
                <a:tab pos="5808980" algn="l"/>
                <a:tab pos="6993255" algn="l"/>
                <a:tab pos="7755255" algn="l"/>
                <a:tab pos="8823325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yazısını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taklit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metni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otomatik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yazmasıdır.</a:t>
            </a:r>
            <a:endParaRPr sz="2400">
              <a:latin typeface="Microsoft Sans Serif"/>
              <a:cs typeface="Microsoft Sans Serif"/>
            </a:endParaRPr>
          </a:p>
          <a:p>
            <a:pPr marL="350520" marR="7620" indent="-338455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162685" algn="l"/>
                <a:tab pos="2958465" algn="l"/>
                <a:tab pos="3754120" algn="l"/>
                <a:tab pos="5467350" algn="l"/>
                <a:tab pos="6500495" algn="l"/>
                <a:tab pos="7278370" algn="l"/>
                <a:tab pos="880364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Basit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cümlelerden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uzun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makalelere,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şiirlere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hikayelere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kadar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şeyi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oluşturabilir.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sohbet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robotlarında,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içerik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oluşturmada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hatta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e-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posta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rapor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yazmada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27555">
              <a:lnSpc>
                <a:spcPct val="100000"/>
              </a:lnSpc>
              <a:spcBef>
                <a:spcPts val="95"/>
              </a:spcBef>
            </a:pPr>
            <a:r>
              <a:rPr dirty="0"/>
              <a:t>Konuşma</a:t>
            </a:r>
            <a:r>
              <a:rPr spc="-120" dirty="0"/>
              <a:t> </a:t>
            </a:r>
            <a:r>
              <a:rPr dirty="0"/>
              <a:t>Oluşturma</a:t>
            </a:r>
            <a:r>
              <a:rPr spc="-105" dirty="0"/>
              <a:t> </a:t>
            </a:r>
            <a:r>
              <a:rPr dirty="0"/>
              <a:t>ve</a:t>
            </a:r>
            <a:r>
              <a:rPr spc="-135" dirty="0"/>
              <a:t> </a:t>
            </a:r>
            <a:r>
              <a:rPr spc="-10" dirty="0"/>
              <a:t>Tanıma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785" cy="3816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985" indent="-338455" algn="just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Konuşma</a:t>
            </a:r>
            <a:r>
              <a:rPr sz="24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oluşturma,</a:t>
            </a:r>
            <a:r>
              <a:rPr sz="24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Alexa</a:t>
            </a:r>
            <a:r>
              <a:rPr sz="24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benzeri</a:t>
            </a:r>
            <a:r>
              <a:rPr sz="24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sanal</a:t>
            </a:r>
            <a:r>
              <a:rPr sz="24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asistanların</a:t>
            </a:r>
            <a:r>
              <a:rPr sz="24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sizinle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konuşması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örneğinde  olduğu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sözlü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 kelimeler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üretmesini</a:t>
            </a:r>
            <a:r>
              <a:rPr sz="2400" spc="-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Konuşma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tanıma,</a:t>
            </a:r>
            <a:r>
              <a:rPr sz="2400" spc="5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400" spc="5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400" spc="5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konuşmasını</a:t>
            </a:r>
            <a:r>
              <a:rPr sz="2400" spc="5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anlaması</a:t>
            </a:r>
            <a:r>
              <a:rPr sz="2400" spc="5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4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580"/>
              </a:spcBef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işlemesidir.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teknoloji;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sesle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etkinleştirilen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cihazlarda,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hatlarında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hatta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engelli</a:t>
            </a:r>
            <a:r>
              <a:rPr sz="2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kişilerin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etkili</a:t>
            </a:r>
            <a:r>
              <a:rPr sz="2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iletişim</a:t>
            </a:r>
            <a:r>
              <a:rPr sz="2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kurmasını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sağlamada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kullanılmaktadır.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19575">
              <a:lnSpc>
                <a:spcPct val="100000"/>
              </a:lnSpc>
              <a:spcBef>
                <a:spcPts val="95"/>
              </a:spcBef>
            </a:pPr>
            <a:r>
              <a:rPr sz="3100" dirty="0"/>
              <a:t>Çok</a:t>
            </a:r>
            <a:r>
              <a:rPr sz="3100" spc="-114" dirty="0"/>
              <a:t> </a:t>
            </a:r>
            <a:r>
              <a:rPr sz="3100" dirty="0"/>
              <a:t>Modlu</a:t>
            </a:r>
            <a:r>
              <a:rPr sz="3100" spc="-160" dirty="0"/>
              <a:t> </a:t>
            </a:r>
            <a:r>
              <a:rPr sz="3100" spc="-10" dirty="0"/>
              <a:t>Yapay</a:t>
            </a:r>
            <a:r>
              <a:rPr sz="3100" spc="-114" dirty="0"/>
              <a:t> </a:t>
            </a:r>
            <a:r>
              <a:rPr sz="3100" spc="-20" dirty="0"/>
              <a:t>Zeka</a:t>
            </a:r>
            <a:endParaRPr sz="3100"/>
          </a:p>
        </p:txBody>
      </p:sp>
      <p:sp>
        <p:nvSpPr>
          <p:cNvPr id="5" name="object 5"/>
          <p:cNvSpPr txBox="1"/>
          <p:nvPr/>
        </p:nvSpPr>
        <p:spPr>
          <a:xfrm>
            <a:off x="1448180" y="1516888"/>
            <a:ext cx="9582150" cy="3816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indent="-338455" algn="just">
              <a:lnSpc>
                <a:spcPct val="1201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modlu</a:t>
            </a:r>
            <a:r>
              <a:rPr sz="24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kapsamlı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</a:t>
            </a:r>
            <a:r>
              <a:rPr sz="24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anlayışı</a:t>
            </a:r>
            <a:r>
              <a:rPr sz="24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oluşturmak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metin,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ses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farklı</a:t>
            </a:r>
            <a:r>
              <a:rPr sz="2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türlerini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birleştirir.</a:t>
            </a:r>
            <a:endParaRPr sz="24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20000"/>
              </a:lnSpc>
              <a:spcBef>
                <a:spcPts val="1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modlu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4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videoda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konuşulan</a:t>
            </a:r>
            <a:r>
              <a:rPr sz="24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kelimeleri</a:t>
            </a:r>
            <a:r>
              <a:rPr sz="2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gösterilen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nesneleri</a:t>
            </a:r>
            <a:r>
              <a:rPr sz="2400" spc="5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anlayıp</a:t>
            </a:r>
            <a:r>
              <a:rPr sz="2400" spc="5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ekranda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görünen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herhangi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5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metni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okuyarak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videoyu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edebilir.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100"/>
              </a:lnSpc>
              <a:spcBef>
                <a:spcPts val="109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gelişmiş</a:t>
            </a:r>
            <a:r>
              <a:rPr sz="24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biçimi,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birden</a:t>
            </a:r>
            <a:r>
              <a:rPr sz="24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4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türünü</a:t>
            </a:r>
            <a:r>
              <a:rPr sz="24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aynı</a:t>
            </a:r>
            <a:r>
              <a:rPr sz="24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anda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anlayıp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yorumlamanın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önemli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olduğu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alanlarda</a:t>
            </a:r>
            <a:r>
              <a:rPr sz="2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24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893814" y="3080080"/>
            <a:ext cx="402844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SEVİYELERİ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25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282565"/>
            <a:chOff x="1338072" y="1411224"/>
            <a:chExt cx="9813290" cy="5282565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10711" y="2150364"/>
              <a:ext cx="5442203" cy="454304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Seviyeleri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26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7686" y="1596974"/>
            <a:ext cx="98799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400" spc="-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(AI)</a:t>
            </a:r>
            <a:r>
              <a:rPr sz="2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kapasite</a:t>
            </a:r>
            <a:r>
              <a:rPr sz="24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özelliklerine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2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seviyelere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ayrılabilir.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752591" y="778891"/>
            <a:ext cx="5277485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Seviyeleri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271914"/>
            <a:ext cx="9580245" cy="277939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Reaktif</a:t>
            </a:r>
            <a:r>
              <a:rPr sz="2400" b="1" i="1" spc="-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-</a:t>
            </a:r>
            <a:r>
              <a:rPr sz="2400" b="1" i="1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Tepkisel</a:t>
            </a:r>
            <a:r>
              <a:rPr sz="2400" b="1" i="1" spc="-11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4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4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(Reactive</a:t>
            </a:r>
            <a:r>
              <a:rPr sz="2400" b="1" i="1" spc="-1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400">
              <a:latin typeface="Arial"/>
              <a:cs typeface="Arial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</a:t>
            </a:r>
            <a:r>
              <a:rPr sz="2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karşısında</a:t>
            </a:r>
            <a:r>
              <a:rPr sz="2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önceden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programlanmış</a:t>
            </a:r>
            <a:r>
              <a:rPr sz="2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tepkiler</a:t>
            </a:r>
            <a:r>
              <a:rPr sz="2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verir.</a:t>
            </a:r>
            <a:endParaRPr sz="2400">
              <a:latin typeface="Microsoft Sans Serif"/>
              <a:cs typeface="Microsoft Sans Serif"/>
            </a:endParaRPr>
          </a:p>
          <a:p>
            <a:pPr marL="350520" marR="5080" indent="-338455">
              <a:lnSpc>
                <a:spcPct val="120000"/>
              </a:lnSpc>
              <a:spcBef>
                <a:spcPts val="1095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Geçmiş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deneyimleri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hatırlama</a:t>
            </a:r>
            <a:r>
              <a:rPr sz="24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4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geleceği</a:t>
            </a:r>
            <a:r>
              <a:rPr sz="24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</a:t>
            </a:r>
            <a:r>
              <a:rPr sz="24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</a:t>
            </a:r>
            <a:r>
              <a:rPr sz="24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 yoktur.</a:t>
            </a:r>
            <a:endParaRPr sz="2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68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</a:tabLst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Sadece</a:t>
            </a:r>
            <a:r>
              <a:rPr sz="2400" spc="-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mevcut</a:t>
            </a:r>
            <a:r>
              <a:rPr sz="24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verilerle</a:t>
            </a:r>
            <a:r>
              <a:rPr sz="2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çalışır.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07783" y="4057649"/>
            <a:ext cx="719455" cy="9036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15900">
              <a:lnSpc>
                <a:spcPct val="120000"/>
              </a:lnSpc>
              <a:spcBef>
                <a:spcPts val="100"/>
              </a:spcBef>
            </a:pP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türün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4057649"/>
            <a:ext cx="5433060" cy="1342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>
              <a:lnSpc>
                <a:spcPct val="120000"/>
              </a:lnSpc>
              <a:spcBef>
                <a:spcPts val="100"/>
              </a:spcBef>
              <a:buClr>
                <a:srgbClr val="F88556"/>
              </a:buClr>
              <a:buSzPct val="89583"/>
              <a:buFont typeface="Wingdings"/>
              <a:buChar char=""/>
              <a:tabLst>
                <a:tab pos="350520" algn="l"/>
                <a:tab pos="1363980" algn="l"/>
                <a:tab pos="1948180" algn="l"/>
                <a:tab pos="2833370" algn="l"/>
                <a:tab pos="3423285" algn="l"/>
                <a:tab pos="3641090" algn="l"/>
                <a:tab pos="4437380" algn="l"/>
                <a:tab pos="4795520" algn="l"/>
              </a:tabLst>
            </a:pP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Öneri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motorları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spam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filtreleri alanlarda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başarılıdır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	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ancak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 </a:t>
            </a: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yetenekleri</a:t>
            </a:r>
            <a:r>
              <a:rPr sz="2400" spc="-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sınırlıdır.</a:t>
            </a:r>
            <a:endParaRPr sz="2400">
              <a:latin typeface="Microsoft Sans Serif"/>
              <a:cs typeface="Microsoft Sans Serif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429130" y="5597822"/>
          <a:ext cx="6216014" cy="8426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7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1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005">
                <a:tc>
                  <a:txBody>
                    <a:bodyPr/>
                    <a:lstStyle/>
                    <a:p>
                      <a:pPr marL="369570" indent="-337820">
                        <a:lnSpc>
                          <a:spcPct val="100000"/>
                        </a:lnSpc>
                        <a:spcBef>
                          <a:spcPts val="20"/>
                        </a:spcBef>
                        <a:buClr>
                          <a:srgbClr val="F88556"/>
                        </a:buClr>
                        <a:buSzPct val="89583"/>
                        <a:buFont typeface="Wingdings"/>
                        <a:buChar char=""/>
                        <a:tabLst>
                          <a:tab pos="369570" algn="l"/>
                        </a:tabLst>
                      </a:pP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IBM'in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0"/>
                        </a:spcBef>
                        <a:tabLst>
                          <a:tab pos="1269365" algn="l"/>
                          <a:tab pos="2602865" algn="l"/>
                        </a:tabLst>
                      </a:pP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satranç</a:t>
                      </a:r>
                      <a:r>
                        <a:rPr sz="24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oynayan</a:t>
                      </a:r>
                      <a:r>
                        <a:rPr sz="24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bilgisayarı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78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2400" spc="-2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Deep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54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640">
                <a:tc>
                  <a:txBody>
                    <a:bodyPr/>
                    <a:lstStyle/>
                    <a:p>
                      <a:pPr marL="3695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Blue,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60"/>
                        </a:spcBef>
                        <a:tabLst>
                          <a:tab pos="1174750" algn="l"/>
                          <a:tab pos="2863215" algn="l"/>
                        </a:tabLst>
                      </a:pP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belirli</a:t>
                      </a:r>
                      <a:r>
                        <a:rPr sz="24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hamlelere</a:t>
                      </a:r>
                      <a:r>
                        <a:rPr sz="240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karşılık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7429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400" spc="-10" dirty="0">
                          <a:solidFill>
                            <a:srgbClr val="2C241F"/>
                          </a:solidFill>
                          <a:latin typeface="Microsoft Sans Serif"/>
                          <a:cs typeface="Microsoft Sans Serif"/>
                        </a:rPr>
                        <a:t>belirli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0320" marB="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1786508" y="6466128"/>
            <a:ext cx="175513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tepkiler</a:t>
            </a:r>
            <a:r>
              <a:rPr sz="2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verir.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5343" y="4227576"/>
            <a:ext cx="3403092" cy="22692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645660"/>
            <a:chOff x="1338072" y="1411224"/>
            <a:chExt cx="9813290" cy="464566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91300" y="4172712"/>
              <a:ext cx="4517136" cy="188366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2072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Seviyeleri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48180" y="1558290"/>
            <a:ext cx="67024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Sınırlı</a:t>
            </a:r>
            <a:r>
              <a:rPr sz="2400" b="1" i="1" spc="-10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Bellek</a:t>
            </a:r>
            <a:r>
              <a:rPr sz="2400" b="1" i="1" spc="-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4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4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(Limited</a:t>
            </a:r>
            <a:r>
              <a:rPr sz="2400" b="1" i="1" spc="-7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Memory</a:t>
            </a:r>
            <a:r>
              <a:rPr sz="2400" b="1" i="1" spc="-114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48180" y="1999945"/>
            <a:ext cx="6842759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437005" algn="l"/>
                <a:tab pos="2961640" algn="l"/>
                <a:tab pos="3651885" algn="l"/>
                <a:tab pos="4965700" algn="l"/>
                <a:tab pos="6561455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Geçmiş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deneyimleri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kısa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süreliğine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hatırlayabilir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89950" y="1999945"/>
            <a:ext cx="254127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1334" algn="l"/>
                <a:tab pos="1382395" algn="l"/>
              </a:tabLst>
            </a:pP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bilgiyi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kararlarını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48180" y="2229713"/>
            <a:ext cx="9582785" cy="43510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0520" algn="just">
              <a:lnSpc>
                <a:spcPct val="100000"/>
              </a:lnSpc>
              <a:spcBef>
                <a:spcPts val="70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geliştirmek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Basit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öğrenmek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verilere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duyuyor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çevresindeki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herhangi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değişiklikte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tamamen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baştan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gerekiyor.</a:t>
            </a:r>
            <a:endParaRPr sz="2000">
              <a:latin typeface="Microsoft Sans Serif"/>
              <a:cs typeface="Microsoft Sans Serif"/>
            </a:endParaRPr>
          </a:p>
          <a:p>
            <a:pPr marL="350520" marR="6350" indent="-33845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AI'lar,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sensör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verilerini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tarihsel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</a:t>
            </a:r>
            <a:r>
              <a:rPr sz="20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optimize eder.</a:t>
            </a:r>
            <a:endParaRPr sz="2000">
              <a:latin typeface="Microsoft Sans Serif"/>
              <a:cs typeface="Microsoft Sans Serif"/>
            </a:endParaRPr>
          </a:p>
          <a:p>
            <a:pPr marL="350520" marR="4519930" indent="-338455" algn="just">
              <a:lnSpc>
                <a:spcPct val="100000"/>
              </a:lnSpc>
              <a:spcBef>
                <a:spcPts val="4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Google'ın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DeepMind-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AlphaStar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ürünü</a:t>
            </a:r>
            <a:r>
              <a:rPr sz="20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sınırlı</a:t>
            </a:r>
            <a:r>
              <a:rPr sz="2000" spc="15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hafızalı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1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örneğidir.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AlphaStar,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StarCraft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2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isimli</a:t>
            </a:r>
            <a:r>
              <a:rPr sz="2000" spc="4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strateji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oyununu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oynayarak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oyunda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geliştirdi.</a:t>
            </a:r>
            <a:endParaRPr sz="2000">
              <a:latin typeface="Microsoft Sans Serif"/>
              <a:cs typeface="Microsoft Sans Serif"/>
            </a:endParaRPr>
          </a:p>
          <a:p>
            <a:pPr marL="350520" marR="4523740" indent="-338455" algn="just">
              <a:lnSpc>
                <a:spcPct val="100000"/>
              </a:lnSpc>
              <a:spcBef>
                <a:spcPts val="6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araçlar,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geçmiş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trafik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sensör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bilgilerini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kullanarak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sürüş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kararları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2072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Seviyeleri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90294"/>
            <a:ext cx="9580880" cy="3293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Zihin</a:t>
            </a:r>
            <a:r>
              <a:rPr sz="2400" b="1" i="1" spc="-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Teorisi</a:t>
            </a:r>
            <a:r>
              <a:rPr sz="2400" b="1" i="1" spc="-1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4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400" b="1" i="1" spc="-6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(Theory</a:t>
            </a:r>
            <a:r>
              <a:rPr sz="2400" b="1" i="1" spc="-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of</a:t>
            </a:r>
            <a:r>
              <a:rPr sz="24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Mind):</a:t>
            </a:r>
            <a:endParaRPr sz="2400">
              <a:latin typeface="Arial"/>
              <a:cs typeface="Arial"/>
            </a:endParaRPr>
          </a:p>
          <a:p>
            <a:pPr marL="350520" marR="5080" indent="-338455">
              <a:lnSpc>
                <a:spcPct val="120000"/>
              </a:lnSpc>
              <a:spcBef>
                <a:spcPts val="11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İnsanların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düşüncelerini,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duygularını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niyetlerini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yeteneğine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 zekadır.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 algn="just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Henüz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mevcut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değildir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geliştirilmesi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hedeflenmektedir.</a:t>
            </a:r>
            <a:endParaRPr sz="2000">
              <a:latin typeface="Microsoft Sans Serif"/>
              <a:cs typeface="Microsoft Sans Serif"/>
            </a:endParaRPr>
          </a:p>
          <a:p>
            <a:pPr marL="349885" marR="3743325" indent="-337820" algn="just">
              <a:lnSpc>
                <a:spcPct val="165800"/>
              </a:lnSpc>
              <a:spcBef>
                <a:spcPts val="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61315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</a:t>
            </a:r>
            <a:r>
              <a:rPr sz="2000" spc="-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AI,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insanlarla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etkili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iletişim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kurmak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etkileşime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geçmek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sosyal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zekaya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olmalıdır..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29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4676" y="3601211"/>
            <a:ext cx="3326891" cy="296570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4928870"/>
            <a:chOff x="1338072" y="1411224"/>
            <a:chExt cx="9813290" cy="492887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92368" y="3550919"/>
              <a:ext cx="4960620" cy="278891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2072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Seviyeleri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590294"/>
            <a:ext cx="9582785" cy="3374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Özbilinçli</a:t>
            </a:r>
            <a:r>
              <a:rPr sz="2400" b="1" i="1" spc="-13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Yapay</a:t>
            </a:r>
            <a:r>
              <a:rPr sz="24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FF840D"/>
                </a:solidFill>
                <a:latin typeface="Arial"/>
                <a:cs typeface="Arial"/>
              </a:rPr>
              <a:t>Zeka</a:t>
            </a:r>
            <a:r>
              <a:rPr sz="2400" b="1" i="1" spc="-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10" dirty="0">
                <a:solidFill>
                  <a:srgbClr val="FF840D"/>
                </a:solidFill>
                <a:latin typeface="Arial"/>
                <a:cs typeface="Arial"/>
              </a:rPr>
              <a:t>(Self-aware</a:t>
            </a:r>
            <a:r>
              <a:rPr sz="2400" b="1" i="1" spc="-1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400" b="1" i="1" spc="-20" dirty="0">
                <a:solidFill>
                  <a:srgbClr val="FF840D"/>
                </a:solidFill>
                <a:latin typeface="Arial"/>
                <a:cs typeface="Arial"/>
              </a:rPr>
              <a:t>AI):</a:t>
            </a:r>
            <a:endParaRPr sz="2400">
              <a:latin typeface="Arial"/>
              <a:cs typeface="Arial"/>
            </a:endParaRPr>
          </a:p>
          <a:p>
            <a:pPr marL="350520" indent="-337820" algn="just">
              <a:lnSpc>
                <a:spcPct val="100000"/>
              </a:lnSpc>
              <a:spcBef>
                <a:spcPts val="165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bilincine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farkındalığına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türüdür.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duygularını,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arzularını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ihtiyaçlarını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taklit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zekasına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eş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hale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gelir.</a:t>
            </a:r>
            <a:endParaRPr sz="2000">
              <a:latin typeface="Microsoft Sans Serif"/>
              <a:cs typeface="Microsoft Sans Serif"/>
            </a:endParaRPr>
          </a:p>
          <a:p>
            <a:pPr marL="349250" marR="5276215" indent="-337185" algn="just">
              <a:lnSpc>
                <a:spcPct val="120000"/>
              </a:lnSpc>
              <a:spcBef>
                <a:spcPts val="106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Şu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bilinçli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yalnızca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bilim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kurgu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filmlerinde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distopik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zamanlarda</a:t>
            </a:r>
            <a:r>
              <a:rPr sz="2000" spc="365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000" spc="370" dirty="0">
                <a:solidFill>
                  <a:srgbClr val="2C241F"/>
                </a:solidFill>
                <a:latin typeface="Microsoft Sans Serif"/>
                <a:cs typeface="Microsoft Sans Serif"/>
              </a:rPr>
              <a:t>    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yer 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bulabiliyor.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81936" y="3089224"/>
            <a:ext cx="92335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900" dirty="0">
                <a:solidFill>
                  <a:srgbClr val="FFFFFF"/>
                </a:solidFill>
                <a:latin typeface="Microsoft Sans Serif"/>
                <a:cs typeface="Microsoft Sans Serif"/>
              </a:rPr>
              <a:t>TEMEL</a:t>
            </a:r>
            <a:r>
              <a:rPr sz="49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900" dirty="0">
                <a:solidFill>
                  <a:srgbClr val="FFFFFF"/>
                </a:solidFill>
                <a:latin typeface="Microsoft Sans Serif"/>
                <a:cs typeface="Microsoft Sans Serif"/>
              </a:rPr>
              <a:t>ÇALIŞMA</a:t>
            </a:r>
            <a:r>
              <a:rPr sz="4900" spc="-2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9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PRENSİPLERİ</a:t>
            </a:r>
            <a:endParaRPr sz="49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55" dirty="0"/>
              <a:t> </a:t>
            </a:r>
            <a:r>
              <a:rPr dirty="0"/>
              <a:t>Zekanın</a:t>
            </a:r>
            <a:r>
              <a:rPr spc="-140" dirty="0"/>
              <a:t> </a:t>
            </a:r>
            <a:r>
              <a:rPr spc="-25" dirty="0"/>
              <a:t>Temel</a:t>
            </a:r>
            <a:r>
              <a:rPr spc="-140" dirty="0"/>
              <a:t> </a:t>
            </a:r>
            <a:r>
              <a:rPr dirty="0"/>
              <a:t>Çalışma</a:t>
            </a:r>
            <a:r>
              <a:rPr spc="-150" dirty="0"/>
              <a:t> </a:t>
            </a:r>
            <a:r>
              <a:rPr spc="-10" dirty="0"/>
              <a:t>Prensipleri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614678"/>
            <a:ext cx="9583420" cy="222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1950" b="1" i="1" spc="-25" dirty="0">
                <a:solidFill>
                  <a:srgbClr val="F88556"/>
                </a:solidFill>
                <a:latin typeface="Arial"/>
                <a:cs typeface="Arial"/>
              </a:rPr>
              <a:t>1.</a:t>
            </a:r>
            <a:r>
              <a:rPr sz="1950" b="1" i="1" dirty="0">
                <a:solidFill>
                  <a:srgbClr val="F88556"/>
                </a:solidFill>
                <a:latin typeface="Arial"/>
                <a:cs typeface="Arial"/>
              </a:rPr>
              <a:t>	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Veri</a:t>
            </a:r>
            <a:r>
              <a:rPr sz="2200" b="1" i="1" spc="-1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Toplama</a:t>
            </a:r>
            <a:r>
              <a:rPr sz="22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200" b="1" i="1" spc="-10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İşleme</a:t>
            </a:r>
            <a:endParaRPr sz="2200" dirty="0">
              <a:latin typeface="Arial"/>
              <a:cs typeface="Arial"/>
            </a:endParaRPr>
          </a:p>
          <a:p>
            <a:pPr marL="463550" marR="5080">
              <a:lnSpc>
                <a:spcPct val="130000"/>
              </a:lnSpc>
              <a:spcBef>
                <a:spcPts val="1135"/>
              </a:spcBef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Veri:</a:t>
            </a:r>
            <a:r>
              <a:rPr sz="2000" b="1" i="1" spc="229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miktarda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toplayarak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öğrenir.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metin,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resim,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video veya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sensörlerden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gelen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sinyaller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çeşitli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türlerde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000" dirty="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1814"/>
              </a:spcBef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Veri</a:t>
            </a:r>
            <a:r>
              <a:rPr sz="2000" b="1" i="1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İşleme:</a:t>
            </a:r>
            <a:r>
              <a:rPr sz="2000" b="1" i="1" spc="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Toplanan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veriler,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anlamlı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sonuçlar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çıkarabilmesi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000" dirty="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temizlenir,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düzenlenir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modellemeye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hazır hale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getirilir.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938264" y="4624781"/>
            <a:ext cx="10541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42478" y="4624781"/>
            <a:ext cx="12833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problemleri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573514" y="4624781"/>
            <a:ext cx="89979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çözmek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23931" y="4624781"/>
            <a:ext cx="40640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48180" y="4055109"/>
            <a:ext cx="5343525" cy="1297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sz="1950" b="1" i="1" spc="-25" dirty="0">
                <a:solidFill>
                  <a:srgbClr val="F88556"/>
                </a:solidFill>
                <a:latin typeface="Arial"/>
                <a:cs typeface="Arial"/>
              </a:rPr>
              <a:t>2.</a:t>
            </a:r>
            <a:r>
              <a:rPr sz="1950" b="1" i="1" dirty="0">
                <a:solidFill>
                  <a:srgbClr val="F88556"/>
                </a:solidFill>
                <a:latin typeface="Arial"/>
                <a:cs typeface="Arial"/>
              </a:rPr>
              <a:t>	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Model</a:t>
            </a:r>
            <a:r>
              <a:rPr sz="2200" b="1" i="1" spc="-1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200" b="1" i="1" spc="-1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200" b="1" i="1" spc="-10" dirty="0">
                <a:solidFill>
                  <a:srgbClr val="FF840D"/>
                </a:solidFill>
                <a:latin typeface="Arial"/>
                <a:cs typeface="Arial"/>
              </a:rPr>
              <a:t>Algoritmalar</a:t>
            </a:r>
            <a:endParaRPr sz="2200" dirty="0">
              <a:latin typeface="Arial"/>
              <a:cs typeface="Arial"/>
            </a:endParaRPr>
          </a:p>
          <a:p>
            <a:pPr marL="463550">
              <a:lnSpc>
                <a:spcPct val="100000"/>
              </a:lnSpc>
              <a:spcBef>
                <a:spcPts val="1855"/>
              </a:spcBef>
              <a:tabLst>
                <a:tab pos="2218055" algn="l"/>
                <a:tab pos="3092450" algn="l"/>
                <a:tab pos="4156710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Algoritmalar: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temelinde,</a:t>
            </a:r>
            <a:endParaRPr sz="2000" dirty="0">
              <a:latin typeface="Microsoft Sans Serif"/>
              <a:cs typeface="Microsoft Sans Serif"/>
            </a:endParaRPr>
          </a:p>
          <a:p>
            <a:pPr marL="463550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99285" y="5466188"/>
            <a:ext cx="9132570" cy="81788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1375410" algn="l"/>
                <a:tab pos="2431415" algn="l"/>
                <a:tab pos="3853179" algn="l"/>
                <a:tab pos="4625975" algn="l"/>
                <a:tab pos="5427980" algn="l"/>
                <a:tab pos="6665595" algn="l"/>
                <a:tab pos="8002270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Modeller: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öğrenmesi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modelleri,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verilerden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öğrenerek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gelecekteki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girdiler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tahminler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55" dirty="0"/>
              <a:t> </a:t>
            </a:r>
            <a:r>
              <a:rPr dirty="0"/>
              <a:t>Zekanın</a:t>
            </a:r>
            <a:r>
              <a:rPr spc="-140" dirty="0"/>
              <a:t> </a:t>
            </a:r>
            <a:r>
              <a:rPr spc="-25" dirty="0"/>
              <a:t>Temel</a:t>
            </a:r>
            <a:r>
              <a:rPr spc="-140" dirty="0"/>
              <a:t> </a:t>
            </a:r>
            <a:r>
              <a:rPr dirty="0"/>
              <a:t>Çalışma</a:t>
            </a:r>
            <a:r>
              <a:rPr spc="-150" dirty="0"/>
              <a:t> </a:t>
            </a:r>
            <a:r>
              <a:rPr spc="-10" dirty="0"/>
              <a:t>Prensipleri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9582785" cy="2945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AutoNum type="arabicPeriod" startAt="3"/>
              <a:tabLst>
                <a:tab pos="469265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Öğrenme</a:t>
            </a:r>
            <a:r>
              <a:rPr sz="2000" b="1" i="1" spc="-9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Yöntemleri:</a:t>
            </a:r>
            <a:endParaRPr sz="2000">
              <a:latin typeface="Arial"/>
              <a:cs typeface="Arial"/>
            </a:endParaRPr>
          </a:p>
          <a:p>
            <a:pPr marL="350520" marR="5715" lvl="1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637030" algn="l"/>
                <a:tab pos="2897505" algn="l"/>
                <a:tab pos="4495165" algn="l"/>
                <a:tab pos="5885180" algn="l"/>
                <a:tab pos="6807200" algn="l"/>
                <a:tab pos="7600950" algn="l"/>
                <a:tab pos="8834120" algn="l"/>
              </a:tabLst>
            </a:pP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Denetimli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Öğrenme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(Supervised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Learning):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etiketlerle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sunulur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model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 ilişkiyi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öğrenir.</a:t>
            </a:r>
            <a:endParaRPr sz="2000">
              <a:latin typeface="Microsoft Sans Serif"/>
              <a:cs typeface="Microsoft Sans Serif"/>
            </a:endParaRPr>
          </a:p>
          <a:p>
            <a:pPr marL="350520" lvl="1" indent="-337820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Denetimsiz</a:t>
            </a:r>
            <a:r>
              <a:rPr sz="2000" b="1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Öğrenme</a:t>
            </a:r>
            <a:r>
              <a:rPr sz="2000" b="1" spc="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(Unsupervised</a:t>
            </a:r>
            <a:r>
              <a:rPr sz="2000" b="1" spc="4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Learning):</a:t>
            </a:r>
            <a:r>
              <a:rPr sz="2000" b="1" spc="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Model,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verilerdeki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gizli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yapıları</a:t>
            </a:r>
            <a:endParaRPr sz="20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48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örüntüleri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keşfetmeye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çalışır.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lvl="1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  <a:tab pos="1979930" algn="l"/>
                <a:tab pos="3300095" algn="l"/>
                <a:tab pos="5369560" algn="l"/>
                <a:tab pos="6817995" algn="l"/>
                <a:tab pos="7869555" algn="l"/>
                <a:tab pos="8556625" algn="l"/>
                <a:tab pos="9030970" algn="l"/>
              </a:tabLst>
            </a:pP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Pekiştirmeli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Öğrenme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(Reinforcement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Learning):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Sistem,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ödül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ceza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mekanizmasıyla kendi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kendine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33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55" dirty="0"/>
              <a:t> </a:t>
            </a:r>
            <a:r>
              <a:rPr dirty="0"/>
              <a:t>Zekanın</a:t>
            </a:r>
            <a:r>
              <a:rPr spc="-140" dirty="0"/>
              <a:t> </a:t>
            </a:r>
            <a:r>
              <a:rPr spc="-25" dirty="0"/>
              <a:t>Temel</a:t>
            </a:r>
            <a:r>
              <a:rPr spc="-140" dirty="0"/>
              <a:t> </a:t>
            </a:r>
            <a:r>
              <a:rPr dirty="0"/>
              <a:t>Çalışma</a:t>
            </a:r>
            <a:r>
              <a:rPr spc="-150" dirty="0"/>
              <a:t> </a:t>
            </a:r>
            <a:r>
              <a:rPr spc="-10" dirty="0"/>
              <a:t>Prensipleri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9584690" cy="43218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AutoNum type="arabicPeriod" startAt="4"/>
              <a:tabLst>
                <a:tab pos="469265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Tahmin</a:t>
            </a:r>
            <a:r>
              <a:rPr sz="2000" b="1" i="1" spc="-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0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Karar</a:t>
            </a:r>
            <a:r>
              <a:rPr sz="2000" b="1" i="1" spc="-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Verme:</a:t>
            </a:r>
            <a:endParaRPr sz="2000" dirty="0">
              <a:latin typeface="Arial"/>
              <a:cs typeface="Arial"/>
            </a:endParaRPr>
          </a:p>
          <a:p>
            <a:pPr marL="350520" marR="6350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Eğitimli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modeller,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verilerle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tahminlerde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bulunur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</a:t>
            </a:r>
            <a:r>
              <a:rPr sz="20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verir.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kararlar,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dizi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olasılık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skor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hesaplamasına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dayanır.</a:t>
            </a:r>
            <a:endParaRPr sz="20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AutoNum type="arabicPeriod" startAt="5"/>
              <a:tabLst>
                <a:tab pos="469265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Hata</a:t>
            </a:r>
            <a:r>
              <a:rPr sz="20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Düzeltme</a:t>
            </a:r>
            <a:r>
              <a:rPr sz="20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000" b="1" i="1" spc="-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endParaRPr sz="2000" dirty="0">
              <a:latin typeface="Arial"/>
              <a:cs typeface="Arial"/>
            </a:endParaRPr>
          </a:p>
          <a:p>
            <a:pPr marL="350520" marR="5080" lvl="1" indent="-338455" algn="just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performanslarını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geliştirmek</a:t>
            </a:r>
            <a:r>
              <a:rPr sz="20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</a:t>
            </a:r>
            <a:r>
              <a:rPr sz="2000" spc="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bildirim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alır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modellerini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günceller.</a:t>
            </a:r>
            <a:r>
              <a:rPr sz="20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Gerçek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zamanlı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geri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bildirim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döngüleri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olarak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iyileştirilir.</a:t>
            </a:r>
            <a:endParaRPr sz="2000" dirty="0">
              <a:latin typeface="Microsoft Sans Serif"/>
              <a:cs typeface="Microsoft Sans Serif"/>
            </a:endParaRPr>
          </a:p>
          <a:p>
            <a:pPr marL="469265" indent="-456565">
              <a:lnSpc>
                <a:spcPct val="100000"/>
              </a:lnSpc>
              <a:spcBef>
                <a:spcPts val="1590"/>
              </a:spcBef>
              <a:buClr>
                <a:srgbClr val="F88556"/>
              </a:buClr>
              <a:buSzPct val="90000"/>
              <a:buAutoNum type="arabicPeriod" startAt="6"/>
              <a:tabLst>
                <a:tab pos="469265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Bağlam</a:t>
            </a:r>
            <a:r>
              <a:rPr sz="2000" b="1" i="1" spc="-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000" b="1" i="1" spc="-1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Adaptasyon:</a:t>
            </a:r>
            <a:endParaRPr sz="2000" dirty="0">
              <a:latin typeface="Arial"/>
              <a:cs typeface="Arial"/>
            </a:endParaRPr>
          </a:p>
          <a:p>
            <a:pPr marL="350520" marR="6985" lvl="1" indent="-338455" algn="just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Gelişmiş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durumun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bağlamını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anlamaya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durumlara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adapte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olmaya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çalışır.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34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55" dirty="0"/>
              <a:t> </a:t>
            </a:r>
            <a:r>
              <a:rPr dirty="0"/>
              <a:t>Zekanın</a:t>
            </a:r>
            <a:r>
              <a:rPr spc="-140" dirty="0"/>
              <a:t> </a:t>
            </a:r>
            <a:r>
              <a:rPr spc="-25" dirty="0"/>
              <a:t>Temel</a:t>
            </a:r>
            <a:r>
              <a:rPr spc="-140" dirty="0"/>
              <a:t> </a:t>
            </a:r>
            <a:r>
              <a:rPr dirty="0"/>
              <a:t>Çalışma</a:t>
            </a:r>
            <a:r>
              <a:rPr spc="-150" dirty="0"/>
              <a:t> </a:t>
            </a:r>
            <a:r>
              <a:rPr spc="-10" dirty="0"/>
              <a:t>Prensipleri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AutoNum type="arabicPeriod" startAt="7"/>
              <a:tabLst>
                <a:tab pos="469265" algn="l"/>
              </a:tabLst>
            </a:pPr>
            <a:r>
              <a:rPr dirty="0">
                <a:solidFill>
                  <a:srgbClr val="FF840D"/>
                </a:solidFill>
              </a:rPr>
              <a:t>Uygulama</a:t>
            </a:r>
            <a:r>
              <a:rPr spc="-30" dirty="0">
                <a:solidFill>
                  <a:srgbClr val="FF840D"/>
                </a:solidFill>
              </a:rPr>
              <a:t> </a:t>
            </a:r>
            <a:r>
              <a:rPr dirty="0">
                <a:solidFill>
                  <a:srgbClr val="FF840D"/>
                </a:solidFill>
              </a:rPr>
              <a:t>ve</a:t>
            </a:r>
            <a:r>
              <a:rPr spc="-35" dirty="0">
                <a:solidFill>
                  <a:srgbClr val="FF840D"/>
                </a:solidFill>
              </a:rPr>
              <a:t> </a:t>
            </a:r>
            <a:r>
              <a:rPr spc="-10" dirty="0">
                <a:solidFill>
                  <a:srgbClr val="FF840D"/>
                </a:solidFill>
              </a:rPr>
              <a:t>Dağıtım:</a:t>
            </a:r>
          </a:p>
          <a:p>
            <a:pPr marL="350520" marR="5080" lvl="1" indent="-338455">
              <a:lnSpc>
                <a:spcPct val="120000"/>
              </a:lnSpc>
              <a:spcBef>
                <a:spcPts val="1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Uygulama</a:t>
            </a:r>
            <a:r>
              <a:rPr sz="2000" b="1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Ortamı:</a:t>
            </a:r>
            <a:r>
              <a:rPr sz="2000" b="1" spc="37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modelin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kullanılacağı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ortamın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belirlenmesi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(web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uygulaması,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mobil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uygulama,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gömülü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vb.).</a:t>
            </a:r>
            <a:endParaRPr sz="2000" dirty="0">
              <a:latin typeface="Microsoft Sans Serif"/>
              <a:cs typeface="Microsoft Sans Serif"/>
            </a:endParaRPr>
          </a:p>
          <a:p>
            <a:pPr marL="350520" lvl="1" indent="-337820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Entegrasyon:</a:t>
            </a:r>
            <a:r>
              <a:rPr sz="20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Modelin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mevcut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sistemlere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entegre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edilmesi.</a:t>
            </a:r>
            <a:endParaRPr sz="2000" dirty="0">
              <a:latin typeface="Microsoft Sans Serif"/>
              <a:cs typeface="Microsoft Sans Serif"/>
            </a:endParaRPr>
          </a:p>
          <a:p>
            <a:pPr marL="350520" lvl="1" indent="-337820">
              <a:lnSpc>
                <a:spcPct val="100000"/>
              </a:lnSpc>
              <a:spcBef>
                <a:spcPts val="158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Bakım: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Modelin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performansının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düzenli olarak takip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edilmesi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güncellenmesi.</a:t>
            </a:r>
            <a:endParaRPr sz="2000" dirty="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8" name="Metin kutusu 5">
            <a:extLst>
              <a:ext uri="{FF2B5EF4-FFF2-40B4-BE49-F238E27FC236}">
                <a16:creationId xmlns:a16="http://schemas.microsoft.com/office/drawing/2014/main" id="{DB5140C7-DD1E-6220-9265-C7146482736F}"/>
              </a:ext>
            </a:extLst>
          </p:cNvPr>
          <p:cNvSpPr txBox="1"/>
          <p:nvPr/>
        </p:nvSpPr>
        <p:spPr>
          <a:xfrm rot="5400000">
            <a:off x="-969035" y="3036957"/>
            <a:ext cx="2971800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kern="0"/>
            </a:defPPr>
          </a:lstStyle>
          <a:p>
            <a:pPr algn="ctr"/>
            <a:r>
              <a:rPr lang="en-US" sz="4000" b="1" dirty="0">
                <a:solidFill>
                  <a:schemeClr val="bg1"/>
                </a:solidFill>
              </a:rPr>
              <a:t>˗ˏˋ ★ ˎˊ˗</a:t>
            </a:r>
            <a:endParaRPr lang="tr-TR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566163" y="3098368"/>
            <a:ext cx="9476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AVANTAJLARI</a:t>
            </a:r>
            <a:r>
              <a:rPr sz="4400" spc="-10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dirty="0">
                <a:solidFill>
                  <a:srgbClr val="FFFFFF"/>
                </a:solidFill>
                <a:latin typeface="Microsoft Sans Serif"/>
                <a:cs typeface="Microsoft Sans Serif"/>
              </a:rPr>
              <a:t>VE</a:t>
            </a:r>
            <a:r>
              <a:rPr sz="4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4400" spc="-70" dirty="0">
                <a:solidFill>
                  <a:srgbClr val="FFFFFF"/>
                </a:solidFill>
                <a:latin typeface="Microsoft Sans Serif"/>
                <a:cs typeface="Microsoft Sans Serif"/>
              </a:rPr>
              <a:t>DEZAVANTAJLARI</a:t>
            </a:r>
            <a:endParaRPr sz="4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36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0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229" dirty="0"/>
              <a:t> </a:t>
            </a:r>
            <a:r>
              <a:rPr spc="-10" dirty="0"/>
              <a:t>Avantajları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37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0677" y="1614652"/>
            <a:ext cx="9671050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6350" indent="-338455" algn="just">
              <a:lnSpc>
                <a:spcPct val="13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Verimlilik</a:t>
            </a:r>
            <a:r>
              <a:rPr sz="2000" b="1" i="1" spc="7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Artışı:</a:t>
            </a:r>
            <a:r>
              <a:rPr sz="2000" b="1" i="1" spc="7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tekrarlayan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zaman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0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otomatikleştirerek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insanlara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stratejik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işlere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odaklanma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imkanı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sayede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hızlanır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verimlilik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artar.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0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Hata</a:t>
            </a:r>
            <a:r>
              <a:rPr sz="2000" b="1" i="1" spc="2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Oranının</a:t>
            </a:r>
            <a:r>
              <a:rPr sz="2000" b="1" i="1" spc="3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Azalması:</a:t>
            </a:r>
            <a:r>
              <a:rPr sz="2000" b="1" i="1" spc="3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hatalarına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az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eğilimlidir.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 analizi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 tekrarlayan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görevlerde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sonuçlar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verir.</a:t>
            </a:r>
            <a:endParaRPr sz="2000">
              <a:latin typeface="Microsoft Sans Serif"/>
              <a:cs typeface="Microsoft Sans Serif"/>
            </a:endParaRPr>
          </a:p>
          <a:p>
            <a:pPr marL="349250" marR="7620" indent="-337185" algn="just">
              <a:lnSpc>
                <a:spcPct val="130100"/>
              </a:lnSpc>
              <a:spcBef>
                <a:spcPts val="11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Yeni</a:t>
            </a:r>
            <a:r>
              <a:rPr sz="2000" b="1" i="1" spc="-1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Bilgilere</a:t>
            </a:r>
            <a:r>
              <a:rPr sz="2000" b="1" i="1" spc="-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Hızlı</a:t>
            </a:r>
            <a:r>
              <a:rPr sz="2000" b="1" i="1" spc="-1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Erişim: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kümelerini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bilgiler</a:t>
            </a:r>
            <a:r>
              <a:rPr sz="20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trendler</a:t>
            </a:r>
            <a:r>
              <a:rPr sz="20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çıkarabilir.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sayede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şirketler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hızlı</a:t>
            </a:r>
            <a:r>
              <a:rPr sz="20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iyi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kararlar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alabilir.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92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Kişiselleştirme:</a:t>
            </a:r>
            <a:r>
              <a:rPr sz="2000" b="1" i="1" spc="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kullanıcı</a:t>
            </a:r>
            <a:r>
              <a:rPr sz="20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davranışlarını</a:t>
            </a:r>
            <a:r>
              <a:rPr sz="2000" spc="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0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kişiselleştirilmiş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ürün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endParaRPr sz="2000">
              <a:latin typeface="Microsoft Sans Serif"/>
              <a:cs typeface="Microsoft Sans Serif"/>
            </a:endParaRPr>
          </a:p>
          <a:p>
            <a:pPr marL="350520">
              <a:lnSpc>
                <a:spcPct val="100000"/>
              </a:lnSpc>
              <a:spcBef>
                <a:spcPts val="725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sunabilir.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memnuniyetini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artırır.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6070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Zeka’nın</a:t>
            </a:r>
            <a:r>
              <a:rPr spc="-229" dirty="0"/>
              <a:t> </a:t>
            </a:r>
            <a:r>
              <a:rPr spc="-10" dirty="0"/>
              <a:t>Avantajları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38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1588744"/>
            <a:ext cx="9584055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715" indent="-338455" algn="just">
              <a:lnSpc>
                <a:spcPct val="13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7/24</a:t>
            </a:r>
            <a:r>
              <a:rPr sz="2000" b="1" i="1" spc="1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Çalışma:</a:t>
            </a:r>
            <a:r>
              <a:rPr sz="2000" b="1" i="1" spc="2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dinlenmeden</a:t>
            </a:r>
            <a:r>
              <a:rPr sz="20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sürekli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çalışabilir.</a:t>
            </a:r>
            <a:r>
              <a:rPr sz="20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sayede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alanlarda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7/24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sağlanabilir.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7620" indent="-338455" algn="just">
              <a:lnSpc>
                <a:spcPct val="130100"/>
              </a:lnSpc>
              <a:spcBef>
                <a:spcPts val="11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Yeni</a:t>
            </a:r>
            <a:r>
              <a:rPr sz="2000" b="1" i="1" spc="1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Ürün</a:t>
            </a:r>
            <a:r>
              <a:rPr sz="2000" b="1" i="1" spc="1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000" b="1" i="1" spc="19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Hizmet</a:t>
            </a:r>
            <a:r>
              <a:rPr sz="2000" b="1" i="1" spc="18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Geliştirme:</a:t>
            </a:r>
            <a:r>
              <a:rPr sz="2000" b="1" i="1" spc="18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20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ürün</a:t>
            </a:r>
            <a:r>
              <a:rPr sz="20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hizmetlerin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geliştirilmesinde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kullanılabilecek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fikirler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yaklaşımlar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1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Risklerin</a:t>
            </a:r>
            <a:r>
              <a:rPr sz="2000" b="1" i="1" spc="44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Azaltılması:</a:t>
            </a:r>
            <a:r>
              <a:rPr sz="2000" b="1" i="1" spc="45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riskleri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önceden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tahmin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ederek</a:t>
            </a:r>
            <a:r>
              <a:rPr sz="2000" spc="4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şirketlerin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iyi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hazırlık</a:t>
            </a:r>
            <a:r>
              <a:rPr sz="2000" spc="2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yapmasına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yardımcı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finans</a:t>
            </a:r>
            <a:r>
              <a:rPr sz="20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sektöründe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dolandırıcılıkları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tespit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etmek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0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İnsan</a:t>
            </a:r>
            <a:r>
              <a:rPr sz="2000" b="1" i="1" spc="1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Hatasını</a:t>
            </a:r>
            <a:r>
              <a:rPr sz="2000" b="1" i="1" spc="17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Azaltma:</a:t>
            </a:r>
            <a:r>
              <a:rPr sz="2000" b="1" i="1" spc="16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tehlikeli</a:t>
            </a:r>
            <a:r>
              <a:rPr sz="20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2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hassas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işlerde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hatası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riskini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azaltarak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güvenliği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artırabilir.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4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nükleer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santrallerde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veya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cerrahi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operasyonlarda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kullanılabilir.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553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30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Dezavantajları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39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9567" y="1622908"/>
            <a:ext cx="9660890" cy="444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0520" marR="5080" indent="-338455" algn="just">
              <a:lnSpc>
                <a:spcPct val="1300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İş</a:t>
            </a:r>
            <a:r>
              <a:rPr sz="2000" b="1" i="1" spc="3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Kayıpları:</a:t>
            </a:r>
            <a:r>
              <a:rPr sz="2000" b="1" i="1" spc="3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YZ'nin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otomasyon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yeteneği,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bazı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işlerin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ortadan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kalkmasına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işsizliğin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artmasına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neden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tekrarlayan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rutin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</a:t>
            </a:r>
            <a:r>
              <a:rPr sz="2000" spc="4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işlerde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belirgin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5715" indent="-338455" algn="just">
              <a:lnSpc>
                <a:spcPct val="1300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Önyargı</a:t>
            </a:r>
            <a:r>
              <a:rPr sz="2000" b="1" i="1" spc="15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ve</a:t>
            </a:r>
            <a:r>
              <a:rPr sz="20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Ayrımcılık:</a:t>
            </a:r>
            <a:r>
              <a:rPr sz="2000" b="1" i="1" spc="16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</a:t>
            </a:r>
            <a:r>
              <a:rPr sz="2000" spc="19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üzerindeki</a:t>
            </a:r>
            <a:r>
              <a:rPr sz="2000" spc="19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önyargıları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yansıtabilir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belirli</a:t>
            </a:r>
            <a:r>
              <a:rPr sz="20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gruplara</a:t>
            </a:r>
            <a:r>
              <a:rPr sz="20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karşı</a:t>
            </a:r>
            <a:r>
              <a:rPr sz="20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ayrımcılığa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yol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açabilir.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yüz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bazı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etnik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grupları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tanımakta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zorlanabilir.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0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Gizlilik</a:t>
            </a:r>
            <a:r>
              <a:rPr sz="2000" b="1" i="1" spc="3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Sorunları:</a:t>
            </a:r>
            <a:r>
              <a:rPr sz="2000" b="1" i="1" spc="310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miktarda</a:t>
            </a:r>
            <a:r>
              <a:rPr sz="20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veriyi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işler.</a:t>
            </a:r>
            <a:r>
              <a:rPr sz="2000" spc="3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verilerin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güvenliği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mahremiyeti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konusunda</a:t>
            </a:r>
            <a:r>
              <a:rPr sz="20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endişeler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bulunmaktadır.</a:t>
            </a:r>
            <a:endParaRPr sz="2000">
              <a:latin typeface="Microsoft Sans Serif"/>
              <a:cs typeface="Microsoft Sans Serif"/>
            </a:endParaRPr>
          </a:p>
          <a:p>
            <a:pPr marL="350520" marR="5080" indent="-338455" algn="just">
              <a:lnSpc>
                <a:spcPct val="130000"/>
              </a:lnSpc>
              <a:spcBef>
                <a:spcPts val="12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Etik</a:t>
            </a:r>
            <a:r>
              <a:rPr sz="2000" b="1" i="1" spc="1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Sorunlar:</a:t>
            </a:r>
            <a:r>
              <a:rPr sz="2000" b="1" i="1" spc="2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YZ'nin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gelişimiyle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birlikte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yeni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etik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sorular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</a:t>
            </a:r>
            <a:r>
              <a:rPr sz="20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çıkmaktadır.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 otonom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kazalarında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kimin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sorumlu olacağı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35530">
              <a:lnSpc>
                <a:spcPct val="100000"/>
              </a:lnSpc>
              <a:spcBef>
                <a:spcPts val="95"/>
              </a:spcBef>
            </a:pPr>
            <a:r>
              <a:rPr dirty="0"/>
              <a:t>Yapay</a:t>
            </a:r>
            <a:r>
              <a:rPr spc="-130" dirty="0"/>
              <a:t> </a:t>
            </a:r>
            <a:r>
              <a:rPr dirty="0"/>
              <a:t>Zeka’nın</a:t>
            </a:r>
            <a:r>
              <a:rPr spc="-120" dirty="0"/>
              <a:t> </a:t>
            </a:r>
            <a:r>
              <a:rPr spc="-10" dirty="0"/>
              <a:t>Dezavantajları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40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9567" y="1512953"/>
            <a:ext cx="9662795" cy="5240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9250" marR="6350" indent="-337185" algn="just">
              <a:lnSpc>
                <a:spcPct val="130100"/>
              </a:lnSpc>
              <a:spcBef>
                <a:spcPts val="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Yüksek</a:t>
            </a:r>
            <a:r>
              <a:rPr sz="2000" b="1" i="1" spc="150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Maliyet:</a:t>
            </a:r>
            <a:r>
              <a:rPr sz="2000" b="1" i="1" spc="145" dirty="0">
                <a:solidFill>
                  <a:srgbClr val="FF840D"/>
                </a:solidFill>
                <a:latin typeface="Arial"/>
                <a:cs typeface="Arial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sistemlerinin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geliştirilmesi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bakımı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genellikle</a:t>
            </a:r>
            <a:r>
              <a:rPr sz="2000" spc="18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yüksek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maliyetlidir.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durum,</a:t>
            </a:r>
            <a:r>
              <a:rPr sz="2000" spc="21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küçük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işletmelerin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gelişmekte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ülkelerin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YZ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teknolojilerine</a:t>
            </a:r>
            <a:r>
              <a:rPr sz="20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erişimini</a:t>
            </a:r>
            <a:r>
              <a:rPr sz="2000" spc="-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sınırlayabilir.</a:t>
            </a:r>
            <a:endParaRPr sz="2000">
              <a:latin typeface="Microsoft Sans Serif"/>
              <a:cs typeface="Microsoft Sans Serif"/>
            </a:endParaRPr>
          </a:p>
          <a:p>
            <a:pPr marL="349250" marR="5080" indent="-337185" algn="just">
              <a:lnSpc>
                <a:spcPct val="1300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Bağımlılık:</a:t>
            </a:r>
            <a:r>
              <a:rPr sz="2000" b="1" i="1" spc="3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sistemlerine</a:t>
            </a:r>
            <a:r>
              <a:rPr sz="2000" spc="4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aşırı</a:t>
            </a:r>
            <a:r>
              <a:rPr sz="2000" spc="3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bağımlılık,</a:t>
            </a:r>
            <a:r>
              <a:rPr sz="2000" spc="3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</a:t>
            </a:r>
            <a:r>
              <a:rPr sz="20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arızalarında</a:t>
            </a:r>
            <a:r>
              <a:rPr sz="2000" spc="3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3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sorunlara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yol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açabilir.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banka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sisteminde</a:t>
            </a:r>
            <a:r>
              <a:rPr sz="20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meydana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gelen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arıza,</a:t>
            </a:r>
            <a:r>
              <a:rPr sz="20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tüm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müşterileri</a:t>
            </a:r>
            <a:r>
              <a:rPr sz="20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etkileyebilir.</a:t>
            </a:r>
            <a:endParaRPr sz="2000">
              <a:latin typeface="Microsoft Sans Serif"/>
              <a:cs typeface="Microsoft Sans Serif"/>
            </a:endParaRPr>
          </a:p>
          <a:p>
            <a:pPr marL="349250" marR="5080" indent="-337185" algn="just">
              <a:lnSpc>
                <a:spcPct val="130100"/>
              </a:lnSpc>
              <a:spcBef>
                <a:spcPts val="12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Şeffaflık</a:t>
            </a:r>
            <a:r>
              <a:rPr sz="2000" b="1" i="1" spc="4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Eksikliği:</a:t>
            </a:r>
            <a:r>
              <a:rPr sz="2000" b="1" i="1" spc="45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Bazı</a:t>
            </a:r>
            <a:r>
              <a:rPr sz="20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sistemleri,</a:t>
            </a:r>
            <a:r>
              <a:rPr sz="2000" spc="4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000" spc="48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</a:t>
            </a:r>
            <a:r>
              <a:rPr sz="2000" spc="4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öğrenme</a:t>
            </a:r>
            <a:r>
              <a:rPr sz="2000" spc="4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2000" spc="45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olanlar,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</a:t>
            </a:r>
            <a:r>
              <a:rPr sz="20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verme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süreçlerini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açıklamakta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zorlanır.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1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</a:t>
            </a:r>
            <a:r>
              <a:rPr sz="2000" spc="1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güvenilirlik</a:t>
            </a:r>
            <a:r>
              <a:rPr sz="2000" spc="1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sorunlarına</a:t>
            </a:r>
            <a:r>
              <a:rPr sz="2000" spc="1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neden 	olabilir.</a:t>
            </a:r>
            <a:endParaRPr sz="2000">
              <a:latin typeface="Microsoft Sans Serif"/>
              <a:cs typeface="Microsoft Sans Serif"/>
            </a:endParaRPr>
          </a:p>
          <a:p>
            <a:pPr marL="349250" marR="6350" indent="-337185" algn="just">
              <a:lnSpc>
                <a:spcPct val="130100"/>
              </a:lnSpc>
              <a:spcBef>
                <a:spcPts val="119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Sosyal</a:t>
            </a:r>
            <a:r>
              <a:rPr sz="2000" b="1" i="1" spc="-3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FF840D"/>
                </a:solidFill>
                <a:latin typeface="Arial"/>
                <a:cs typeface="Arial"/>
              </a:rPr>
              <a:t>Etkiler:</a:t>
            </a:r>
            <a:r>
              <a:rPr sz="2000" b="1" i="1" spc="-25" dirty="0">
                <a:solidFill>
                  <a:srgbClr val="FF840D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toplumsal ilişkileri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 etkileşimlerini olumsuz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etkileyebilir.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Örneğin,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sosyal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medyada</a:t>
            </a:r>
            <a:r>
              <a:rPr sz="2000" spc="2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yaygınlaşan</a:t>
            </a:r>
            <a:r>
              <a:rPr sz="20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yalan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haberlerin</a:t>
            </a:r>
            <a:r>
              <a:rPr sz="2000" spc="27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yayılmasında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YZ'nin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rolü 	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olduğu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düşünülmektedir.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30779" y="3080080"/>
            <a:ext cx="798957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YZ</a:t>
            </a:r>
            <a:r>
              <a:rPr sz="5400" spc="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dirty="0">
                <a:solidFill>
                  <a:srgbClr val="FFFFFF"/>
                </a:solidFill>
                <a:latin typeface="Microsoft Sans Serif"/>
                <a:cs typeface="Microsoft Sans Serif"/>
              </a:rPr>
              <a:t>KULLANIM</a:t>
            </a:r>
            <a:r>
              <a:rPr sz="5400" spc="-2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ALANLARI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21560">
              <a:lnSpc>
                <a:spcPct val="100000"/>
              </a:lnSpc>
              <a:spcBef>
                <a:spcPts val="95"/>
              </a:spcBef>
            </a:pPr>
            <a:r>
              <a:rPr sz="3100" spc="-10" dirty="0"/>
              <a:t>Yapay</a:t>
            </a:r>
            <a:r>
              <a:rPr sz="3100" spc="-130" dirty="0"/>
              <a:t> </a:t>
            </a:r>
            <a:r>
              <a:rPr sz="3100" dirty="0"/>
              <a:t>Zeka’nın</a:t>
            </a:r>
            <a:r>
              <a:rPr sz="3100" spc="-110" dirty="0"/>
              <a:t> </a:t>
            </a:r>
            <a:r>
              <a:rPr sz="3100" spc="-10" dirty="0"/>
              <a:t>Kullanım</a:t>
            </a:r>
            <a:r>
              <a:rPr sz="3100" spc="-204" dirty="0"/>
              <a:t> </a:t>
            </a:r>
            <a:r>
              <a:rPr sz="3100" spc="-10" dirty="0"/>
              <a:t>Alanları</a:t>
            </a:r>
            <a:endParaRPr sz="3100"/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86533" y="1534159"/>
            <a:ext cx="8437245" cy="285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7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17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günümüzde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pek</a:t>
            </a:r>
            <a:r>
              <a:rPr sz="17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çok</a:t>
            </a:r>
            <a:r>
              <a:rPr sz="17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sektörde</a:t>
            </a:r>
            <a:r>
              <a:rPr sz="17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devrim</a:t>
            </a:r>
            <a:r>
              <a:rPr sz="17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dirty="0">
                <a:solidFill>
                  <a:srgbClr val="2C241F"/>
                </a:solidFill>
                <a:latin typeface="Microsoft Sans Serif"/>
                <a:cs typeface="Microsoft Sans Serif"/>
              </a:rPr>
              <a:t>niteliğinde</a:t>
            </a:r>
            <a:r>
              <a:rPr sz="17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değişiklikler</a:t>
            </a:r>
            <a:r>
              <a:rPr sz="1700" spc="-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7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yaratmaktadır.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3079" y="1825751"/>
            <a:ext cx="8729472" cy="4805172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816222" y="6643217"/>
            <a:ext cx="51149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Microsoft Sans Serif"/>
                <a:cs typeface="Microsoft Sans Serif"/>
              </a:rPr>
              <a:t>https://spaksu.com/wp-content/uploads/2023/08/Yapay-Zeka-Kullanim-Alanlari-Spaksu.png</a:t>
            </a:r>
            <a:endParaRPr sz="1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3180" cy="6858000"/>
            </a:xfrm>
            <a:custGeom>
              <a:avLst/>
              <a:gdLst/>
              <a:ahLst/>
              <a:cxnLst/>
              <a:rect l="l" t="t" r="r" b="b"/>
              <a:pathLst>
                <a:path w="43180" h="6858000">
                  <a:moveTo>
                    <a:pt x="0" y="6858000"/>
                  </a:moveTo>
                  <a:lnTo>
                    <a:pt x="42671" y="6858000"/>
                  </a:lnTo>
                  <a:lnTo>
                    <a:pt x="4267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38072" y="1411224"/>
            <a:ext cx="9813290" cy="5282565"/>
            <a:chOff x="1338072" y="1411224"/>
            <a:chExt cx="9813290" cy="5282565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10740" y="1531620"/>
              <a:ext cx="8249411" cy="516178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83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Uygulamalar</a:t>
            </a:r>
            <a:r>
              <a:rPr spc="-65" dirty="0"/>
              <a:t> </a:t>
            </a:r>
            <a:r>
              <a:rPr dirty="0"/>
              <a:t>ve</a:t>
            </a:r>
            <a:r>
              <a:rPr spc="-75" dirty="0"/>
              <a:t> </a:t>
            </a:r>
            <a:r>
              <a:rPr spc="-10" dirty="0"/>
              <a:t>Faydaları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3180" cy="6858000"/>
            </a:xfrm>
            <a:custGeom>
              <a:avLst/>
              <a:gdLst/>
              <a:ahLst/>
              <a:cxnLst/>
              <a:rect l="l" t="t" r="r" b="b"/>
              <a:pathLst>
                <a:path w="43180" h="6858000">
                  <a:moveTo>
                    <a:pt x="0" y="6858000"/>
                  </a:moveTo>
                  <a:lnTo>
                    <a:pt x="42671" y="6858000"/>
                  </a:lnTo>
                  <a:lnTo>
                    <a:pt x="4267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38072" y="1411224"/>
            <a:ext cx="9813290" cy="5282565"/>
            <a:chOff x="1338072" y="1411224"/>
            <a:chExt cx="9813290" cy="5282565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87295" y="1531620"/>
              <a:ext cx="8497824" cy="516178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68345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Uygulamalar</a:t>
            </a:r>
            <a:r>
              <a:rPr spc="-65" dirty="0"/>
              <a:t> </a:t>
            </a:r>
            <a:r>
              <a:rPr dirty="0"/>
              <a:t>ve</a:t>
            </a:r>
            <a:r>
              <a:rPr spc="-75" dirty="0"/>
              <a:t> </a:t>
            </a:r>
            <a:r>
              <a:rPr spc="-10" dirty="0"/>
              <a:t>Faydaları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44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338072" y="1411224"/>
            <a:ext cx="9813290" cy="5165090"/>
            <a:chOff x="1338072" y="1411224"/>
            <a:chExt cx="9813290" cy="5165090"/>
          </a:xfrm>
        </p:grpSpPr>
        <p:sp>
          <p:nvSpPr>
            <p:cNvPr id="4" name="object 4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17179" y="4523231"/>
              <a:ext cx="3191255" cy="205282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95"/>
              </a:spcBef>
            </a:pPr>
            <a:r>
              <a:rPr dirty="0"/>
              <a:t>Dünyadan</a:t>
            </a:r>
            <a:r>
              <a:rPr spc="-140" dirty="0"/>
              <a:t> </a:t>
            </a:r>
            <a:r>
              <a:rPr dirty="0"/>
              <a:t>Yapay</a:t>
            </a:r>
            <a:r>
              <a:rPr spc="-100" dirty="0"/>
              <a:t> </a:t>
            </a:r>
            <a:r>
              <a:rPr dirty="0"/>
              <a:t>Zeka</a:t>
            </a:r>
            <a:r>
              <a:rPr spc="-100" dirty="0"/>
              <a:t> </a:t>
            </a:r>
            <a:r>
              <a:rPr spc="-10" dirty="0"/>
              <a:t>Örnekleri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45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48180" y="1449451"/>
            <a:ext cx="9582150" cy="54197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Sağlık</a:t>
            </a:r>
            <a:endParaRPr sz="2000">
              <a:latin typeface="Arial"/>
              <a:cs typeface="Arial"/>
            </a:endParaRPr>
          </a:p>
          <a:p>
            <a:pPr marL="802005" marR="5080" lvl="1" indent="-338455">
              <a:lnSpc>
                <a:spcPct val="120000"/>
              </a:lnSpc>
              <a:spcBef>
                <a:spcPts val="11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IBM</a:t>
            </a:r>
            <a:r>
              <a:rPr sz="1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Watson</a:t>
            </a:r>
            <a:r>
              <a:rPr sz="1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Health: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Kanser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teşhisi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tedavisi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sağlık</a:t>
            </a:r>
            <a:r>
              <a:rPr sz="18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sorunlarında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destekli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çözümler.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DeepMind</a:t>
            </a:r>
            <a:r>
              <a:rPr sz="1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(Google):</a:t>
            </a:r>
            <a:r>
              <a:rPr sz="1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Protein</a:t>
            </a:r>
            <a:r>
              <a:rPr sz="1800" spc="2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katlanma</a:t>
            </a:r>
            <a:r>
              <a:rPr sz="1800" spc="2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problemini</a:t>
            </a:r>
            <a:r>
              <a:rPr sz="1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çözmek</a:t>
            </a:r>
            <a:r>
              <a:rPr sz="1800" spc="2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2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1800" spc="25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endParaRPr sz="1800">
              <a:latin typeface="Microsoft Sans Serif"/>
              <a:cs typeface="Microsoft Sans Serif"/>
            </a:endParaRPr>
          </a:p>
          <a:p>
            <a:pPr marL="802005">
              <a:lnSpc>
                <a:spcPct val="100000"/>
              </a:lnSpc>
              <a:spcBef>
                <a:spcPts val="430"/>
              </a:spcBef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modeli</a:t>
            </a:r>
            <a:r>
              <a:rPr sz="1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"AlphaFold".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Otonom</a:t>
            </a:r>
            <a:r>
              <a:rPr sz="2000" b="1" i="1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Araçlar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Tesla: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sürüş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yetenekleriyle</a:t>
            </a:r>
            <a:r>
              <a:rPr sz="18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sistemleri.</a:t>
            </a:r>
            <a:endParaRPr sz="1800">
              <a:latin typeface="Microsoft Sans Serif"/>
              <a:cs typeface="Microsoft Sans Serif"/>
            </a:endParaRPr>
          </a:p>
          <a:p>
            <a:pPr marL="802005" marR="3342640" lvl="1" indent="-338455">
              <a:lnSpc>
                <a:spcPct val="100000"/>
              </a:lnSpc>
              <a:spcBef>
                <a:spcPts val="11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Waymo</a:t>
            </a:r>
            <a:r>
              <a:rPr sz="18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(Google):</a:t>
            </a:r>
            <a:r>
              <a:rPr sz="1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Tam</a:t>
            </a:r>
            <a:r>
              <a:rPr sz="1800" spc="2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1800" spc="22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sürüş</a:t>
            </a:r>
            <a:r>
              <a:rPr sz="1800" spc="2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2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geliştirilen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algoritmaları.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Görüntü</a:t>
            </a:r>
            <a:r>
              <a:rPr sz="2000" b="1" i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i="1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Ses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 İşleme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  <a:tab pos="1952625" algn="l"/>
                <a:tab pos="2382520" algn="l"/>
                <a:tab pos="3418840" algn="l"/>
                <a:tab pos="5029835" algn="l"/>
                <a:tab pos="5534660" algn="l"/>
              </a:tabLst>
            </a:pP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Clearview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AI: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kameralarında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yüz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</a:t>
            </a:r>
            <a:endParaRPr sz="1800">
              <a:latin typeface="Microsoft Sans Serif"/>
              <a:cs typeface="Microsoft Sans Serif"/>
            </a:endParaRPr>
          </a:p>
          <a:p>
            <a:pPr marL="802005">
              <a:lnSpc>
                <a:spcPct val="100000"/>
              </a:lnSpc>
            </a:pP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teknolojileri.</a:t>
            </a:r>
            <a:endParaRPr sz="1800">
              <a:latin typeface="Microsoft Sans Serif"/>
              <a:cs typeface="Microsoft Sans Serif"/>
            </a:endParaRPr>
          </a:p>
          <a:p>
            <a:pPr marL="802005" marR="3338829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Amazon</a:t>
            </a:r>
            <a:r>
              <a:rPr sz="18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Recognition:</a:t>
            </a:r>
            <a:r>
              <a:rPr sz="18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Görsel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1800" spc="1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nesne</a:t>
            </a:r>
            <a:r>
              <a:rPr sz="18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tanıma hizmeti.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95"/>
              </a:spcBef>
            </a:pPr>
            <a:r>
              <a:rPr dirty="0"/>
              <a:t>Dünyadan</a:t>
            </a:r>
            <a:r>
              <a:rPr spc="-140" dirty="0"/>
              <a:t> </a:t>
            </a:r>
            <a:r>
              <a:rPr dirty="0"/>
              <a:t>Yapay</a:t>
            </a:r>
            <a:r>
              <a:rPr spc="-100" dirty="0"/>
              <a:t> </a:t>
            </a:r>
            <a:r>
              <a:rPr dirty="0"/>
              <a:t>Zeka</a:t>
            </a:r>
            <a:r>
              <a:rPr spc="-100" dirty="0"/>
              <a:t> </a:t>
            </a:r>
            <a:r>
              <a:rPr spc="-10" dirty="0"/>
              <a:t>Örnekleri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pc="-10" dirty="0"/>
              <a:t>Eğitim</a:t>
            </a: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Duolingo: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Kişiselleştirilmiş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öğrenimi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sağlayan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platform.</a:t>
            </a:r>
            <a:endParaRPr sz="1800">
              <a:latin typeface="Microsoft Sans Serif"/>
              <a:cs typeface="Microsoft Sans Serif"/>
            </a:endParaRPr>
          </a:p>
          <a:p>
            <a:pPr marL="802005" marR="6985" lvl="1" indent="-338455">
              <a:lnSpc>
                <a:spcPct val="120000"/>
              </a:lnSpc>
              <a:spcBef>
                <a:spcPts val="109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Khan</a:t>
            </a:r>
            <a:r>
              <a:rPr sz="18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Academy:</a:t>
            </a:r>
            <a:r>
              <a:rPr sz="1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18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öğrencilerin</a:t>
            </a:r>
            <a:r>
              <a:rPr sz="1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ihtiyaçlarına</a:t>
            </a:r>
            <a:r>
              <a:rPr sz="1800" spc="4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1800" spc="4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uyarlanmış</a:t>
            </a:r>
            <a:r>
              <a:rPr sz="1800" spc="4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içerikler sunar.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pc="-10" dirty="0"/>
              <a:t>E-</a:t>
            </a:r>
            <a:r>
              <a:rPr dirty="0"/>
              <a:t>ticaret</a:t>
            </a:r>
            <a:r>
              <a:rPr spc="-75" dirty="0"/>
              <a:t> </a:t>
            </a:r>
            <a:r>
              <a:rPr dirty="0"/>
              <a:t>ve</a:t>
            </a:r>
            <a:r>
              <a:rPr spc="-30" dirty="0"/>
              <a:t> </a:t>
            </a:r>
            <a:r>
              <a:rPr dirty="0"/>
              <a:t>Tavsiye</a:t>
            </a:r>
            <a:r>
              <a:rPr spc="-60" dirty="0"/>
              <a:t> </a:t>
            </a:r>
            <a:r>
              <a:rPr spc="-10" dirty="0"/>
              <a:t>Sistemleri</a:t>
            </a:r>
          </a:p>
          <a:p>
            <a:pPr marL="802005" marR="5080" lvl="1" indent="-338455">
              <a:lnSpc>
                <a:spcPct val="120000"/>
              </a:lnSpc>
              <a:spcBef>
                <a:spcPts val="11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Amazon: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Müşterilere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öneriler</a:t>
            </a:r>
            <a:r>
              <a:rPr sz="1800" spc="3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sunan</a:t>
            </a:r>
            <a:r>
              <a:rPr sz="1800" spc="3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ürün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aramalarını</a:t>
            </a:r>
            <a:r>
              <a:rPr sz="1800" spc="3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optimize</a:t>
            </a:r>
            <a:r>
              <a:rPr sz="1800" spc="3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eden</a:t>
            </a:r>
            <a:r>
              <a:rPr sz="18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algoritmaları.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Netflix: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İzleme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alışkanlıklarına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içerik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önerileri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sunar.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dirty="0"/>
              <a:t>Yapay</a:t>
            </a:r>
            <a:r>
              <a:rPr spc="-60" dirty="0"/>
              <a:t> </a:t>
            </a:r>
            <a:r>
              <a:rPr dirty="0"/>
              <a:t>Zeka</a:t>
            </a:r>
            <a:r>
              <a:rPr spc="-55" dirty="0"/>
              <a:t> </a:t>
            </a:r>
            <a:r>
              <a:rPr dirty="0"/>
              <a:t>Destekli</a:t>
            </a:r>
            <a:r>
              <a:rPr spc="-135" dirty="0"/>
              <a:t> </a:t>
            </a:r>
            <a:r>
              <a:rPr spc="-10" dirty="0"/>
              <a:t>Asistanlar</a:t>
            </a:r>
          </a:p>
          <a:p>
            <a:pPr marL="802005" lvl="1" indent="-338455">
              <a:lnSpc>
                <a:spcPct val="100000"/>
              </a:lnSpc>
              <a:spcBef>
                <a:spcPts val="156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Google</a:t>
            </a:r>
            <a:r>
              <a:rPr sz="18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Assistant,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Siri,</a:t>
            </a:r>
            <a:r>
              <a:rPr sz="1800" spc="-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Alexa: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Doğal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dil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günlük</a:t>
            </a:r>
            <a:endParaRPr sz="1800">
              <a:latin typeface="Microsoft Sans Serif"/>
              <a:cs typeface="Microsoft Sans Serif"/>
            </a:endParaRPr>
          </a:p>
          <a:p>
            <a:pPr marL="780415">
              <a:lnSpc>
                <a:spcPct val="100000"/>
              </a:lnSpc>
              <a:spcBef>
                <a:spcPts val="840"/>
              </a:spcBef>
            </a:pPr>
            <a:r>
              <a:rPr sz="1800" b="0" i="0" dirty="0">
                <a:latin typeface="Microsoft Sans Serif"/>
                <a:cs typeface="Microsoft Sans Serif"/>
              </a:rPr>
              <a:t>görevlerde</a:t>
            </a:r>
            <a:r>
              <a:rPr sz="1800" b="0" i="0" spc="20" dirty="0">
                <a:latin typeface="Microsoft Sans Serif"/>
                <a:cs typeface="Microsoft Sans Serif"/>
              </a:rPr>
              <a:t> </a:t>
            </a:r>
            <a:r>
              <a:rPr sz="1800" b="0" i="0" dirty="0">
                <a:latin typeface="Microsoft Sans Serif"/>
                <a:cs typeface="Microsoft Sans Serif"/>
              </a:rPr>
              <a:t>yardımcı</a:t>
            </a:r>
            <a:r>
              <a:rPr sz="1800" b="0" i="0" spc="35" dirty="0">
                <a:latin typeface="Microsoft Sans Serif"/>
                <a:cs typeface="Microsoft Sans Serif"/>
              </a:rPr>
              <a:t> </a:t>
            </a:r>
            <a:r>
              <a:rPr sz="1800" b="0" i="0" dirty="0">
                <a:latin typeface="Microsoft Sans Serif"/>
                <a:cs typeface="Microsoft Sans Serif"/>
              </a:rPr>
              <a:t>olan</a:t>
            </a:r>
            <a:r>
              <a:rPr sz="1800" b="0" i="0" spc="5" dirty="0">
                <a:latin typeface="Microsoft Sans Serif"/>
                <a:cs typeface="Microsoft Sans Serif"/>
              </a:rPr>
              <a:t> </a:t>
            </a:r>
            <a:r>
              <a:rPr sz="1800" b="0" i="0" dirty="0">
                <a:latin typeface="Microsoft Sans Serif"/>
                <a:cs typeface="Microsoft Sans Serif"/>
              </a:rPr>
              <a:t>sesli </a:t>
            </a:r>
            <a:r>
              <a:rPr sz="1800" b="0" i="0" spc="-10" dirty="0">
                <a:latin typeface="Microsoft Sans Serif"/>
                <a:cs typeface="Microsoft Sans Serif"/>
              </a:rPr>
              <a:t>asistanlar.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46</a:t>
            </a:r>
            <a:endParaRPr sz="18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31352" y="4581144"/>
            <a:ext cx="2266188" cy="183489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11350">
              <a:lnSpc>
                <a:spcPct val="100000"/>
              </a:lnSpc>
              <a:spcBef>
                <a:spcPts val="95"/>
              </a:spcBef>
            </a:pPr>
            <a:r>
              <a:rPr dirty="0"/>
              <a:t>Dünyadan</a:t>
            </a:r>
            <a:r>
              <a:rPr spc="-140" dirty="0"/>
              <a:t> </a:t>
            </a:r>
            <a:r>
              <a:rPr dirty="0"/>
              <a:t>Yapay</a:t>
            </a:r>
            <a:r>
              <a:rPr spc="-100" dirty="0"/>
              <a:t> </a:t>
            </a:r>
            <a:r>
              <a:rPr dirty="0"/>
              <a:t>Zeka</a:t>
            </a:r>
            <a:r>
              <a:rPr spc="-100" dirty="0"/>
              <a:t> </a:t>
            </a:r>
            <a:r>
              <a:rPr spc="-10" dirty="0"/>
              <a:t>Örnekleri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9580245" cy="44888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Sanat</a:t>
            </a:r>
            <a:r>
              <a:rPr sz="2000" b="1" i="1" spc="-1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i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Yaratıcılık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OpenAI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DALL·E: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Metinden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görsel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oluşturan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MuseNet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(OpenAI):</a:t>
            </a:r>
            <a:r>
              <a:rPr sz="18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18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müzik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besteleyen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Tarım</a:t>
            </a:r>
            <a:endParaRPr sz="2000">
              <a:latin typeface="Arial"/>
              <a:cs typeface="Arial"/>
            </a:endParaRPr>
          </a:p>
          <a:p>
            <a:pPr marL="802005" marR="5080" lvl="1" indent="-338455">
              <a:lnSpc>
                <a:spcPct val="120000"/>
              </a:lnSpc>
              <a:spcBef>
                <a:spcPts val="113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Blue</a:t>
            </a:r>
            <a:r>
              <a:rPr sz="18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River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Technology</a:t>
            </a:r>
            <a:r>
              <a:rPr sz="18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(ABD):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8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800" spc="1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destekli</a:t>
            </a:r>
            <a:r>
              <a:rPr sz="1800" spc="1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tarım</a:t>
            </a:r>
            <a:r>
              <a:rPr sz="1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makineleri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1800" spc="1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yabani</a:t>
            </a:r>
            <a:r>
              <a:rPr sz="1800" spc="1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otların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tespiti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ilaçlama.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5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John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Deere: Otonom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traktörler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tarım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analitiği.</a:t>
            </a:r>
            <a:endParaRPr sz="18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5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Güvenlik</a:t>
            </a:r>
            <a:r>
              <a:rPr sz="2000" b="1" i="1" spc="-3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i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i="1" spc="-10" dirty="0">
                <a:solidFill>
                  <a:srgbClr val="2C241F"/>
                </a:solidFill>
                <a:latin typeface="Arial"/>
                <a:cs typeface="Arial"/>
              </a:rPr>
              <a:t>Gözetim</a:t>
            </a:r>
            <a:endParaRPr sz="20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Ring</a:t>
            </a:r>
            <a:r>
              <a:rPr sz="18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(Amazon):</a:t>
            </a:r>
            <a:r>
              <a:rPr sz="1800" spc="-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18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kameraları</a:t>
            </a:r>
            <a:r>
              <a:rPr sz="18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hareket</a:t>
            </a:r>
            <a:r>
              <a:rPr sz="18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algılama</a:t>
            </a:r>
            <a:r>
              <a:rPr sz="18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sistemleri.</a:t>
            </a:r>
            <a:endParaRPr sz="18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520"/>
              </a:spcBef>
              <a:buClr>
                <a:srgbClr val="F88556"/>
              </a:buClr>
              <a:buSzPct val="88888"/>
              <a:buFont typeface="Wingdings"/>
              <a:buChar char=""/>
              <a:tabLst>
                <a:tab pos="802005" algn="l"/>
              </a:tabLst>
            </a:pP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Palantir:</a:t>
            </a:r>
            <a:r>
              <a:rPr sz="18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Suç</a:t>
            </a:r>
            <a:r>
              <a:rPr sz="18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analitiği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8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analizi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8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kullanılan</a:t>
            </a:r>
            <a:r>
              <a:rPr sz="18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 zeka</a:t>
            </a:r>
            <a:r>
              <a:rPr sz="18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8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yazılımları.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47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74800">
              <a:lnSpc>
                <a:spcPct val="100000"/>
              </a:lnSpc>
              <a:spcBef>
                <a:spcPts val="95"/>
              </a:spcBef>
            </a:pPr>
            <a:r>
              <a:rPr dirty="0"/>
              <a:t>Türkiye’den</a:t>
            </a:r>
            <a:r>
              <a:rPr spc="-180" dirty="0"/>
              <a:t> </a:t>
            </a:r>
            <a:r>
              <a:rPr dirty="0"/>
              <a:t>Yapay</a:t>
            </a:r>
            <a:r>
              <a:rPr spc="-145" dirty="0"/>
              <a:t> </a:t>
            </a:r>
            <a:r>
              <a:rPr dirty="0"/>
              <a:t>Zeka</a:t>
            </a:r>
            <a:r>
              <a:rPr spc="-155" dirty="0"/>
              <a:t> </a:t>
            </a:r>
            <a:r>
              <a:rPr spc="-10" dirty="0"/>
              <a:t>Örnekleri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61337"/>
            <a:ext cx="9577070" cy="49822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95"/>
              </a:spcBef>
              <a:buClr>
                <a:srgbClr val="F88556"/>
              </a:buClr>
              <a:buSzPct val="90625"/>
              <a:buFont typeface="Wingdings"/>
              <a:buChar char=""/>
              <a:tabLst>
                <a:tab pos="350520" algn="l"/>
              </a:tabLst>
            </a:pPr>
            <a:r>
              <a:rPr sz="1600" b="1" dirty="0">
                <a:solidFill>
                  <a:srgbClr val="2C241F"/>
                </a:solidFill>
                <a:latin typeface="Arial"/>
                <a:cs typeface="Arial"/>
              </a:rPr>
              <a:t>Savunma</a:t>
            </a:r>
            <a:r>
              <a:rPr sz="16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600" b="1" spc="-10" dirty="0">
                <a:solidFill>
                  <a:srgbClr val="2C241F"/>
                </a:solidFill>
                <a:latin typeface="Arial"/>
                <a:cs typeface="Arial"/>
              </a:rPr>
              <a:t>Sanayii:</a:t>
            </a:r>
            <a:endParaRPr sz="1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ASELSAN,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HAVELSAN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 ve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TUSAŞ</a:t>
            </a:r>
            <a:r>
              <a:rPr sz="1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savunma</a:t>
            </a:r>
            <a:r>
              <a:rPr sz="1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sanayii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şirketleri,</a:t>
            </a:r>
            <a:r>
              <a:rPr sz="1400" spc="-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tabanlı</a:t>
            </a:r>
            <a:r>
              <a:rPr sz="1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</a:t>
            </a:r>
            <a:r>
              <a:rPr sz="14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geliştirmektedir.</a:t>
            </a:r>
            <a:endParaRPr sz="1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Örnek: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dronlar,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hedef tespit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sistemleri,</a:t>
            </a:r>
            <a:r>
              <a:rPr sz="1400" spc="-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ASELSAN’ın</a:t>
            </a:r>
            <a:r>
              <a:rPr sz="1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"İnsansız</a:t>
            </a:r>
            <a:r>
              <a:rPr sz="1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</a:t>
            </a:r>
            <a:r>
              <a:rPr sz="1400" spc="-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Aracı"</a:t>
            </a:r>
            <a:r>
              <a:rPr sz="1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projeleri.</a:t>
            </a:r>
            <a:endParaRPr sz="1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90625"/>
              <a:buFont typeface="Wingdings"/>
              <a:buChar char=""/>
              <a:tabLst>
                <a:tab pos="350520" algn="l"/>
              </a:tabLst>
            </a:pPr>
            <a:r>
              <a:rPr sz="1600" b="1" spc="-10" dirty="0">
                <a:solidFill>
                  <a:srgbClr val="2C241F"/>
                </a:solidFill>
                <a:latin typeface="Arial"/>
                <a:cs typeface="Arial"/>
              </a:rPr>
              <a:t>Sağlık:</a:t>
            </a:r>
            <a:endParaRPr sz="1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YZ tabanlı</a:t>
            </a:r>
            <a:r>
              <a:rPr sz="1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tıbbi teşhis</a:t>
            </a:r>
            <a:r>
              <a:rPr sz="1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4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analiz</a:t>
            </a:r>
            <a:r>
              <a:rPr sz="14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geliştirilmektedir.</a:t>
            </a:r>
            <a:endParaRPr sz="1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Örnek:</a:t>
            </a:r>
            <a:r>
              <a:rPr sz="1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Kanser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teşhisi</a:t>
            </a:r>
            <a:r>
              <a:rPr sz="1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görüntü</a:t>
            </a:r>
            <a:r>
              <a:rPr sz="1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işleme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uygulamaları.</a:t>
            </a:r>
            <a:endParaRPr sz="1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90625"/>
              <a:buFont typeface="Wingdings"/>
              <a:buChar char=""/>
              <a:tabLst>
                <a:tab pos="350520" algn="l"/>
              </a:tabLst>
            </a:pPr>
            <a:r>
              <a:rPr sz="1600" b="1" spc="-10" dirty="0">
                <a:solidFill>
                  <a:srgbClr val="2C241F"/>
                </a:solidFill>
                <a:latin typeface="Arial"/>
                <a:cs typeface="Arial"/>
              </a:rPr>
              <a:t>Eğitim:</a:t>
            </a:r>
            <a:endParaRPr sz="1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Milli Eğitim Bakanlığı,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destekli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öğretim</a:t>
            </a:r>
            <a:r>
              <a:rPr sz="14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platformları</a:t>
            </a:r>
            <a:r>
              <a:rPr sz="1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üzerinde</a:t>
            </a:r>
            <a:r>
              <a:rPr sz="1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çalışmalar</a:t>
            </a:r>
            <a:r>
              <a:rPr sz="1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yapmaktadır.</a:t>
            </a:r>
            <a:endParaRPr sz="1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Örnek:EBA</a:t>
            </a:r>
            <a:r>
              <a:rPr sz="1400" spc="-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sisteminde</a:t>
            </a:r>
            <a:r>
              <a:rPr sz="1400" spc="-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kişiselleştirilmiş</a:t>
            </a:r>
            <a:r>
              <a:rPr sz="1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içerikleri</a:t>
            </a:r>
            <a:endParaRPr sz="1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90625"/>
              <a:buFont typeface="Wingdings"/>
              <a:buChar char=""/>
              <a:tabLst>
                <a:tab pos="350520" algn="l"/>
              </a:tabLst>
            </a:pPr>
            <a:r>
              <a:rPr sz="1600" b="1" spc="-10" dirty="0">
                <a:solidFill>
                  <a:srgbClr val="2C241F"/>
                </a:solidFill>
                <a:latin typeface="Arial"/>
                <a:cs typeface="Arial"/>
              </a:rPr>
              <a:t>Ulaşım:</a:t>
            </a:r>
            <a:endParaRPr sz="1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0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araçlar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4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trafik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yönetimi</a:t>
            </a:r>
            <a:r>
              <a:rPr sz="14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sistemlerinde</a:t>
            </a:r>
            <a:r>
              <a:rPr sz="14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1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1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kullanımı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yaygınlaşmaktadır.</a:t>
            </a:r>
            <a:endParaRPr sz="1400">
              <a:latin typeface="Microsoft Sans Serif"/>
              <a:cs typeface="Microsoft Sans Serif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Örnek:</a:t>
            </a:r>
            <a:r>
              <a:rPr sz="1400" spc="-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Akıllı</a:t>
            </a:r>
            <a:r>
              <a:rPr sz="1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şehir</a:t>
            </a:r>
            <a:r>
              <a:rPr sz="1400" spc="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projelerinde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14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kullanımı.</a:t>
            </a:r>
            <a:endParaRPr sz="14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095"/>
              </a:spcBef>
              <a:buClr>
                <a:srgbClr val="F88556"/>
              </a:buClr>
              <a:buSzPct val="90625"/>
              <a:buFont typeface="Wingdings"/>
              <a:buChar char=""/>
              <a:tabLst>
                <a:tab pos="350520" algn="l"/>
              </a:tabLst>
            </a:pPr>
            <a:r>
              <a:rPr sz="1600" b="1" dirty="0">
                <a:solidFill>
                  <a:srgbClr val="2C241F"/>
                </a:solidFill>
                <a:latin typeface="Arial"/>
                <a:cs typeface="Arial"/>
              </a:rPr>
              <a:t>Finans</a:t>
            </a:r>
            <a:r>
              <a:rPr sz="16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1600" b="1" dirty="0">
                <a:solidFill>
                  <a:srgbClr val="2C241F"/>
                </a:solidFill>
                <a:latin typeface="Arial"/>
                <a:cs typeface="Arial"/>
              </a:rPr>
              <a:t>ve </a:t>
            </a:r>
            <a:r>
              <a:rPr sz="1600" b="1" spc="-10" dirty="0">
                <a:solidFill>
                  <a:srgbClr val="2C241F"/>
                </a:solidFill>
                <a:latin typeface="Arial"/>
                <a:cs typeface="Arial"/>
              </a:rPr>
              <a:t>Bankacılık:</a:t>
            </a:r>
            <a:endParaRPr sz="1600">
              <a:latin typeface="Arial"/>
              <a:cs typeface="Arial"/>
            </a:endParaRPr>
          </a:p>
          <a:p>
            <a:pPr marL="802005" lvl="1" indent="-338455">
              <a:lnSpc>
                <a:spcPct val="100000"/>
              </a:lnSpc>
              <a:spcBef>
                <a:spcPts val="1105"/>
              </a:spcBef>
              <a:buClr>
                <a:srgbClr val="F88556"/>
              </a:buClr>
              <a:buSzPct val="89285"/>
              <a:buFont typeface="Wingdings"/>
              <a:buChar char=""/>
              <a:tabLst>
                <a:tab pos="802005" algn="l"/>
              </a:tabLst>
            </a:pP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Türk bankaları,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kredi 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değerlendirme,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müşteri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hizmetleri</a:t>
            </a:r>
            <a:r>
              <a:rPr sz="14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14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dolandırıcılık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tespiti</a:t>
            </a:r>
            <a:r>
              <a:rPr sz="14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1400" spc="-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14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14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çözümleri</a:t>
            </a:r>
            <a:r>
              <a:rPr sz="14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kullanmaktadır.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48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3180" cy="6858000"/>
            </a:xfrm>
            <a:custGeom>
              <a:avLst/>
              <a:gdLst/>
              <a:ahLst/>
              <a:cxnLst/>
              <a:rect l="l" t="t" r="r" b="b"/>
              <a:pathLst>
                <a:path w="43180" h="6858000">
                  <a:moveTo>
                    <a:pt x="0" y="6858000"/>
                  </a:moveTo>
                  <a:lnTo>
                    <a:pt x="42671" y="6858000"/>
                  </a:lnTo>
                  <a:lnTo>
                    <a:pt x="4267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38072" y="1411224"/>
            <a:ext cx="9813290" cy="5282565"/>
            <a:chOff x="1338072" y="1411224"/>
            <a:chExt cx="9813290" cy="5282565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>
              <a:hlinkClick r:id="rId2"/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8552" y="1531620"/>
              <a:ext cx="9733788" cy="5161788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1665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Türkiye’deki</a:t>
            </a:r>
            <a:r>
              <a:rPr spc="-120" dirty="0"/>
              <a:t> </a:t>
            </a:r>
            <a:r>
              <a:rPr dirty="0"/>
              <a:t>AI</a:t>
            </a:r>
            <a:r>
              <a:rPr spc="-30" dirty="0"/>
              <a:t> </a:t>
            </a:r>
            <a:r>
              <a:rPr spc="-10" dirty="0"/>
              <a:t>Girişimleri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  <a:hlinkClick r:id="rId2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49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1644" y="0"/>
            <a:ext cx="10442575" cy="6858000"/>
            <a:chOff x="961644" y="0"/>
            <a:chExt cx="10442575" cy="6858000"/>
          </a:xfrm>
        </p:grpSpPr>
        <p:sp>
          <p:nvSpPr>
            <p:cNvPr id="3" name="object 3"/>
            <p:cNvSpPr/>
            <p:nvPr/>
          </p:nvSpPr>
          <p:spPr>
            <a:xfrm>
              <a:off x="961644" y="0"/>
              <a:ext cx="43180" cy="6858000"/>
            </a:xfrm>
            <a:custGeom>
              <a:avLst/>
              <a:gdLst/>
              <a:ahLst/>
              <a:cxnLst/>
              <a:rect l="l" t="t" r="r" b="b"/>
              <a:pathLst>
                <a:path w="43180" h="6858000">
                  <a:moveTo>
                    <a:pt x="0" y="6858000"/>
                  </a:moveTo>
                  <a:lnTo>
                    <a:pt x="42671" y="6858000"/>
                  </a:lnTo>
                  <a:lnTo>
                    <a:pt x="42671" y="0"/>
                  </a:lnTo>
                  <a:lnTo>
                    <a:pt x="0" y="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004316" y="0"/>
              <a:ext cx="10372725" cy="6858000"/>
            </a:xfrm>
            <a:custGeom>
              <a:avLst/>
              <a:gdLst/>
              <a:ahLst/>
              <a:cxnLst/>
              <a:rect l="l" t="t" r="r" b="b"/>
              <a:pathLst>
                <a:path w="10372725" h="6858000">
                  <a:moveTo>
                    <a:pt x="1037234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0372344" y="6858000"/>
                  </a:lnTo>
                  <a:lnTo>
                    <a:pt x="103723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1376660" y="0"/>
              <a:ext cx="27940" cy="6858000"/>
            </a:xfrm>
            <a:custGeom>
              <a:avLst/>
              <a:gdLst/>
              <a:ahLst/>
              <a:cxnLst/>
              <a:rect l="l" t="t" r="r" b="b"/>
              <a:pathLst>
                <a:path w="27940" h="6858000">
                  <a:moveTo>
                    <a:pt x="27431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7431" y="6858000"/>
                  </a:lnTo>
                  <a:lnTo>
                    <a:pt x="27431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71372" y="1411224"/>
            <a:ext cx="10290175" cy="3954779"/>
            <a:chOff x="1071372" y="1411224"/>
            <a:chExt cx="10290175" cy="3954779"/>
          </a:xfrm>
        </p:grpSpPr>
        <p:sp>
          <p:nvSpPr>
            <p:cNvPr id="8" name="object 8"/>
            <p:cNvSpPr/>
            <p:nvPr/>
          </p:nvSpPr>
          <p:spPr>
            <a:xfrm>
              <a:off x="1338072" y="1411224"/>
              <a:ext cx="9813290" cy="62865"/>
            </a:xfrm>
            <a:custGeom>
              <a:avLst/>
              <a:gdLst/>
              <a:ahLst/>
              <a:cxnLst/>
              <a:rect l="l" t="t" r="r" b="b"/>
              <a:pathLst>
                <a:path w="9813290" h="62865">
                  <a:moveTo>
                    <a:pt x="9813036" y="0"/>
                  </a:moveTo>
                  <a:lnTo>
                    <a:pt x="0" y="0"/>
                  </a:lnTo>
                  <a:lnTo>
                    <a:pt x="0" y="62484"/>
                  </a:lnTo>
                  <a:lnTo>
                    <a:pt x="9813036" y="62484"/>
                  </a:lnTo>
                  <a:lnTo>
                    <a:pt x="9813036" y="0"/>
                  </a:lnTo>
                  <a:close/>
                </a:path>
              </a:pathLst>
            </a:custGeom>
            <a:solidFill>
              <a:srgbClr val="F885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71372" y="2318004"/>
              <a:ext cx="10290048" cy="3048000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54760">
              <a:lnSpc>
                <a:spcPct val="100000"/>
              </a:lnSpc>
              <a:spcBef>
                <a:spcPts val="95"/>
              </a:spcBef>
            </a:pPr>
            <a:r>
              <a:rPr dirty="0"/>
              <a:t>En</a:t>
            </a:r>
            <a:r>
              <a:rPr spc="-60" dirty="0"/>
              <a:t> </a:t>
            </a:r>
            <a:r>
              <a:rPr dirty="0"/>
              <a:t>Çok</a:t>
            </a:r>
            <a:r>
              <a:rPr spc="-65" dirty="0"/>
              <a:t> </a:t>
            </a:r>
            <a:r>
              <a:rPr dirty="0"/>
              <a:t>Bilinen</a:t>
            </a:r>
            <a:r>
              <a:rPr spc="-100" dirty="0"/>
              <a:t> </a:t>
            </a:r>
            <a:r>
              <a:rPr dirty="0"/>
              <a:t>Yapay</a:t>
            </a:r>
            <a:r>
              <a:rPr spc="-50" dirty="0"/>
              <a:t> </a:t>
            </a:r>
            <a:r>
              <a:rPr dirty="0"/>
              <a:t>Zeka</a:t>
            </a:r>
            <a:r>
              <a:rPr spc="-180" dirty="0"/>
              <a:t> </a:t>
            </a:r>
            <a:r>
              <a:rPr spc="-10" dirty="0"/>
              <a:t>Araçları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50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51305" y="2991739"/>
            <a:ext cx="226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18488" y="3968496"/>
            <a:ext cx="9380220" cy="62865"/>
          </a:xfrm>
          <a:custGeom>
            <a:avLst/>
            <a:gdLst/>
            <a:ahLst/>
            <a:cxnLst/>
            <a:rect l="l" t="t" r="r" b="b"/>
            <a:pathLst>
              <a:path w="9380220" h="62864">
                <a:moveTo>
                  <a:pt x="9380219" y="0"/>
                </a:moveTo>
                <a:lnTo>
                  <a:pt x="0" y="0"/>
                </a:lnTo>
                <a:lnTo>
                  <a:pt x="0" y="62483"/>
                </a:lnTo>
                <a:lnTo>
                  <a:pt x="9380219" y="62483"/>
                </a:lnTo>
                <a:lnTo>
                  <a:pt x="9380219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3333" y="3080080"/>
            <a:ext cx="482981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200" dirty="0">
                <a:solidFill>
                  <a:srgbClr val="FFFFFF"/>
                </a:solidFill>
                <a:latin typeface="Microsoft Sans Serif"/>
                <a:cs typeface="Microsoft Sans Serif"/>
              </a:rPr>
              <a:t>GELECEKTE…</a:t>
            </a:r>
            <a:endParaRPr sz="540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51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2560">
              <a:lnSpc>
                <a:spcPct val="100000"/>
              </a:lnSpc>
              <a:spcBef>
                <a:spcPts val="95"/>
              </a:spcBef>
            </a:pPr>
            <a:r>
              <a:rPr dirty="0"/>
              <a:t>Gelecekte</a:t>
            </a:r>
            <a:r>
              <a:rPr spc="-200" dirty="0"/>
              <a:t> </a:t>
            </a:r>
            <a:r>
              <a:rPr dirty="0"/>
              <a:t>Yapay</a:t>
            </a:r>
            <a:r>
              <a:rPr spc="-200" dirty="0"/>
              <a:t> </a:t>
            </a:r>
            <a:r>
              <a:rPr spc="-20" dirty="0"/>
              <a:t>Zeka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392529"/>
            <a:ext cx="9584690" cy="3408045"/>
          </a:xfrm>
          <a:prstGeom prst="rect">
            <a:avLst/>
          </a:prstGeom>
        </p:spPr>
        <p:txBody>
          <a:bodyPr vert="horz" wrap="square" lIns="0" tIns="183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teknolojisi,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gelecekte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yaşam</a:t>
            </a:r>
            <a:r>
              <a:rPr sz="2000" spc="-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biçimimizi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köklü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değiştirebilir.</a:t>
            </a:r>
            <a:endParaRPr sz="2000">
              <a:latin typeface="Microsoft Sans Serif"/>
              <a:cs typeface="Microsoft Sans Serif"/>
            </a:endParaRPr>
          </a:p>
          <a:p>
            <a:pPr marL="12700" marR="6350">
              <a:lnSpc>
                <a:spcPct val="110000"/>
              </a:lnSpc>
              <a:spcBef>
                <a:spcPts val="1105"/>
              </a:spcBef>
            </a:pP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Teknolojinin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etik,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güvenlik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toplumsal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etkilerini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dikkate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alarak, sorumlu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bilinçli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ilerlemek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taşır.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YZ'nin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potansiyel</a:t>
            </a:r>
            <a:r>
              <a:rPr sz="20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faydaları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olası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risklerini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dengelemek,</a:t>
            </a:r>
            <a:r>
              <a:rPr sz="2000" spc="3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sürdürülebilir</a:t>
            </a:r>
            <a:r>
              <a:rPr sz="2000" spc="3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adil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gelecek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kritik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öneme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sahiptir.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50"/>
              </a:spcBef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Gelecekteki</a:t>
            </a:r>
            <a:r>
              <a:rPr sz="2000" b="1" spc="-10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YZ</a:t>
            </a:r>
            <a:r>
              <a:rPr sz="2000" b="1" spc="-2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trendleri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teknolojilerinin</a:t>
            </a:r>
            <a:r>
              <a:rPr sz="2000" spc="2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evrimi,</a:t>
            </a:r>
            <a:r>
              <a:rPr sz="2000" spc="28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fazla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endüstriye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entegre</a:t>
            </a:r>
            <a:r>
              <a:rPr sz="2000" spc="2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olmaları</a:t>
            </a:r>
            <a:r>
              <a:rPr sz="2000" spc="27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2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görevleri</a:t>
            </a:r>
            <a:r>
              <a:rPr sz="2000" spc="-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 getirebilmeleriyle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şekillenecek.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Derin öğrenme,</a:t>
            </a:r>
            <a:r>
              <a:rPr sz="2000" spc="-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otomasyon,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48180" y="4805298"/>
            <a:ext cx="9580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91540" algn="l"/>
                <a:tab pos="1715135" algn="l"/>
                <a:tab pos="2454275" algn="l"/>
                <a:tab pos="2923540" algn="l"/>
                <a:tab pos="3970654" algn="l"/>
                <a:tab pos="5188585" algn="l"/>
                <a:tab pos="5786120" algn="l"/>
                <a:tab pos="6821170" algn="l"/>
                <a:tab pos="8293100" algn="l"/>
                <a:tab pos="9243060" algn="l"/>
              </a:tabLst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otonom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sistemler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gibi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konular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gelecekteki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önemli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	</a:t>
            </a:r>
            <a:r>
              <a:rPr sz="2000" spc="-25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8180" y="4972050"/>
            <a:ext cx="9580880" cy="1308735"/>
          </a:xfrm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trendleridir.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Ayrıca,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YZ'nin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sağlık,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eğitim,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finans,</a:t>
            </a:r>
            <a:r>
              <a:rPr sz="2000" spc="9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ulaşım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diğer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sektörlerdeki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uygulamaları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hızla</a:t>
            </a:r>
            <a:endParaRPr sz="20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artacaktır.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52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27556" y="669493"/>
            <a:ext cx="2266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5" dirty="0">
                <a:solidFill>
                  <a:srgbClr val="F88556"/>
                </a:solidFill>
                <a:latin typeface="Lucida Sans Unicode"/>
                <a:cs typeface="Lucida Sans Unicode"/>
              </a:rPr>
              <a:t>◤</a:t>
            </a:r>
            <a:endParaRPr sz="18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38072" y="1411224"/>
            <a:ext cx="9813290" cy="62865"/>
          </a:xfrm>
          <a:custGeom>
            <a:avLst/>
            <a:gdLst/>
            <a:ahLst/>
            <a:cxnLst/>
            <a:rect l="l" t="t" r="r" b="b"/>
            <a:pathLst>
              <a:path w="9813290" h="62865">
                <a:moveTo>
                  <a:pt x="9813036" y="0"/>
                </a:moveTo>
                <a:lnTo>
                  <a:pt x="0" y="0"/>
                </a:lnTo>
                <a:lnTo>
                  <a:pt x="0" y="62484"/>
                </a:lnTo>
                <a:lnTo>
                  <a:pt x="9813036" y="62484"/>
                </a:lnTo>
                <a:lnTo>
                  <a:pt x="9813036" y="0"/>
                </a:lnTo>
                <a:close/>
              </a:path>
            </a:pathLst>
          </a:custGeom>
          <a:solidFill>
            <a:srgbClr val="F885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72560">
              <a:lnSpc>
                <a:spcPct val="100000"/>
              </a:lnSpc>
              <a:spcBef>
                <a:spcPts val="95"/>
              </a:spcBef>
            </a:pPr>
            <a:r>
              <a:rPr dirty="0"/>
              <a:t>Gelecekte</a:t>
            </a:r>
            <a:r>
              <a:rPr spc="-200" dirty="0"/>
              <a:t> </a:t>
            </a:r>
            <a:r>
              <a:rPr dirty="0"/>
              <a:t>Yapay</a:t>
            </a:r>
            <a:r>
              <a:rPr spc="-200" dirty="0"/>
              <a:t> </a:t>
            </a:r>
            <a:r>
              <a:rPr spc="-20" dirty="0"/>
              <a:t>Zeka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48180" y="1585721"/>
            <a:ext cx="9583420" cy="44088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0520" indent="-337820">
              <a:lnSpc>
                <a:spcPct val="100000"/>
              </a:lnSpc>
              <a:spcBef>
                <a:spcPts val="105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0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Genel</a:t>
            </a:r>
            <a:r>
              <a:rPr sz="2000" b="1" spc="-5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Zeka’ya</a:t>
            </a:r>
            <a:r>
              <a:rPr sz="2000" b="1" spc="-3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ulaşma</a:t>
            </a:r>
            <a:r>
              <a:rPr sz="20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potansiyeli</a:t>
            </a:r>
            <a:r>
              <a:rPr sz="20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spc="-2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etkileri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 marR="5080" algn="just">
              <a:lnSpc>
                <a:spcPct val="120000"/>
              </a:lnSpc>
              <a:spcBef>
                <a:spcPts val="1105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Zeka,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</a:t>
            </a:r>
            <a:r>
              <a:rPr sz="2000" spc="5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zekasına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benzer</a:t>
            </a:r>
            <a:r>
              <a:rPr sz="2000" spc="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şekilde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her</a:t>
            </a:r>
            <a:r>
              <a:rPr sz="2000" spc="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türlü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entelektüel</a:t>
            </a:r>
            <a:r>
              <a:rPr sz="2000" spc="6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görevi</a:t>
            </a:r>
            <a:r>
              <a:rPr sz="2000" spc="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yerine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getirebilen</a:t>
            </a:r>
            <a:r>
              <a:rPr sz="2000" spc="35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türüdür.</a:t>
            </a:r>
            <a:r>
              <a:rPr sz="2000" spc="3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alandaki</a:t>
            </a:r>
            <a:r>
              <a:rPr sz="2000" spc="36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ilerlemeler,</a:t>
            </a:r>
            <a:r>
              <a:rPr sz="2000" spc="3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ekonomiden</a:t>
            </a:r>
            <a:r>
              <a:rPr sz="2000" spc="3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toplumsal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yapıya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kadar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geniş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etki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yelpazesi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yaratabilir.</a:t>
            </a:r>
            <a:r>
              <a:rPr sz="2000" spc="11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Ancak</a:t>
            </a:r>
            <a:r>
              <a:rPr sz="2000" spc="1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Yapay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Genel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Zekanın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ortaya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çıkması,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kontrolsüz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gelişmesi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durumunda</a:t>
            </a:r>
            <a:r>
              <a:rPr sz="2000" spc="4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büyük</a:t>
            </a:r>
            <a:r>
              <a:rPr sz="2000" spc="4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riskler</a:t>
            </a:r>
            <a:r>
              <a:rPr sz="2000" spc="409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taşıyabilir.</a:t>
            </a:r>
            <a:r>
              <a:rPr sz="2000" spc="3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potansiyelin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doğru</a:t>
            </a:r>
            <a:r>
              <a:rPr sz="2000" spc="-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yönetilmesi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 gerekecektir.</a:t>
            </a:r>
            <a:endParaRPr sz="2000">
              <a:latin typeface="Microsoft Sans Serif"/>
              <a:cs typeface="Microsoft Sans Serif"/>
            </a:endParaRPr>
          </a:p>
          <a:p>
            <a:pPr marL="350520" indent="-337820">
              <a:lnSpc>
                <a:spcPct val="100000"/>
              </a:lnSpc>
              <a:spcBef>
                <a:spcPts val="1570"/>
              </a:spcBef>
              <a:buClr>
                <a:srgbClr val="F88556"/>
              </a:buClr>
              <a:buSzPct val="90000"/>
              <a:buFont typeface="Wingdings"/>
              <a:buChar char=""/>
              <a:tabLst>
                <a:tab pos="350520" algn="l"/>
              </a:tabLst>
            </a:pP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İnsan</a:t>
            </a:r>
            <a:r>
              <a:rPr sz="2000" b="1" spc="-6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ve</a:t>
            </a:r>
            <a:r>
              <a:rPr sz="20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Yapay</a:t>
            </a:r>
            <a:r>
              <a:rPr sz="2000" b="1" spc="-4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Zeka</a:t>
            </a:r>
            <a:r>
              <a:rPr sz="2000" b="1" spc="-55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C241F"/>
                </a:solidFill>
                <a:latin typeface="Arial"/>
                <a:cs typeface="Arial"/>
              </a:rPr>
              <a:t>işbirliğinin</a:t>
            </a:r>
            <a:r>
              <a:rPr sz="2000" b="1" spc="-70" dirty="0">
                <a:solidFill>
                  <a:srgbClr val="2C241F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2C241F"/>
                </a:solidFill>
                <a:latin typeface="Arial"/>
                <a:cs typeface="Arial"/>
              </a:rPr>
              <a:t>geleceği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2700" marR="6350" algn="just">
              <a:lnSpc>
                <a:spcPct val="120000"/>
              </a:lnSpc>
              <a:spcBef>
                <a:spcPts val="1105"/>
              </a:spcBef>
            </a:pP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İnsanlar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4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gelecekte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daha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yakın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bir</a:t>
            </a:r>
            <a:r>
              <a:rPr sz="2000" spc="44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işbirliği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içinde</a:t>
            </a:r>
            <a:r>
              <a:rPr sz="2000" spc="44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çalışabilir.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YZ,</a:t>
            </a:r>
            <a:r>
              <a:rPr sz="2000" spc="434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insanların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karar</a:t>
            </a:r>
            <a:r>
              <a:rPr sz="2000" spc="2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alma</a:t>
            </a:r>
            <a:r>
              <a:rPr sz="2000" spc="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süreçlerini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destekleyebilir,</a:t>
            </a:r>
            <a:r>
              <a:rPr sz="2000" spc="1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karmaşık</a:t>
            </a:r>
            <a:r>
              <a:rPr sz="2000" spc="3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problemleri</a:t>
            </a:r>
            <a:r>
              <a:rPr sz="2000" spc="3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çözmede</a:t>
            </a:r>
            <a:r>
              <a:rPr sz="2000" spc="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yardımcı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olabilir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yaratıcı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süreçlere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katkıda</a:t>
            </a:r>
            <a:r>
              <a:rPr sz="2000" spc="10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bulunabilir.</a:t>
            </a:r>
            <a:r>
              <a:rPr sz="2000" spc="8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İnsan-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YZ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işbirliği,</a:t>
            </a:r>
            <a:r>
              <a:rPr sz="2000" spc="9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özellikle</a:t>
            </a:r>
            <a:r>
              <a:rPr sz="2000" spc="1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iş</a:t>
            </a:r>
            <a:r>
              <a:rPr sz="2000" spc="11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gücü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</a:t>
            </a:r>
            <a:r>
              <a:rPr sz="2000" spc="10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eğitim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alanlarında</a:t>
            </a:r>
            <a:r>
              <a:rPr sz="2000" spc="-20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dirty="0">
                <a:solidFill>
                  <a:srgbClr val="2C241F"/>
                </a:solidFill>
                <a:latin typeface="Microsoft Sans Serif"/>
                <a:cs typeface="Microsoft Sans Serif"/>
              </a:rPr>
              <a:t>verimliliği</a:t>
            </a:r>
            <a:r>
              <a:rPr sz="2000" spc="5" dirty="0">
                <a:solidFill>
                  <a:srgbClr val="2C241F"/>
                </a:solidFill>
                <a:latin typeface="Microsoft Sans Serif"/>
                <a:cs typeface="Microsoft Sans Serif"/>
              </a:rPr>
              <a:t> </a:t>
            </a:r>
            <a:r>
              <a:rPr sz="2000" spc="-10" dirty="0">
                <a:solidFill>
                  <a:srgbClr val="2C241F"/>
                </a:solidFill>
                <a:latin typeface="Microsoft Sans Serif"/>
                <a:cs typeface="Microsoft Sans Serif"/>
              </a:rPr>
              <a:t>artırabilir.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1202" y="6081471"/>
            <a:ext cx="140335" cy="535305"/>
          </a:xfrm>
          <a:prstGeom prst="rect">
            <a:avLst/>
          </a:prstGeom>
        </p:spPr>
        <p:txBody>
          <a:bodyPr vert="vert" wrap="square" lIns="0" tIns="38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23.09.2025</a:t>
            </a:r>
            <a:endParaRPr sz="80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2600" y="170179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53</a:t>
            </a:r>
            <a:endParaRPr sz="1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Words>2457</Words>
  <Application>Microsoft Office PowerPoint</Application>
  <PresentationFormat>Geniş ekran</PresentationFormat>
  <Paragraphs>479</Paragraphs>
  <Slides>53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53</vt:i4>
      </vt:variant>
    </vt:vector>
  </HeadingPairs>
  <TitlesOfParts>
    <vt:vector size="58" baseType="lpstr">
      <vt:lpstr>Arial</vt:lpstr>
      <vt:lpstr>Lucida Sans Unicode</vt:lpstr>
      <vt:lpstr>Microsoft Sans Serif</vt:lpstr>
      <vt:lpstr>Wingdings</vt:lpstr>
      <vt:lpstr>Office Theme</vt:lpstr>
      <vt:lpstr>Yapay Zeka</vt:lpstr>
      <vt:lpstr>Yapay Zeka Nedir?</vt:lpstr>
      <vt:lpstr>Yapay Zeka’nın Tarihçesi</vt:lpstr>
      <vt:lpstr>Yapay Zeka’nın Tarihçesi</vt:lpstr>
      <vt:lpstr>Yapay Zeka’nın Genel Özellikleri</vt:lpstr>
      <vt:lpstr>PowerPoint Sunusu</vt:lpstr>
      <vt:lpstr>Yapay Zeka Türleri</vt:lpstr>
      <vt:lpstr>Yapay Zeka Türleri</vt:lpstr>
      <vt:lpstr>Yapay Zeka Türleri</vt:lpstr>
      <vt:lpstr>Mevcut Yapay Zeka Sistemlerinin Sınırları</vt:lpstr>
      <vt:lpstr>PowerPoint Sunusu</vt:lpstr>
      <vt:lpstr>Yapay Zeka’nın Temel Bileşenleri</vt:lpstr>
      <vt:lpstr>Yapay Zeka’nın Temel Bileşenleri</vt:lpstr>
      <vt:lpstr>Yapay Zeka’nın Temel Bileşenleri</vt:lpstr>
      <vt:lpstr>PowerPoint Sunusu</vt:lpstr>
      <vt:lpstr>Yapay Zeka’nın Temel Bileşenleri</vt:lpstr>
      <vt:lpstr>Yapay Zeka’nın Temel Bileşenleri</vt:lpstr>
      <vt:lpstr>Yapay Zeka’nın Temel Bileşenleri</vt:lpstr>
      <vt:lpstr>Yapay Zeka’nın Temel Bileşenleri</vt:lpstr>
      <vt:lpstr>PowerPoint Sunusu</vt:lpstr>
      <vt:lpstr>Görüntü Oluşturma</vt:lpstr>
      <vt:lpstr>Metin Oluşturma</vt:lpstr>
      <vt:lpstr>Konuşma Oluşturma ve Tanıma</vt:lpstr>
      <vt:lpstr>Çok Modlu Yapay Zeka</vt:lpstr>
      <vt:lpstr>PowerPoint Sunusu</vt:lpstr>
      <vt:lpstr>Yapay Zeka’nın Seviyeleri</vt:lpstr>
      <vt:lpstr>Yapay Zeka’nın Seviyeleri</vt:lpstr>
      <vt:lpstr>Yapay Zeka’nın Seviyeleri</vt:lpstr>
      <vt:lpstr>Yapay Zeka’nın Seviyeleri</vt:lpstr>
      <vt:lpstr>Yapay Zeka’nın Seviyeleri</vt:lpstr>
      <vt:lpstr>PowerPoint Sunusu</vt:lpstr>
      <vt:lpstr>Yapay Zekanın Temel Çalışma Prensipleri</vt:lpstr>
      <vt:lpstr>Yapay Zekanın Temel Çalışma Prensipleri</vt:lpstr>
      <vt:lpstr>Yapay Zekanın Temel Çalışma Prensipleri</vt:lpstr>
      <vt:lpstr>Yapay Zekanın Temel Çalışma Prensipleri</vt:lpstr>
      <vt:lpstr>PowerPoint Sunusu</vt:lpstr>
      <vt:lpstr>Yapay Zeka’nın Avantajları</vt:lpstr>
      <vt:lpstr>Yapay Zeka’nın Avantajları</vt:lpstr>
      <vt:lpstr>Yapay Zeka’nın Dezavantajları</vt:lpstr>
      <vt:lpstr>Yapay Zeka’nın Dezavantajları</vt:lpstr>
      <vt:lpstr>PowerPoint Sunusu</vt:lpstr>
      <vt:lpstr>Yapay Zeka’nın Kullanım Alanları</vt:lpstr>
      <vt:lpstr>Uygulamalar ve Faydaları</vt:lpstr>
      <vt:lpstr>Uygulamalar ve Faydaları</vt:lpstr>
      <vt:lpstr>Dünyadan Yapay Zeka Örnekleri</vt:lpstr>
      <vt:lpstr>Dünyadan Yapay Zeka Örnekleri</vt:lpstr>
      <vt:lpstr>Dünyadan Yapay Zeka Örnekleri</vt:lpstr>
      <vt:lpstr>Türkiye’den Yapay Zeka Örnekleri</vt:lpstr>
      <vt:lpstr>Türkiye’deki AI Girişimleri</vt:lpstr>
      <vt:lpstr>En Çok Bilinen Yapay Zeka Araçları</vt:lpstr>
      <vt:lpstr>PowerPoint Sunusu</vt:lpstr>
      <vt:lpstr>Gelecekte Yapay Zeka</vt:lpstr>
      <vt:lpstr>Gelecekte Yapay Zeka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Esin Ünal</dc:creator>
  <cp:lastModifiedBy>Halil Arslan</cp:lastModifiedBy>
  <cp:revision>5</cp:revision>
  <dcterms:created xsi:type="dcterms:W3CDTF">2025-10-19T19:10:34Z</dcterms:created>
  <dcterms:modified xsi:type="dcterms:W3CDTF">2026-01-03T10:35:50Z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2025-09-23T00:00:00Z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2025-10-19T00:00:00Z</vt:filetime>
  </property>
  <property fmtid="{D5CDD505-2E9C-101B-9397-08002B2CF9AE}" pid="5" name="Producer">
    <vt:lpwstr>Microsoft® PowerPoint® 2016</vt:lpwstr>
  </property>
</Properties>
</file>