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341" r:id="rId4"/>
    <p:sldId id="342" r:id="rId5"/>
    <p:sldId id="343" r:id="rId6"/>
    <p:sldId id="344" r:id="rId7"/>
    <p:sldId id="345" r:id="rId8"/>
    <p:sldId id="346" r:id="rId9"/>
    <p:sldId id="347" r:id="rId10"/>
    <p:sldId id="367" r:id="rId11"/>
    <p:sldId id="348" r:id="rId12"/>
    <p:sldId id="259" r:id="rId13"/>
    <p:sldId id="340" r:id="rId14"/>
    <p:sldId id="352" r:id="rId15"/>
    <p:sldId id="353" r:id="rId16"/>
    <p:sldId id="368" r:id="rId17"/>
    <p:sldId id="369" r:id="rId18"/>
    <p:sldId id="370" r:id="rId19"/>
    <p:sldId id="371" r:id="rId20"/>
    <p:sldId id="372" r:id="rId21"/>
    <p:sldId id="373" r:id="rId22"/>
    <p:sldId id="375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78" y="1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17C3B-1BFC-4645-9A7E-CFD598D7AF85}" type="datetimeFigureOut">
              <a:rPr lang="tr-TR" smtClean="0"/>
              <a:t>9.11.2025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8A4B9-0741-462C-B321-6B0FE3B75F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74226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D14F1-F049-4039-9D45-C21EC6A01681}" type="datetimeFigureOut">
              <a:rPr lang="tr-TR" smtClean="0"/>
              <a:t>9.11.2025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333F2-83F2-4E70-A193-61FE464B47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70284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941054" y="778891"/>
            <a:ext cx="2090038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91FF7-987F-49A6-8465-DDAFB3FDBE46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95AEA-B31B-4927-BAEB-89FE4F6867FA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45DF0-34D0-47CC-A354-ED04965C8C2C}" type="datetime1">
              <a:rPr lang="en-US" smtClean="0"/>
              <a:t>11/9/2025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1D5A6-3674-4970-BF02-4C9200B17B5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7739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2C241F">
              <a:alpha val="9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9369D-FF24-45DF-A56F-4FB39123F2A1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93058" y="778891"/>
            <a:ext cx="7143368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8180" y="1516888"/>
            <a:ext cx="9582150" cy="4255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E9150-29C0-4E38-BF4E-9A0BF4C5E418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007363" y="0"/>
            <a:ext cx="7961630" cy="6858000"/>
            <a:chOff x="1007363" y="0"/>
            <a:chExt cx="7961630" cy="6858000"/>
          </a:xfrm>
        </p:grpSpPr>
        <p:sp>
          <p:nvSpPr>
            <p:cNvPr id="9" name="object 9"/>
            <p:cNvSpPr/>
            <p:nvPr/>
          </p:nvSpPr>
          <p:spPr>
            <a:xfrm>
              <a:off x="1007363" y="0"/>
              <a:ext cx="7934325" cy="6858000"/>
            </a:xfrm>
            <a:custGeom>
              <a:avLst/>
              <a:gdLst/>
              <a:ahLst/>
              <a:cxnLst/>
              <a:rect l="l" t="t" r="r" b="b"/>
              <a:pathLst>
                <a:path w="7934325" h="6858000">
                  <a:moveTo>
                    <a:pt x="7933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933944" y="6858000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41307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613153" y="2121865"/>
            <a:ext cx="684784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tr-TR" sz="6000" b="0" dirty="0" smtClean="0">
                <a:solidFill>
                  <a:srgbClr val="FFFFFF"/>
                </a:solidFill>
              </a:rPr>
              <a:t>BİLGİ GÜVENLİĞİ</a:t>
            </a:r>
            <a:br>
              <a:rPr lang="tr-TR" sz="6000" b="0" dirty="0" smtClean="0">
                <a:solidFill>
                  <a:srgbClr val="FFFFFF"/>
                </a:solidFill>
              </a:rPr>
            </a:br>
            <a:r>
              <a:rPr lang="tr-TR" sz="6000" b="0" dirty="0" smtClean="0">
                <a:solidFill>
                  <a:srgbClr val="FFFFFF"/>
                </a:solidFill>
              </a:rPr>
              <a:t>SİBER GÜVENLİK</a:t>
            </a:r>
            <a:endParaRPr sz="60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3825" y="4997727"/>
            <a:ext cx="4526915" cy="52257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95"/>
              </a:spcBef>
            </a:pPr>
            <a:r>
              <a:rPr lang="tr-TR" sz="2400" spc="-10" dirty="0" err="1" smtClean="0">
                <a:solidFill>
                  <a:srgbClr val="FFFFFF"/>
                </a:solidFill>
                <a:latin typeface="Arial"/>
                <a:cs typeface="Arial"/>
              </a:rPr>
              <a:t>Öğr</a:t>
            </a:r>
            <a:r>
              <a:rPr lang="tr-TR" sz="2400" spc="-10" dirty="0" smtClean="0">
                <a:solidFill>
                  <a:srgbClr val="FFFFFF"/>
                </a:solidFill>
                <a:latin typeface="Arial"/>
                <a:cs typeface="Arial"/>
              </a:rPr>
              <a:t>. Gör. Halil ARSLAN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1" name="Slayt Numarası Yer Tutucusu 1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tr-TR" smtClean="0"/>
              <a:t>1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Bilgi Güvenliği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2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2403602" y="1831877"/>
            <a:ext cx="7682230" cy="445897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67665" marR="38100" indent="-342900">
              <a:lnSpc>
                <a:spcPts val="3460"/>
              </a:lnSpc>
              <a:spcBef>
                <a:spcPts val="530"/>
              </a:spcBef>
              <a:buFont typeface="Microsoft Sans Serif"/>
              <a:buChar char="•"/>
              <a:tabLst>
                <a:tab pos="367665" algn="l"/>
              </a:tabLst>
            </a:pPr>
            <a:r>
              <a:rPr sz="3200" b="1" dirty="0">
                <a:latin typeface="Calibri"/>
                <a:cs typeface="Calibri"/>
              </a:rPr>
              <a:t>Bilgi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kurumun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kuruluşun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veya </a:t>
            </a:r>
            <a:r>
              <a:rPr sz="3200" spc="-30" dirty="0">
                <a:latin typeface="Calibri"/>
                <a:cs typeface="Calibri"/>
              </a:rPr>
              <a:t>organizasyonun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faaliyetlerini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yürütmekte kullandıkları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verilerin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anlam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kazanmış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haline denir.</a:t>
            </a:r>
            <a:endParaRPr sz="3200" dirty="0">
              <a:latin typeface="Calibri"/>
              <a:cs typeface="Calibri"/>
            </a:endParaRPr>
          </a:p>
          <a:p>
            <a:pPr marL="367665" marR="223520" indent="-342900">
              <a:lnSpc>
                <a:spcPts val="3460"/>
              </a:lnSpc>
              <a:spcBef>
                <a:spcPts val="570"/>
              </a:spcBef>
              <a:buFont typeface="Microsoft Sans Serif"/>
              <a:buChar char="•"/>
              <a:tabLst>
                <a:tab pos="367665" algn="l"/>
              </a:tabLst>
            </a:pPr>
            <a:r>
              <a:rPr sz="3200" b="1" dirty="0">
                <a:latin typeface="Calibri"/>
                <a:cs typeface="Calibri"/>
              </a:rPr>
              <a:t>Bilgi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Güvenliği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Öneme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sahip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bilginin korunması,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bütünlüğünün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sağlanması, </a:t>
            </a:r>
            <a:r>
              <a:rPr sz="3200" dirty="0">
                <a:latin typeface="Calibri"/>
                <a:cs typeface="Calibri"/>
              </a:rPr>
              <a:t>erişebilir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ulaşabilir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olmasının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sağlanması </a:t>
            </a:r>
            <a:r>
              <a:rPr sz="3200" dirty="0">
                <a:latin typeface="Calibri"/>
                <a:cs typeface="Calibri"/>
              </a:rPr>
              <a:t>için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alınan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gerekli,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önemler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tedbirlerdir.</a:t>
            </a:r>
            <a:endParaRPr sz="3200" dirty="0">
              <a:latin typeface="Calibri"/>
              <a:cs typeface="Calibri"/>
            </a:endParaRPr>
          </a:p>
          <a:p>
            <a:pPr marL="367665" marR="17780" indent="-342900">
              <a:lnSpc>
                <a:spcPct val="86300"/>
              </a:lnSpc>
              <a:spcBef>
                <a:spcPts val="660"/>
              </a:spcBef>
              <a:buFont typeface="Microsoft Sans Serif"/>
              <a:buChar char="•"/>
              <a:tabLst>
                <a:tab pos="367665" algn="l"/>
              </a:tabLst>
            </a:pPr>
            <a:r>
              <a:rPr sz="3200" dirty="0">
                <a:latin typeface="Calibri"/>
                <a:cs typeface="Calibri"/>
              </a:rPr>
              <a:t>Bilgi</a:t>
            </a:r>
            <a:r>
              <a:rPr sz="3200" spc="-1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Güvenliği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Yönetim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Sistemi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Standardı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(ISO </a:t>
            </a:r>
            <a:r>
              <a:rPr sz="2200" b="1" spc="-10" dirty="0">
                <a:latin typeface="Calibri"/>
                <a:cs typeface="Calibri"/>
              </a:rPr>
              <a:t>27001)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CIA Üçlüsü (CIA </a:t>
            </a:r>
            <a:r>
              <a:rPr lang="tr-TR" dirty="0" err="1" smtClean="0"/>
              <a:t>Triad</a:t>
            </a:r>
            <a:r>
              <a:rPr lang="tr-TR" dirty="0" smtClean="0"/>
              <a:t>)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3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2057400" y="1752600"/>
            <a:ext cx="4470400" cy="222123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b="1" spc="-20" dirty="0">
                <a:latin typeface="Calibri"/>
                <a:cs typeface="Calibri"/>
              </a:rPr>
              <a:t>C</a:t>
            </a:r>
            <a:r>
              <a:rPr sz="3200" spc="-20" dirty="0">
                <a:latin typeface="Calibri"/>
                <a:cs typeface="Calibri"/>
              </a:rPr>
              <a:t>onfidentiality </a:t>
            </a:r>
            <a:r>
              <a:rPr sz="3200" dirty="0">
                <a:latin typeface="Calibri"/>
                <a:cs typeface="Calibri"/>
              </a:rPr>
              <a:t>-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Gizlilik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b="1" spc="-10" dirty="0">
                <a:latin typeface="Calibri"/>
                <a:cs typeface="Calibri"/>
              </a:rPr>
              <a:t>I</a:t>
            </a:r>
            <a:r>
              <a:rPr sz="3200" spc="-10" dirty="0">
                <a:latin typeface="Calibri"/>
                <a:cs typeface="Calibri"/>
              </a:rPr>
              <a:t>ntegrity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-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Bütünlük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b="1" spc="-10" dirty="0">
                <a:latin typeface="Calibri"/>
                <a:cs typeface="Calibri"/>
              </a:rPr>
              <a:t>A</a:t>
            </a:r>
            <a:r>
              <a:rPr sz="3200" spc="-10" dirty="0">
                <a:latin typeface="Calibri"/>
                <a:cs typeface="Calibri"/>
              </a:rPr>
              <a:t>vailability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-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Erişilebilirlik</a:t>
            </a:r>
            <a:endParaRPr sz="3200" dirty="0">
              <a:latin typeface="Calibri"/>
              <a:cs typeface="Calibri"/>
            </a:endParaRPr>
          </a:p>
          <a:p>
            <a:pPr marL="1380490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(Kullanılabilirlik)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9100" y="2981457"/>
            <a:ext cx="3888003" cy="3523322"/>
          </a:xfrm>
          <a:prstGeom prst="rect">
            <a:avLst/>
          </a:prstGeom>
        </p:spPr>
      </p:pic>
      <p:pic>
        <p:nvPicPr>
          <p:cNvPr id="10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8744" y="4250822"/>
            <a:ext cx="2428557" cy="2104555"/>
          </a:xfrm>
          <a:prstGeom prst="rect">
            <a:avLst/>
          </a:prstGeom>
        </p:spPr>
      </p:pic>
      <p:pic>
        <p:nvPicPr>
          <p:cNvPr id="11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46701" y="4746173"/>
            <a:ext cx="1609204" cy="1542605"/>
          </a:xfrm>
          <a:prstGeom prst="rect">
            <a:avLst/>
          </a:prstGeom>
        </p:spPr>
      </p:pic>
      <p:sp>
        <p:nvSpPr>
          <p:cNvPr id="13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80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Bilgi Güvenliği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4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2819400" y="2386088"/>
            <a:ext cx="70383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Gizlilik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Bilgilerin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yetkisiz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erişime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karşı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korunması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2819400" y="3380409"/>
            <a:ext cx="7079615" cy="878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Bütünlük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Bilgilerin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eksiksiz,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tutarlı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doğru olması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8"/>
          <p:cNvSpPr txBox="1"/>
          <p:nvPr/>
        </p:nvSpPr>
        <p:spPr>
          <a:xfrm>
            <a:off x="2819400" y="4800600"/>
            <a:ext cx="5821680" cy="878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Calibri"/>
                <a:cs typeface="Calibri"/>
              </a:rPr>
              <a:t>Erişilebilirlik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Bilgilere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yetkililerce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ihtiyaç </a:t>
            </a:r>
            <a:r>
              <a:rPr sz="2800" dirty="0">
                <a:latin typeface="Calibri"/>
                <a:cs typeface="Calibri"/>
              </a:rPr>
              <a:t>duyulduğunda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erişilebilir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olması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7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38072" y="778891"/>
            <a:ext cx="9698354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Bilgi Güvenliği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5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1600200" y="1864827"/>
            <a:ext cx="7714615" cy="4434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375"/>
              </a:lnSpc>
              <a:spcBef>
                <a:spcPts val="100"/>
              </a:spcBef>
              <a:buFont typeface="Microsoft Sans Serif"/>
              <a:buChar char="•"/>
              <a:tabLst>
                <a:tab pos="355600" algn="l"/>
              </a:tabLst>
            </a:pPr>
            <a:r>
              <a:rPr sz="2200" b="1" dirty="0">
                <a:latin typeface="Calibri"/>
                <a:cs typeface="Calibri"/>
              </a:rPr>
              <a:t>Gizlilik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</a:t>
            </a:r>
            <a:r>
              <a:rPr sz="2200" spc="-10" dirty="0">
                <a:latin typeface="Calibri"/>
                <a:cs typeface="Calibri"/>
              </a:rPr>
              <a:t>onfidentiality</a:t>
            </a:r>
            <a:endParaRPr sz="2200" dirty="0">
              <a:latin typeface="Calibri"/>
              <a:cs typeface="Calibri"/>
            </a:endParaRPr>
          </a:p>
          <a:p>
            <a:pPr marL="355600" marR="378460">
              <a:lnSpc>
                <a:spcPct val="80000"/>
              </a:lnSpc>
              <a:spcBef>
                <a:spcPts val="260"/>
              </a:spcBef>
            </a:pPr>
            <a:r>
              <a:rPr sz="2200" spc="-10" dirty="0">
                <a:latin typeface="Calibri"/>
                <a:cs typeface="Calibri"/>
              </a:rPr>
              <a:t>Herşeyi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herkesten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gizlemek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değil,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veriye/bilgiye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sadece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yetkisi </a:t>
            </a:r>
            <a:r>
              <a:rPr sz="2200" dirty="0">
                <a:latin typeface="Calibri"/>
                <a:cs typeface="Calibri"/>
              </a:rPr>
              <a:t>onların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ulaşılabilmesini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sağlamak.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Şifreleme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gibi..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ts val="2360"/>
              </a:lnSpc>
              <a:buFont typeface="Microsoft Sans Serif"/>
              <a:buChar char="•"/>
              <a:tabLst>
                <a:tab pos="355600" algn="l"/>
              </a:tabLst>
            </a:pPr>
            <a:r>
              <a:rPr sz="2200" b="1" dirty="0">
                <a:latin typeface="Calibri"/>
                <a:cs typeface="Calibri"/>
              </a:rPr>
              <a:t>Bütünlük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</a:t>
            </a:r>
            <a:r>
              <a:rPr sz="2200" spc="-10" dirty="0">
                <a:latin typeface="Calibri"/>
                <a:cs typeface="Calibri"/>
              </a:rPr>
              <a:t>ntegrity</a:t>
            </a:r>
            <a:endParaRPr sz="2200" dirty="0">
              <a:latin typeface="Calibri"/>
              <a:cs typeface="Calibri"/>
            </a:endParaRPr>
          </a:p>
          <a:p>
            <a:pPr marL="355600" marR="375920">
              <a:lnSpc>
                <a:spcPct val="80000"/>
              </a:lnSpc>
              <a:spcBef>
                <a:spcPts val="265"/>
              </a:spcBef>
            </a:pPr>
            <a:r>
              <a:rPr sz="2200" spc="-20" dirty="0">
                <a:latin typeface="Calibri"/>
                <a:cs typeface="Calibri"/>
              </a:rPr>
              <a:t>Yetkisiz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izinsiz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değişikliklerin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engellenmesi,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verinin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amacına </a:t>
            </a:r>
            <a:r>
              <a:rPr sz="2200" dirty="0">
                <a:latin typeface="Calibri"/>
                <a:cs typeface="Calibri"/>
              </a:rPr>
              <a:t>uygun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derecede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doğru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olması.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ts val="2360"/>
              </a:lnSpc>
              <a:buFont typeface="Microsoft Sans Serif"/>
              <a:buChar char="•"/>
              <a:tabLst>
                <a:tab pos="355600" algn="l"/>
              </a:tabLst>
            </a:pPr>
            <a:r>
              <a:rPr sz="2200" b="1" dirty="0">
                <a:latin typeface="Calibri"/>
                <a:cs typeface="Calibri"/>
              </a:rPr>
              <a:t>Erişilebilirlik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vailability</a:t>
            </a:r>
            <a:endParaRPr sz="2200" dirty="0">
              <a:latin typeface="Calibri"/>
              <a:cs typeface="Calibri"/>
            </a:endParaRPr>
          </a:p>
          <a:p>
            <a:pPr marL="355600" marR="447040">
              <a:lnSpc>
                <a:spcPct val="80000"/>
              </a:lnSpc>
              <a:spcBef>
                <a:spcPts val="265"/>
              </a:spcBef>
            </a:pPr>
            <a:r>
              <a:rPr sz="2200" spc="-10" dirty="0">
                <a:latin typeface="Calibri"/>
                <a:cs typeface="Calibri"/>
              </a:rPr>
              <a:t>Veriyi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iletmek,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depolamak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işlemekten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sorumlu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hizmetlerin devamlılığının sağlanması.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2200" dirty="0">
              <a:latin typeface="Calibri"/>
              <a:cs typeface="Calibri"/>
            </a:endParaRPr>
          </a:p>
          <a:p>
            <a:pPr marL="74930" marR="1244600" indent="-62865">
              <a:lnSpc>
                <a:spcPts val="2620"/>
              </a:lnSpc>
              <a:buFont typeface="Microsoft Sans Serif"/>
              <a:buChar char="•"/>
              <a:tabLst>
                <a:tab pos="74930" algn="l"/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	Bilgi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güvenliğinin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sağlanmasından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herkes</a:t>
            </a:r>
            <a:r>
              <a:rPr sz="2200" b="1" spc="-8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sorumludur</a:t>
            </a:r>
            <a:r>
              <a:rPr sz="2200" spc="-10" dirty="0">
                <a:latin typeface="Calibri"/>
                <a:cs typeface="Calibri"/>
              </a:rPr>
              <a:t>. </a:t>
            </a:r>
            <a:r>
              <a:rPr sz="2200" dirty="0">
                <a:latin typeface="Calibri"/>
                <a:cs typeface="Calibri"/>
              </a:rPr>
              <a:t>(Bilginin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sahibi,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kullanan,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sistemi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yöneten,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vb..)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i="1" spc="-25" dirty="0">
                <a:latin typeface="Calibri"/>
                <a:cs typeface="Calibri"/>
              </a:rPr>
              <a:t>Yetki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paylaşılır</a:t>
            </a:r>
            <a:r>
              <a:rPr sz="2200" i="1" dirty="0">
                <a:latin typeface="Calibri"/>
                <a:cs typeface="Calibri"/>
              </a:rPr>
              <a:t>,</a:t>
            </a:r>
            <a:r>
              <a:rPr sz="2200" i="1" spc="-5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sorumluluk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paylaşılmaz</a:t>
            </a:r>
            <a:r>
              <a:rPr sz="2200" i="1" dirty="0">
                <a:latin typeface="Calibri"/>
                <a:cs typeface="Calibri"/>
              </a:rPr>
              <a:t>.</a:t>
            </a:r>
            <a:r>
              <a:rPr sz="2200" i="1" spc="-6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Bilgi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ise</a:t>
            </a:r>
            <a:r>
              <a:rPr sz="2200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paylaşıldıkça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artar.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4815" y="2895600"/>
            <a:ext cx="1609204" cy="1542605"/>
          </a:xfrm>
          <a:prstGeom prst="rect">
            <a:avLst/>
          </a:prstGeom>
        </p:spPr>
      </p:pic>
      <p:sp>
        <p:nvSpPr>
          <p:cNvPr id="10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238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53008" y="759997"/>
            <a:ext cx="9698354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Bilgi Güvenliği Kategorileri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6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1" name="object 3"/>
          <p:cNvSpPr txBox="1"/>
          <p:nvPr/>
        </p:nvSpPr>
        <p:spPr>
          <a:xfrm>
            <a:off x="1899094" y="2068906"/>
            <a:ext cx="8691245" cy="401256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4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Ağ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güvenliği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(Network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security)</a:t>
            </a:r>
            <a:endParaRPr sz="2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Uç/Son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nokta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veya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Kullanıcı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güvenliği</a:t>
            </a:r>
            <a:r>
              <a:rPr sz="3200" b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(Endpoint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security)</a:t>
            </a:r>
            <a:endParaRPr sz="2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b="1" spc="-20" dirty="0">
                <a:latin typeface="Calibri"/>
                <a:cs typeface="Calibri"/>
              </a:rPr>
              <a:t>Veri</a:t>
            </a:r>
            <a:r>
              <a:rPr sz="3200" b="1" spc="-11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güvenliği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(Data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security)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Uygulama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güvenliği</a:t>
            </a:r>
            <a:r>
              <a:rPr sz="3200" b="1" spc="-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(Application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security)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Kimlik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ve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Erişim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Yönetimi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(Identity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management)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Güvenlik</a:t>
            </a:r>
            <a:r>
              <a:rPr sz="3200" b="1" spc="-1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yönetimi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(Security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management)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Sanallaştırma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ve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bulut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(Virtualization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cloud)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319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53008" y="759997"/>
            <a:ext cx="9698354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Bilgi Güvencesi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7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2095805" y="1953684"/>
            <a:ext cx="7460615" cy="4123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2826385" indent="342900">
              <a:lnSpc>
                <a:spcPct val="105000"/>
              </a:lnSpc>
              <a:spcBef>
                <a:spcPts val="100"/>
              </a:spcBef>
              <a:buFont typeface="Microsoft Sans Serif"/>
              <a:buChar char="•"/>
              <a:tabLst>
                <a:tab pos="368300" algn="l"/>
              </a:tabLst>
            </a:pPr>
            <a:r>
              <a:rPr sz="3200" spc="-20" dirty="0">
                <a:latin typeface="Calibri"/>
                <a:cs typeface="Calibri"/>
              </a:rPr>
              <a:t>Information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Assurance,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IA </a:t>
            </a:r>
            <a:r>
              <a:rPr sz="3200" dirty="0">
                <a:latin typeface="Calibri"/>
                <a:cs typeface="Calibri"/>
              </a:rPr>
              <a:t>Bilgi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sistemlerinin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;</a:t>
            </a:r>
            <a:endParaRPr sz="3200" dirty="0">
              <a:latin typeface="Calibri"/>
              <a:cs typeface="Calibri"/>
            </a:endParaRPr>
          </a:p>
          <a:p>
            <a:pPr marL="368300" indent="-342900">
              <a:lnSpc>
                <a:spcPct val="100000"/>
              </a:lnSpc>
              <a:spcBef>
                <a:spcPts val="195"/>
              </a:spcBef>
              <a:buFont typeface="Microsoft Sans Serif"/>
              <a:buChar char="•"/>
              <a:tabLst>
                <a:tab pos="368300" algn="l"/>
              </a:tabLst>
            </a:pPr>
            <a:r>
              <a:rPr sz="3200" spc="-10" dirty="0">
                <a:latin typeface="Calibri"/>
                <a:cs typeface="Calibri"/>
              </a:rPr>
              <a:t>Kullanılabilirliğini,</a:t>
            </a:r>
            <a:endParaRPr sz="3200" dirty="0">
              <a:latin typeface="Calibri"/>
              <a:cs typeface="Calibri"/>
            </a:endParaRPr>
          </a:p>
          <a:p>
            <a:pPr marL="368300" indent="-342900">
              <a:lnSpc>
                <a:spcPct val="100000"/>
              </a:lnSpc>
              <a:spcBef>
                <a:spcPts val="195"/>
              </a:spcBef>
              <a:buFont typeface="Microsoft Sans Serif"/>
              <a:buChar char="•"/>
              <a:tabLst>
                <a:tab pos="368300" algn="l"/>
              </a:tabLst>
            </a:pPr>
            <a:r>
              <a:rPr sz="3200" spc="-10" dirty="0">
                <a:latin typeface="Calibri"/>
                <a:cs typeface="Calibri"/>
              </a:rPr>
              <a:t>Bütünlüğünü,</a:t>
            </a:r>
            <a:endParaRPr sz="3200" dirty="0">
              <a:latin typeface="Calibri"/>
              <a:cs typeface="Calibri"/>
            </a:endParaRPr>
          </a:p>
          <a:p>
            <a:pPr marL="368300" indent="-342900">
              <a:lnSpc>
                <a:spcPct val="100000"/>
              </a:lnSpc>
              <a:spcBef>
                <a:spcPts val="190"/>
              </a:spcBef>
              <a:buFont typeface="Microsoft Sans Serif"/>
              <a:buChar char="•"/>
              <a:tabLst>
                <a:tab pos="368300" algn="l"/>
              </a:tabLst>
            </a:pPr>
            <a:r>
              <a:rPr sz="3200" spc="-10" dirty="0">
                <a:latin typeface="Calibri"/>
                <a:cs typeface="Calibri"/>
              </a:rPr>
              <a:t>Doğrulanmasını,</a:t>
            </a:r>
            <a:endParaRPr sz="3200" dirty="0">
              <a:latin typeface="Calibri"/>
              <a:cs typeface="Calibri"/>
            </a:endParaRPr>
          </a:p>
          <a:p>
            <a:pPr marL="368300" indent="-342900">
              <a:lnSpc>
                <a:spcPct val="100000"/>
              </a:lnSpc>
              <a:spcBef>
                <a:spcPts val="195"/>
              </a:spcBef>
              <a:buFont typeface="Microsoft Sans Serif"/>
              <a:buChar char="•"/>
              <a:tabLst>
                <a:tab pos="368300" algn="l"/>
              </a:tabLst>
            </a:pPr>
            <a:r>
              <a:rPr sz="3200" dirty="0">
                <a:latin typeface="Calibri"/>
                <a:cs typeface="Calibri"/>
              </a:rPr>
              <a:t>Gizliliğini</a:t>
            </a:r>
            <a:r>
              <a:rPr sz="3200" spc="-1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ve</a:t>
            </a:r>
            <a:endParaRPr sz="3200" dirty="0">
              <a:latin typeface="Calibri"/>
              <a:cs typeface="Calibri"/>
            </a:endParaRPr>
          </a:p>
          <a:p>
            <a:pPr marL="368300" indent="-342900">
              <a:lnSpc>
                <a:spcPct val="100000"/>
              </a:lnSpc>
              <a:spcBef>
                <a:spcPts val="195"/>
              </a:spcBef>
              <a:buFont typeface="Microsoft Sans Serif"/>
              <a:buChar char="•"/>
              <a:tabLst>
                <a:tab pos="368300" algn="l"/>
              </a:tabLst>
            </a:pPr>
            <a:r>
              <a:rPr sz="3200" dirty="0">
                <a:latin typeface="Calibri"/>
                <a:cs typeface="Calibri"/>
              </a:rPr>
              <a:t>İnkar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edememe</a:t>
            </a:r>
            <a:endParaRPr sz="3200" dirty="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190"/>
              </a:spcBef>
              <a:tabLst>
                <a:tab pos="2826385" algn="l"/>
              </a:tabLst>
            </a:pPr>
            <a:r>
              <a:rPr sz="3200" spc="-10" dirty="0">
                <a:latin typeface="Calibri"/>
                <a:cs typeface="Calibri"/>
              </a:rPr>
              <a:t>Özelliğini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sağlar.</a:t>
            </a:r>
            <a:r>
              <a:rPr sz="3200" dirty="0">
                <a:latin typeface="Calibri"/>
                <a:cs typeface="Calibri"/>
              </a:rPr>
              <a:t>	Bilgi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güvenliğini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içine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alır.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11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3041959"/>
            <a:ext cx="4933441" cy="217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8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37323" y="714124"/>
            <a:ext cx="9698354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spcBef>
                <a:spcPts val="95"/>
              </a:spcBef>
            </a:pPr>
            <a:r>
              <a:rPr lang="tr-TR" dirty="0" smtClean="0"/>
              <a:t>Siber Güvenlik</a:t>
            </a:r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8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3" name="object 3"/>
          <p:cNvSpPr txBox="1"/>
          <p:nvPr/>
        </p:nvSpPr>
        <p:spPr>
          <a:xfrm>
            <a:off x="2346452" y="2133159"/>
            <a:ext cx="7796530" cy="3805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55600" algn="l"/>
                <a:tab pos="1729105" algn="l"/>
                <a:tab pos="2251710" algn="l"/>
                <a:tab pos="2726055" algn="l"/>
                <a:tab pos="3620135" algn="l"/>
                <a:tab pos="3879215" algn="l"/>
                <a:tab pos="5513070" algn="l"/>
              </a:tabLst>
            </a:pPr>
            <a:r>
              <a:rPr sz="3200" dirty="0">
                <a:latin typeface="Calibri"/>
                <a:cs typeface="Calibri"/>
              </a:rPr>
              <a:t>Siber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uzayda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organizasyon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kullanıcıların varlıklarını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korumak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amacıyla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kullanılan araçlar,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politikalar,</a:t>
            </a:r>
            <a:r>
              <a:rPr sz="3200" dirty="0">
                <a:latin typeface="Calibri"/>
                <a:cs typeface="Calibri"/>
              </a:rPr>
              <a:t>	güvenlik</a:t>
            </a:r>
            <a:r>
              <a:rPr sz="3200" spc="-16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kavram</a:t>
            </a:r>
            <a:r>
              <a:rPr sz="3200" spc="-1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ve </a:t>
            </a:r>
            <a:r>
              <a:rPr sz="3200" dirty="0">
                <a:latin typeface="Calibri"/>
                <a:cs typeface="Calibri"/>
              </a:rPr>
              <a:t>önlemleri,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45" dirty="0">
                <a:latin typeface="Calibri"/>
                <a:cs typeface="Calibri"/>
              </a:rPr>
              <a:t>kurallar,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risk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yönetimi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yaklaşımları, </a:t>
            </a:r>
            <a:r>
              <a:rPr sz="3200" spc="-30" dirty="0">
                <a:latin typeface="Calibri"/>
                <a:cs typeface="Calibri"/>
              </a:rPr>
              <a:t>eylemler,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eğitimler,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uygulamalar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ve </a:t>
            </a:r>
            <a:r>
              <a:rPr sz="3200" spc="-10" dirty="0">
                <a:latin typeface="Calibri"/>
                <a:cs typeface="Calibri"/>
              </a:rPr>
              <a:t>teknolojilerin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bütünüdür.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44"/>
              </a:spcBef>
              <a:tabLst>
                <a:tab pos="4971415" algn="l"/>
              </a:tabLst>
            </a:pPr>
            <a:r>
              <a:rPr sz="2400" i="1" spc="-10" dirty="0">
                <a:latin typeface="Calibri"/>
                <a:cs typeface="Calibri"/>
              </a:rPr>
              <a:t>Kaynak:</a:t>
            </a:r>
            <a:r>
              <a:rPr sz="2400" i="1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Uluslararası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Telekomünikasyon</a:t>
            </a:r>
            <a:r>
              <a:rPr sz="2400" dirty="0">
                <a:latin typeface="Calibri"/>
                <a:cs typeface="Calibri"/>
              </a:rPr>
              <a:t>	Birliği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(ITU)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092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37323" y="718107"/>
            <a:ext cx="9698354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Siber Güvenlik (</a:t>
            </a:r>
            <a:r>
              <a:rPr lang="tr-TR" dirty="0" err="1" smtClean="0"/>
              <a:t>Cyber</a:t>
            </a:r>
            <a:r>
              <a:rPr lang="tr-TR" dirty="0" smtClean="0"/>
              <a:t> Security)</a:t>
            </a: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9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2133600" y="1987943"/>
            <a:ext cx="7789545" cy="436118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67665" marR="17780" indent="-342900">
              <a:lnSpc>
                <a:spcPts val="2880"/>
              </a:lnSpc>
              <a:spcBef>
                <a:spcPts val="795"/>
              </a:spcBef>
              <a:buSzPct val="98333"/>
              <a:buFont typeface="Microsoft Sans Serif"/>
              <a:buChar char="•"/>
              <a:tabLst>
                <a:tab pos="367665" algn="l"/>
                <a:tab pos="1663064" algn="l"/>
                <a:tab pos="1895475" algn="l"/>
                <a:tab pos="2320925" algn="l"/>
                <a:tab pos="2625725" algn="l"/>
                <a:tab pos="2850515" algn="l"/>
                <a:tab pos="2972435" algn="l"/>
                <a:tab pos="3404870" algn="l"/>
                <a:tab pos="3502660" algn="l"/>
                <a:tab pos="4808855" algn="l"/>
                <a:tab pos="5191125" algn="l"/>
                <a:tab pos="5296535" algn="l"/>
                <a:tab pos="5624195" algn="l"/>
                <a:tab pos="6414135" algn="l"/>
              </a:tabLst>
            </a:pPr>
            <a:r>
              <a:rPr sz="3000" spc="-10" dirty="0">
                <a:latin typeface="Calibri"/>
                <a:cs typeface="Calibri"/>
              </a:rPr>
              <a:t>Kurum,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kuruluş</a:t>
            </a:r>
            <a:r>
              <a:rPr sz="3000" dirty="0">
                <a:latin typeface="Calibri"/>
                <a:cs typeface="Calibri"/>
              </a:rPr>
              <a:t>		</a:t>
            </a:r>
            <a:r>
              <a:rPr sz="3000" spc="-25" dirty="0">
                <a:latin typeface="Calibri"/>
                <a:cs typeface="Calibri"/>
              </a:rPr>
              <a:t>ve</a:t>
            </a:r>
            <a:r>
              <a:rPr sz="3000" dirty="0">
                <a:latin typeface="Calibri"/>
                <a:cs typeface="Calibri"/>
              </a:rPr>
              <a:t>		</a:t>
            </a:r>
            <a:r>
              <a:rPr sz="3000" spc="-10" dirty="0">
                <a:latin typeface="Calibri"/>
                <a:cs typeface="Calibri"/>
              </a:rPr>
              <a:t>kullanıcıların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varlıkları,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bilgi </a:t>
            </a:r>
            <a:r>
              <a:rPr sz="3000" dirty="0">
                <a:latin typeface="Calibri"/>
                <a:cs typeface="Calibri"/>
              </a:rPr>
              <a:t>işlem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donanımlarını,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personeli,</a:t>
            </a:r>
            <a:r>
              <a:rPr sz="3000" dirty="0">
                <a:latin typeface="Calibri"/>
                <a:cs typeface="Calibri"/>
              </a:rPr>
              <a:t>		</a:t>
            </a:r>
            <a:r>
              <a:rPr sz="3000" spc="-10" dirty="0">
                <a:latin typeface="Calibri"/>
                <a:cs typeface="Calibri"/>
              </a:rPr>
              <a:t>altyapıları, uygulamaları,</a:t>
            </a:r>
            <a:r>
              <a:rPr sz="3000" dirty="0">
                <a:latin typeface="Calibri"/>
                <a:cs typeface="Calibri"/>
              </a:rPr>
              <a:t>	hizmetleri,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telekomünikasyon sistemlerini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ve</a:t>
            </a:r>
            <a:r>
              <a:rPr sz="3000" dirty="0">
                <a:latin typeface="Calibri"/>
                <a:cs typeface="Calibri"/>
              </a:rPr>
              <a:t>	siber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ortamda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iletilen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ve/veya saklanan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bilgilerin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tümünü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kapsamaktadır.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5"/>
              </a:spcBef>
              <a:buFont typeface="Microsoft Sans Serif"/>
              <a:buChar char="•"/>
            </a:pPr>
            <a:endParaRPr sz="3000" dirty="0">
              <a:latin typeface="Calibri"/>
              <a:cs typeface="Calibri"/>
            </a:endParaRPr>
          </a:p>
          <a:p>
            <a:pPr marL="367665" marR="276860" indent="-342900">
              <a:lnSpc>
                <a:spcPts val="2880"/>
              </a:lnSpc>
              <a:buSzPct val="98333"/>
              <a:buFont typeface="Microsoft Sans Serif"/>
              <a:buChar char="•"/>
              <a:tabLst>
                <a:tab pos="367665" algn="l"/>
                <a:tab pos="2242185" algn="l"/>
                <a:tab pos="2810510" algn="l"/>
                <a:tab pos="3726179" algn="l"/>
                <a:tab pos="4266565" algn="l"/>
                <a:tab pos="5970905" algn="l"/>
                <a:tab pos="6499860" algn="l"/>
              </a:tabLst>
            </a:pPr>
            <a:r>
              <a:rPr sz="3000" dirty="0">
                <a:latin typeface="Calibri"/>
                <a:cs typeface="Calibri"/>
              </a:rPr>
              <a:t>Siber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güvenlik,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kurum,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kuruluş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kullanıcıların varlıklarına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ait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güvenlik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özelliklerinin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siber </a:t>
            </a:r>
            <a:r>
              <a:rPr sz="3000" dirty="0">
                <a:latin typeface="Calibri"/>
                <a:cs typeface="Calibri"/>
              </a:rPr>
              <a:t>ortamda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bulunan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güvenlik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risklerine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karşı koyabilecek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şekilde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oluşturulmasını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ve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idame </a:t>
            </a:r>
            <a:r>
              <a:rPr sz="3000" dirty="0">
                <a:latin typeface="Calibri"/>
                <a:cs typeface="Calibri"/>
              </a:rPr>
              <a:t>edilmesini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sağlamayı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amaçlamaktadır.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78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37323" y="756169"/>
            <a:ext cx="404907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l">
              <a:lnSpc>
                <a:spcPct val="100000"/>
              </a:lnSpc>
              <a:spcBef>
                <a:spcPts val="95"/>
              </a:spcBef>
            </a:pPr>
            <a:r>
              <a:rPr lang="tr-TR" dirty="0" err="1" smtClean="0"/>
              <a:t>Hack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10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1437323" y="1628231"/>
            <a:ext cx="4049077" cy="498854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Microsoft Sans Serif"/>
              <a:buChar char="•"/>
              <a:tabLst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Kırmak,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Küçük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parçalar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koparmak,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20"/>
              </a:spcBef>
              <a:buFont typeface="Microsoft Sans Serif"/>
              <a:buChar char="•"/>
            </a:pP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Microsoft Sans Serif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Açık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yönlerini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ortaya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çıkarmak,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Açıklığı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kullanmak.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Anlamlarında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kullanılır.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0" name="object 3"/>
          <p:cNvSpPr txBox="1"/>
          <p:nvPr/>
        </p:nvSpPr>
        <p:spPr>
          <a:xfrm>
            <a:off x="6030937" y="1628231"/>
            <a:ext cx="5104740" cy="25519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Sistem</a:t>
            </a:r>
            <a:r>
              <a:rPr sz="3200" spc="-1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veya</a:t>
            </a:r>
            <a:r>
              <a:rPr sz="3200" spc="-1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programın</a:t>
            </a:r>
            <a:r>
              <a:rPr sz="3200" spc="-1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açığından</a:t>
            </a:r>
            <a:r>
              <a:rPr sz="3200" spc="-1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yararlanıp </a:t>
            </a:r>
            <a:r>
              <a:rPr sz="3200" dirty="0">
                <a:latin typeface="Calibri"/>
                <a:cs typeface="Calibri"/>
              </a:rPr>
              <a:t>erişim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sağlamak,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değiştirmek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veya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silmek.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Açıklığı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kullanma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işlemidir.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3" name="object 6"/>
          <p:cNvSpPr txBox="1">
            <a:spLocks/>
          </p:cNvSpPr>
          <p:nvPr/>
        </p:nvSpPr>
        <p:spPr>
          <a:xfrm>
            <a:off x="6030937" y="756169"/>
            <a:ext cx="5104740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ea typeface="+mj-ea"/>
                <a:cs typeface="Arial"/>
              </a:defRPr>
            </a:lvl1pPr>
          </a:lstStyle>
          <a:p>
            <a:pPr marL="82550" algn="r">
              <a:spcBef>
                <a:spcPts val="95"/>
              </a:spcBef>
            </a:pPr>
            <a:r>
              <a:rPr lang="tr-TR" dirty="0" smtClean="0"/>
              <a:t>Hacking</a:t>
            </a:r>
            <a:endParaRPr lang="tr-TR" spc="-10" dirty="0"/>
          </a:p>
        </p:txBody>
      </p:sp>
    </p:spTree>
    <p:extLst>
      <p:ext uri="{BB962C8B-B14F-4D97-AF65-F5344CB8AC3E}">
        <p14:creationId xmlns:p14="http://schemas.microsoft.com/office/powerpoint/2010/main" val="9613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37323" y="756169"/>
            <a:ext cx="404907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l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Hacker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11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1143000" y="1628231"/>
            <a:ext cx="4887937" cy="5019323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54965" algn="l"/>
                <a:tab pos="2265680" algn="l"/>
                <a:tab pos="2752090" algn="l"/>
                <a:tab pos="3870960" algn="l"/>
                <a:tab pos="3975735" algn="l"/>
                <a:tab pos="4559300" algn="l"/>
                <a:tab pos="5988050" algn="l"/>
              </a:tabLst>
            </a:pPr>
            <a:r>
              <a:rPr lang="tr-TR" sz="3200" spc="-10" dirty="0" smtClean="0">
                <a:latin typeface="Calibri"/>
                <a:cs typeface="Calibri"/>
              </a:rPr>
              <a:t>Sistemlere</a:t>
            </a:r>
            <a:r>
              <a:rPr lang="tr-TR" sz="3200" dirty="0" smtClean="0">
                <a:latin typeface="Calibri"/>
                <a:cs typeface="Calibri"/>
              </a:rPr>
              <a:t>	 </a:t>
            </a:r>
            <a:r>
              <a:rPr lang="tr-TR" sz="3200" spc="-10" dirty="0" smtClean="0">
                <a:latin typeface="Calibri"/>
                <a:cs typeface="Calibri"/>
              </a:rPr>
              <a:t>sızabilme yeteneğine</a:t>
            </a:r>
            <a:r>
              <a:rPr lang="tr-TR" sz="3200" dirty="0" smtClean="0">
                <a:latin typeface="Calibri"/>
                <a:cs typeface="Calibri"/>
              </a:rPr>
              <a:t>	</a:t>
            </a:r>
            <a:r>
              <a:rPr lang="tr-TR" sz="3200" spc="-10" dirty="0" smtClean="0">
                <a:latin typeface="Calibri"/>
                <a:cs typeface="Calibri"/>
              </a:rPr>
              <a:t>sahip, programlama</a:t>
            </a:r>
            <a:r>
              <a:rPr lang="tr-TR" sz="3200" dirty="0" smtClean="0">
                <a:latin typeface="Calibri"/>
                <a:cs typeface="Calibri"/>
              </a:rPr>
              <a:t>	</a:t>
            </a:r>
            <a:r>
              <a:rPr lang="tr-TR" sz="3200" spc="-10" dirty="0" smtClean="0">
                <a:latin typeface="Calibri"/>
                <a:cs typeface="Calibri"/>
              </a:rPr>
              <a:t>bilgisi </a:t>
            </a:r>
            <a:r>
              <a:rPr lang="tr-TR" sz="3200" spc="-25" dirty="0" smtClean="0">
                <a:latin typeface="Calibri"/>
                <a:cs typeface="Calibri"/>
              </a:rPr>
              <a:t>üst </a:t>
            </a:r>
            <a:r>
              <a:rPr lang="tr-TR" sz="3200" spc="-10" dirty="0" smtClean="0">
                <a:latin typeface="Calibri"/>
                <a:cs typeface="Calibri"/>
              </a:rPr>
              <a:t>düzeyde</a:t>
            </a:r>
            <a:r>
              <a:rPr lang="tr-TR" sz="3200" spc="-95" dirty="0" smtClean="0">
                <a:latin typeface="Calibri"/>
                <a:cs typeface="Calibri"/>
              </a:rPr>
              <a:t> </a:t>
            </a:r>
            <a:r>
              <a:rPr lang="tr-TR" sz="3200" dirty="0" smtClean="0">
                <a:latin typeface="Calibri"/>
                <a:cs typeface="Calibri"/>
              </a:rPr>
              <a:t>olan</a:t>
            </a:r>
            <a:r>
              <a:rPr lang="tr-TR" sz="3200" spc="-95" dirty="0" smtClean="0">
                <a:latin typeface="Calibri"/>
                <a:cs typeface="Calibri"/>
              </a:rPr>
              <a:t> </a:t>
            </a:r>
            <a:r>
              <a:rPr lang="tr-TR" sz="3200" dirty="0" smtClean="0">
                <a:latin typeface="Calibri"/>
                <a:cs typeface="Calibri"/>
              </a:rPr>
              <a:t>ağ</a:t>
            </a:r>
            <a:r>
              <a:rPr lang="tr-TR" sz="3200" spc="-100" dirty="0" smtClean="0">
                <a:latin typeface="Calibri"/>
                <a:cs typeface="Calibri"/>
              </a:rPr>
              <a:t> </a:t>
            </a:r>
            <a:r>
              <a:rPr lang="tr-TR" sz="3200" spc="-25" dirty="0" smtClean="0">
                <a:latin typeface="Calibri"/>
                <a:cs typeface="Calibri"/>
              </a:rPr>
              <a:t>ve </a:t>
            </a:r>
            <a:r>
              <a:rPr lang="tr-TR" sz="3200" spc="-10" dirty="0" smtClean="0">
                <a:latin typeface="Calibri"/>
                <a:cs typeface="Calibri"/>
              </a:rPr>
              <a:t>sistemlerin</a:t>
            </a:r>
            <a:r>
              <a:rPr lang="tr-TR" sz="3200" spc="-100" dirty="0" smtClean="0">
                <a:latin typeface="Calibri"/>
                <a:cs typeface="Calibri"/>
              </a:rPr>
              <a:t> </a:t>
            </a:r>
            <a:r>
              <a:rPr lang="tr-TR" sz="3200" dirty="0" smtClean="0">
                <a:latin typeface="Calibri"/>
                <a:cs typeface="Calibri"/>
              </a:rPr>
              <a:t>işleyişini</a:t>
            </a:r>
            <a:r>
              <a:rPr lang="tr-TR" sz="3200" spc="-95" dirty="0" smtClean="0">
                <a:latin typeface="Calibri"/>
                <a:cs typeface="Calibri"/>
              </a:rPr>
              <a:t> </a:t>
            </a:r>
            <a:r>
              <a:rPr lang="tr-TR" sz="3200" dirty="0" smtClean="0">
                <a:latin typeface="Calibri"/>
                <a:cs typeface="Calibri"/>
              </a:rPr>
              <a:t>iyi</a:t>
            </a:r>
            <a:r>
              <a:rPr lang="tr-TR" sz="3200" spc="-100" dirty="0" smtClean="0">
                <a:latin typeface="Calibri"/>
                <a:cs typeface="Calibri"/>
              </a:rPr>
              <a:t> </a:t>
            </a:r>
            <a:r>
              <a:rPr lang="tr-TR" sz="3200" dirty="0" smtClean="0">
                <a:latin typeface="Calibri"/>
                <a:cs typeface="Calibri"/>
              </a:rPr>
              <a:t>bilen,</a:t>
            </a:r>
            <a:r>
              <a:rPr lang="tr-TR" sz="3200" spc="-95" dirty="0" smtClean="0">
                <a:latin typeface="Calibri"/>
                <a:cs typeface="Calibri"/>
              </a:rPr>
              <a:t> </a:t>
            </a:r>
            <a:r>
              <a:rPr lang="tr-TR" sz="3200" spc="-10" dirty="0" smtClean="0">
                <a:latin typeface="Calibri"/>
                <a:cs typeface="Calibri"/>
              </a:rPr>
              <a:t>gerektiğinde </a:t>
            </a:r>
            <a:r>
              <a:rPr lang="tr-TR" sz="3200" dirty="0" smtClean="0">
                <a:latin typeface="Calibri"/>
                <a:cs typeface="Calibri"/>
              </a:rPr>
              <a:t>sosyal</a:t>
            </a:r>
            <a:r>
              <a:rPr lang="tr-TR" sz="3200" spc="-130" dirty="0" smtClean="0">
                <a:latin typeface="Calibri"/>
                <a:cs typeface="Calibri"/>
              </a:rPr>
              <a:t> </a:t>
            </a:r>
            <a:r>
              <a:rPr lang="tr-TR" sz="3200" spc="-10" dirty="0" smtClean="0">
                <a:latin typeface="Calibri"/>
                <a:cs typeface="Calibri"/>
              </a:rPr>
              <a:t>mühendislik</a:t>
            </a:r>
            <a:r>
              <a:rPr lang="tr-TR" sz="3200" spc="-130" dirty="0" smtClean="0">
                <a:latin typeface="Calibri"/>
                <a:cs typeface="Calibri"/>
              </a:rPr>
              <a:t> </a:t>
            </a:r>
            <a:r>
              <a:rPr lang="tr-TR" sz="3200" spc="-10" dirty="0" smtClean="0">
                <a:latin typeface="Calibri"/>
                <a:cs typeface="Calibri"/>
              </a:rPr>
              <a:t>yapabilen,</a:t>
            </a:r>
            <a:r>
              <a:rPr lang="tr-TR" sz="3200" spc="-130" dirty="0" smtClean="0">
                <a:latin typeface="Calibri"/>
                <a:cs typeface="Calibri"/>
              </a:rPr>
              <a:t> </a:t>
            </a:r>
            <a:r>
              <a:rPr lang="tr-TR" sz="3200" spc="-10" dirty="0" smtClean="0">
                <a:latin typeface="Calibri"/>
                <a:cs typeface="Calibri"/>
              </a:rPr>
              <a:t>hacking araçlarını</a:t>
            </a:r>
            <a:r>
              <a:rPr lang="tr-TR" sz="3200" spc="-114" dirty="0" smtClean="0">
                <a:latin typeface="Calibri"/>
                <a:cs typeface="Calibri"/>
              </a:rPr>
              <a:t> </a:t>
            </a:r>
            <a:r>
              <a:rPr lang="tr-TR" sz="3200" spc="-10" dirty="0" smtClean="0">
                <a:latin typeface="Calibri"/>
                <a:cs typeface="Calibri"/>
              </a:rPr>
              <a:t>tanıyan</a:t>
            </a:r>
            <a:r>
              <a:rPr lang="tr-TR" sz="3200" spc="-110" dirty="0" smtClean="0">
                <a:latin typeface="Calibri"/>
                <a:cs typeface="Calibri"/>
              </a:rPr>
              <a:t> </a:t>
            </a:r>
            <a:r>
              <a:rPr lang="tr-TR" sz="3200" dirty="0" smtClean="0">
                <a:latin typeface="Calibri"/>
                <a:cs typeface="Calibri"/>
              </a:rPr>
              <a:t>ve</a:t>
            </a:r>
            <a:r>
              <a:rPr lang="tr-TR" sz="3200" spc="-105" dirty="0" smtClean="0">
                <a:latin typeface="Calibri"/>
                <a:cs typeface="Calibri"/>
              </a:rPr>
              <a:t> </a:t>
            </a:r>
            <a:r>
              <a:rPr lang="tr-TR" sz="3200" dirty="0" smtClean="0">
                <a:latin typeface="Calibri"/>
                <a:cs typeface="Calibri"/>
              </a:rPr>
              <a:t>bunları</a:t>
            </a:r>
            <a:r>
              <a:rPr lang="tr-TR" sz="3200" spc="-110" dirty="0" smtClean="0">
                <a:latin typeface="Calibri"/>
                <a:cs typeface="Calibri"/>
              </a:rPr>
              <a:t> </a:t>
            </a:r>
            <a:r>
              <a:rPr lang="tr-TR" sz="3200" spc="-10" dirty="0" smtClean="0">
                <a:latin typeface="Calibri"/>
                <a:cs typeface="Calibri"/>
              </a:rPr>
              <a:t>gerektiği</a:t>
            </a:r>
            <a:r>
              <a:rPr lang="tr-TR" sz="3200" spc="-110" dirty="0" smtClean="0">
                <a:latin typeface="Calibri"/>
                <a:cs typeface="Calibri"/>
              </a:rPr>
              <a:t> </a:t>
            </a:r>
            <a:r>
              <a:rPr lang="tr-TR" sz="3200" spc="-10" dirty="0" smtClean="0">
                <a:latin typeface="Calibri"/>
                <a:cs typeface="Calibri"/>
              </a:rPr>
              <a:t>zaman </a:t>
            </a:r>
            <a:r>
              <a:rPr lang="tr-TR" sz="3200" spc="-20" dirty="0" smtClean="0">
                <a:latin typeface="Calibri"/>
                <a:cs typeface="Calibri"/>
              </a:rPr>
              <a:t>geliştirebilen</a:t>
            </a:r>
            <a:r>
              <a:rPr lang="tr-TR" sz="3200" spc="-35" dirty="0" smtClean="0">
                <a:latin typeface="Calibri"/>
                <a:cs typeface="Calibri"/>
              </a:rPr>
              <a:t> </a:t>
            </a:r>
            <a:r>
              <a:rPr lang="tr-TR" sz="3200" spc="-10" dirty="0" smtClean="0">
                <a:latin typeface="Calibri"/>
                <a:cs typeface="Calibri"/>
              </a:rPr>
              <a:t>kişilerdir.</a:t>
            </a:r>
            <a:endParaRPr lang="tr-TR" sz="3200" dirty="0">
              <a:latin typeface="Calibri"/>
              <a:cs typeface="Calibri"/>
            </a:endParaRPr>
          </a:p>
        </p:txBody>
      </p:sp>
      <p:sp>
        <p:nvSpPr>
          <p:cNvPr id="10" name="object 3"/>
          <p:cNvSpPr txBox="1"/>
          <p:nvPr/>
        </p:nvSpPr>
        <p:spPr>
          <a:xfrm>
            <a:off x="6030937" y="1628231"/>
            <a:ext cx="5104740" cy="49757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lang="tr-TR" sz="3200" dirty="0" smtClean="0">
                <a:latin typeface="Calibri"/>
                <a:cs typeface="Calibri"/>
              </a:rPr>
              <a:t>Etik, kültür, etnik veya siyasi özelliklerine göre farklılar göstermektedir.</a:t>
            </a:r>
          </a:p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54965" algn="l"/>
              </a:tabLst>
            </a:pPr>
            <a:endParaRPr lang="tr-TR" sz="3200" dirty="0" smtClean="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lang="tr-TR" sz="3200" dirty="0" smtClean="0">
                <a:latin typeface="Calibri"/>
                <a:cs typeface="Calibri"/>
              </a:rPr>
              <a:t>Siyah Şapkalı Hacker, Gri Şapkalı Hacker, Beyaz Şapkalı Hacker, </a:t>
            </a:r>
            <a:r>
              <a:rPr lang="tr-TR" sz="3200" dirty="0" err="1" smtClean="0">
                <a:latin typeface="Calibri"/>
                <a:cs typeface="Calibri"/>
              </a:rPr>
              <a:t>Haktivist</a:t>
            </a:r>
            <a:r>
              <a:rPr lang="tr-TR" sz="3200" dirty="0" smtClean="0">
                <a:latin typeface="Calibri"/>
                <a:cs typeface="Calibri"/>
              </a:rPr>
              <a:t>, Cracker, </a:t>
            </a:r>
            <a:r>
              <a:rPr lang="tr-TR" sz="3200" dirty="0" err="1" smtClean="0">
                <a:latin typeface="Calibri"/>
                <a:cs typeface="Calibri"/>
              </a:rPr>
              <a:t>Phreaker</a:t>
            </a:r>
            <a:r>
              <a:rPr lang="tr-TR" sz="3200" dirty="0" smtClean="0">
                <a:latin typeface="Calibri"/>
                <a:cs typeface="Calibri"/>
              </a:rPr>
              <a:t>, </a:t>
            </a:r>
            <a:r>
              <a:rPr lang="tr-TR" sz="3200" dirty="0" err="1" smtClean="0">
                <a:latin typeface="Calibri"/>
                <a:cs typeface="Calibri"/>
              </a:rPr>
              <a:t>Lamer</a:t>
            </a:r>
            <a:r>
              <a:rPr lang="tr-TR" sz="3200" dirty="0" smtClean="0">
                <a:latin typeface="Calibri"/>
                <a:cs typeface="Calibri"/>
              </a:rPr>
              <a:t>, </a:t>
            </a:r>
            <a:r>
              <a:rPr lang="tr-TR" sz="3200" dirty="0" err="1" smtClean="0">
                <a:latin typeface="Calibri"/>
                <a:cs typeface="Calibri"/>
              </a:rPr>
              <a:t>Script</a:t>
            </a:r>
            <a:r>
              <a:rPr lang="tr-TR" sz="3200" dirty="0" smtClean="0">
                <a:latin typeface="Calibri"/>
                <a:cs typeface="Calibri"/>
              </a:rPr>
              <a:t> </a:t>
            </a:r>
            <a:r>
              <a:rPr lang="tr-TR" sz="3200" dirty="0" err="1" smtClean="0">
                <a:latin typeface="Calibri"/>
                <a:cs typeface="Calibri"/>
              </a:rPr>
              <a:t>Kiddie</a:t>
            </a:r>
            <a:endParaRPr lang="tr-TR" sz="3200" dirty="0" smtClean="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54965" algn="l"/>
              </a:tabLst>
            </a:pPr>
            <a:endParaRPr lang="tr-TR" sz="3200" dirty="0" smtClean="0">
              <a:latin typeface="Calibri"/>
              <a:cs typeface="Calibri"/>
            </a:endParaRPr>
          </a:p>
        </p:txBody>
      </p:sp>
      <p:sp>
        <p:nvSpPr>
          <p:cNvPr id="13" name="object 6"/>
          <p:cNvSpPr txBox="1">
            <a:spLocks/>
          </p:cNvSpPr>
          <p:nvPr/>
        </p:nvSpPr>
        <p:spPr>
          <a:xfrm>
            <a:off x="6030937" y="756169"/>
            <a:ext cx="5104740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ea typeface="+mj-ea"/>
                <a:cs typeface="Arial"/>
              </a:defRPr>
            </a:lvl1pPr>
          </a:lstStyle>
          <a:p>
            <a:pPr marL="82550" algn="r">
              <a:spcBef>
                <a:spcPts val="95"/>
              </a:spcBef>
            </a:pPr>
            <a:r>
              <a:rPr lang="tr-TR" dirty="0" smtClean="0"/>
              <a:t>Siber Korsan</a:t>
            </a:r>
            <a:endParaRPr lang="tr-TR" spc="-10" dirty="0"/>
          </a:p>
        </p:txBody>
      </p:sp>
      <p:pic>
        <p:nvPicPr>
          <p:cNvPr id="1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1221" y="226891"/>
            <a:ext cx="1899432" cy="106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41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18488" y="3163900"/>
            <a:ext cx="9302877" cy="766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lang="tr-TR" sz="4900" dirty="0" err="1" smtClean="0">
                <a:solidFill>
                  <a:srgbClr val="FFFFFF"/>
                </a:solidFill>
                <a:latin typeface="Arial"/>
                <a:cs typeface="Arial"/>
              </a:rPr>
              <a:t>Hackerların</a:t>
            </a:r>
            <a:r>
              <a:rPr lang="tr-TR" sz="4900" dirty="0" smtClean="0">
                <a:solidFill>
                  <a:srgbClr val="FFFFFF"/>
                </a:solidFill>
                <a:latin typeface="Arial"/>
                <a:cs typeface="Arial"/>
              </a:rPr>
              <a:t> Şapka Renkleri</a:t>
            </a:r>
            <a:endParaRPr sz="49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r>
              <a:rPr lang="tr-TR" sz="2000" b="1" dirty="0" smtClean="0">
                <a:solidFill>
                  <a:schemeClr val="bg1"/>
                </a:solidFill>
              </a:rPr>
              <a:t>12</a:t>
            </a:r>
            <a:endParaRPr lang="tr-TR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26988" y="828007"/>
            <a:ext cx="98132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 lang="tr-TR" sz="2800" dirty="0"/>
              <a:t>Siyah</a:t>
            </a:r>
            <a:r>
              <a:rPr lang="tr-TR" sz="2800" spc="-210" dirty="0"/>
              <a:t> </a:t>
            </a:r>
            <a:r>
              <a:rPr lang="tr-TR" sz="2800" dirty="0"/>
              <a:t>Şapkalı</a:t>
            </a:r>
            <a:r>
              <a:rPr lang="tr-TR" sz="2800" spc="-210" dirty="0"/>
              <a:t> </a:t>
            </a:r>
            <a:r>
              <a:rPr lang="tr-TR" sz="2800" spc="-10" dirty="0"/>
              <a:t>Hacker</a:t>
            </a:r>
            <a:endParaRPr lang="tr-TR"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13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2209800" y="1579600"/>
            <a:ext cx="7598409" cy="327787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Kötü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amaçlı,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zarar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vermek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veya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para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odaklı,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Sistemleri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ele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geçirmek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veya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yok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etmek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için,</a:t>
            </a:r>
            <a:endParaRPr sz="3200" dirty="0">
              <a:latin typeface="Calibri"/>
              <a:cs typeface="Calibri"/>
            </a:endParaRPr>
          </a:p>
          <a:p>
            <a:pPr marL="354965" marR="690245" indent="-342900"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Saldırı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gerçekleştiren,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tehlikeli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bilgisayar korsanıdır.</a:t>
            </a:r>
            <a:endParaRPr sz="3200" dirty="0">
              <a:latin typeface="Calibri"/>
              <a:cs typeface="Calibri"/>
            </a:endParaRPr>
          </a:p>
          <a:p>
            <a:pPr marL="354965" marR="49530" indent="-342900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Sisteme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erişimi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engelleme,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bilgi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değiştirme, </a:t>
            </a:r>
            <a:r>
              <a:rPr sz="3200" dirty="0">
                <a:latin typeface="Calibri"/>
                <a:cs typeface="Calibri"/>
              </a:rPr>
              <a:t>gizli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bilgi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çalma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gibi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faaliyetlerde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bulunurlar.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3500" y="4968461"/>
            <a:ext cx="2255761" cy="1691995"/>
          </a:xfrm>
          <a:prstGeom prst="rect">
            <a:avLst/>
          </a:prstGeom>
        </p:spPr>
      </p:pic>
      <p:sp>
        <p:nvSpPr>
          <p:cNvPr id="10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47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26988" y="828007"/>
            <a:ext cx="98132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 lang="tr-TR" sz="2800" dirty="0"/>
              <a:t>Beyaz</a:t>
            </a:r>
            <a:r>
              <a:rPr lang="tr-TR" sz="2800" spc="-190" dirty="0"/>
              <a:t> </a:t>
            </a:r>
            <a:r>
              <a:rPr lang="tr-TR" sz="2800" dirty="0"/>
              <a:t>Şapkalı</a:t>
            </a:r>
            <a:r>
              <a:rPr lang="tr-TR" sz="2800" spc="-190" dirty="0"/>
              <a:t> </a:t>
            </a:r>
            <a:r>
              <a:rPr lang="tr-TR" sz="2800" spc="-10" dirty="0"/>
              <a:t>Hacker</a:t>
            </a:r>
            <a:endParaRPr lang="tr-TR"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14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2590800" y="1636722"/>
            <a:ext cx="7144384" cy="287147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Etik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hacker,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Aynı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bilgi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beceriye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sahip,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İyi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niyetli,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Açıklığı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tespit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eden,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uyaran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veya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önleyen,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Sistem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güvenliğinden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sorumlu</a:t>
            </a:r>
            <a:r>
              <a:rPr sz="3200" spc="-1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personel,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Ahlaklı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siber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korsandır.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9716" y="4668658"/>
            <a:ext cx="2623297" cy="2153320"/>
          </a:xfrm>
          <a:prstGeom prst="rect">
            <a:avLst/>
          </a:prstGeom>
        </p:spPr>
      </p:pic>
      <p:sp>
        <p:nvSpPr>
          <p:cNvPr id="10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91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26988" y="828007"/>
            <a:ext cx="98132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 lang="tr-TR" sz="2800" dirty="0"/>
              <a:t>Gri</a:t>
            </a:r>
            <a:r>
              <a:rPr lang="tr-TR" sz="2800" spc="-150" dirty="0"/>
              <a:t> </a:t>
            </a:r>
            <a:r>
              <a:rPr lang="tr-TR" sz="2800" dirty="0"/>
              <a:t>Şapkalı</a:t>
            </a:r>
            <a:r>
              <a:rPr lang="tr-TR" sz="2800" spc="-150" dirty="0"/>
              <a:t> </a:t>
            </a:r>
            <a:r>
              <a:rPr lang="tr-TR" sz="2800" spc="-10" dirty="0"/>
              <a:t>Hacker</a:t>
            </a:r>
            <a:endParaRPr lang="tr-TR"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15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2437961" y="1600200"/>
            <a:ext cx="7728584" cy="33591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Sistemlere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sızma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giriş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yapan,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Kötü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amaç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olmayıp,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merak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için,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spc="-25" dirty="0">
                <a:latin typeface="Calibri"/>
                <a:cs typeface="Calibri"/>
              </a:rPr>
              <a:t>Yasallık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sınırlarında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saldırganlık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faaliyeti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olan,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Zaman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zaman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tehlikeli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faaliyetler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içerisinde,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spc="-30" dirty="0">
                <a:latin typeface="Calibri"/>
                <a:cs typeface="Calibri"/>
              </a:rPr>
              <a:t>Yaptıkları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hukuk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karşısında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suç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teşkil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eden,</a:t>
            </a:r>
            <a:endParaRPr sz="3200" dirty="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tabLst>
                <a:tab pos="3720465" algn="l"/>
              </a:tabLst>
            </a:pPr>
            <a:r>
              <a:rPr sz="2400" dirty="0">
                <a:latin typeface="Calibri"/>
                <a:cs typeface="Calibri"/>
              </a:rPr>
              <a:t>(Sisteme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sızma,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girme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vb.)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3200" dirty="0">
                <a:latin typeface="Calibri"/>
                <a:cs typeface="Calibri"/>
              </a:rPr>
              <a:t>Siber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korsanlardır.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5133790"/>
            <a:ext cx="2721880" cy="1619262"/>
          </a:xfrm>
          <a:prstGeom prst="rect">
            <a:avLst/>
          </a:prstGeom>
        </p:spPr>
      </p:pic>
      <p:sp>
        <p:nvSpPr>
          <p:cNvPr id="10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85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18488" y="3163900"/>
            <a:ext cx="9302877" cy="766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lang="tr-TR" sz="4900" dirty="0" smtClean="0">
                <a:solidFill>
                  <a:srgbClr val="FFFFFF"/>
                </a:solidFill>
                <a:latin typeface="Arial"/>
                <a:cs typeface="Arial"/>
              </a:rPr>
              <a:t>Ek Tanımlamalar</a:t>
            </a:r>
            <a:endParaRPr sz="49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r>
              <a:rPr lang="tr-TR" sz="2000" b="1" dirty="0" smtClean="0">
                <a:solidFill>
                  <a:schemeClr val="bg1"/>
                </a:solidFill>
              </a:rPr>
              <a:t>16</a:t>
            </a:r>
            <a:endParaRPr lang="tr-TR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526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26988" y="828007"/>
            <a:ext cx="98132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 lang="tr-TR" sz="2800" spc="-35" dirty="0"/>
              <a:t>Cracker</a:t>
            </a:r>
            <a:endParaRPr lang="tr-TR"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17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0" name="object 3"/>
          <p:cNvSpPr txBox="1"/>
          <p:nvPr/>
        </p:nvSpPr>
        <p:spPr>
          <a:xfrm>
            <a:off x="2281098" y="1725358"/>
            <a:ext cx="7703820" cy="2545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Bilgisayar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programlarının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kopya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korumalarını kırarak,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bu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programların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izinsiz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olarak dağıtımına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imkan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veren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veya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bu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yolda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çıkar sağlayan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kişilere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55" dirty="0">
                <a:latin typeface="Calibri"/>
                <a:cs typeface="Calibri"/>
              </a:rPr>
              <a:t>denir.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(Yazılım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korsanı)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Lisansların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iptali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veya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serial-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temini,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12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4528782"/>
            <a:ext cx="2783154" cy="208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71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26988" y="828007"/>
            <a:ext cx="98132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 lang="tr-TR" sz="2800" spc="-10" dirty="0" err="1"/>
              <a:t>Hacktivistler</a:t>
            </a:r>
            <a:endParaRPr lang="tr-TR"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18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2411908" y="1504533"/>
            <a:ext cx="8200390" cy="52025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Hacker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+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Aktivist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=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Hacktivist</a:t>
            </a:r>
            <a:endParaRPr sz="3000" dirty="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Kendilerine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göre,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toplumsal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sorun</a:t>
            </a:r>
            <a:r>
              <a:rPr sz="3000" spc="-1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veya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yanlış </a:t>
            </a:r>
            <a:r>
              <a:rPr sz="3000" dirty="0">
                <a:latin typeface="Calibri"/>
                <a:cs typeface="Calibri"/>
              </a:rPr>
              <a:t>politik</a:t>
            </a:r>
            <a:r>
              <a:rPr sz="3000" spc="-1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durum</a:t>
            </a:r>
            <a:r>
              <a:rPr sz="3000" spc="-11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olarak</a:t>
            </a:r>
            <a:r>
              <a:rPr sz="3000" spc="-11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gördükleri</a:t>
            </a:r>
            <a:r>
              <a:rPr sz="3000" spc="-114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konulara</a:t>
            </a:r>
            <a:r>
              <a:rPr sz="3000" spc="-1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dikkat </a:t>
            </a:r>
            <a:r>
              <a:rPr sz="3000" dirty="0">
                <a:latin typeface="Calibri"/>
                <a:cs typeface="Calibri"/>
              </a:rPr>
              <a:t>çekmek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için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sistemlere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saldıran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kişi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veya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gruplardır. </a:t>
            </a:r>
            <a:r>
              <a:rPr sz="3000" dirty="0">
                <a:latin typeface="Calibri"/>
                <a:cs typeface="Calibri"/>
              </a:rPr>
              <a:t>(sanal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protestocu)</a:t>
            </a:r>
            <a:endParaRPr sz="3000" dirty="0">
              <a:latin typeface="Calibri"/>
              <a:cs typeface="Calibri"/>
            </a:endParaRPr>
          </a:p>
          <a:p>
            <a:pPr marL="754380" lvl="1" indent="-285115">
              <a:lnSpc>
                <a:spcPct val="100000"/>
              </a:lnSpc>
              <a:spcBef>
                <a:spcPts val="1885"/>
              </a:spcBef>
              <a:buFont typeface="Microsoft Sans Serif"/>
              <a:buChar char="–"/>
              <a:tabLst>
                <a:tab pos="754380" algn="l"/>
              </a:tabLst>
            </a:pPr>
            <a:r>
              <a:rPr sz="2400" spc="-10" dirty="0">
                <a:latin typeface="Calibri"/>
                <a:cs typeface="Calibri"/>
              </a:rPr>
              <a:t>Wikileaks,</a:t>
            </a:r>
            <a:endParaRPr sz="2400" dirty="0">
              <a:latin typeface="Calibri"/>
              <a:cs typeface="Calibri"/>
            </a:endParaRPr>
          </a:p>
          <a:p>
            <a:pPr marL="754380" lvl="1" indent="-285115">
              <a:lnSpc>
                <a:spcPct val="100000"/>
              </a:lnSpc>
              <a:spcBef>
                <a:spcPts val="480"/>
              </a:spcBef>
              <a:buFont typeface="Microsoft Sans Serif"/>
              <a:buChar char="–"/>
              <a:tabLst>
                <a:tab pos="754380" algn="l"/>
              </a:tabLst>
            </a:pPr>
            <a:r>
              <a:rPr sz="2400" spc="-10" dirty="0">
                <a:latin typeface="Calibri"/>
                <a:cs typeface="Calibri"/>
              </a:rPr>
              <a:t>Anonymous,</a:t>
            </a:r>
            <a:endParaRPr sz="2400" dirty="0">
              <a:latin typeface="Calibri"/>
              <a:cs typeface="Calibri"/>
            </a:endParaRPr>
          </a:p>
          <a:p>
            <a:pPr marL="754380" lvl="1" indent="-285115">
              <a:lnSpc>
                <a:spcPct val="100000"/>
              </a:lnSpc>
              <a:spcBef>
                <a:spcPts val="480"/>
              </a:spcBef>
              <a:buFont typeface="Microsoft Sans Serif"/>
              <a:buChar char="–"/>
              <a:tabLst>
                <a:tab pos="754380" algn="l"/>
              </a:tabLst>
            </a:pPr>
            <a:r>
              <a:rPr sz="2400" spc="-10" dirty="0">
                <a:latin typeface="Calibri"/>
                <a:cs typeface="Calibri"/>
              </a:rPr>
              <a:t>RedHack,</a:t>
            </a:r>
            <a:endParaRPr sz="2400" dirty="0">
              <a:latin typeface="Calibri"/>
              <a:cs typeface="Calibri"/>
            </a:endParaRPr>
          </a:p>
          <a:p>
            <a:pPr marL="754380" lvl="1" indent="-285115">
              <a:lnSpc>
                <a:spcPct val="100000"/>
              </a:lnSpc>
              <a:spcBef>
                <a:spcPts val="475"/>
              </a:spcBef>
              <a:buFont typeface="Microsoft Sans Serif"/>
              <a:buChar char="–"/>
              <a:tabLst>
                <a:tab pos="754380" algn="l"/>
              </a:tabLst>
            </a:pPr>
            <a:r>
              <a:rPr sz="2400" spc="-35" dirty="0">
                <a:latin typeface="Calibri"/>
                <a:cs typeface="Calibri"/>
              </a:rPr>
              <a:t>Cyber-</a:t>
            </a:r>
            <a:r>
              <a:rPr sz="2400" spc="-10" dirty="0">
                <a:latin typeface="Calibri"/>
                <a:cs typeface="Calibri"/>
              </a:rPr>
              <a:t>Warrior,</a:t>
            </a:r>
            <a:endParaRPr sz="2400" dirty="0">
              <a:latin typeface="Calibri"/>
              <a:cs typeface="Calibri"/>
            </a:endParaRPr>
          </a:p>
          <a:p>
            <a:pPr marL="754380" lvl="1" indent="-285115">
              <a:lnSpc>
                <a:spcPct val="100000"/>
              </a:lnSpc>
              <a:spcBef>
                <a:spcPts val="480"/>
              </a:spcBef>
              <a:buFont typeface="Microsoft Sans Serif"/>
              <a:buChar char="–"/>
              <a:tabLst>
                <a:tab pos="754380" algn="l"/>
              </a:tabLst>
            </a:pPr>
            <a:r>
              <a:rPr sz="2400" dirty="0">
                <a:latin typeface="Calibri"/>
                <a:cs typeface="Calibri"/>
              </a:rPr>
              <a:t>Ayyıldız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Tim,</a:t>
            </a:r>
            <a:endParaRPr sz="2400" dirty="0">
              <a:latin typeface="Calibri"/>
              <a:cs typeface="Calibri"/>
            </a:endParaRPr>
          </a:p>
          <a:p>
            <a:pPr marL="754380" lvl="1" indent="-285115">
              <a:lnSpc>
                <a:spcPct val="100000"/>
              </a:lnSpc>
              <a:spcBef>
                <a:spcPts val="480"/>
              </a:spcBef>
              <a:buFont typeface="Microsoft Sans Serif"/>
              <a:buChar char="–"/>
              <a:tabLst>
                <a:tab pos="754380" algn="l"/>
              </a:tabLst>
            </a:pPr>
            <a:r>
              <a:rPr sz="2400" dirty="0">
                <a:latin typeface="Calibri"/>
                <a:cs typeface="Calibri"/>
              </a:rPr>
              <a:t>SEA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vb.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600" y="3689985"/>
            <a:ext cx="3345116" cy="292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2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26988" y="828007"/>
            <a:ext cx="98132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 lang="tr-TR" sz="2800" spc="-10" dirty="0" err="1"/>
              <a:t>Lamer</a:t>
            </a:r>
            <a:endParaRPr lang="tr-TR"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19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2098103" y="1797355"/>
            <a:ext cx="7254240" cy="305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54965" algn="l"/>
                <a:tab pos="5256530" algn="l"/>
              </a:tabLst>
            </a:pPr>
            <a:r>
              <a:rPr sz="3200" spc="-10" dirty="0">
                <a:latin typeface="Calibri"/>
                <a:cs typeface="Calibri"/>
              </a:rPr>
              <a:t>Başkalarının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önceden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yazdığı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betik(script) kodları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veya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programları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çalıştırır,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övünür,</a:t>
            </a:r>
            <a:endParaRPr sz="3200" dirty="0">
              <a:latin typeface="Calibri"/>
              <a:cs typeface="Calibri"/>
            </a:endParaRPr>
          </a:p>
          <a:p>
            <a:pPr marL="354965" marR="691515" indent="-342900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  <a:tab pos="5963920" algn="l"/>
              </a:tabLst>
            </a:pPr>
            <a:r>
              <a:rPr sz="3200" dirty="0">
                <a:latin typeface="Calibri"/>
                <a:cs typeface="Calibri"/>
              </a:rPr>
              <a:t>Ağ,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sistem,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yazılım,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programlama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5" dirty="0">
                <a:latin typeface="Calibri"/>
                <a:cs typeface="Calibri"/>
              </a:rPr>
              <a:t>gibi </a:t>
            </a:r>
            <a:r>
              <a:rPr sz="3200" spc="-20" dirty="0">
                <a:latin typeface="Calibri"/>
                <a:cs typeface="Calibri"/>
              </a:rPr>
              <a:t>konularda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bilgiye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sahip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olmadan,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Atak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yapmaya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çalışan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kişilerdir.</a:t>
            </a:r>
            <a:endParaRPr sz="3200" dirty="0">
              <a:latin typeface="Calibri"/>
              <a:cs typeface="Calibri"/>
            </a:endParaRPr>
          </a:p>
          <a:p>
            <a:pPr marL="287655">
              <a:lnSpc>
                <a:spcPct val="100000"/>
              </a:lnSpc>
              <a:spcBef>
                <a:spcPts val="480"/>
              </a:spcBef>
            </a:pPr>
            <a:r>
              <a:rPr sz="2400" dirty="0">
                <a:latin typeface="Calibri"/>
                <a:cs typeface="Calibri"/>
              </a:rPr>
              <a:t>(Lamer: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Özenti,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basit)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1800" y="4457154"/>
            <a:ext cx="3360953" cy="215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4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26988" y="828007"/>
            <a:ext cx="98132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 lang="tr-TR" sz="2800" dirty="0" err="1"/>
              <a:t>Script</a:t>
            </a:r>
            <a:r>
              <a:rPr lang="tr-TR" sz="2800" spc="-150" dirty="0"/>
              <a:t> </a:t>
            </a:r>
            <a:r>
              <a:rPr lang="tr-TR" sz="2800" spc="-10" dirty="0" err="1"/>
              <a:t>Kiddie</a:t>
            </a:r>
            <a:endParaRPr lang="tr-TR"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20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2306294" y="1634028"/>
            <a:ext cx="8047355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spc="-30" dirty="0">
                <a:latin typeface="Calibri"/>
                <a:cs typeface="Calibri"/>
              </a:rPr>
              <a:t>Yeterli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bilgisi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olmadan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hazır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araçlarla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saldırı </a:t>
            </a:r>
            <a:r>
              <a:rPr sz="3200" spc="-20" dirty="0">
                <a:latin typeface="Calibri"/>
                <a:cs typeface="Calibri"/>
              </a:rPr>
              <a:t>düzenleyen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(genelde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genç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yaşta-</a:t>
            </a:r>
            <a:r>
              <a:rPr sz="3200" dirty="0">
                <a:latin typeface="Calibri"/>
                <a:cs typeface="Calibri"/>
              </a:rPr>
              <a:t>çocuk)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kişilere </a:t>
            </a:r>
            <a:r>
              <a:rPr sz="3200" dirty="0">
                <a:latin typeface="Calibri"/>
                <a:cs typeface="Calibri"/>
              </a:rPr>
              <a:t>verilen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isimdir.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(Betikçiler-</a:t>
            </a:r>
            <a:r>
              <a:rPr sz="3200" spc="-10" dirty="0">
                <a:latin typeface="Calibri"/>
                <a:cs typeface="Calibri"/>
              </a:rPr>
              <a:t>BetikKerataları)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spc="-30" dirty="0">
                <a:latin typeface="Calibri"/>
                <a:cs typeface="Calibri"/>
              </a:rPr>
              <a:t>Tıpkı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lamer’lar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gibi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ama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miktar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bilgi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sahibi,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Kötü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niyetli,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zarar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verme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amaçlı,</a:t>
            </a:r>
            <a:endParaRPr sz="3200" dirty="0">
              <a:latin typeface="Calibri"/>
              <a:cs typeface="Calibri"/>
            </a:endParaRPr>
          </a:p>
          <a:p>
            <a:pPr marL="354965" marR="899794" indent="-342900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spc="-30" dirty="0">
                <a:latin typeface="Calibri"/>
                <a:cs typeface="Calibri"/>
              </a:rPr>
              <a:t>Teknik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detay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programın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nasıl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çalıştığını </a:t>
            </a:r>
            <a:r>
              <a:rPr sz="3200" dirty="0">
                <a:latin typeface="Calibri"/>
                <a:cs typeface="Calibri"/>
              </a:rPr>
              <a:t>bilmez,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ama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kullanımını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bilenlerdir.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5438250"/>
            <a:ext cx="2276284" cy="139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7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26988" y="828007"/>
            <a:ext cx="98132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 lang="tr-TR" sz="2800" spc="-30" dirty="0" err="1"/>
              <a:t>Phreaker</a:t>
            </a:r>
            <a:endParaRPr lang="tr-TR"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21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2390533" y="1776335"/>
            <a:ext cx="7105015" cy="173291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spc="-55" dirty="0">
                <a:latin typeface="Calibri"/>
                <a:cs typeface="Calibri"/>
              </a:rPr>
              <a:t>Telefon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iletişim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hatlarına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erişip,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Uzun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süreli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Ücretsiz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görüşme,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vb.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amaçlı,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spc="-55" dirty="0">
                <a:latin typeface="Calibri"/>
                <a:cs typeface="Calibri"/>
              </a:rPr>
              <a:t>Telefon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kırıcılardır.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3810000"/>
            <a:ext cx="3170148" cy="2519997"/>
          </a:xfrm>
          <a:prstGeom prst="rect">
            <a:avLst/>
          </a:prstGeom>
        </p:spPr>
      </p:pic>
      <p:pic>
        <p:nvPicPr>
          <p:cNvPr id="10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0400" y="3810000"/>
            <a:ext cx="2687764" cy="251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15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26988" y="828007"/>
            <a:ext cx="98132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 lang="tr-TR" sz="2800" spc="-10" dirty="0" err="1"/>
              <a:t>NewBie</a:t>
            </a:r>
            <a:endParaRPr lang="tr-TR"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22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2133854" y="1934210"/>
            <a:ext cx="7611109" cy="279019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Çaylak,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okula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yeni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başlayan,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Bilişimde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veya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programla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yenilere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denilir,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Betik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keratalarından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bir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basamak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üstte,</a:t>
            </a:r>
            <a:endParaRPr sz="3200" dirty="0">
              <a:latin typeface="Calibri"/>
              <a:cs typeface="Calibri"/>
            </a:endParaRPr>
          </a:p>
          <a:p>
            <a:pPr marL="354965" marR="357505" indent="-342900">
              <a:lnSpc>
                <a:spcPct val="100000"/>
              </a:lnSpc>
              <a:spcBef>
                <a:spcPts val="640"/>
              </a:spcBef>
              <a:buFont typeface="Microsoft Sans Serif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Kendini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öğrenmeye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adamış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bilişim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korsanı adaylarıdır.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4953000"/>
            <a:ext cx="5705259" cy="132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45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1013</TotalTime>
  <Words>688</Words>
  <Application>Microsoft Office PowerPoint</Application>
  <PresentationFormat>Geniş ekran</PresentationFormat>
  <Paragraphs>170</Paragraphs>
  <Slides>22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22</vt:i4>
      </vt:variant>
    </vt:vector>
  </HeadingPairs>
  <TitlesOfParts>
    <vt:vector size="26" baseType="lpstr">
      <vt:lpstr>Arial</vt:lpstr>
      <vt:lpstr>Calibri</vt:lpstr>
      <vt:lpstr>Microsoft Sans Serif</vt:lpstr>
      <vt:lpstr>Office Theme</vt:lpstr>
      <vt:lpstr>BİLGİ GÜVENLİĞİ SİBER GÜVENLİK</vt:lpstr>
      <vt:lpstr>Bilgi Güvenliği</vt:lpstr>
      <vt:lpstr>CIA Üçlüsü (CIA Triad)</vt:lpstr>
      <vt:lpstr>Bilgi Güvenliği</vt:lpstr>
      <vt:lpstr>Bilgi Güvenliği</vt:lpstr>
      <vt:lpstr>Bilgi Güvenliği Kategorileri</vt:lpstr>
      <vt:lpstr>Bilgi Güvencesi</vt:lpstr>
      <vt:lpstr>Siber Güvenlik</vt:lpstr>
      <vt:lpstr>Siber Güvenlik (Cyber Security)</vt:lpstr>
      <vt:lpstr>Hack</vt:lpstr>
      <vt:lpstr>Hacker</vt:lpstr>
      <vt:lpstr>PowerPoint Sunusu</vt:lpstr>
      <vt:lpstr>Siyah Şapkalı Hacker</vt:lpstr>
      <vt:lpstr>Beyaz Şapkalı Hacker</vt:lpstr>
      <vt:lpstr>Gri Şapkalı Hacker</vt:lpstr>
      <vt:lpstr>PowerPoint Sunusu</vt:lpstr>
      <vt:lpstr>Cracker</vt:lpstr>
      <vt:lpstr>Hacktivistler</vt:lpstr>
      <vt:lpstr>Lamer</vt:lpstr>
      <vt:lpstr>Script Kiddie</vt:lpstr>
      <vt:lpstr>Phreaker</vt:lpstr>
      <vt:lpstr>NewBie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Bilgisayar Donanımı</dc:title>
  <dc:creator>Erkan Kaynak</dc:creator>
  <cp:lastModifiedBy>Halil Arslan</cp:lastModifiedBy>
  <cp:revision>91</cp:revision>
  <dcterms:created xsi:type="dcterms:W3CDTF">2025-10-19T18:39:34Z</dcterms:created>
  <dcterms:modified xsi:type="dcterms:W3CDTF">2025-11-09T17:01:36Z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2016</vt:lpwstr>
  </property>
</Properties>
</file>