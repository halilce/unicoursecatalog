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1"/>
  </p:notesMasterIdLst>
  <p:handoutMasterIdLst>
    <p:handoutMasterId r:id="rId32"/>
  </p:handoutMasterIdLst>
  <p:sldIdLst>
    <p:sldId id="256" r:id="rId2"/>
    <p:sldId id="257" r:id="rId3"/>
    <p:sldId id="341" r:id="rId4"/>
    <p:sldId id="342" r:id="rId5"/>
    <p:sldId id="343" r:id="rId6"/>
    <p:sldId id="344" r:id="rId7"/>
    <p:sldId id="345" r:id="rId8"/>
    <p:sldId id="346" r:id="rId9"/>
    <p:sldId id="347" r:id="rId10"/>
    <p:sldId id="348" r:id="rId11"/>
    <p:sldId id="349" r:id="rId12"/>
    <p:sldId id="350" r:id="rId13"/>
    <p:sldId id="351" r:id="rId14"/>
    <p:sldId id="259" r:id="rId15"/>
    <p:sldId id="340" r:id="rId16"/>
    <p:sldId id="352" r:id="rId17"/>
    <p:sldId id="353" r:id="rId18"/>
    <p:sldId id="354" r:id="rId19"/>
    <p:sldId id="355" r:id="rId20"/>
    <p:sldId id="356" r:id="rId21"/>
    <p:sldId id="357" r:id="rId22"/>
    <p:sldId id="358" r:id="rId23"/>
    <p:sldId id="360" r:id="rId24"/>
    <p:sldId id="359" r:id="rId25"/>
    <p:sldId id="361" r:id="rId26"/>
    <p:sldId id="362" r:id="rId27"/>
    <p:sldId id="363" r:id="rId28"/>
    <p:sldId id="364" r:id="rId29"/>
    <p:sldId id="366" r:id="rId3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8" d="100"/>
          <a:sy n="58" d="100"/>
        </p:scale>
        <p:origin x="78" y="11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DF517C3B-1BFC-4645-9A7E-CFD598D7AF85}" type="datetimeFigureOut">
              <a:rPr lang="tr-TR" smtClean="0"/>
              <a:t>9.11.2025</a:t>
            </a:fld>
            <a:endParaRPr lang="tr-TR"/>
          </a:p>
        </p:txBody>
      </p:sp>
      <p:sp>
        <p:nvSpPr>
          <p:cNvPr id="4" name="Altbilgi Yer Tutucusu 3"/>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54C8A4B9-0741-462C-B321-6B0FE3B75F6B}" type="slidenum">
              <a:rPr lang="tr-TR" smtClean="0"/>
              <a:t>‹#›</a:t>
            </a:fld>
            <a:endParaRPr lang="tr-TR"/>
          </a:p>
        </p:txBody>
      </p:sp>
    </p:spTree>
    <p:extLst>
      <p:ext uri="{BB962C8B-B14F-4D97-AF65-F5344CB8AC3E}">
        <p14:creationId xmlns:p14="http://schemas.microsoft.com/office/powerpoint/2010/main" val="36874226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4ED14F1-F049-4039-9D45-C21EC6A01681}" type="datetimeFigureOut">
              <a:rPr lang="tr-TR" smtClean="0"/>
              <a:t>9.11.2025</a:t>
            </a:fld>
            <a:endParaRPr lang="tr-TR"/>
          </a:p>
        </p:txBody>
      </p:sp>
      <p:sp>
        <p:nvSpPr>
          <p:cNvPr id="4" name="Slayt Görüntüsü Yer Tutucusu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C2333F2-83F2-4E70-A193-61FE464B4759}" type="slidenum">
              <a:rPr lang="tr-TR" smtClean="0"/>
              <a:t>‹#›</a:t>
            </a:fld>
            <a:endParaRPr lang="tr-TR"/>
          </a:p>
        </p:txBody>
      </p:sp>
    </p:spTree>
    <p:extLst>
      <p:ext uri="{BB962C8B-B14F-4D97-AF65-F5344CB8AC3E}">
        <p14:creationId xmlns:p14="http://schemas.microsoft.com/office/powerpoint/2010/main" val="19170284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941054" y="778891"/>
            <a:ext cx="2090038" cy="543560"/>
          </a:xfrm>
          <a:prstGeom prst="rect">
            <a:avLst/>
          </a:prstGeom>
        </p:spPr>
        <p:txBody>
          <a:bodyPr wrap="square" lIns="0" tIns="0" rIns="0" bIns="0">
            <a:spAutoFit/>
          </a:bodyPr>
          <a:lstStyle>
            <a:lvl1pPr>
              <a:defRPr sz="3400" b="1" i="0">
                <a:solidFill>
                  <a:srgbClr val="2C241F"/>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C241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3D91FF7-987F-49A6-8465-DDAFB3FDBE46}" type="datetime1">
              <a:rPr lang="en-US" smtClean="0"/>
              <a:t>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rgbClr val="2C241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rgbClr val="2C241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9195AEA-B31B-4927-BAEB-89FE4F6867FA}" type="datetime1">
              <a:rPr lang="en-US" smtClean="0"/>
              <a:t>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rgbClr val="2C241F"/>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4E45DF0-34D0-47CC-A354-ED04965C8C2C}" type="datetime1">
              <a:rPr lang="en-US" smtClean="0"/>
              <a:t>11/9/2025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rgbClr val="2C241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A5E1D5A6-3674-4970-BF02-4C9200B17B5E}" type="datetime1">
              <a:rPr lang="en-US" smtClean="0"/>
              <a:t>11/9/2025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8"/>
          </a:xfrm>
          <a:prstGeom prst="rect">
            <a:avLst/>
          </a:prstGeom>
        </p:spPr>
      </p:pic>
      <p:pic>
        <p:nvPicPr>
          <p:cNvPr id="17" name="bg object 17"/>
          <p:cNvPicPr/>
          <p:nvPr/>
        </p:nvPicPr>
        <p:blipFill>
          <a:blip r:embed="rId3" cstate="print"/>
          <a:stretch>
            <a:fillRect/>
          </a:stretch>
        </p:blipFill>
        <p:spPr>
          <a:xfrm>
            <a:off x="2831592" y="2104643"/>
            <a:ext cx="9360408" cy="4753356"/>
          </a:xfrm>
          <a:prstGeom prst="rect">
            <a:avLst/>
          </a:prstGeom>
        </p:spPr>
      </p:pic>
      <p:pic>
        <p:nvPicPr>
          <p:cNvPr id="18" name="bg object 18"/>
          <p:cNvPicPr/>
          <p:nvPr/>
        </p:nvPicPr>
        <p:blipFill>
          <a:blip r:embed="rId4" cstate="print"/>
          <a:stretch>
            <a:fillRect/>
          </a:stretch>
        </p:blipFill>
        <p:spPr>
          <a:xfrm>
            <a:off x="0" y="0"/>
            <a:ext cx="12190476" cy="6857999"/>
          </a:xfrm>
          <a:prstGeom prst="rect">
            <a:avLst/>
          </a:prstGeom>
        </p:spPr>
      </p:pic>
      <p:sp>
        <p:nvSpPr>
          <p:cNvPr id="19" name="bg object 19"/>
          <p:cNvSpPr/>
          <p:nvPr/>
        </p:nvSpPr>
        <p:spPr>
          <a:xfrm>
            <a:off x="0" y="0"/>
            <a:ext cx="965200" cy="6858000"/>
          </a:xfrm>
          <a:custGeom>
            <a:avLst/>
            <a:gdLst/>
            <a:ahLst/>
            <a:cxnLst/>
            <a:rect l="l" t="t" r="r" b="b"/>
            <a:pathLst>
              <a:path w="965200" h="6858000">
                <a:moveTo>
                  <a:pt x="964691" y="0"/>
                </a:moveTo>
                <a:lnTo>
                  <a:pt x="0" y="0"/>
                </a:lnTo>
                <a:lnTo>
                  <a:pt x="0" y="6858000"/>
                </a:lnTo>
                <a:lnTo>
                  <a:pt x="964691" y="6858000"/>
                </a:lnTo>
                <a:lnTo>
                  <a:pt x="964691" y="0"/>
                </a:lnTo>
                <a:close/>
              </a:path>
            </a:pathLst>
          </a:custGeom>
          <a:solidFill>
            <a:srgbClr val="2C241F"/>
          </a:solidFill>
        </p:spPr>
        <p:txBody>
          <a:bodyPr wrap="square" lIns="0" tIns="0" rIns="0" bIns="0" rtlCol="0"/>
          <a:lstStyle/>
          <a:p>
            <a:endParaRPr/>
          </a:p>
        </p:txBody>
      </p:sp>
      <p:sp>
        <p:nvSpPr>
          <p:cNvPr id="20" name="bg object 20"/>
          <p:cNvSpPr/>
          <p:nvPr/>
        </p:nvSpPr>
        <p:spPr>
          <a:xfrm>
            <a:off x="961644" y="0"/>
            <a:ext cx="45720" cy="6858000"/>
          </a:xfrm>
          <a:custGeom>
            <a:avLst/>
            <a:gdLst/>
            <a:ahLst/>
            <a:cxnLst/>
            <a:rect l="l" t="t" r="r" b="b"/>
            <a:pathLst>
              <a:path w="45719" h="6858000">
                <a:moveTo>
                  <a:pt x="45719" y="0"/>
                </a:moveTo>
                <a:lnTo>
                  <a:pt x="0" y="0"/>
                </a:lnTo>
                <a:lnTo>
                  <a:pt x="0" y="6858000"/>
                </a:lnTo>
                <a:lnTo>
                  <a:pt x="45719" y="6858000"/>
                </a:lnTo>
                <a:lnTo>
                  <a:pt x="45719" y="0"/>
                </a:lnTo>
                <a:close/>
              </a:path>
            </a:pathLst>
          </a:custGeom>
          <a:solidFill>
            <a:srgbClr val="F88556"/>
          </a:solidFill>
        </p:spPr>
        <p:txBody>
          <a:bodyPr wrap="square" lIns="0" tIns="0" rIns="0" bIns="0" rtlCol="0"/>
          <a:lstStyle/>
          <a:p>
            <a:endParaRPr/>
          </a:p>
        </p:txBody>
      </p:sp>
      <p:sp>
        <p:nvSpPr>
          <p:cNvPr id="21" name="bg object 21"/>
          <p:cNvSpPr/>
          <p:nvPr/>
        </p:nvSpPr>
        <p:spPr>
          <a:xfrm>
            <a:off x="967739" y="0"/>
            <a:ext cx="10372725" cy="6858000"/>
          </a:xfrm>
          <a:custGeom>
            <a:avLst/>
            <a:gdLst/>
            <a:ahLst/>
            <a:cxnLst/>
            <a:rect l="l" t="t" r="r" b="b"/>
            <a:pathLst>
              <a:path w="10372725" h="6858000">
                <a:moveTo>
                  <a:pt x="10372344" y="0"/>
                </a:moveTo>
                <a:lnTo>
                  <a:pt x="0" y="0"/>
                </a:lnTo>
                <a:lnTo>
                  <a:pt x="0" y="6858000"/>
                </a:lnTo>
                <a:lnTo>
                  <a:pt x="10372344" y="6858000"/>
                </a:lnTo>
                <a:lnTo>
                  <a:pt x="10372344" y="0"/>
                </a:lnTo>
                <a:close/>
              </a:path>
            </a:pathLst>
          </a:custGeom>
          <a:solidFill>
            <a:srgbClr val="2C241F">
              <a:alpha val="92156"/>
            </a:srgbClr>
          </a:solidFill>
        </p:spPr>
        <p:txBody>
          <a:bodyPr wrap="square" lIns="0" tIns="0" rIns="0" bIns="0" rtlCol="0"/>
          <a:lstStyle/>
          <a:p>
            <a:endParaRPr/>
          </a:p>
        </p:txBody>
      </p:sp>
      <p:sp>
        <p:nvSpPr>
          <p:cNvPr id="22" name="bg object 22"/>
          <p:cNvSpPr/>
          <p:nvPr/>
        </p:nvSpPr>
        <p:spPr>
          <a:xfrm>
            <a:off x="11376659" y="0"/>
            <a:ext cx="27940" cy="6858000"/>
          </a:xfrm>
          <a:custGeom>
            <a:avLst/>
            <a:gdLst/>
            <a:ahLst/>
            <a:cxnLst/>
            <a:rect l="l" t="t" r="r" b="b"/>
            <a:pathLst>
              <a:path w="27940" h="6858000">
                <a:moveTo>
                  <a:pt x="27431" y="0"/>
                </a:moveTo>
                <a:lnTo>
                  <a:pt x="0" y="0"/>
                </a:lnTo>
                <a:lnTo>
                  <a:pt x="0" y="6858000"/>
                </a:lnTo>
                <a:lnTo>
                  <a:pt x="27431" y="6858000"/>
                </a:lnTo>
                <a:lnTo>
                  <a:pt x="27431" y="0"/>
                </a:lnTo>
                <a:close/>
              </a:path>
            </a:pathLst>
          </a:custGeom>
          <a:solidFill>
            <a:srgbClr val="F8855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AF9369D-FF24-45DF-A56F-4FB39123F2A1}" type="datetime1">
              <a:rPr lang="en-US" smtClean="0"/>
              <a:t>11/9/2025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7998"/>
          </a:xfrm>
          <a:prstGeom prst="rect">
            <a:avLst/>
          </a:prstGeom>
        </p:spPr>
      </p:pic>
      <p:pic>
        <p:nvPicPr>
          <p:cNvPr id="17" name="bg object 17"/>
          <p:cNvPicPr/>
          <p:nvPr/>
        </p:nvPicPr>
        <p:blipFill>
          <a:blip r:embed="rId8" cstate="print"/>
          <a:stretch>
            <a:fillRect/>
          </a:stretch>
        </p:blipFill>
        <p:spPr>
          <a:xfrm>
            <a:off x="2831592" y="2104643"/>
            <a:ext cx="9360408" cy="4753356"/>
          </a:xfrm>
          <a:prstGeom prst="rect">
            <a:avLst/>
          </a:prstGeom>
        </p:spPr>
      </p:pic>
      <p:pic>
        <p:nvPicPr>
          <p:cNvPr id="18" name="bg object 18"/>
          <p:cNvPicPr/>
          <p:nvPr/>
        </p:nvPicPr>
        <p:blipFill>
          <a:blip r:embed="rId9" cstate="print"/>
          <a:stretch>
            <a:fillRect/>
          </a:stretch>
        </p:blipFill>
        <p:spPr>
          <a:xfrm>
            <a:off x="0" y="0"/>
            <a:ext cx="12190476" cy="6857999"/>
          </a:xfrm>
          <a:prstGeom prst="rect">
            <a:avLst/>
          </a:prstGeom>
        </p:spPr>
      </p:pic>
      <p:sp>
        <p:nvSpPr>
          <p:cNvPr id="19" name="bg object 19"/>
          <p:cNvSpPr/>
          <p:nvPr/>
        </p:nvSpPr>
        <p:spPr>
          <a:xfrm>
            <a:off x="0" y="0"/>
            <a:ext cx="965200" cy="6858000"/>
          </a:xfrm>
          <a:custGeom>
            <a:avLst/>
            <a:gdLst/>
            <a:ahLst/>
            <a:cxnLst/>
            <a:rect l="l" t="t" r="r" b="b"/>
            <a:pathLst>
              <a:path w="965200" h="6858000">
                <a:moveTo>
                  <a:pt x="964691" y="0"/>
                </a:moveTo>
                <a:lnTo>
                  <a:pt x="0" y="0"/>
                </a:lnTo>
                <a:lnTo>
                  <a:pt x="0" y="6858000"/>
                </a:lnTo>
                <a:lnTo>
                  <a:pt x="964691" y="6858000"/>
                </a:lnTo>
                <a:lnTo>
                  <a:pt x="964691" y="0"/>
                </a:lnTo>
                <a:close/>
              </a:path>
            </a:pathLst>
          </a:custGeom>
          <a:solidFill>
            <a:srgbClr val="2C241F"/>
          </a:solidFill>
        </p:spPr>
        <p:txBody>
          <a:bodyPr wrap="square" lIns="0" tIns="0" rIns="0" bIns="0" rtlCol="0"/>
          <a:lstStyle/>
          <a:p>
            <a:endParaRPr/>
          </a:p>
        </p:txBody>
      </p:sp>
      <p:sp>
        <p:nvSpPr>
          <p:cNvPr id="20" name="bg object 20"/>
          <p:cNvSpPr/>
          <p:nvPr/>
        </p:nvSpPr>
        <p:spPr>
          <a:xfrm>
            <a:off x="961644" y="0"/>
            <a:ext cx="45720" cy="6858000"/>
          </a:xfrm>
          <a:custGeom>
            <a:avLst/>
            <a:gdLst/>
            <a:ahLst/>
            <a:cxnLst/>
            <a:rect l="l" t="t" r="r" b="b"/>
            <a:pathLst>
              <a:path w="45719" h="6858000">
                <a:moveTo>
                  <a:pt x="45719" y="0"/>
                </a:moveTo>
                <a:lnTo>
                  <a:pt x="0" y="0"/>
                </a:lnTo>
                <a:lnTo>
                  <a:pt x="0" y="6858000"/>
                </a:lnTo>
                <a:lnTo>
                  <a:pt x="45719" y="6858000"/>
                </a:lnTo>
                <a:lnTo>
                  <a:pt x="45719" y="0"/>
                </a:lnTo>
                <a:close/>
              </a:path>
            </a:pathLst>
          </a:custGeom>
          <a:solidFill>
            <a:srgbClr val="F88556"/>
          </a:solidFill>
        </p:spPr>
        <p:txBody>
          <a:bodyPr wrap="square" lIns="0" tIns="0" rIns="0" bIns="0" rtlCol="0"/>
          <a:lstStyle/>
          <a:p>
            <a:endParaRPr/>
          </a:p>
        </p:txBody>
      </p:sp>
      <p:sp>
        <p:nvSpPr>
          <p:cNvPr id="21" name="bg object 21"/>
          <p:cNvSpPr/>
          <p:nvPr/>
        </p:nvSpPr>
        <p:spPr>
          <a:xfrm>
            <a:off x="1004316" y="0"/>
            <a:ext cx="10372725" cy="6858000"/>
          </a:xfrm>
          <a:custGeom>
            <a:avLst/>
            <a:gdLst/>
            <a:ahLst/>
            <a:cxnLst/>
            <a:rect l="l" t="t" r="r" b="b"/>
            <a:pathLst>
              <a:path w="10372725" h="6858000">
                <a:moveTo>
                  <a:pt x="10372344" y="0"/>
                </a:moveTo>
                <a:lnTo>
                  <a:pt x="0" y="0"/>
                </a:lnTo>
                <a:lnTo>
                  <a:pt x="0" y="6858000"/>
                </a:lnTo>
                <a:lnTo>
                  <a:pt x="10372344" y="6858000"/>
                </a:lnTo>
                <a:lnTo>
                  <a:pt x="10372344" y="0"/>
                </a:lnTo>
                <a:close/>
              </a:path>
            </a:pathLst>
          </a:custGeom>
          <a:solidFill>
            <a:srgbClr val="FFFFFF"/>
          </a:solidFill>
        </p:spPr>
        <p:txBody>
          <a:bodyPr wrap="square" lIns="0" tIns="0" rIns="0" bIns="0" rtlCol="0"/>
          <a:lstStyle/>
          <a:p>
            <a:endParaRPr/>
          </a:p>
        </p:txBody>
      </p:sp>
      <p:sp>
        <p:nvSpPr>
          <p:cNvPr id="22" name="bg object 22"/>
          <p:cNvSpPr/>
          <p:nvPr/>
        </p:nvSpPr>
        <p:spPr>
          <a:xfrm>
            <a:off x="11376659" y="0"/>
            <a:ext cx="27940" cy="6858000"/>
          </a:xfrm>
          <a:custGeom>
            <a:avLst/>
            <a:gdLst/>
            <a:ahLst/>
            <a:cxnLst/>
            <a:rect l="l" t="t" r="r" b="b"/>
            <a:pathLst>
              <a:path w="27940" h="6858000">
                <a:moveTo>
                  <a:pt x="27431" y="0"/>
                </a:moveTo>
                <a:lnTo>
                  <a:pt x="0" y="0"/>
                </a:lnTo>
                <a:lnTo>
                  <a:pt x="0" y="6858000"/>
                </a:lnTo>
                <a:lnTo>
                  <a:pt x="27431" y="6858000"/>
                </a:lnTo>
                <a:lnTo>
                  <a:pt x="27431" y="0"/>
                </a:lnTo>
                <a:close/>
              </a:path>
            </a:pathLst>
          </a:custGeom>
          <a:solidFill>
            <a:srgbClr val="F88556"/>
          </a:solidFill>
        </p:spPr>
        <p:txBody>
          <a:bodyPr wrap="square" lIns="0" tIns="0" rIns="0" bIns="0" rtlCol="0"/>
          <a:lstStyle/>
          <a:p>
            <a:endParaRPr/>
          </a:p>
        </p:txBody>
      </p:sp>
      <p:sp>
        <p:nvSpPr>
          <p:cNvPr id="2" name="Holder 2"/>
          <p:cNvSpPr>
            <a:spLocks noGrp="1"/>
          </p:cNvSpPr>
          <p:nvPr>
            <p:ph type="title"/>
          </p:nvPr>
        </p:nvSpPr>
        <p:spPr>
          <a:xfrm>
            <a:off x="3893058" y="778891"/>
            <a:ext cx="7143368" cy="543560"/>
          </a:xfrm>
          <a:prstGeom prst="rect">
            <a:avLst/>
          </a:prstGeom>
        </p:spPr>
        <p:txBody>
          <a:bodyPr wrap="square" lIns="0" tIns="0" rIns="0" bIns="0">
            <a:spAutoFit/>
          </a:bodyPr>
          <a:lstStyle>
            <a:lvl1pPr>
              <a:defRPr sz="3400" b="1" i="0">
                <a:solidFill>
                  <a:srgbClr val="2C241F"/>
                </a:solidFill>
                <a:latin typeface="Arial"/>
                <a:cs typeface="Arial"/>
              </a:defRPr>
            </a:lvl1pPr>
          </a:lstStyle>
          <a:p>
            <a:endParaRPr/>
          </a:p>
        </p:txBody>
      </p:sp>
      <p:sp>
        <p:nvSpPr>
          <p:cNvPr id="3" name="Holder 3"/>
          <p:cNvSpPr>
            <a:spLocks noGrp="1"/>
          </p:cNvSpPr>
          <p:nvPr>
            <p:ph type="body" idx="1"/>
          </p:nvPr>
        </p:nvSpPr>
        <p:spPr>
          <a:xfrm>
            <a:off x="1448180" y="1516888"/>
            <a:ext cx="9582150" cy="4255770"/>
          </a:xfrm>
          <a:prstGeom prst="rect">
            <a:avLst/>
          </a:prstGeom>
        </p:spPr>
        <p:txBody>
          <a:bodyPr wrap="square" lIns="0" tIns="0" rIns="0" bIns="0">
            <a:spAutoFit/>
          </a:bodyPr>
          <a:lstStyle>
            <a:lvl1pPr>
              <a:defRPr sz="2400" b="0" i="0">
                <a:solidFill>
                  <a:srgbClr val="2C241F"/>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598E9150-29C0-4E38-BF4E-9A0BF4C5E418}" type="datetime1">
              <a:rPr lang="en-US" smtClean="0"/>
              <a:t>11/9/2025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enisa.europa.eu/publications/enisa-threat-landscape-2023"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hyperlink" Target="https://www.sprintzeal.com/blog/top-cybersecurity-threat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hyperlink" Target="https://cybermap.kaspersky.com/tr"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usom.gov.tr/adres" TargetMode="External"/><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kvkk.gov.tr/veri-ihlali-bildirimi/" TargetMode="External"/><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8"/>
            </a:xfrm>
            <a:prstGeom prst="rect">
              <a:avLst/>
            </a:prstGeom>
          </p:spPr>
        </p:pic>
        <p:pic>
          <p:nvPicPr>
            <p:cNvPr id="4" name="object 4"/>
            <p:cNvPicPr/>
            <p:nvPr/>
          </p:nvPicPr>
          <p:blipFill>
            <a:blip r:embed="rId3" cstate="print"/>
            <a:stretch>
              <a:fillRect/>
            </a:stretch>
          </p:blipFill>
          <p:spPr>
            <a:xfrm>
              <a:off x="2831592" y="2104643"/>
              <a:ext cx="9360408" cy="4753356"/>
            </a:xfrm>
            <a:prstGeom prst="rect">
              <a:avLst/>
            </a:prstGeom>
          </p:spPr>
        </p:pic>
        <p:pic>
          <p:nvPicPr>
            <p:cNvPr id="5" name="object 5"/>
            <p:cNvPicPr/>
            <p:nvPr/>
          </p:nvPicPr>
          <p:blipFill>
            <a:blip r:embed="rId4" cstate="print"/>
            <a:stretch>
              <a:fillRect/>
            </a:stretch>
          </p:blipFill>
          <p:spPr>
            <a:xfrm>
              <a:off x="0" y="0"/>
              <a:ext cx="12190476" cy="6857999"/>
            </a:xfrm>
            <a:prstGeom prst="rect">
              <a:avLst/>
            </a:prstGeom>
          </p:spPr>
        </p:pic>
        <p:sp>
          <p:nvSpPr>
            <p:cNvPr id="6" name="object 6"/>
            <p:cNvSpPr/>
            <p:nvPr/>
          </p:nvSpPr>
          <p:spPr>
            <a:xfrm>
              <a:off x="0" y="0"/>
              <a:ext cx="965200" cy="6858000"/>
            </a:xfrm>
            <a:custGeom>
              <a:avLst/>
              <a:gdLst/>
              <a:ahLst/>
              <a:cxnLst/>
              <a:rect l="l" t="t" r="r" b="b"/>
              <a:pathLst>
                <a:path w="965200" h="6858000">
                  <a:moveTo>
                    <a:pt x="964691" y="0"/>
                  </a:moveTo>
                  <a:lnTo>
                    <a:pt x="0" y="0"/>
                  </a:lnTo>
                  <a:lnTo>
                    <a:pt x="0" y="6858000"/>
                  </a:lnTo>
                  <a:lnTo>
                    <a:pt x="964691" y="6858000"/>
                  </a:lnTo>
                  <a:lnTo>
                    <a:pt x="964691" y="0"/>
                  </a:lnTo>
                  <a:close/>
                </a:path>
              </a:pathLst>
            </a:custGeom>
            <a:solidFill>
              <a:srgbClr val="2C241F"/>
            </a:solidFill>
          </p:spPr>
          <p:txBody>
            <a:bodyPr wrap="square" lIns="0" tIns="0" rIns="0" bIns="0" rtlCol="0"/>
            <a:lstStyle/>
            <a:p>
              <a:endParaRPr/>
            </a:p>
          </p:txBody>
        </p:sp>
        <p:sp>
          <p:nvSpPr>
            <p:cNvPr id="7" name="object 7"/>
            <p:cNvSpPr/>
            <p:nvPr/>
          </p:nvSpPr>
          <p:spPr>
            <a:xfrm>
              <a:off x="961644" y="0"/>
              <a:ext cx="45720" cy="6858000"/>
            </a:xfrm>
            <a:custGeom>
              <a:avLst/>
              <a:gdLst/>
              <a:ahLst/>
              <a:cxnLst/>
              <a:rect l="l" t="t" r="r" b="b"/>
              <a:pathLst>
                <a:path w="45719" h="6858000">
                  <a:moveTo>
                    <a:pt x="45719" y="0"/>
                  </a:moveTo>
                  <a:lnTo>
                    <a:pt x="0" y="0"/>
                  </a:lnTo>
                  <a:lnTo>
                    <a:pt x="0" y="6858000"/>
                  </a:lnTo>
                  <a:lnTo>
                    <a:pt x="45719" y="6858000"/>
                  </a:lnTo>
                  <a:lnTo>
                    <a:pt x="45719" y="0"/>
                  </a:lnTo>
                  <a:close/>
                </a:path>
              </a:pathLst>
            </a:custGeom>
            <a:solidFill>
              <a:srgbClr val="F88556"/>
            </a:solidFill>
          </p:spPr>
          <p:txBody>
            <a:bodyPr wrap="square" lIns="0" tIns="0" rIns="0" bIns="0" rtlCol="0"/>
            <a:lstStyle/>
            <a:p>
              <a:endParaRPr/>
            </a:p>
          </p:txBody>
        </p:sp>
      </p:grpSp>
      <p:grpSp>
        <p:nvGrpSpPr>
          <p:cNvPr id="8" name="object 8"/>
          <p:cNvGrpSpPr/>
          <p:nvPr/>
        </p:nvGrpSpPr>
        <p:grpSpPr>
          <a:xfrm>
            <a:off x="1007363" y="0"/>
            <a:ext cx="7961630" cy="6858000"/>
            <a:chOff x="1007363" y="0"/>
            <a:chExt cx="7961630" cy="6858000"/>
          </a:xfrm>
        </p:grpSpPr>
        <p:sp>
          <p:nvSpPr>
            <p:cNvPr id="9" name="object 9"/>
            <p:cNvSpPr/>
            <p:nvPr/>
          </p:nvSpPr>
          <p:spPr>
            <a:xfrm>
              <a:off x="1007363" y="0"/>
              <a:ext cx="7934325" cy="6858000"/>
            </a:xfrm>
            <a:custGeom>
              <a:avLst/>
              <a:gdLst/>
              <a:ahLst/>
              <a:cxnLst/>
              <a:rect l="l" t="t" r="r" b="b"/>
              <a:pathLst>
                <a:path w="7934325" h="6858000">
                  <a:moveTo>
                    <a:pt x="7933944" y="0"/>
                  </a:moveTo>
                  <a:lnTo>
                    <a:pt x="0" y="0"/>
                  </a:lnTo>
                  <a:lnTo>
                    <a:pt x="0" y="6858000"/>
                  </a:lnTo>
                  <a:lnTo>
                    <a:pt x="7933944" y="6858000"/>
                  </a:lnTo>
                  <a:lnTo>
                    <a:pt x="7933944" y="0"/>
                  </a:lnTo>
                  <a:close/>
                </a:path>
              </a:pathLst>
            </a:custGeom>
            <a:solidFill>
              <a:srgbClr val="2C241F">
                <a:alpha val="92156"/>
              </a:srgbClr>
            </a:solidFill>
          </p:spPr>
          <p:txBody>
            <a:bodyPr wrap="square" lIns="0" tIns="0" rIns="0" bIns="0" rtlCol="0"/>
            <a:lstStyle/>
            <a:p>
              <a:endParaRPr/>
            </a:p>
          </p:txBody>
        </p:sp>
        <p:sp>
          <p:nvSpPr>
            <p:cNvPr id="10" name="object 10"/>
            <p:cNvSpPr/>
            <p:nvPr/>
          </p:nvSpPr>
          <p:spPr>
            <a:xfrm>
              <a:off x="8941307" y="0"/>
              <a:ext cx="27940" cy="6858000"/>
            </a:xfrm>
            <a:custGeom>
              <a:avLst/>
              <a:gdLst/>
              <a:ahLst/>
              <a:cxnLst/>
              <a:rect l="l" t="t" r="r" b="b"/>
              <a:pathLst>
                <a:path w="27940" h="6858000">
                  <a:moveTo>
                    <a:pt x="27431" y="0"/>
                  </a:moveTo>
                  <a:lnTo>
                    <a:pt x="0" y="0"/>
                  </a:lnTo>
                  <a:lnTo>
                    <a:pt x="0" y="6858000"/>
                  </a:lnTo>
                  <a:lnTo>
                    <a:pt x="27431" y="6858000"/>
                  </a:lnTo>
                  <a:lnTo>
                    <a:pt x="27431" y="0"/>
                  </a:lnTo>
                  <a:close/>
                </a:path>
              </a:pathLst>
            </a:custGeom>
            <a:solidFill>
              <a:srgbClr val="F88556"/>
            </a:solidFill>
          </p:spPr>
          <p:txBody>
            <a:bodyPr wrap="square" lIns="0" tIns="0" rIns="0" bIns="0" rtlCol="0"/>
            <a:lstStyle/>
            <a:p>
              <a:endParaRPr/>
            </a:p>
          </p:txBody>
        </p:sp>
      </p:grpSp>
      <p:sp>
        <p:nvSpPr>
          <p:cNvPr id="13" name="object 13"/>
          <p:cNvSpPr txBox="1">
            <a:spLocks noGrp="1"/>
          </p:cNvSpPr>
          <p:nvPr>
            <p:ph type="title"/>
          </p:nvPr>
        </p:nvSpPr>
        <p:spPr>
          <a:xfrm>
            <a:off x="1613153" y="2121865"/>
            <a:ext cx="6847840" cy="936154"/>
          </a:xfrm>
          <a:prstGeom prst="rect">
            <a:avLst/>
          </a:prstGeom>
        </p:spPr>
        <p:txBody>
          <a:bodyPr vert="horz" wrap="square" lIns="0" tIns="12700" rIns="0" bIns="0" rtlCol="0">
            <a:spAutoFit/>
          </a:bodyPr>
          <a:lstStyle/>
          <a:p>
            <a:pPr marL="12700" algn="r">
              <a:lnSpc>
                <a:spcPct val="100000"/>
              </a:lnSpc>
              <a:spcBef>
                <a:spcPts val="100"/>
              </a:spcBef>
            </a:pPr>
            <a:r>
              <a:rPr lang="tr-TR" sz="6000" b="0" dirty="0" smtClean="0">
                <a:solidFill>
                  <a:srgbClr val="FFFFFF"/>
                </a:solidFill>
              </a:rPr>
              <a:t>SİBER OLAYLAR</a:t>
            </a:r>
            <a:endParaRPr sz="6000" dirty="0">
              <a:latin typeface="Arial"/>
              <a:cs typeface="Arial"/>
            </a:endParaRPr>
          </a:p>
        </p:txBody>
      </p:sp>
      <p:sp>
        <p:nvSpPr>
          <p:cNvPr id="14" name="object 14"/>
          <p:cNvSpPr txBox="1"/>
          <p:nvPr/>
        </p:nvSpPr>
        <p:spPr>
          <a:xfrm>
            <a:off x="3933825" y="4997727"/>
            <a:ext cx="4526915" cy="522579"/>
          </a:xfrm>
          <a:prstGeom prst="rect">
            <a:avLst/>
          </a:prstGeom>
        </p:spPr>
        <p:txBody>
          <a:bodyPr vert="horz" wrap="square" lIns="0" tIns="151765" rIns="0" bIns="0" rtlCol="0">
            <a:spAutoFit/>
          </a:bodyPr>
          <a:lstStyle/>
          <a:p>
            <a:pPr marR="6985" algn="r">
              <a:lnSpc>
                <a:spcPct val="100000"/>
              </a:lnSpc>
              <a:spcBef>
                <a:spcPts val="1095"/>
              </a:spcBef>
            </a:pPr>
            <a:r>
              <a:rPr lang="tr-TR" sz="2400" spc="-10" dirty="0" err="1" smtClean="0">
                <a:solidFill>
                  <a:srgbClr val="FFFFFF"/>
                </a:solidFill>
                <a:latin typeface="Arial"/>
                <a:cs typeface="Arial"/>
              </a:rPr>
              <a:t>Öğr</a:t>
            </a:r>
            <a:r>
              <a:rPr lang="tr-TR" sz="2400" spc="-10" dirty="0" smtClean="0">
                <a:solidFill>
                  <a:srgbClr val="FFFFFF"/>
                </a:solidFill>
                <a:latin typeface="Arial"/>
                <a:cs typeface="Arial"/>
              </a:rPr>
              <a:t>. Gör. Halil ARSLAN</a:t>
            </a:r>
            <a:endParaRPr sz="2400" dirty="0">
              <a:latin typeface="Arial"/>
              <a:cs typeface="Arial"/>
            </a:endParaRPr>
          </a:p>
        </p:txBody>
      </p:sp>
      <p:sp>
        <p:nvSpPr>
          <p:cNvPr id="11" name="Slayt Numarası Yer Tutucusu 10"/>
          <p:cNvSpPr>
            <a:spLocks noGrp="1"/>
          </p:cNvSpPr>
          <p:nvPr>
            <p:ph type="sldNum" sz="quarter" idx="7"/>
          </p:nvPr>
        </p:nvSpPr>
        <p:spPr/>
        <p:txBody>
          <a:bodyPr/>
          <a:lstStyle/>
          <a:p>
            <a:fld id="{B6F15528-21DE-4FAA-801E-634DDDAF4B2B}" type="slidenum">
              <a:rPr lang="tr-TR" smtClean="0"/>
              <a:t>1</a:t>
            </a:fld>
            <a:endParaRPr lang="tr-T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3893058" y="778891"/>
            <a:ext cx="7143368"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Sayılarla Dünya Analizi</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a:t>
            </a:fld>
            <a:endParaRPr lang="tr-TR" sz="2000" b="1" dirty="0">
              <a:solidFill>
                <a:schemeClr val="bg1"/>
              </a:solidFill>
            </a:endParaRPr>
          </a:p>
        </p:txBody>
      </p:sp>
      <p:pic>
        <p:nvPicPr>
          <p:cNvPr id="2" name="Resim 1"/>
          <p:cNvPicPr>
            <a:picLocks noChangeAspect="1"/>
          </p:cNvPicPr>
          <p:nvPr/>
        </p:nvPicPr>
        <p:blipFill>
          <a:blip r:embed="rId2"/>
          <a:stretch>
            <a:fillRect/>
          </a:stretch>
        </p:blipFill>
        <p:spPr>
          <a:xfrm>
            <a:off x="2862870" y="1583395"/>
            <a:ext cx="6763694" cy="5068007"/>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3893058" y="778891"/>
            <a:ext cx="7143368"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Sayılarla Türkiye Analizi</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3</a:t>
            </a:fld>
            <a:endParaRPr lang="tr-TR" sz="2000" b="1" dirty="0">
              <a:solidFill>
                <a:schemeClr val="bg1"/>
              </a:solidFill>
            </a:endParaRPr>
          </a:p>
        </p:txBody>
      </p:sp>
      <p:pic>
        <p:nvPicPr>
          <p:cNvPr id="3" name="Resim 2"/>
          <p:cNvPicPr>
            <a:picLocks noChangeAspect="1"/>
          </p:cNvPicPr>
          <p:nvPr/>
        </p:nvPicPr>
        <p:blipFill>
          <a:blip r:embed="rId2"/>
          <a:stretch>
            <a:fillRect/>
          </a:stretch>
        </p:blipFill>
        <p:spPr>
          <a:xfrm>
            <a:off x="2815238" y="1571019"/>
            <a:ext cx="6858957" cy="5106113"/>
          </a:xfrm>
          <a:prstGeom prst="rect">
            <a:avLst/>
          </a:prstGeom>
        </p:spPr>
      </p:pic>
    </p:spTree>
    <p:extLst>
      <p:ext uri="{BB962C8B-B14F-4D97-AF65-F5344CB8AC3E}">
        <p14:creationId xmlns:p14="http://schemas.microsoft.com/office/powerpoint/2010/main" val="26298011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3893058" y="778891"/>
            <a:ext cx="7143368"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Küresel Siber Suçlar</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4</a:t>
            </a:fld>
            <a:endParaRPr lang="tr-TR" sz="2000" b="1" dirty="0">
              <a:solidFill>
                <a:schemeClr val="bg1"/>
              </a:solidFill>
            </a:endParaRPr>
          </a:p>
        </p:txBody>
      </p:sp>
      <p:pic>
        <p:nvPicPr>
          <p:cNvPr id="2" name="Resim 1"/>
          <p:cNvPicPr>
            <a:picLocks noChangeAspect="1"/>
          </p:cNvPicPr>
          <p:nvPr/>
        </p:nvPicPr>
        <p:blipFill>
          <a:blip r:embed="rId2"/>
          <a:stretch>
            <a:fillRect/>
          </a:stretch>
        </p:blipFill>
        <p:spPr>
          <a:xfrm>
            <a:off x="2881922" y="1766959"/>
            <a:ext cx="6725589" cy="4582164"/>
          </a:xfrm>
          <a:prstGeom prst="rect">
            <a:avLst/>
          </a:prstGeom>
        </p:spPr>
      </p:pic>
    </p:spTree>
    <p:extLst>
      <p:ext uri="{BB962C8B-B14F-4D97-AF65-F5344CB8AC3E}">
        <p14:creationId xmlns:p14="http://schemas.microsoft.com/office/powerpoint/2010/main" val="30493774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778891"/>
            <a:ext cx="9698354"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2023 Yılı Dünya Genelinde Siber Saldırı Türleri</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5</a:t>
            </a:fld>
            <a:endParaRPr lang="tr-TR" sz="2000" b="1" dirty="0">
              <a:solidFill>
                <a:schemeClr val="bg1"/>
              </a:solidFill>
            </a:endParaRPr>
          </a:p>
        </p:txBody>
      </p:sp>
      <p:pic>
        <p:nvPicPr>
          <p:cNvPr id="3" name="Resim 2"/>
          <p:cNvPicPr>
            <a:picLocks noChangeAspect="1"/>
          </p:cNvPicPr>
          <p:nvPr/>
        </p:nvPicPr>
        <p:blipFill>
          <a:blip r:embed="rId2"/>
          <a:stretch>
            <a:fillRect/>
          </a:stretch>
        </p:blipFill>
        <p:spPr>
          <a:xfrm>
            <a:off x="2438400" y="1571019"/>
            <a:ext cx="7601645" cy="4798538"/>
          </a:xfrm>
          <a:prstGeom prst="rect">
            <a:avLst/>
          </a:prstGeom>
        </p:spPr>
      </p:pic>
    </p:spTree>
    <p:extLst>
      <p:ext uri="{BB962C8B-B14F-4D97-AF65-F5344CB8AC3E}">
        <p14:creationId xmlns:p14="http://schemas.microsoft.com/office/powerpoint/2010/main" val="19162383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352601"/>
            <a:ext cx="9698354" cy="1058623"/>
          </a:xfrm>
          <a:prstGeom prst="rect">
            <a:avLst/>
          </a:prstGeom>
        </p:spPr>
        <p:txBody>
          <a:bodyPr vert="horz" wrap="square" lIns="0" tIns="12065" rIns="0" bIns="0" rtlCol="0">
            <a:spAutoFit/>
          </a:bodyPr>
          <a:lstStyle/>
          <a:p>
            <a:pPr marL="82550" algn="r">
              <a:lnSpc>
                <a:spcPct val="100000"/>
              </a:lnSpc>
              <a:spcBef>
                <a:spcPts val="95"/>
              </a:spcBef>
            </a:pPr>
            <a:r>
              <a:rPr lang="tr-TR" dirty="0" smtClean="0"/>
              <a:t>Avrupa Birliği Siber Güvenlik Ajansı (ENISA)</a:t>
            </a:r>
            <a:br>
              <a:rPr lang="tr-TR" dirty="0" smtClean="0"/>
            </a:br>
            <a:r>
              <a:rPr lang="tr-TR" dirty="0" smtClean="0"/>
              <a:t>Başlıca Siber Tehditler - 2023</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6</a:t>
            </a:fld>
            <a:endParaRPr lang="tr-TR" sz="2000" b="1" dirty="0">
              <a:solidFill>
                <a:schemeClr val="bg1"/>
              </a:solidFill>
            </a:endParaRPr>
          </a:p>
        </p:txBody>
      </p:sp>
      <p:pic>
        <p:nvPicPr>
          <p:cNvPr id="9" name="object 2"/>
          <p:cNvPicPr/>
          <p:nvPr/>
        </p:nvPicPr>
        <p:blipFill>
          <a:blip r:embed="rId2" cstate="print"/>
          <a:stretch>
            <a:fillRect/>
          </a:stretch>
        </p:blipFill>
        <p:spPr>
          <a:xfrm>
            <a:off x="2907726" y="1536383"/>
            <a:ext cx="6673982" cy="4919927"/>
          </a:xfrm>
          <a:prstGeom prst="rect">
            <a:avLst/>
          </a:prstGeom>
        </p:spPr>
      </p:pic>
      <p:sp>
        <p:nvSpPr>
          <p:cNvPr id="10" name="object 3"/>
          <p:cNvSpPr txBox="1"/>
          <p:nvPr/>
        </p:nvSpPr>
        <p:spPr>
          <a:xfrm>
            <a:off x="3865054" y="6512636"/>
            <a:ext cx="4759325"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3483E3"/>
                </a:solidFill>
                <a:latin typeface="Microsoft Sans Serif"/>
                <a:cs typeface="Microsoft Sans Serif"/>
                <a:hlinkClick r:id="rId3"/>
              </a:rPr>
              <a:t>https://www.enisa.europa.eu/publications/enisa-threat-landscape-</a:t>
            </a:r>
            <a:r>
              <a:rPr sz="1200" spc="-20" dirty="0">
                <a:solidFill>
                  <a:srgbClr val="3483E3"/>
                </a:solidFill>
                <a:latin typeface="Microsoft Sans Serif"/>
                <a:cs typeface="Microsoft Sans Serif"/>
                <a:hlinkClick r:id="rId3"/>
              </a:rPr>
              <a:t>2023</a:t>
            </a:r>
            <a:endParaRPr sz="1200" dirty="0">
              <a:latin typeface="Microsoft Sans Serif"/>
              <a:cs typeface="Microsoft Sans Serif"/>
            </a:endParaRPr>
          </a:p>
        </p:txBody>
      </p:sp>
    </p:spTree>
    <p:extLst>
      <p:ext uri="{BB962C8B-B14F-4D97-AF65-F5344CB8AC3E}">
        <p14:creationId xmlns:p14="http://schemas.microsoft.com/office/powerpoint/2010/main" val="32331909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352601"/>
            <a:ext cx="9698354" cy="1058623"/>
          </a:xfrm>
          <a:prstGeom prst="rect">
            <a:avLst/>
          </a:prstGeom>
        </p:spPr>
        <p:txBody>
          <a:bodyPr vert="horz" wrap="square" lIns="0" tIns="12065" rIns="0" bIns="0" rtlCol="0">
            <a:spAutoFit/>
          </a:bodyPr>
          <a:lstStyle/>
          <a:p>
            <a:pPr marL="82550" algn="r">
              <a:lnSpc>
                <a:spcPct val="100000"/>
              </a:lnSpc>
              <a:spcBef>
                <a:spcPts val="95"/>
              </a:spcBef>
            </a:pPr>
            <a:r>
              <a:rPr lang="tr-TR" dirty="0" smtClean="0"/>
              <a:t>Avrupa Birliği Siber Güvenlik Ajansı (ENISA)</a:t>
            </a:r>
            <a:br>
              <a:rPr lang="tr-TR" dirty="0" smtClean="0"/>
            </a:br>
            <a:r>
              <a:rPr lang="tr-TR" dirty="0" smtClean="0"/>
              <a:t>Başlıca Siber Tehditler - 2030</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7</a:t>
            </a:fld>
            <a:endParaRPr lang="tr-TR" sz="2000" b="1" dirty="0">
              <a:solidFill>
                <a:schemeClr val="bg1"/>
              </a:solidFill>
            </a:endParaRPr>
          </a:p>
        </p:txBody>
      </p:sp>
      <p:sp>
        <p:nvSpPr>
          <p:cNvPr id="10" name="object 3"/>
          <p:cNvSpPr txBox="1"/>
          <p:nvPr/>
        </p:nvSpPr>
        <p:spPr>
          <a:xfrm>
            <a:off x="2362200" y="6512636"/>
            <a:ext cx="7848600" cy="197490"/>
          </a:xfrm>
          <a:prstGeom prst="rect">
            <a:avLst/>
          </a:prstGeom>
        </p:spPr>
        <p:txBody>
          <a:bodyPr vert="horz" wrap="square" lIns="0" tIns="12700" rIns="0" bIns="0" rtlCol="0">
            <a:spAutoFit/>
          </a:bodyPr>
          <a:lstStyle/>
          <a:p>
            <a:pPr marL="12700" algn="ctr">
              <a:lnSpc>
                <a:spcPct val="100000"/>
              </a:lnSpc>
              <a:spcBef>
                <a:spcPts val="100"/>
              </a:spcBef>
            </a:pPr>
            <a:r>
              <a:rPr lang="tr-TR" sz="1200" spc="-10" dirty="0" smtClean="0">
                <a:solidFill>
                  <a:srgbClr val="3483E3"/>
                </a:solidFill>
                <a:latin typeface="Microsoft Sans Serif"/>
                <a:cs typeface="Microsoft Sans Serif"/>
              </a:rPr>
              <a:t>https://www.enisa.europa.eu/publications/foresight-cybersecurity-threats-for-2030-update-2024-extended-report</a:t>
            </a:r>
            <a:endParaRPr sz="1200" dirty="0">
              <a:latin typeface="Microsoft Sans Serif"/>
              <a:cs typeface="Microsoft Sans Serif"/>
            </a:endParaRPr>
          </a:p>
        </p:txBody>
      </p:sp>
      <p:pic>
        <p:nvPicPr>
          <p:cNvPr id="2" name="Resim 1"/>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t="9623" b="6938"/>
          <a:stretch/>
        </p:blipFill>
        <p:spPr>
          <a:xfrm>
            <a:off x="1905000" y="1612669"/>
            <a:ext cx="8610600" cy="4793530"/>
          </a:xfrm>
          <a:prstGeom prst="rect">
            <a:avLst/>
          </a:prstGeom>
        </p:spPr>
      </p:pic>
    </p:spTree>
    <p:extLst>
      <p:ext uri="{BB962C8B-B14F-4D97-AF65-F5344CB8AC3E}">
        <p14:creationId xmlns:p14="http://schemas.microsoft.com/office/powerpoint/2010/main" val="19817825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437323" y="714124"/>
            <a:ext cx="9698354" cy="535403"/>
          </a:xfrm>
          <a:prstGeom prst="rect">
            <a:avLst/>
          </a:prstGeom>
        </p:spPr>
        <p:txBody>
          <a:bodyPr vert="horz" wrap="square" lIns="0" tIns="12065" rIns="0" bIns="0" rtlCol="0">
            <a:spAutoFit/>
          </a:bodyPr>
          <a:lstStyle/>
          <a:p>
            <a:pPr marL="82550" algn="r">
              <a:spcBef>
                <a:spcPts val="95"/>
              </a:spcBef>
            </a:pPr>
            <a:r>
              <a:rPr lang="tr-TR" dirty="0"/>
              <a:t>Başlıca Siber Tehditlerde İlk 15</a:t>
            </a:r>
            <a:endParaRPr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Metin kutusu 5">
            <a:extLst>
              <a:ext uri="{FF2B5EF4-FFF2-40B4-BE49-F238E27FC236}">
                <a16:creationId xmlns:a16="http://schemas.microsoft.com/office/drawing/2014/main" id="{DB5140C7-DD1E-6220-9265-C7146482736F}"/>
              </a:ext>
            </a:extLst>
          </p:cNvPr>
          <p:cNvSpPr txBox="1"/>
          <p:nvPr/>
        </p:nvSpPr>
        <p:spPr>
          <a:xfrm rot="5400000">
            <a:off x="-947057" y="3172638"/>
            <a:ext cx="2971800" cy="707886"/>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kern="0"/>
            </a:defPPr>
          </a:lstStyle>
          <a:p>
            <a:pPr algn="ctr"/>
            <a:r>
              <a:rPr lang="en-US" sz="4000" b="1" dirty="0">
                <a:solidFill>
                  <a:schemeClr val="bg1"/>
                </a:solidFill>
              </a:rPr>
              <a:t>˗ˏˋ ★ ˎˊ˗</a:t>
            </a:r>
            <a:endParaRPr lang="tr-TR" sz="4000" b="1" dirty="0">
              <a:solidFill>
                <a:schemeClr val="bg1"/>
              </a:solidFil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8</a:t>
            </a:fld>
            <a:endParaRPr lang="tr-TR" sz="2000" b="1" dirty="0">
              <a:solidFill>
                <a:schemeClr val="bg1"/>
              </a:solidFill>
            </a:endParaRPr>
          </a:p>
        </p:txBody>
      </p:sp>
      <p:sp>
        <p:nvSpPr>
          <p:cNvPr id="10" name="object 3"/>
          <p:cNvSpPr txBox="1"/>
          <p:nvPr/>
        </p:nvSpPr>
        <p:spPr>
          <a:xfrm>
            <a:off x="2362200" y="6512636"/>
            <a:ext cx="7848600" cy="197490"/>
          </a:xfrm>
          <a:prstGeom prst="rect">
            <a:avLst/>
          </a:prstGeom>
        </p:spPr>
        <p:txBody>
          <a:bodyPr vert="horz" wrap="square" lIns="0" tIns="12700" rIns="0" bIns="0" rtlCol="0">
            <a:spAutoFit/>
          </a:bodyPr>
          <a:lstStyle/>
          <a:p>
            <a:pPr marL="12700" algn="ctr">
              <a:lnSpc>
                <a:spcPct val="100000"/>
              </a:lnSpc>
              <a:spcBef>
                <a:spcPts val="100"/>
              </a:spcBef>
            </a:pPr>
            <a:r>
              <a:rPr lang="tr-TR" sz="1200" spc="-10" dirty="0" smtClean="0">
                <a:solidFill>
                  <a:srgbClr val="3483E3"/>
                </a:solidFill>
                <a:latin typeface="Microsoft Sans Serif"/>
                <a:cs typeface="Microsoft Sans Serif"/>
                <a:hlinkClick r:id="rId2"/>
              </a:rPr>
              <a:t>https://www.sprintzeal.com/blog/top-cybersecurity-threats</a:t>
            </a:r>
            <a:endParaRPr lang="tr-TR" sz="1200" dirty="0">
              <a:latin typeface="Microsoft Sans Serif"/>
              <a:cs typeface="Microsoft Sans Serif"/>
            </a:endParaRPr>
          </a:p>
        </p:txBody>
      </p:sp>
      <p:pic>
        <p:nvPicPr>
          <p:cNvPr id="9" name="object 2"/>
          <p:cNvPicPr/>
          <p:nvPr/>
        </p:nvPicPr>
        <p:blipFill>
          <a:blip r:embed="rId3" cstate="print"/>
          <a:stretch>
            <a:fillRect/>
          </a:stretch>
        </p:blipFill>
        <p:spPr>
          <a:xfrm>
            <a:off x="2541179" y="1496638"/>
            <a:ext cx="7490642" cy="4993449"/>
          </a:xfrm>
          <a:prstGeom prst="rect">
            <a:avLst/>
          </a:prstGeom>
        </p:spPr>
      </p:pic>
    </p:spTree>
    <p:extLst>
      <p:ext uri="{BB962C8B-B14F-4D97-AF65-F5344CB8AC3E}">
        <p14:creationId xmlns:p14="http://schemas.microsoft.com/office/powerpoint/2010/main" val="20209264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437323" y="718107"/>
            <a:ext cx="9698354" cy="535403"/>
          </a:xfrm>
          <a:prstGeom prst="rect">
            <a:avLst/>
          </a:prstGeom>
        </p:spPr>
        <p:txBody>
          <a:bodyPr vert="horz" wrap="square" lIns="0" tIns="12065" rIns="0" bIns="0" rtlCol="0">
            <a:spAutoFit/>
          </a:bodyPr>
          <a:lstStyle/>
          <a:p>
            <a:pPr marL="82550" algn="r">
              <a:lnSpc>
                <a:spcPct val="100000"/>
              </a:lnSpc>
              <a:spcBef>
                <a:spcPts val="95"/>
              </a:spcBef>
            </a:pPr>
            <a:r>
              <a:rPr lang="tr-TR" dirty="0" err="1" smtClean="0"/>
              <a:t>Kaspersky</a:t>
            </a:r>
            <a:r>
              <a:rPr lang="tr-TR" dirty="0" smtClean="0"/>
              <a:t> Siber Tehdit Haritası</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9</a:t>
            </a:fld>
            <a:endParaRPr lang="tr-TR" sz="2000" b="1" dirty="0">
              <a:solidFill>
                <a:schemeClr val="bg1"/>
              </a:solidFill>
            </a:endParaRPr>
          </a:p>
        </p:txBody>
      </p:sp>
      <p:sp>
        <p:nvSpPr>
          <p:cNvPr id="10" name="object 3"/>
          <p:cNvSpPr txBox="1"/>
          <p:nvPr/>
        </p:nvSpPr>
        <p:spPr>
          <a:xfrm>
            <a:off x="2362200" y="6512636"/>
            <a:ext cx="7848600" cy="197490"/>
          </a:xfrm>
          <a:prstGeom prst="rect">
            <a:avLst/>
          </a:prstGeom>
        </p:spPr>
        <p:txBody>
          <a:bodyPr vert="horz" wrap="square" lIns="0" tIns="12700" rIns="0" bIns="0" rtlCol="0">
            <a:spAutoFit/>
          </a:bodyPr>
          <a:lstStyle/>
          <a:p>
            <a:pPr marL="12700" algn="ctr">
              <a:lnSpc>
                <a:spcPct val="100000"/>
              </a:lnSpc>
              <a:spcBef>
                <a:spcPts val="100"/>
              </a:spcBef>
            </a:pPr>
            <a:r>
              <a:rPr lang="tr-TR" sz="1200" spc="-10" dirty="0" smtClean="0">
                <a:solidFill>
                  <a:srgbClr val="3483E3"/>
                </a:solidFill>
                <a:latin typeface="Microsoft Sans Serif"/>
                <a:cs typeface="Microsoft Sans Serif"/>
                <a:hlinkClick r:id="rId2"/>
              </a:rPr>
              <a:t>https://cybermap.kaspersky.com/tr</a:t>
            </a:r>
            <a:endParaRPr lang="tr-TR" sz="1200" dirty="0">
              <a:latin typeface="Microsoft Sans Serif"/>
              <a:cs typeface="Microsoft Sans Serif"/>
            </a:endParaRPr>
          </a:p>
        </p:txBody>
      </p:sp>
      <p:pic>
        <p:nvPicPr>
          <p:cNvPr id="13" name="object 3"/>
          <p:cNvPicPr/>
          <p:nvPr/>
        </p:nvPicPr>
        <p:blipFill>
          <a:blip r:embed="rId3" cstate="print"/>
          <a:stretch>
            <a:fillRect/>
          </a:stretch>
        </p:blipFill>
        <p:spPr>
          <a:xfrm>
            <a:off x="1502224" y="1676400"/>
            <a:ext cx="9509264" cy="4250151"/>
          </a:xfrm>
          <a:prstGeom prst="rect">
            <a:avLst/>
          </a:prstGeom>
        </p:spPr>
      </p:pic>
    </p:spTree>
    <p:extLst>
      <p:ext uri="{BB962C8B-B14F-4D97-AF65-F5344CB8AC3E}">
        <p14:creationId xmlns:p14="http://schemas.microsoft.com/office/powerpoint/2010/main" val="37327812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437323" y="756169"/>
            <a:ext cx="9698354"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Siber Saldırı Olayları</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Metin kutusu 5">
            <a:extLst>
              <a:ext uri="{FF2B5EF4-FFF2-40B4-BE49-F238E27FC236}">
                <a16:creationId xmlns:a16="http://schemas.microsoft.com/office/drawing/2014/main" id="{DB5140C7-DD1E-6220-9265-C7146482736F}"/>
              </a:ext>
            </a:extLst>
          </p:cNvPr>
          <p:cNvSpPr txBox="1"/>
          <p:nvPr/>
        </p:nvSpPr>
        <p:spPr>
          <a:xfrm rot="5400000">
            <a:off x="-947057" y="3172638"/>
            <a:ext cx="2971800" cy="707886"/>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kern="0"/>
            </a:defPPr>
          </a:lstStyle>
          <a:p>
            <a:pPr algn="ctr"/>
            <a:r>
              <a:rPr lang="en-US" sz="4000" b="1" dirty="0">
                <a:solidFill>
                  <a:schemeClr val="bg1"/>
                </a:solidFill>
              </a:rPr>
              <a:t>˗ˏˋ ★ ˎˊ˗</a:t>
            </a:r>
            <a:endParaRPr lang="tr-TR" sz="4000" b="1" dirty="0">
              <a:solidFill>
                <a:schemeClr val="bg1"/>
              </a:solidFil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10</a:t>
            </a:fld>
            <a:endParaRPr lang="tr-TR" sz="2000" b="1" dirty="0">
              <a:solidFill>
                <a:schemeClr val="bg1"/>
              </a:solidFill>
            </a:endParaRPr>
          </a:p>
        </p:txBody>
      </p:sp>
      <p:pic>
        <p:nvPicPr>
          <p:cNvPr id="2" name="Resim 1"/>
          <p:cNvPicPr>
            <a:picLocks noChangeAspect="1"/>
          </p:cNvPicPr>
          <p:nvPr/>
        </p:nvPicPr>
        <p:blipFill>
          <a:blip r:embed="rId2"/>
          <a:stretch>
            <a:fillRect/>
          </a:stretch>
        </p:blipFill>
        <p:spPr>
          <a:xfrm>
            <a:off x="2440471" y="1713392"/>
            <a:ext cx="7692058" cy="4648200"/>
          </a:xfrm>
          <a:prstGeom prst="rect">
            <a:avLst/>
          </a:prstGeom>
        </p:spPr>
      </p:pic>
    </p:spTree>
    <p:extLst>
      <p:ext uri="{BB962C8B-B14F-4D97-AF65-F5344CB8AC3E}">
        <p14:creationId xmlns:p14="http://schemas.microsoft.com/office/powerpoint/2010/main" val="34714165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453008" y="773881"/>
            <a:ext cx="9698354"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Siber Saldırı Olayları</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11</a:t>
            </a:fld>
            <a:endParaRPr lang="tr-TR" sz="2000" b="1" dirty="0">
              <a:solidFill>
                <a:schemeClr val="bg1"/>
              </a:solidFill>
            </a:endParaRPr>
          </a:p>
        </p:txBody>
      </p:sp>
      <p:pic>
        <p:nvPicPr>
          <p:cNvPr id="3" name="Resim 2"/>
          <p:cNvPicPr>
            <a:picLocks noChangeAspect="1"/>
          </p:cNvPicPr>
          <p:nvPr/>
        </p:nvPicPr>
        <p:blipFill>
          <a:blip r:embed="rId2"/>
          <a:stretch>
            <a:fillRect/>
          </a:stretch>
        </p:blipFill>
        <p:spPr>
          <a:xfrm>
            <a:off x="2786659" y="1679882"/>
            <a:ext cx="6916115" cy="4963218"/>
          </a:xfrm>
          <a:prstGeom prst="rect">
            <a:avLst/>
          </a:prstGeom>
        </p:spPr>
      </p:pic>
    </p:spTree>
    <p:extLst>
      <p:ext uri="{BB962C8B-B14F-4D97-AF65-F5344CB8AC3E}">
        <p14:creationId xmlns:p14="http://schemas.microsoft.com/office/powerpoint/2010/main" val="5254530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352601"/>
            <a:ext cx="9698354"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Siber Saldırı Olayları</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Metin kutusu 5">
            <a:extLst>
              <a:ext uri="{FF2B5EF4-FFF2-40B4-BE49-F238E27FC236}">
                <a16:creationId xmlns:a16="http://schemas.microsoft.com/office/drawing/2014/main" id="{DB5140C7-DD1E-6220-9265-C7146482736F}"/>
              </a:ext>
            </a:extLst>
          </p:cNvPr>
          <p:cNvSpPr txBox="1"/>
          <p:nvPr/>
        </p:nvSpPr>
        <p:spPr>
          <a:xfrm rot="5400000">
            <a:off x="-947057" y="3172638"/>
            <a:ext cx="2971800" cy="707886"/>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kern="0"/>
            </a:defPPr>
          </a:lstStyle>
          <a:p>
            <a:pPr algn="ctr"/>
            <a:r>
              <a:rPr lang="en-US" sz="4000" b="1" dirty="0">
                <a:solidFill>
                  <a:schemeClr val="bg1"/>
                </a:solidFill>
              </a:rPr>
              <a:t>˗ˏˋ ★ ˎˊ˗</a:t>
            </a:r>
            <a:endParaRPr lang="tr-TR" sz="4000" b="1" dirty="0">
              <a:solidFill>
                <a:schemeClr val="bg1"/>
              </a:solidFil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12</a:t>
            </a:fld>
            <a:endParaRPr lang="tr-TR" sz="2000" b="1" dirty="0">
              <a:solidFill>
                <a:schemeClr val="bg1"/>
              </a:solidFill>
            </a:endParaRPr>
          </a:p>
        </p:txBody>
      </p:sp>
      <p:pic>
        <p:nvPicPr>
          <p:cNvPr id="10" name="object 4"/>
          <p:cNvPicPr/>
          <p:nvPr/>
        </p:nvPicPr>
        <p:blipFill>
          <a:blip r:embed="rId2" cstate="print"/>
          <a:stretch>
            <a:fillRect/>
          </a:stretch>
        </p:blipFill>
        <p:spPr>
          <a:xfrm>
            <a:off x="1468858" y="138293"/>
            <a:ext cx="9567568" cy="6478483"/>
          </a:xfrm>
          <a:prstGeom prst="rect">
            <a:avLst/>
          </a:prstGeom>
        </p:spPr>
      </p:pic>
      <p:sp>
        <p:nvSpPr>
          <p:cNvPr id="13" name="object 3"/>
          <p:cNvSpPr txBox="1"/>
          <p:nvPr/>
        </p:nvSpPr>
        <p:spPr>
          <a:xfrm>
            <a:off x="4724400" y="6466916"/>
            <a:ext cx="306895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3483E3"/>
                </a:solidFill>
                <a:latin typeface="Microsoft Sans Serif"/>
                <a:cs typeface="Microsoft Sans Serif"/>
                <a:hlinkClick r:id="rId3"/>
              </a:rPr>
              <a:t>https://www.usom.gov.tr/adres</a:t>
            </a:r>
            <a:endParaRPr sz="1800" dirty="0">
              <a:latin typeface="Microsoft Sans Serif"/>
              <a:cs typeface="Microsoft Sans Serif"/>
            </a:endParaRPr>
          </a:p>
        </p:txBody>
      </p:sp>
    </p:spTree>
    <p:extLst>
      <p:ext uri="{BB962C8B-B14F-4D97-AF65-F5344CB8AC3E}">
        <p14:creationId xmlns:p14="http://schemas.microsoft.com/office/powerpoint/2010/main" val="35376664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453008" y="761666"/>
            <a:ext cx="9698354" cy="535403"/>
          </a:xfrm>
          <a:prstGeom prst="rect">
            <a:avLst/>
          </a:prstGeom>
        </p:spPr>
        <p:txBody>
          <a:bodyPr vert="horz" wrap="square" lIns="0" tIns="12065" rIns="0" bIns="0" rtlCol="0">
            <a:spAutoFit/>
          </a:bodyPr>
          <a:lstStyle/>
          <a:p>
            <a:pPr marL="82550" algn="r">
              <a:lnSpc>
                <a:spcPct val="100000"/>
              </a:lnSpc>
              <a:spcBef>
                <a:spcPts val="95"/>
              </a:spcBef>
            </a:pPr>
            <a:r>
              <a:rPr lang="tr-TR" dirty="0" smtClean="0"/>
              <a:t>KVKK Veri İhlali Bildirimi</a:t>
            </a:r>
            <a:endParaRPr spc="-1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Metin kutusu 5">
            <a:extLst>
              <a:ext uri="{FF2B5EF4-FFF2-40B4-BE49-F238E27FC236}">
                <a16:creationId xmlns:a16="http://schemas.microsoft.com/office/drawing/2014/main" id="{DB5140C7-DD1E-6220-9265-C7146482736F}"/>
              </a:ext>
            </a:extLst>
          </p:cNvPr>
          <p:cNvSpPr txBox="1"/>
          <p:nvPr/>
        </p:nvSpPr>
        <p:spPr>
          <a:xfrm rot="5400000">
            <a:off x="-947057" y="3172638"/>
            <a:ext cx="2971800" cy="707886"/>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kern="0"/>
            </a:defPPr>
          </a:lstStyle>
          <a:p>
            <a:pPr algn="ctr"/>
            <a:r>
              <a:rPr lang="en-US" sz="4000" b="1" dirty="0">
                <a:solidFill>
                  <a:schemeClr val="bg1"/>
                </a:solidFill>
              </a:rPr>
              <a:t>˗ˏˋ ★ ˎˊ˗</a:t>
            </a:r>
            <a:endParaRPr lang="tr-TR" sz="4000" b="1" dirty="0">
              <a:solidFill>
                <a:schemeClr val="bg1"/>
              </a:solidFill>
            </a:endParaRPr>
          </a:p>
        </p:txBody>
      </p:sp>
      <p:sp>
        <p:nvSpPr>
          <p:cNvPr id="12"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13</a:t>
            </a:fld>
            <a:endParaRPr lang="tr-TR" sz="2000" b="1" dirty="0">
              <a:solidFill>
                <a:schemeClr val="bg1"/>
              </a:solidFill>
            </a:endParaRPr>
          </a:p>
        </p:txBody>
      </p:sp>
      <p:pic>
        <p:nvPicPr>
          <p:cNvPr id="9" name="object 4"/>
          <p:cNvPicPr/>
          <p:nvPr/>
        </p:nvPicPr>
        <p:blipFill>
          <a:blip r:embed="rId2" cstate="print"/>
          <a:stretch>
            <a:fillRect/>
          </a:stretch>
        </p:blipFill>
        <p:spPr>
          <a:xfrm>
            <a:off x="3657600" y="1642115"/>
            <a:ext cx="5083439" cy="4980203"/>
          </a:xfrm>
          <a:prstGeom prst="rect">
            <a:avLst/>
          </a:prstGeom>
        </p:spPr>
      </p:pic>
      <p:sp>
        <p:nvSpPr>
          <p:cNvPr id="10" name="object 3"/>
          <p:cNvSpPr txBox="1"/>
          <p:nvPr/>
        </p:nvSpPr>
        <p:spPr>
          <a:xfrm>
            <a:off x="4814697" y="6497078"/>
            <a:ext cx="2860040"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3483E3"/>
                </a:solidFill>
                <a:latin typeface="Microsoft Sans Serif"/>
                <a:cs typeface="Microsoft Sans Serif"/>
                <a:hlinkClick r:id="rId3"/>
              </a:rPr>
              <a:t>https://kvkk.gov.tr/veri-</a:t>
            </a:r>
            <a:r>
              <a:rPr sz="1400" spc="-20" dirty="0">
                <a:solidFill>
                  <a:srgbClr val="3483E3"/>
                </a:solidFill>
                <a:latin typeface="Microsoft Sans Serif"/>
                <a:cs typeface="Microsoft Sans Serif"/>
                <a:hlinkClick r:id="rId3"/>
              </a:rPr>
              <a:t>ihlali-</a:t>
            </a:r>
            <a:r>
              <a:rPr sz="1400" spc="-10" dirty="0">
                <a:solidFill>
                  <a:srgbClr val="3483E3"/>
                </a:solidFill>
                <a:latin typeface="Microsoft Sans Serif"/>
                <a:cs typeface="Microsoft Sans Serif"/>
                <a:hlinkClick r:id="rId3"/>
              </a:rPr>
              <a:t>bildirimi/</a:t>
            </a:r>
            <a:endParaRPr sz="1400" dirty="0">
              <a:latin typeface="Microsoft Sans Serif"/>
              <a:cs typeface="Microsoft Sans Serif"/>
            </a:endParaRPr>
          </a:p>
        </p:txBody>
      </p:sp>
    </p:spTree>
    <p:extLst>
      <p:ext uri="{BB962C8B-B14F-4D97-AF65-F5344CB8AC3E}">
        <p14:creationId xmlns:p14="http://schemas.microsoft.com/office/powerpoint/2010/main" val="11040729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618488" y="3968496"/>
            <a:ext cx="9380220" cy="62865"/>
          </a:xfrm>
          <a:custGeom>
            <a:avLst/>
            <a:gdLst/>
            <a:ahLst/>
            <a:cxnLst/>
            <a:rect l="l" t="t" r="r" b="b"/>
            <a:pathLst>
              <a:path w="9380220" h="62864">
                <a:moveTo>
                  <a:pt x="9380219" y="0"/>
                </a:moveTo>
                <a:lnTo>
                  <a:pt x="0" y="0"/>
                </a:lnTo>
                <a:lnTo>
                  <a:pt x="0" y="62483"/>
                </a:lnTo>
                <a:lnTo>
                  <a:pt x="9380219" y="62483"/>
                </a:lnTo>
                <a:lnTo>
                  <a:pt x="9380219" y="0"/>
                </a:lnTo>
                <a:close/>
              </a:path>
            </a:pathLst>
          </a:custGeom>
          <a:solidFill>
            <a:srgbClr val="F88556"/>
          </a:solidFill>
        </p:spPr>
        <p:txBody>
          <a:bodyPr wrap="square" lIns="0" tIns="0" rIns="0" bIns="0" rtlCol="0"/>
          <a:lstStyle/>
          <a:p>
            <a:endParaRPr/>
          </a:p>
        </p:txBody>
      </p:sp>
      <p:sp>
        <p:nvSpPr>
          <p:cNvPr id="4" name="object 4"/>
          <p:cNvSpPr txBox="1"/>
          <p:nvPr/>
        </p:nvSpPr>
        <p:spPr>
          <a:xfrm>
            <a:off x="1618488" y="3163900"/>
            <a:ext cx="9302877" cy="766235"/>
          </a:xfrm>
          <a:prstGeom prst="rect">
            <a:avLst/>
          </a:prstGeom>
        </p:spPr>
        <p:txBody>
          <a:bodyPr vert="horz" wrap="square" lIns="0" tIns="12065" rIns="0" bIns="0" rtlCol="0">
            <a:spAutoFit/>
          </a:bodyPr>
          <a:lstStyle/>
          <a:p>
            <a:pPr marL="12700" algn="r">
              <a:lnSpc>
                <a:spcPct val="100000"/>
              </a:lnSpc>
              <a:spcBef>
                <a:spcPts val="95"/>
              </a:spcBef>
            </a:pPr>
            <a:r>
              <a:rPr lang="tr-TR" sz="4900" dirty="0" smtClean="0">
                <a:solidFill>
                  <a:srgbClr val="FFFFFF"/>
                </a:solidFill>
                <a:latin typeface="Arial"/>
                <a:cs typeface="Arial"/>
              </a:rPr>
              <a:t>İlk 15 Siber Saldırının Detayları</a:t>
            </a:r>
            <a:endParaRPr sz="4900" dirty="0">
              <a:latin typeface="Arial"/>
              <a:cs typeface="Arial"/>
            </a:endParaRPr>
          </a:p>
        </p:txBody>
      </p:sp>
      <p:sp>
        <p:nvSpPr>
          <p:cNvPr id="5" name="object 5"/>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7" name="Slayt Numarası Yer Tutucusu 11"/>
          <p:cNvSpPr>
            <a:spLocks noGrp="1"/>
          </p:cNvSpPr>
          <p:nvPr>
            <p:ph type="sldNum" sz="quarter" idx="7"/>
          </p:nvPr>
        </p:nvSpPr>
        <p:spPr>
          <a:xfrm>
            <a:off x="184900" y="228600"/>
            <a:ext cx="577100" cy="307777"/>
          </a:xfrm>
        </p:spPr>
        <p:txBody>
          <a:bodyPr/>
          <a:lstStyle/>
          <a:p>
            <a:r>
              <a:rPr lang="tr-TR" sz="2000" b="1" dirty="0" smtClean="0">
                <a:solidFill>
                  <a:schemeClr val="bg1"/>
                </a:solidFill>
              </a:rPr>
              <a:t>7</a:t>
            </a:r>
            <a:endParaRPr lang="tr-TR" sz="2000" b="1" dirty="0">
              <a:solidFill>
                <a:schemeClr val="bg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6988" y="828007"/>
            <a:ext cx="9813290" cy="443070"/>
          </a:xfrm>
          <a:prstGeom prst="rect">
            <a:avLst/>
          </a:prstGeom>
        </p:spPr>
        <p:txBody>
          <a:bodyPr vert="horz" wrap="square" lIns="0" tIns="12065" rIns="0" bIns="0" rtlCol="0">
            <a:spAutoFit/>
          </a:bodyPr>
          <a:lstStyle/>
          <a:p>
            <a:pPr algn="r"/>
            <a:r>
              <a:rPr lang="tr-TR" sz="2800" dirty="0"/>
              <a:t>1. Fidye Yazılımı Saldırıları (</a:t>
            </a:r>
            <a:r>
              <a:rPr lang="tr-TR" sz="2800" dirty="0" err="1"/>
              <a:t>Ransomware</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15</a:t>
            </a:fld>
            <a:endParaRPr lang="tr-TR" sz="2000" b="1" dirty="0">
              <a:solidFill>
                <a:schemeClr val="bg1"/>
              </a:solidFill>
            </a:endParaRPr>
          </a:p>
        </p:txBody>
      </p:sp>
      <p:sp>
        <p:nvSpPr>
          <p:cNvPr id="2" name="Dikdörtgen 1"/>
          <p:cNvSpPr/>
          <p:nvPr/>
        </p:nvSpPr>
        <p:spPr>
          <a:xfrm>
            <a:off x="1326988" y="1614236"/>
            <a:ext cx="9813290" cy="5078313"/>
          </a:xfrm>
          <a:prstGeom prst="rect">
            <a:avLst/>
          </a:prstGeom>
        </p:spPr>
        <p:txBody>
          <a:bodyPr wrap="square">
            <a:spAutoFit/>
          </a:bodyPr>
          <a:lstStyle/>
          <a:p>
            <a:pPr algn="just"/>
            <a:r>
              <a:rPr lang="tr-TR" b="1" dirty="0" smtClean="0">
                <a:solidFill>
                  <a:srgbClr val="FF0000"/>
                </a:solidFill>
              </a:rPr>
              <a:t>Tanım: </a:t>
            </a:r>
            <a:r>
              <a:rPr lang="tr-TR" dirty="0" smtClean="0"/>
              <a:t>Kurbanın verilerini şifreleyen veya sistemlere erişimi engelleyen kötü amaçlı yazılımlardır. Saldırganlar, verilerin şifresini çözmek veya erişimi geri vermek için fidye talep ederler. Modern </a:t>
            </a:r>
            <a:r>
              <a:rPr lang="tr-TR" dirty="0" err="1" smtClean="0"/>
              <a:t>ransomware</a:t>
            </a:r>
            <a:r>
              <a:rPr lang="tr-TR" dirty="0" smtClean="0"/>
              <a:t> türleri "çift şantaj" yöntemi kullanarak verileri hem şifreler hem de sızdırma tehdidiyle fidye talep eder.</a:t>
            </a:r>
          </a:p>
          <a:p>
            <a:pPr algn="just"/>
            <a:r>
              <a:rPr lang="tr-TR" b="1" dirty="0" smtClean="0"/>
              <a:t>Teknik:</a:t>
            </a:r>
            <a:r>
              <a:rPr lang="tr-TR" dirty="0" smtClean="0"/>
              <a:t> </a:t>
            </a:r>
            <a:r>
              <a:rPr lang="tr-TR" dirty="0" err="1" smtClean="0"/>
              <a:t>Ransomware</a:t>
            </a:r>
            <a:r>
              <a:rPr lang="tr-TR" dirty="0" smtClean="0"/>
              <a:t> genellikle </a:t>
            </a:r>
            <a:r>
              <a:rPr lang="tr-TR" dirty="0" err="1" smtClean="0"/>
              <a:t>phishing</a:t>
            </a:r>
            <a:r>
              <a:rPr lang="tr-TR" dirty="0" smtClean="0"/>
              <a:t> e-postaları, güvenlik açıkları (RDP, VPN) veya kötü amaçlı reklamlar (</a:t>
            </a:r>
            <a:r>
              <a:rPr lang="tr-TR" dirty="0" err="1" smtClean="0"/>
              <a:t>malvertising</a:t>
            </a:r>
            <a:r>
              <a:rPr lang="tr-TR" dirty="0" smtClean="0"/>
              <a:t>) yoluyla sisteme bulaşır. AES-256 veya RSA şifreleme algoritmaları kullanılarak dosyalar kilitlenir. Saldırganlar, </a:t>
            </a:r>
            <a:r>
              <a:rPr lang="tr-TR" dirty="0" err="1" smtClean="0"/>
              <a:t>Command</a:t>
            </a:r>
            <a:r>
              <a:rPr lang="tr-TR" dirty="0" smtClean="0"/>
              <a:t> &amp; Control (C2) sunucuları üzerinden şifre çözme anahtarlarını kontrol eder. </a:t>
            </a:r>
            <a:r>
              <a:rPr lang="tr-TR" dirty="0" err="1" smtClean="0"/>
              <a:t>Ransomware</a:t>
            </a:r>
            <a:r>
              <a:rPr lang="tr-TR" dirty="0" smtClean="0"/>
              <a:t>-as-a-Service (</a:t>
            </a:r>
            <a:r>
              <a:rPr lang="tr-TR" dirty="0" err="1" smtClean="0"/>
              <a:t>RaaS</a:t>
            </a:r>
            <a:r>
              <a:rPr lang="tr-TR" dirty="0" smtClean="0"/>
              <a:t>) modeli ile deneyimsiz saldırganlar bile hazır altyapıları kiralayabilir.</a:t>
            </a:r>
          </a:p>
          <a:p>
            <a:pPr algn="just"/>
            <a:endParaRPr lang="tr-TR" dirty="0" smtClean="0"/>
          </a:p>
          <a:p>
            <a:pPr algn="just"/>
            <a:r>
              <a:rPr lang="tr-TR" b="1" dirty="0" smtClean="0">
                <a:solidFill>
                  <a:srgbClr val="FF0000"/>
                </a:solidFill>
              </a:rPr>
              <a:t>Güncel Olay:</a:t>
            </a:r>
          </a:p>
          <a:p>
            <a:pPr algn="just"/>
            <a:r>
              <a:rPr lang="tr-TR" b="1" dirty="0" err="1" smtClean="0"/>
              <a:t>Change</a:t>
            </a:r>
            <a:r>
              <a:rPr lang="tr-TR" b="1" dirty="0" smtClean="0"/>
              <a:t> Healthcare Saldırısı (Şubat 2024):</a:t>
            </a:r>
            <a:r>
              <a:rPr lang="tr-TR" dirty="0" smtClean="0"/>
              <a:t> </a:t>
            </a:r>
            <a:r>
              <a:rPr lang="tr-TR" dirty="0" err="1" smtClean="0"/>
              <a:t>UnitedHealth</a:t>
            </a:r>
            <a:r>
              <a:rPr lang="tr-TR" dirty="0" smtClean="0"/>
              <a:t> </a:t>
            </a:r>
            <a:r>
              <a:rPr lang="tr-TR" dirty="0" err="1" smtClean="0"/>
              <a:t>Group'un</a:t>
            </a:r>
            <a:r>
              <a:rPr lang="tr-TR" dirty="0" smtClean="0"/>
              <a:t> bağlı kuruluşu </a:t>
            </a:r>
            <a:r>
              <a:rPr lang="tr-TR" dirty="0" err="1" smtClean="0"/>
              <a:t>Change</a:t>
            </a:r>
            <a:r>
              <a:rPr lang="tr-TR" dirty="0" smtClean="0"/>
              <a:t> Healthcare, ALPHV/</a:t>
            </a:r>
            <a:r>
              <a:rPr lang="tr-TR" dirty="0" err="1" smtClean="0"/>
              <a:t>BlackCat</a:t>
            </a:r>
            <a:r>
              <a:rPr lang="tr-TR" dirty="0" smtClean="0"/>
              <a:t> </a:t>
            </a:r>
            <a:r>
              <a:rPr lang="tr-TR" dirty="0" err="1" smtClean="0"/>
              <a:t>ransomware</a:t>
            </a:r>
            <a:r>
              <a:rPr lang="tr-TR" dirty="0" smtClean="0"/>
              <a:t> grubu tarafından saldırıya uğradı. 100 milyondan fazla kişinin hassas sağlık verileri (reçeteler, teşhisler, sigorta bilgileri) çalındı. Şirket 22 milyon dolar fidye ödedi ancak saldırganlar verileri yine de sızdırdı. ABD sağlık sisteminde reçete işlemleri günlerce durdu.</a:t>
            </a:r>
          </a:p>
          <a:p>
            <a:pPr algn="just"/>
            <a:r>
              <a:rPr lang="tr-TR" b="1" dirty="0" err="1" smtClean="0"/>
              <a:t>LockBit</a:t>
            </a:r>
            <a:r>
              <a:rPr lang="tr-TR" b="1" dirty="0" smtClean="0"/>
              <a:t> 3.0 Küresel Kampanya (2024):</a:t>
            </a:r>
            <a:r>
              <a:rPr lang="tr-TR" dirty="0" smtClean="0"/>
              <a:t> 2000'den fazla kurum etkilendi, toplam zarar 1 milyar doları aştı.</a:t>
            </a:r>
            <a:endParaRPr lang="tr-TR" dirty="0"/>
          </a:p>
        </p:txBody>
      </p:sp>
    </p:spTree>
    <p:extLst>
      <p:ext uri="{BB962C8B-B14F-4D97-AF65-F5344CB8AC3E}">
        <p14:creationId xmlns:p14="http://schemas.microsoft.com/office/powerpoint/2010/main" val="23294770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6988" y="828007"/>
            <a:ext cx="9813290" cy="443070"/>
          </a:xfrm>
          <a:prstGeom prst="rect">
            <a:avLst/>
          </a:prstGeom>
        </p:spPr>
        <p:txBody>
          <a:bodyPr vert="horz" wrap="square" lIns="0" tIns="12065" rIns="0" bIns="0" rtlCol="0">
            <a:spAutoFit/>
          </a:bodyPr>
          <a:lstStyle/>
          <a:p>
            <a:pPr algn="r"/>
            <a:r>
              <a:rPr lang="tr-TR" sz="2800" dirty="0"/>
              <a:t>2. Nesnelerin İnterneti (</a:t>
            </a:r>
            <a:r>
              <a:rPr lang="tr-TR" sz="2800" dirty="0" err="1"/>
              <a:t>IoT</a:t>
            </a:r>
            <a:r>
              <a:rPr lang="tr-TR" sz="2800" dirty="0"/>
              <a:t>) Güvenlik Açıkları</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16</a:t>
            </a:fld>
            <a:endParaRPr lang="tr-TR" sz="2000" b="1" dirty="0">
              <a:solidFill>
                <a:schemeClr val="bg1"/>
              </a:solidFill>
            </a:endParaRPr>
          </a:p>
        </p:txBody>
      </p:sp>
      <p:sp>
        <p:nvSpPr>
          <p:cNvPr id="5" name="Dikdörtgen 4"/>
          <p:cNvSpPr/>
          <p:nvPr/>
        </p:nvSpPr>
        <p:spPr>
          <a:xfrm>
            <a:off x="1326988" y="1614236"/>
            <a:ext cx="9802206" cy="4524315"/>
          </a:xfrm>
          <a:prstGeom prst="rect">
            <a:avLst/>
          </a:prstGeom>
        </p:spPr>
        <p:txBody>
          <a:bodyPr wrap="square">
            <a:spAutoFit/>
          </a:bodyPr>
          <a:lstStyle/>
          <a:p>
            <a:r>
              <a:rPr lang="tr-TR" b="1" dirty="0" smtClean="0">
                <a:solidFill>
                  <a:srgbClr val="FF0000"/>
                </a:solidFill>
              </a:rPr>
              <a:t>Tanım:</a:t>
            </a:r>
            <a:r>
              <a:rPr lang="tr-TR" dirty="0" smtClean="0">
                <a:solidFill>
                  <a:srgbClr val="FF0000"/>
                </a:solidFill>
              </a:rPr>
              <a:t> </a:t>
            </a:r>
            <a:r>
              <a:rPr lang="tr-TR" dirty="0" smtClean="0"/>
              <a:t>Akıllı ev cihazları, endüstriyel </a:t>
            </a:r>
            <a:r>
              <a:rPr lang="tr-TR" dirty="0" err="1" smtClean="0"/>
              <a:t>sensörler</a:t>
            </a:r>
            <a:r>
              <a:rPr lang="tr-TR" dirty="0" smtClean="0"/>
              <a:t>, güvenlik kameraları, medikal cihazlar gibi internete bağlı </a:t>
            </a:r>
            <a:r>
              <a:rPr lang="tr-TR" dirty="0" err="1" smtClean="0"/>
              <a:t>IoT</a:t>
            </a:r>
            <a:r>
              <a:rPr lang="tr-TR" dirty="0" smtClean="0"/>
              <a:t> cihazlarındaki güvenlik zayıflıklarıdır. Bu cihazlar genellikle zayıf parolalar, güncellenmeyen firmware ve güvensiz iletişim protokolleri ile çalışır, bu da onları siber saldırılara karşı savunmasız hale getirir.</a:t>
            </a:r>
          </a:p>
          <a:p>
            <a:r>
              <a:rPr lang="tr-TR" b="1" dirty="0" smtClean="0"/>
              <a:t>Teknik:</a:t>
            </a:r>
            <a:r>
              <a:rPr lang="tr-TR" dirty="0" smtClean="0"/>
              <a:t> </a:t>
            </a:r>
            <a:r>
              <a:rPr lang="tr-TR" dirty="0" err="1" smtClean="0"/>
              <a:t>IoT</a:t>
            </a:r>
            <a:r>
              <a:rPr lang="tr-TR" dirty="0" smtClean="0"/>
              <a:t> cihazları genellikle varsayılan parolalarla gelir (</a:t>
            </a:r>
            <a:r>
              <a:rPr lang="tr-TR" dirty="0" err="1" smtClean="0"/>
              <a:t>admin</a:t>
            </a:r>
            <a:r>
              <a:rPr lang="tr-TR" dirty="0" smtClean="0"/>
              <a:t>/</a:t>
            </a:r>
            <a:r>
              <a:rPr lang="tr-TR" dirty="0" err="1" smtClean="0"/>
              <a:t>admin</a:t>
            </a:r>
            <a:r>
              <a:rPr lang="tr-TR" dirty="0" smtClean="0"/>
              <a:t>, </a:t>
            </a:r>
            <a:r>
              <a:rPr lang="tr-TR" dirty="0" err="1" smtClean="0"/>
              <a:t>root</a:t>
            </a:r>
            <a:r>
              <a:rPr lang="tr-TR" dirty="0" smtClean="0"/>
              <a:t>/</a:t>
            </a:r>
            <a:r>
              <a:rPr lang="tr-TR" dirty="0" err="1" smtClean="0"/>
              <a:t>root</a:t>
            </a:r>
            <a:r>
              <a:rPr lang="tr-TR" dirty="0" smtClean="0"/>
              <a:t>). Firmware güncellemeleri nadirdir veya hiç yapılmaz. Telnet, HTTP gibi şifrelenmemiş protokoller kullanılır. </a:t>
            </a:r>
            <a:r>
              <a:rPr lang="tr-TR" dirty="0" err="1" smtClean="0"/>
              <a:t>Botnet</a:t>
            </a:r>
            <a:r>
              <a:rPr lang="tr-TR" dirty="0" smtClean="0"/>
              <a:t> operatörleri (</a:t>
            </a:r>
            <a:r>
              <a:rPr lang="tr-TR" dirty="0" err="1" smtClean="0"/>
              <a:t>Mirai</a:t>
            </a:r>
            <a:r>
              <a:rPr lang="tr-TR" dirty="0" smtClean="0"/>
              <a:t>, </a:t>
            </a:r>
            <a:r>
              <a:rPr lang="tr-TR" dirty="0" err="1" smtClean="0"/>
              <a:t>Mozi</a:t>
            </a:r>
            <a:r>
              <a:rPr lang="tr-TR" dirty="0" smtClean="0"/>
              <a:t>) otomatik tarama araçlarıyla zayıf </a:t>
            </a:r>
            <a:r>
              <a:rPr lang="tr-TR" dirty="0" err="1" smtClean="0"/>
              <a:t>IoT</a:t>
            </a:r>
            <a:r>
              <a:rPr lang="tr-TR" dirty="0" smtClean="0"/>
              <a:t> cihazlarını tespit eder ve </a:t>
            </a:r>
            <a:r>
              <a:rPr lang="tr-TR" dirty="0" err="1" smtClean="0"/>
              <a:t>DDoS</a:t>
            </a:r>
            <a:r>
              <a:rPr lang="tr-TR" dirty="0" smtClean="0"/>
              <a:t> saldırıları için </a:t>
            </a:r>
            <a:r>
              <a:rPr lang="tr-TR" dirty="0" err="1" smtClean="0"/>
              <a:t>zombi</a:t>
            </a:r>
            <a:r>
              <a:rPr lang="tr-TR" dirty="0" smtClean="0"/>
              <a:t> ağlar oluşturur. </a:t>
            </a:r>
            <a:r>
              <a:rPr lang="tr-TR" dirty="0" err="1" smtClean="0"/>
              <a:t>UPnP</a:t>
            </a:r>
            <a:r>
              <a:rPr lang="tr-TR" dirty="0" smtClean="0"/>
              <a:t> protokolü kötüye kullanılarak ağ içine sızılabilir. Bazı cihazlar </a:t>
            </a:r>
            <a:r>
              <a:rPr lang="tr-TR" dirty="0" err="1" smtClean="0"/>
              <a:t>hardcoded</a:t>
            </a:r>
            <a:r>
              <a:rPr lang="tr-TR" dirty="0" smtClean="0"/>
              <a:t> (sabit kodlanmış) kimlik bilgileri içerir.</a:t>
            </a:r>
          </a:p>
          <a:p>
            <a:endParaRPr lang="tr-TR" dirty="0" smtClean="0"/>
          </a:p>
          <a:p>
            <a:r>
              <a:rPr lang="tr-TR" b="1" dirty="0" smtClean="0">
                <a:solidFill>
                  <a:srgbClr val="FF0000"/>
                </a:solidFill>
              </a:rPr>
              <a:t>Güncel Olay:</a:t>
            </a:r>
            <a:endParaRPr lang="tr-TR" dirty="0" smtClean="0">
              <a:solidFill>
                <a:srgbClr val="FF0000"/>
              </a:solidFill>
            </a:endParaRPr>
          </a:p>
          <a:p>
            <a:pPr>
              <a:buFont typeface="Arial" panose="020B0604020202020204" pitchFamily="34" charset="0"/>
              <a:buChar char="•"/>
            </a:pPr>
            <a:r>
              <a:rPr lang="tr-TR" b="1" dirty="0" smtClean="0"/>
              <a:t>TP-Link </a:t>
            </a:r>
            <a:r>
              <a:rPr lang="tr-TR" b="1" dirty="0" err="1" smtClean="0"/>
              <a:t>Router</a:t>
            </a:r>
            <a:r>
              <a:rPr lang="tr-TR" b="1" dirty="0" smtClean="0"/>
              <a:t> Zafiyeti (CVE-2024-5035, Mart 2024):</a:t>
            </a:r>
            <a:r>
              <a:rPr lang="tr-TR" dirty="0" smtClean="0"/>
              <a:t> Milyonlarca TP-Link </a:t>
            </a:r>
            <a:r>
              <a:rPr lang="tr-TR" dirty="0" err="1" smtClean="0"/>
              <a:t>Archer</a:t>
            </a:r>
            <a:r>
              <a:rPr lang="tr-TR" dirty="0" smtClean="0"/>
              <a:t> serisinde kritik uzaktan kod çalıştırma açığı keşfedildi. Saldırganlar kimlik doğrulaması olmadan </a:t>
            </a:r>
            <a:r>
              <a:rPr lang="tr-TR" dirty="0" err="1" smtClean="0"/>
              <a:t>router'ı</a:t>
            </a:r>
            <a:r>
              <a:rPr lang="tr-TR" dirty="0" smtClean="0"/>
              <a:t> tam kontrol edebiliyor. Etkilenen cihazlar: </a:t>
            </a:r>
            <a:r>
              <a:rPr lang="tr-TR" dirty="0" err="1" smtClean="0"/>
              <a:t>Archer</a:t>
            </a:r>
            <a:r>
              <a:rPr lang="tr-TR" dirty="0" smtClean="0"/>
              <a:t> C5400X, AX6000 ve diğer popüler modeller.</a:t>
            </a:r>
          </a:p>
          <a:p>
            <a:pPr>
              <a:buFont typeface="Arial" panose="020B0604020202020204" pitchFamily="34" charset="0"/>
              <a:buChar char="•"/>
            </a:pPr>
            <a:r>
              <a:rPr lang="tr-TR" b="1" dirty="0" smtClean="0"/>
              <a:t>Akıllı Kapı Kilidi </a:t>
            </a:r>
            <a:r>
              <a:rPr lang="tr-TR" b="1" dirty="0" err="1" smtClean="0"/>
              <a:t>Hackleme</a:t>
            </a:r>
            <a:r>
              <a:rPr lang="tr-TR" b="1" dirty="0" smtClean="0"/>
              <a:t> (2024):</a:t>
            </a:r>
            <a:r>
              <a:rPr lang="tr-TR" dirty="0" smtClean="0"/>
              <a:t> Amazon Ring ve diğer akıllı kilit sistemlerinde Bluetooth açıkları bulundu, fiziksel güvenlik riski oluşturdu.</a:t>
            </a:r>
            <a:endParaRPr lang="tr-TR" dirty="0"/>
          </a:p>
        </p:txBody>
      </p:sp>
    </p:spTree>
    <p:extLst>
      <p:ext uri="{BB962C8B-B14F-4D97-AF65-F5344CB8AC3E}">
        <p14:creationId xmlns:p14="http://schemas.microsoft.com/office/powerpoint/2010/main" val="30119146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6988" y="828007"/>
            <a:ext cx="9813290" cy="443070"/>
          </a:xfrm>
          <a:prstGeom prst="rect">
            <a:avLst/>
          </a:prstGeom>
        </p:spPr>
        <p:txBody>
          <a:bodyPr vert="horz" wrap="square" lIns="0" tIns="12065" rIns="0" bIns="0" rtlCol="0">
            <a:spAutoFit/>
          </a:bodyPr>
          <a:lstStyle/>
          <a:p>
            <a:pPr algn="r"/>
            <a:r>
              <a:rPr lang="tr-TR" sz="2800" dirty="0"/>
              <a:t>3. Sosyal Mühendislik ve Kimlik Avı (</a:t>
            </a:r>
            <a:r>
              <a:rPr lang="tr-TR" sz="2800" dirty="0" err="1"/>
              <a:t>Phishing</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17</a:t>
            </a:fld>
            <a:endParaRPr lang="tr-TR" sz="2000" b="1" dirty="0">
              <a:solidFill>
                <a:schemeClr val="bg1"/>
              </a:solidFill>
            </a:endParaRPr>
          </a:p>
        </p:txBody>
      </p:sp>
      <p:sp>
        <p:nvSpPr>
          <p:cNvPr id="2" name="Dikdörtgen 1"/>
          <p:cNvSpPr/>
          <p:nvPr/>
        </p:nvSpPr>
        <p:spPr>
          <a:xfrm>
            <a:off x="1361625" y="1614236"/>
            <a:ext cx="9813290" cy="4801314"/>
          </a:xfrm>
          <a:prstGeom prst="rect">
            <a:avLst/>
          </a:prstGeom>
        </p:spPr>
        <p:txBody>
          <a:bodyPr wrap="square">
            <a:spAutoFit/>
          </a:bodyPr>
          <a:lstStyle/>
          <a:p>
            <a:r>
              <a:rPr lang="tr-TR" b="1" dirty="0" smtClean="0">
                <a:solidFill>
                  <a:srgbClr val="FF0000"/>
                </a:solidFill>
              </a:rPr>
              <a:t>Tanım:</a:t>
            </a:r>
            <a:r>
              <a:rPr lang="tr-TR" dirty="0" smtClean="0">
                <a:solidFill>
                  <a:srgbClr val="FF0000"/>
                </a:solidFill>
              </a:rPr>
              <a:t> </a:t>
            </a:r>
            <a:r>
              <a:rPr lang="tr-TR" dirty="0" smtClean="0"/>
              <a:t>İnsanların psikolojik zayıflıklarını kullanarak onları kandırma ve hassas bilgileri (şifreler, kredi kartı, kurumsal veriler) ele geçirme sanatıdır. E-posta (</a:t>
            </a:r>
            <a:r>
              <a:rPr lang="tr-TR" dirty="0" err="1" smtClean="0"/>
              <a:t>phishing</a:t>
            </a:r>
            <a:r>
              <a:rPr lang="tr-TR" dirty="0" smtClean="0"/>
              <a:t>), SMS (</a:t>
            </a:r>
            <a:r>
              <a:rPr lang="tr-TR" dirty="0" err="1" smtClean="0"/>
              <a:t>smishing</a:t>
            </a:r>
            <a:r>
              <a:rPr lang="tr-TR" dirty="0" smtClean="0"/>
              <a:t>), telefon (</a:t>
            </a:r>
            <a:r>
              <a:rPr lang="tr-TR" dirty="0" err="1" smtClean="0"/>
              <a:t>vishing</a:t>
            </a:r>
            <a:r>
              <a:rPr lang="tr-TR" dirty="0" smtClean="0"/>
              <a:t>) veya sosyal medya üzerinden gerçekleştirilir. Saldırganlar meşru kurum veya kişileri taklit ederek güven oluşturur ve </a:t>
            </a:r>
            <a:r>
              <a:rPr lang="tr-TR" dirty="0" err="1" smtClean="0"/>
              <a:t>aciliyet</a:t>
            </a:r>
            <a:r>
              <a:rPr lang="tr-TR" dirty="0" smtClean="0"/>
              <a:t> hissi yaratarak kurbana hızlı karar verdirtir.</a:t>
            </a:r>
          </a:p>
          <a:p>
            <a:r>
              <a:rPr lang="tr-TR" b="1" dirty="0" smtClean="0"/>
              <a:t>Teknik:</a:t>
            </a:r>
            <a:r>
              <a:rPr lang="tr-TR" dirty="0" smtClean="0"/>
              <a:t> </a:t>
            </a:r>
            <a:r>
              <a:rPr lang="tr-TR" dirty="0" err="1" smtClean="0"/>
              <a:t>Spear-phishing</a:t>
            </a:r>
            <a:r>
              <a:rPr lang="tr-TR" dirty="0" smtClean="0"/>
              <a:t> (hedefli saldırı) için OSINT (açık kaynak istihbaratı) kullanılarak hedef hakkında bilgi toplanır. E-posta </a:t>
            </a:r>
            <a:r>
              <a:rPr lang="tr-TR" dirty="0" err="1" smtClean="0"/>
              <a:t>spoofing</a:t>
            </a:r>
            <a:r>
              <a:rPr lang="tr-TR" dirty="0" smtClean="0"/>
              <a:t> ile gönderici adresi sahte gösterilir. </a:t>
            </a:r>
            <a:r>
              <a:rPr lang="tr-TR" dirty="0" err="1" smtClean="0"/>
              <a:t>Homograph</a:t>
            </a:r>
            <a:r>
              <a:rPr lang="tr-TR" dirty="0" smtClean="0"/>
              <a:t> saldırılarında benzer görünen karakterlerle sahte domain oluşturulur (apple.com → </a:t>
            </a:r>
            <a:r>
              <a:rPr lang="az-Cyrl-AZ" dirty="0" smtClean="0"/>
              <a:t>а</a:t>
            </a:r>
            <a:r>
              <a:rPr lang="tr-TR" dirty="0" smtClean="0"/>
              <a:t>pple.com - Kiril 'a'). Kötü amaçlı makrolar içeren Office belgeleri veya </a:t>
            </a:r>
            <a:r>
              <a:rPr lang="tr-TR" dirty="0" err="1" smtClean="0"/>
              <a:t>PDF'ler</a:t>
            </a:r>
            <a:r>
              <a:rPr lang="tr-TR" dirty="0" smtClean="0"/>
              <a:t> kullanılır. </a:t>
            </a:r>
            <a:r>
              <a:rPr lang="tr-TR" dirty="0" err="1" smtClean="0"/>
              <a:t>Credential</a:t>
            </a:r>
            <a:r>
              <a:rPr lang="tr-TR" dirty="0" smtClean="0"/>
              <a:t> </a:t>
            </a:r>
            <a:r>
              <a:rPr lang="tr-TR" dirty="0" err="1" smtClean="0"/>
              <a:t>harvesting</a:t>
            </a:r>
            <a:r>
              <a:rPr lang="tr-TR" dirty="0" smtClean="0"/>
              <a:t> için sahte </a:t>
            </a:r>
            <a:r>
              <a:rPr lang="tr-TR" dirty="0" err="1" smtClean="0"/>
              <a:t>login</a:t>
            </a:r>
            <a:r>
              <a:rPr lang="tr-TR" dirty="0" smtClean="0"/>
              <a:t> sayfaları (</a:t>
            </a:r>
            <a:r>
              <a:rPr lang="tr-TR" dirty="0" err="1" smtClean="0"/>
              <a:t>phishing</a:t>
            </a:r>
            <a:r>
              <a:rPr lang="tr-TR" dirty="0" smtClean="0"/>
              <a:t> kitleri) hazırlanır. Business </a:t>
            </a:r>
            <a:r>
              <a:rPr lang="tr-TR" dirty="0" err="1" smtClean="0"/>
              <a:t>Email</a:t>
            </a:r>
            <a:r>
              <a:rPr lang="tr-TR" dirty="0" smtClean="0"/>
              <a:t> </a:t>
            </a:r>
            <a:r>
              <a:rPr lang="tr-TR" dirty="0" err="1" smtClean="0"/>
              <a:t>Compromise</a:t>
            </a:r>
            <a:r>
              <a:rPr lang="tr-TR" dirty="0" smtClean="0"/>
              <a:t> (BEC) saldırılarında CEO veya CFO taklit edilerek büyük transferler yapılır.</a:t>
            </a:r>
          </a:p>
          <a:p>
            <a:endParaRPr lang="tr-TR" dirty="0" smtClean="0"/>
          </a:p>
          <a:p>
            <a:r>
              <a:rPr lang="tr-TR" b="1" dirty="0" smtClean="0">
                <a:solidFill>
                  <a:srgbClr val="FF0000"/>
                </a:solidFill>
              </a:rPr>
              <a:t>Güncel Olay:</a:t>
            </a:r>
          </a:p>
          <a:p>
            <a:pPr>
              <a:buFont typeface="Arial" panose="020B0604020202020204" pitchFamily="34" charset="0"/>
              <a:buChar char="•"/>
            </a:pPr>
            <a:r>
              <a:rPr lang="tr-TR" b="1" dirty="0" smtClean="0"/>
              <a:t>Microsoft </a:t>
            </a:r>
            <a:r>
              <a:rPr lang="tr-TR" b="1" dirty="0" err="1" smtClean="0"/>
              <a:t>Teams</a:t>
            </a:r>
            <a:r>
              <a:rPr lang="tr-TR" b="1" dirty="0" smtClean="0"/>
              <a:t> </a:t>
            </a:r>
            <a:r>
              <a:rPr lang="tr-TR" b="1" dirty="0" err="1" smtClean="0"/>
              <a:t>Phishing</a:t>
            </a:r>
            <a:r>
              <a:rPr lang="tr-TR" b="1" dirty="0" smtClean="0"/>
              <a:t> Kampanyası (Mayıs 2024):</a:t>
            </a:r>
            <a:r>
              <a:rPr lang="tr-TR" dirty="0" smtClean="0"/>
              <a:t> Saldırganlar, Microsoft </a:t>
            </a:r>
            <a:r>
              <a:rPr lang="tr-TR" dirty="0" err="1" smtClean="0"/>
              <a:t>Teams</a:t>
            </a:r>
            <a:r>
              <a:rPr lang="tr-TR" dirty="0" smtClean="0"/>
              <a:t> üzerinden sahte toplantı davetleri göndererek kullanıcıları kötü amaçlı linklere yönlendirdi. "Acil toplantı" bahanesiyle kimlik bilgileri çalındı. 10.000'den fazla kurumsal hesap tehlikeye girdi.</a:t>
            </a:r>
          </a:p>
          <a:p>
            <a:pPr>
              <a:buFont typeface="Arial" panose="020B0604020202020204" pitchFamily="34" charset="0"/>
              <a:buChar char="•"/>
            </a:pPr>
            <a:r>
              <a:rPr lang="tr-TR" b="1" dirty="0" smtClean="0"/>
              <a:t>QR Kod </a:t>
            </a:r>
            <a:r>
              <a:rPr lang="tr-TR" b="1" dirty="0" err="1" smtClean="0"/>
              <a:t>Phishing</a:t>
            </a:r>
            <a:r>
              <a:rPr lang="tr-TR" b="1" dirty="0" smtClean="0"/>
              <a:t> (</a:t>
            </a:r>
            <a:r>
              <a:rPr lang="tr-TR" b="1" dirty="0" err="1" smtClean="0"/>
              <a:t>Quishing</a:t>
            </a:r>
            <a:r>
              <a:rPr lang="tr-TR" b="1" dirty="0" smtClean="0"/>
              <a:t>, 2024):</a:t>
            </a:r>
            <a:r>
              <a:rPr lang="tr-TR" dirty="0" smtClean="0"/>
              <a:t> PDF eklerindeki QR kodlar taranarak mobil cihazlarda güvenlik kontrollerini atlayan saldırılar arttı. %587 artış kaydedildi.</a:t>
            </a:r>
            <a:endParaRPr lang="tr-TR" dirty="0"/>
          </a:p>
        </p:txBody>
      </p:sp>
    </p:spTree>
    <p:extLst>
      <p:ext uri="{BB962C8B-B14F-4D97-AF65-F5344CB8AC3E}">
        <p14:creationId xmlns:p14="http://schemas.microsoft.com/office/powerpoint/2010/main" val="22958523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6988" y="828007"/>
            <a:ext cx="9813290" cy="443070"/>
          </a:xfrm>
          <a:prstGeom prst="rect">
            <a:avLst/>
          </a:prstGeom>
        </p:spPr>
        <p:txBody>
          <a:bodyPr vert="horz" wrap="square" lIns="0" tIns="12065" rIns="0" bIns="0" rtlCol="0">
            <a:spAutoFit/>
          </a:bodyPr>
          <a:lstStyle/>
          <a:p>
            <a:pPr algn="r"/>
            <a:r>
              <a:rPr lang="tr-TR" sz="2800" dirty="0"/>
              <a:t>4. Tedarik Zinciri Saldırıları (</a:t>
            </a:r>
            <a:r>
              <a:rPr lang="tr-TR" sz="2800" dirty="0" err="1"/>
              <a:t>Supply</a:t>
            </a:r>
            <a:r>
              <a:rPr lang="tr-TR" sz="2800" dirty="0"/>
              <a:t> </a:t>
            </a:r>
            <a:r>
              <a:rPr lang="tr-TR" sz="2800" dirty="0" err="1"/>
              <a:t>Chain</a:t>
            </a:r>
            <a:r>
              <a:rPr lang="tr-TR" sz="2800" dirty="0"/>
              <a:t> </a:t>
            </a:r>
            <a:r>
              <a:rPr lang="tr-TR" sz="2800" dirty="0" err="1"/>
              <a:t>Attacks</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18</a:t>
            </a:fld>
            <a:endParaRPr lang="tr-TR" sz="2000" b="1" dirty="0">
              <a:solidFill>
                <a:schemeClr val="bg1"/>
              </a:solidFill>
            </a:endParaRPr>
          </a:p>
        </p:txBody>
      </p:sp>
      <p:sp>
        <p:nvSpPr>
          <p:cNvPr id="3" name="Dikdörtgen 2"/>
          <p:cNvSpPr/>
          <p:nvPr/>
        </p:nvSpPr>
        <p:spPr>
          <a:xfrm>
            <a:off x="1338072" y="1614236"/>
            <a:ext cx="9813290" cy="5078313"/>
          </a:xfrm>
          <a:prstGeom prst="rect">
            <a:avLst/>
          </a:prstGeom>
        </p:spPr>
        <p:txBody>
          <a:bodyPr wrap="square">
            <a:spAutoFit/>
          </a:bodyPr>
          <a:lstStyle/>
          <a:p>
            <a:r>
              <a:rPr lang="tr-TR" b="1" dirty="0" smtClean="0">
                <a:solidFill>
                  <a:srgbClr val="FF0000"/>
                </a:solidFill>
              </a:rPr>
              <a:t>Tanım:</a:t>
            </a:r>
            <a:r>
              <a:rPr lang="tr-TR" dirty="0" smtClean="0">
                <a:solidFill>
                  <a:srgbClr val="FF0000"/>
                </a:solidFill>
              </a:rPr>
              <a:t> </a:t>
            </a:r>
            <a:r>
              <a:rPr lang="tr-TR" dirty="0" smtClean="0"/>
              <a:t>Hedef organizasyona doğrudan saldırmak yerine, güvenilir tedarikçileri, yazılım sağlayıcılarını veya üçüncü taraf hizmetleri </a:t>
            </a:r>
            <a:r>
              <a:rPr lang="tr-TR" dirty="0" err="1" smtClean="0"/>
              <a:t>kompromize</a:t>
            </a:r>
            <a:r>
              <a:rPr lang="tr-TR" dirty="0" smtClean="0"/>
              <a:t> ederek hedefe ulaşma stratejisidir. Bir yazılım güncellemesi, donanım bileşeni veya bulut servisi üzerinden zararlı kod tüm müşterilere yayılabilir. Güven ilişkisi istismar edildiği için tespit edilmesi zordur.</a:t>
            </a:r>
          </a:p>
          <a:p>
            <a:r>
              <a:rPr lang="tr-TR" b="1" dirty="0" smtClean="0"/>
              <a:t>Teknik:</a:t>
            </a:r>
            <a:r>
              <a:rPr lang="tr-TR" dirty="0" smtClean="0"/>
              <a:t> Software </a:t>
            </a:r>
            <a:r>
              <a:rPr lang="tr-TR" dirty="0" err="1" smtClean="0"/>
              <a:t>supply</a:t>
            </a:r>
            <a:r>
              <a:rPr lang="tr-TR" dirty="0" smtClean="0"/>
              <a:t> </a:t>
            </a:r>
            <a:r>
              <a:rPr lang="tr-TR" dirty="0" err="1" smtClean="0"/>
              <a:t>chain</a:t>
            </a:r>
            <a:r>
              <a:rPr lang="tr-TR" dirty="0" smtClean="0"/>
              <a:t> saldırılarında kaynak kod deposuna (</a:t>
            </a:r>
            <a:r>
              <a:rPr lang="tr-TR" dirty="0" err="1" smtClean="0"/>
              <a:t>GitHub</a:t>
            </a:r>
            <a:r>
              <a:rPr lang="tr-TR" dirty="0" smtClean="0"/>
              <a:t>, </a:t>
            </a:r>
            <a:r>
              <a:rPr lang="tr-TR" dirty="0" err="1" smtClean="0"/>
              <a:t>GitLab</a:t>
            </a:r>
            <a:r>
              <a:rPr lang="tr-TR" dirty="0" smtClean="0"/>
              <a:t>) sızılır veya </a:t>
            </a:r>
            <a:r>
              <a:rPr lang="tr-TR" dirty="0" err="1" smtClean="0"/>
              <a:t>build</a:t>
            </a:r>
            <a:r>
              <a:rPr lang="tr-TR" dirty="0" smtClean="0"/>
              <a:t> </a:t>
            </a:r>
            <a:r>
              <a:rPr lang="tr-TR" dirty="0" err="1" smtClean="0"/>
              <a:t>pipeline</a:t>
            </a:r>
            <a:r>
              <a:rPr lang="tr-TR" dirty="0" smtClean="0"/>
              <a:t> manipüle edilir. </a:t>
            </a:r>
            <a:r>
              <a:rPr lang="tr-TR" dirty="0" err="1" smtClean="0"/>
              <a:t>Dependency</a:t>
            </a:r>
            <a:r>
              <a:rPr lang="tr-TR" dirty="0" smtClean="0"/>
              <a:t> </a:t>
            </a:r>
            <a:r>
              <a:rPr lang="tr-TR" dirty="0" err="1" smtClean="0"/>
              <a:t>confusion</a:t>
            </a:r>
            <a:r>
              <a:rPr lang="tr-TR" dirty="0" smtClean="0"/>
              <a:t> ile sahte paketler resmi paket depolarına (</a:t>
            </a:r>
            <a:r>
              <a:rPr lang="tr-TR" dirty="0" err="1" smtClean="0"/>
              <a:t>npm</a:t>
            </a:r>
            <a:r>
              <a:rPr lang="tr-TR" dirty="0" smtClean="0"/>
              <a:t>, </a:t>
            </a:r>
            <a:r>
              <a:rPr lang="tr-TR" dirty="0" err="1" smtClean="0"/>
              <a:t>PyPI</a:t>
            </a:r>
            <a:r>
              <a:rPr lang="tr-TR" dirty="0" smtClean="0"/>
              <a:t>) yüklenir. </a:t>
            </a:r>
            <a:r>
              <a:rPr lang="tr-TR" dirty="0" err="1" smtClean="0"/>
              <a:t>Code</a:t>
            </a:r>
            <a:r>
              <a:rPr lang="tr-TR" dirty="0" smtClean="0"/>
              <a:t> </a:t>
            </a:r>
            <a:r>
              <a:rPr lang="tr-TR" dirty="0" err="1" smtClean="0"/>
              <a:t>signing</a:t>
            </a:r>
            <a:r>
              <a:rPr lang="tr-TR" dirty="0" smtClean="0"/>
              <a:t> sertifikaları çalınarak kötü amaçlı yazılımlar imzalanır. Hardware </a:t>
            </a:r>
            <a:r>
              <a:rPr lang="tr-TR" dirty="0" err="1" smtClean="0"/>
              <a:t>supply</a:t>
            </a:r>
            <a:r>
              <a:rPr lang="tr-TR" dirty="0" smtClean="0"/>
              <a:t> </a:t>
            </a:r>
            <a:r>
              <a:rPr lang="tr-TR" dirty="0" err="1" smtClean="0"/>
              <a:t>chain'de</a:t>
            </a:r>
            <a:r>
              <a:rPr lang="tr-TR" dirty="0" smtClean="0"/>
              <a:t> ise üretim aşamasında veya nakliye sırasında cihazlara </a:t>
            </a:r>
            <a:r>
              <a:rPr lang="tr-TR" dirty="0" err="1" smtClean="0"/>
              <a:t>backdoor</a:t>
            </a:r>
            <a:r>
              <a:rPr lang="tr-TR" dirty="0" smtClean="0"/>
              <a:t> eklenir. </a:t>
            </a:r>
            <a:r>
              <a:rPr lang="tr-TR" dirty="0" err="1" smtClean="0"/>
              <a:t>Managed</a:t>
            </a:r>
            <a:r>
              <a:rPr lang="tr-TR" dirty="0" smtClean="0"/>
              <a:t> Service Provider (MSP) saldırılarında tek bir hizmet sağlayıcı üzerinden yüzlerce müşteriye erişilir.</a:t>
            </a:r>
          </a:p>
          <a:p>
            <a:endParaRPr lang="tr-TR" dirty="0" smtClean="0"/>
          </a:p>
          <a:p>
            <a:r>
              <a:rPr lang="tr-TR" b="1" dirty="0" smtClean="0">
                <a:solidFill>
                  <a:srgbClr val="FF0000"/>
                </a:solidFill>
              </a:rPr>
              <a:t>Güncel Olay:</a:t>
            </a:r>
            <a:endParaRPr lang="tr-TR" dirty="0" smtClean="0">
              <a:solidFill>
                <a:srgbClr val="FF0000"/>
              </a:solidFill>
            </a:endParaRPr>
          </a:p>
          <a:p>
            <a:pPr>
              <a:buFont typeface="Arial" panose="020B0604020202020204" pitchFamily="34" charset="0"/>
              <a:buChar char="•"/>
            </a:pPr>
            <a:r>
              <a:rPr lang="tr-TR" b="1" dirty="0" smtClean="0"/>
              <a:t>3CX Telefon Yazılımı Saldırısı (Mart 2024):</a:t>
            </a:r>
            <a:r>
              <a:rPr lang="tr-TR" dirty="0" smtClean="0"/>
              <a:t> Popüler </a:t>
            </a:r>
            <a:r>
              <a:rPr lang="tr-TR" dirty="0" err="1" smtClean="0"/>
              <a:t>VoIP</a:t>
            </a:r>
            <a:r>
              <a:rPr lang="tr-TR" dirty="0" smtClean="0"/>
              <a:t> yazılımı 3CX'in resmi güncellemesi, kuzey Kore bağlantılı </a:t>
            </a:r>
            <a:r>
              <a:rPr lang="tr-TR" dirty="0" err="1" smtClean="0"/>
              <a:t>Lazarus</a:t>
            </a:r>
            <a:r>
              <a:rPr lang="tr-TR" dirty="0" smtClean="0"/>
              <a:t> grubu tarafından zararlı kodla </a:t>
            </a:r>
            <a:r>
              <a:rPr lang="tr-TR" dirty="0" err="1" smtClean="0"/>
              <a:t>enfekte</a:t>
            </a:r>
            <a:r>
              <a:rPr lang="tr-TR" dirty="0" smtClean="0"/>
              <a:t> edildi. 600.000 şirket ve 12 milyon kullanıcı etkilendi. Saldırganlar, yazılımın </a:t>
            </a:r>
            <a:r>
              <a:rPr lang="tr-TR" dirty="0" err="1" smtClean="0"/>
              <a:t>build</a:t>
            </a:r>
            <a:r>
              <a:rPr lang="tr-TR" dirty="0" smtClean="0"/>
              <a:t> sürecine sızdılar ve dijital imza ile onaylanmış </a:t>
            </a:r>
            <a:r>
              <a:rPr lang="tr-TR" dirty="0" err="1" smtClean="0"/>
              <a:t>trojan</a:t>
            </a:r>
            <a:r>
              <a:rPr lang="tr-TR" dirty="0" smtClean="0"/>
              <a:t> dağıttılar.</a:t>
            </a:r>
          </a:p>
          <a:p>
            <a:pPr>
              <a:buFont typeface="Arial" panose="020B0604020202020204" pitchFamily="34" charset="0"/>
              <a:buChar char="•"/>
            </a:pPr>
            <a:r>
              <a:rPr lang="tr-TR" b="1" dirty="0" smtClean="0"/>
              <a:t>XZ </a:t>
            </a:r>
            <a:r>
              <a:rPr lang="tr-TR" b="1" dirty="0" err="1" smtClean="0"/>
              <a:t>Utils</a:t>
            </a:r>
            <a:r>
              <a:rPr lang="tr-TR" b="1" dirty="0" smtClean="0"/>
              <a:t> </a:t>
            </a:r>
            <a:r>
              <a:rPr lang="tr-TR" b="1" dirty="0" err="1" smtClean="0"/>
              <a:t>Backdoor</a:t>
            </a:r>
            <a:r>
              <a:rPr lang="tr-TR" b="1" dirty="0" smtClean="0"/>
              <a:t> (CVE-2024-3094, Nisan 2024):</a:t>
            </a:r>
            <a:r>
              <a:rPr lang="tr-TR" dirty="0" smtClean="0"/>
              <a:t> Yaygın kullanılan Linux sıkıştırma kütüphanesine </a:t>
            </a:r>
            <a:r>
              <a:rPr lang="tr-TR" dirty="0" err="1" smtClean="0"/>
              <a:t>backdoor</a:t>
            </a:r>
            <a:r>
              <a:rPr lang="tr-TR" dirty="0" smtClean="0"/>
              <a:t> eklenmesi son anda tespit edildi, potansiyel etki küresel olacaktı.</a:t>
            </a:r>
            <a:endParaRPr lang="tr-TR" dirty="0"/>
          </a:p>
        </p:txBody>
      </p:sp>
    </p:spTree>
    <p:extLst>
      <p:ext uri="{BB962C8B-B14F-4D97-AF65-F5344CB8AC3E}">
        <p14:creationId xmlns:p14="http://schemas.microsoft.com/office/powerpoint/2010/main" val="1977126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6988" y="828007"/>
            <a:ext cx="9813290" cy="443070"/>
          </a:xfrm>
          <a:prstGeom prst="rect">
            <a:avLst/>
          </a:prstGeom>
        </p:spPr>
        <p:txBody>
          <a:bodyPr vert="horz" wrap="square" lIns="0" tIns="12065" rIns="0" bIns="0" rtlCol="0">
            <a:spAutoFit/>
          </a:bodyPr>
          <a:lstStyle/>
          <a:p>
            <a:pPr algn="r"/>
            <a:r>
              <a:rPr lang="tr-TR" sz="2800" dirty="0"/>
              <a:t>5. Yapay Zeka Destekli Siber Tehditler</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19</a:t>
            </a:fld>
            <a:endParaRPr lang="tr-TR" sz="2000" b="1" dirty="0">
              <a:solidFill>
                <a:schemeClr val="bg1"/>
              </a:solidFill>
            </a:endParaRPr>
          </a:p>
        </p:txBody>
      </p:sp>
      <p:sp>
        <p:nvSpPr>
          <p:cNvPr id="100" name="Dikdörtgen 99"/>
          <p:cNvSpPr/>
          <p:nvPr/>
        </p:nvSpPr>
        <p:spPr>
          <a:xfrm>
            <a:off x="1340843" y="1614236"/>
            <a:ext cx="9813290" cy="5078313"/>
          </a:xfrm>
          <a:prstGeom prst="rect">
            <a:avLst/>
          </a:prstGeom>
        </p:spPr>
        <p:txBody>
          <a:bodyPr wrap="square">
            <a:spAutoFit/>
          </a:bodyPr>
          <a:lstStyle/>
          <a:p>
            <a:r>
              <a:rPr lang="tr-TR" b="1" dirty="0" smtClean="0">
                <a:solidFill>
                  <a:srgbClr val="FF0000"/>
                </a:solidFill>
              </a:rPr>
              <a:t>Tanım:</a:t>
            </a:r>
            <a:r>
              <a:rPr lang="tr-TR" dirty="0" smtClean="0">
                <a:solidFill>
                  <a:srgbClr val="FF0000"/>
                </a:solidFill>
              </a:rPr>
              <a:t> </a:t>
            </a:r>
            <a:r>
              <a:rPr lang="tr-TR" dirty="0" smtClean="0"/>
              <a:t>Yapay zeka ve makine öğrenimi teknolojilerinin saldırganlar tarafından daha sofistike, otomatik ve ölçeklenebilir saldırılar geliştirmek için kullanılmasıdır. AI, </a:t>
            </a:r>
            <a:r>
              <a:rPr lang="tr-TR" dirty="0" err="1" smtClean="0"/>
              <a:t>deepfake</a:t>
            </a:r>
            <a:r>
              <a:rPr lang="tr-TR" dirty="0" smtClean="0"/>
              <a:t> oluşturma, otomatik </a:t>
            </a:r>
            <a:r>
              <a:rPr lang="tr-TR" dirty="0" err="1" smtClean="0"/>
              <a:t>phishing</a:t>
            </a:r>
            <a:r>
              <a:rPr lang="tr-TR" dirty="0" smtClean="0"/>
              <a:t> e-postaları yazma, güvenlik sistemlerini atlama, </a:t>
            </a:r>
            <a:r>
              <a:rPr lang="tr-TR" dirty="0" err="1" smtClean="0"/>
              <a:t>adaptif</a:t>
            </a:r>
            <a:r>
              <a:rPr lang="tr-TR" dirty="0" smtClean="0"/>
              <a:t> </a:t>
            </a:r>
            <a:r>
              <a:rPr lang="tr-TR" dirty="0" err="1" smtClean="0"/>
              <a:t>malware</a:t>
            </a:r>
            <a:r>
              <a:rPr lang="tr-TR" dirty="0" smtClean="0"/>
              <a:t> geliştirme ve hedef seçiminde kullanılır. Aynı zamanda </a:t>
            </a:r>
            <a:r>
              <a:rPr lang="tr-TR" dirty="0" err="1" smtClean="0"/>
              <a:t>ChatGPT</a:t>
            </a:r>
            <a:r>
              <a:rPr lang="tr-TR" dirty="0" smtClean="0"/>
              <a:t> gibi araçların </a:t>
            </a:r>
            <a:r>
              <a:rPr lang="tr-TR" dirty="0" err="1" smtClean="0"/>
              <a:t>jailbreak</a:t>
            </a:r>
            <a:r>
              <a:rPr lang="tr-TR" dirty="0" smtClean="0"/>
              <a:t> edilerek kötü amaçlı kod üretimi de bu kategoriye girer.</a:t>
            </a:r>
          </a:p>
          <a:p>
            <a:r>
              <a:rPr lang="tr-TR" b="1" dirty="0" smtClean="0"/>
              <a:t>Teknik:</a:t>
            </a:r>
            <a:r>
              <a:rPr lang="tr-TR" dirty="0" smtClean="0"/>
              <a:t> </a:t>
            </a:r>
            <a:r>
              <a:rPr lang="tr-TR" dirty="0" err="1" smtClean="0"/>
              <a:t>Generative</a:t>
            </a:r>
            <a:r>
              <a:rPr lang="tr-TR" dirty="0" smtClean="0"/>
              <a:t> AI (GPT, DALL-E) kullanılarak ikna edici </a:t>
            </a:r>
            <a:r>
              <a:rPr lang="tr-TR" dirty="0" err="1" smtClean="0"/>
              <a:t>phishing</a:t>
            </a:r>
            <a:r>
              <a:rPr lang="tr-TR" dirty="0" smtClean="0"/>
              <a:t> içerikleri otomatik üretilir. </a:t>
            </a:r>
            <a:r>
              <a:rPr lang="tr-TR" dirty="0" err="1" smtClean="0"/>
              <a:t>Deepfake</a:t>
            </a:r>
            <a:r>
              <a:rPr lang="tr-TR" dirty="0" smtClean="0"/>
              <a:t> teknolojisi ile ses (</a:t>
            </a:r>
            <a:r>
              <a:rPr lang="tr-TR" dirty="0" err="1" smtClean="0"/>
              <a:t>voice</a:t>
            </a:r>
            <a:r>
              <a:rPr lang="tr-TR" dirty="0" smtClean="0"/>
              <a:t> </a:t>
            </a:r>
            <a:r>
              <a:rPr lang="tr-TR" dirty="0" err="1" smtClean="0"/>
              <a:t>cloning</a:t>
            </a:r>
            <a:r>
              <a:rPr lang="tr-TR" dirty="0" smtClean="0"/>
              <a:t>) ve video (</a:t>
            </a:r>
            <a:r>
              <a:rPr lang="tr-TR" dirty="0" err="1" smtClean="0"/>
              <a:t>face</a:t>
            </a:r>
            <a:r>
              <a:rPr lang="tr-TR" dirty="0" smtClean="0"/>
              <a:t> swap) sahtekarları oluşturulur. </a:t>
            </a:r>
            <a:r>
              <a:rPr lang="tr-TR" dirty="0" err="1" smtClean="0"/>
              <a:t>Adversarial</a:t>
            </a:r>
            <a:r>
              <a:rPr lang="tr-TR" dirty="0" smtClean="0"/>
              <a:t> </a:t>
            </a:r>
            <a:r>
              <a:rPr lang="tr-TR" dirty="0" err="1" smtClean="0"/>
              <a:t>machine</a:t>
            </a:r>
            <a:r>
              <a:rPr lang="tr-TR" dirty="0" smtClean="0"/>
              <a:t> </a:t>
            </a:r>
            <a:r>
              <a:rPr lang="tr-TR" dirty="0" err="1" smtClean="0"/>
              <a:t>learning</a:t>
            </a:r>
            <a:r>
              <a:rPr lang="tr-TR" dirty="0" smtClean="0"/>
              <a:t> ile güvenlik sistemlerinin AI modellerine karşı düşmanca örnekler üretilir. </a:t>
            </a:r>
            <a:r>
              <a:rPr lang="tr-TR" dirty="0" err="1" smtClean="0"/>
              <a:t>Polymorphic</a:t>
            </a:r>
            <a:r>
              <a:rPr lang="tr-TR" dirty="0" smtClean="0"/>
              <a:t> </a:t>
            </a:r>
            <a:r>
              <a:rPr lang="tr-TR" dirty="0" err="1" smtClean="0"/>
              <a:t>malware</a:t>
            </a:r>
            <a:r>
              <a:rPr lang="tr-TR" dirty="0" smtClean="0"/>
              <a:t>, ML kullanarak her enfeksiyonda değişir ve imza tabanlı </a:t>
            </a:r>
            <a:r>
              <a:rPr lang="tr-TR" dirty="0" err="1" smtClean="0"/>
              <a:t>antivirüsleri</a:t>
            </a:r>
            <a:r>
              <a:rPr lang="tr-TR" dirty="0" smtClean="0"/>
              <a:t> atlatır. AI-</a:t>
            </a:r>
            <a:r>
              <a:rPr lang="tr-TR" dirty="0" err="1" smtClean="0"/>
              <a:t>powered</a:t>
            </a:r>
            <a:r>
              <a:rPr lang="tr-TR" dirty="0" smtClean="0"/>
              <a:t> </a:t>
            </a:r>
            <a:r>
              <a:rPr lang="tr-TR" dirty="0" err="1" smtClean="0"/>
              <a:t>password</a:t>
            </a:r>
            <a:r>
              <a:rPr lang="tr-TR" dirty="0" smtClean="0"/>
              <a:t> </a:t>
            </a:r>
            <a:r>
              <a:rPr lang="tr-TR" dirty="0" err="1" smtClean="0"/>
              <a:t>cracking</a:t>
            </a:r>
            <a:r>
              <a:rPr lang="tr-TR" dirty="0" smtClean="0"/>
              <a:t> ile parola kırma hızı artırılır. </a:t>
            </a:r>
            <a:r>
              <a:rPr lang="tr-TR" dirty="0" err="1" smtClean="0"/>
              <a:t>Automated</a:t>
            </a:r>
            <a:r>
              <a:rPr lang="tr-TR" dirty="0" smtClean="0"/>
              <a:t> </a:t>
            </a:r>
            <a:r>
              <a:rPr lang="tr-TR" dirty="0" err="1" smtClean="0"/>
              <a:t>vulnerability</a:t>
            </a:r>
            <a:r>
              <a:rPr lang="tr-TR" dirty="0" smtClean="0"/>
              <a:t> </a:t>
            </a:r>
            <a:r>
              <a:rPr lang="tr-TR" dirty="0" err="1" smtClean="0"/>
              <a:t>scanning</a:t>
            </a:r>
            <a:r>
              <a:rPr lang="tr-TR" dirty="0" smtClean="0"/>
              <a:t> ve </a:t>
            </a:r>
            <a:r>
              <a:rPr lang="tr-TR" dirty="0" err="1" smtClean="0"/>
              <a:t>exploitation</a:t>
            </a:r>
            <a:r>
              <a:rPr lang="tr-TR" dirty="0" smtClean="0"/>
              <a:t> için AI kullanılır.</a:t>
            </a:r>
          </a:p>
          <a:p>
            <a:endParaRPr lang="tr-TR" dirty="0" smtClean="0"/>
          </a:p>
          <a:p>
            <a:r>
              <a:rPr lang="tr-TR" b="1" dirty="0" smtClean="0">
                <a:solidFill>
                  <a:srgbClr val="FF0000"/>
                </a:solidFill>
              </a:rPr>
              <a:t>Güncel Olay:</a:t>
            </a:r>
            <a:endParaRPr lang="tr-TR" dirty="0" smtClean="0">
              <a:solidFill>
                <a:srgbClr val="FF0000"/>
              </a:solidFill>
            </a:endParaRPr>
          </a:p>
          <a:p>
            <a:pPr>
              <a:buFont typeface="Arial" panose="020B0604020202020204" pitchFamily="34" charset="0"/>
              <a:buChar char="•"/>
            </a:pPr>
            <a:r>
              <a:rPr lang="tr-TR" b="1" dirty="0" smtClean="0"/>
              <a:t>Hong Kong </a:t>
            </a:r>
            <a:r>
              <a:rPr lang="tr-TR" b="1" dirty="0" err="1" smtClean="0"/>
              <a:t>Deepfake</a:t>
            </a:r>
            <a:r>
              <a:rPr lang="tr-TR" b="1" dirty="0" smtClean="0"/>
              <a:t> CFO Dolandırıcılığı (Şubat 2024):</a:t>
            </a:r>
            <a:r>
              <a:rPr lang="tr-TR" dirty="0" smtClean="0"/>
              <a:t> Bir şirketin finans çalışanı, </a:t>
            </a:r>
            <a:r>
              <a:rPr lang="tr-TR" dirty="0" err="1" smtClean="0"/>
              <a:t>deepfake</a:t>
            </a:r>
            <a:r>
              <a:rPr lang="tr-TR" dirty="0" smtClean="0"/>
              <a:t> teknolojisi kullanılarak oluşturulan sahte video konferans toplantısına katıldı. CFO ve diğer yöneticiler gibi görünen yapay zeka tabanlı </a:t>
            </a:r>
            <a:r>
              <a:rPr lang="tr-TR" dirty="0" err="1" smtClean="0"/>
              <a:t>deepfake'ler</a:t>
            </a:r>
            <a:r>
              <a:rPr lang="tr-TR" dirty="0" smtClean="0"/>
              <a:t>, çalışanı 25.6 milyon dolar transfer yapmaya ikna etti. Gerçek zamanlı, çok katılımcılı </a:t>
            </a:r>
            <a:r>
              <a:rPr lang="tr-TR" dirty="0" err="1" smtClean="0"/>
              <a:t>deepfake</a:t>
            </a:r>
            <a:r>
              <a:rPr lang="tr-TR" dirty="0" smtClean="0"/>
              <a:t> kullanılan ilk büyük dolandırıcılık vakası.</a:t>
            </a:r>
            <a:endParaRPr lang="tr-TR" dirty="0"/>
          </a:p>
        </p:txBody>
      </p:sp>
    </p:spTree>
    <p:extLst>
      <p:ext uri="{BB962C8B-B14F-4D97-AF65-F5344CB8AC3E}">
        <p14:creationId xmlns:p14="http://schemas.microsoft.com/office/powerpoint/2010/main" val="20577431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382488"/>
            <a:ext cx="9813290" cy="873957"/>
          </a:xfrm>
          <a:prstGeom prst="rect">
            <a:avLst/>
          </a:prstGeom>
        </p:spPr>
        <p:txBody>
          <a:bodyPr vert="horz" wrap="square" lIns="0" tIns="12065" rIns="0" bIns="0" rtlCol="0">
            <a:spAutoFit/>
          </a:bodyPr>
          <a:lstStyle/>
          <a:p>
            <a:pPr algn="r"/>
            <a:r>
              <a:rPr lang="en-US" sz="2800" dirty="0"/>
              <a:t>6. </a:t>
            </a:r>
            <a:r>
              <a:rPr lang="en-US" sz="2800" dirty="0" err="1"/>
              <a:t>Gelişmiş</a:t>
            </a:r>
            <a:r>
              <a:rPr lang="en-US" sz="2800" dirty="0"/>
              <a:t> </a:t>
            </a:r>
            <a:r>
              <a:rPr lang="en-US" sz="2800" dirty="0" err="1"/>
              <a:t>Kalıcı</a:t>
            </a:r>
            <a:r>
              <a:rPr lang="en-US" sz="2800" dirty="0"/>
              <a:t> </a:t>
            </a:r>
            <a:r>
              <a:rPr lang="en-US" sz="2800" dirty="0" err="1" smtClean="0"/>
              <a:t>Tehditler</a:t>
            </a:r>
            <a:r>
              <a:rPr lang="tr-TR" sz="2800" dirty="0" smtClean="0"/>
              <a:t/>
            </a:r>
            <a:br>
              <a:rPr lang="tr-TR" sz="2800" dirty="0" smtClean="0"/>
            </a:br>
            <a:r>
              <a:rPr lang="en-US" sz="2800" dirty="0" smtClean="0"/>
              <a:t>(APT </a:t>
            </a:r>
            <a:r>
              <a:rPr lang="en-US" sz="2800" dirty="0"/>
              <a:t>- Advanced Persistent Threats)</a:t>
            </a:r>
            <a:endParaRPr lang="tr-TR" sz="280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20</a:t>
            </a:fld>
            <a:endParaRPr lang="tr-TR" sz="2000" b="1" dirty="0">
              <a:solidFill>
                <a:schemeClr val="bg1"/>
              </a:solidFill>
            </a:endParaRPr>
          </a:p>
        </p:txBody>
      </p:sp>
      <p:sp>
        <p:nvSpPr>
          <p:cNvPr id="2" name="Dikdörtgen 1"/>
          <p:cNvSpPr/>
          <p:nvPr/>
        </p:nvSpPr>
        <p:spPr>
          <a:xfrm>
            <a:off x="1338072" y="1614236"/>
            <a:ext cx="9813290" cy="5078313"/>
          </a:xfrm>
          <a:prstGeom prst="rect">
            <a:avLst/>
          </a:prstGeom>
        </p:spPr>
        <p:txBody>
          <a:bodyPr wrap="square">
            <a:spAutoFit/>
          </a:bodyPr>
          <a:lstStyle/>
          <a:p>
            <a:r>
              <a:rPr lang="tr-TR" b="1" dirty="0" smtClean="0">
                <a:solidFill>
                  <a:srgbClr val="FF0000"/>
                </a:solidFill>
              </a:rPr>
              <a:t>Tanım:</a:t>
            </a:r>
            <a:r>
              <a:rPr lang="tr-TR" dirty="0" smtClean="0">
                <a:solidFill>
                  <a:srgbClr val="FF0000"/>
                </a:solidFill>
              </a:rPr>
              <a:t> </a:t>
            </a:r>
            <a:r>
              <a:rPr lang="tr-TR" dirty="0" smtClean="0"/>
              <a:t>Uzun vadeli, hedefe özel, yüksek düzeyde organize edilmiş ve genellikle devlet destekli siber casusluk operasyonlarıdır. APT grupları, aylarca veya yıllarca hedef ağda gizlice kalabilir, hassas bilgileri sürekli olarak sızdırabilir. Hedefler genellikle devlet kurumları, savunma sanayii, kritik altyapılar, enerji şirketleri ve büyük teknoloji firmalarıdır.</a:t>
            </a:r>
          </a:p>
          <a:p>
            <a:r>
              <a:rPr lang="tr-TR" b="1" dirty="0" smtClean="0"/>
              <a:t>Teknik:</a:t>
            </a:r>
            <a:r>
              <a:rPr lang="tr-TR" dirty="0" smtClean="0"/>
              <a:t> APT saldırıları </a:t>
            </a:r>
            <a:r>
              <a:rPr lang="tr-TR" dirty="0" err="1" smtClean="0"/>
              <a:t>multi-stage</a:t>
            </a:r>
            <a:r>
              <a:rPr lang="tr-TR" dirty="0" smtClean="0"/>
              <a:t> (çok aşamalı) gerçekleşir: keşif, ilk sızma (</a:t>
            </a:r>
            <a:r>
              <a:rPr lang="tr-TR" dirty="0" err="1" smtClean="0"/>
              <a:t>spear-phishing</a:t>
            </a:r>
            <a:r>
              <a:rPr lang="tr-TR" dirty="0" smtClean="0"/>
              <a:t>, </a:t>
            </a:r>
            <a:r>
              <a:rPr lang="tr-TR" dirty="0" err="1" smtClean="0"/>
              <a:t>zero-day</a:t>
            </a:r>
            <a:r>
              <a:rPr lang="tr-TR" dirty="0" smtClean="0"/>
              <a:t>), tutunma (</a:t>
            </a:r>
            <a:r>
              <a:rPr lang="tr-TR" dirty="0" err="1" smtClean="0"/>
              <a:t>persistence</a:t>
            </a:r>
            <a:r>
              <a:rPr lang="tr-TR" dirty="0" smtClean="0"/>
              <a:t>), yetki yükseltme, </a:t>
            </a:r>
            <a:r>
              <a:rPr lang="tr-TR" dirty="0" err="1" smtClean="0"/>
              <a:t>lateral</a:t>
            </a:r>
            <a:r>
              <a:rPr lang="tr-TR" dirty="0" smtClean="0"/>
              <a:t> </a:t>
            </a:r>
            <a:r>
              <a:rPr lang="tr-TR" dirty="0" err="1" smtClean="0"/>
              <a:t>movement</a:t>
            </a:r>
            <a:r>
              <a:rPr lang="tr-TR" dirty="0" smtClean="0"/>
              <a:t> (yanal hareket), veri toplama ve sızdırma. </a:t>
            </a:r>
            <a:r>
              <a:rPr lang="tr-TR" dirty="0" err="1" smtClean="0"/>
              <a:t>Living-off-the-land</a:t>
            </a:r>
            <a:r>
              <a:rPr lang="tr-TR" dirty="0" smtClean="0"/>
              <a:t> (</a:t>
            </a:r>
            <a:r>
              <a:rPr lang="tr-TR" dirty="0" err="1" smtClean="0"/>
              <a:t>LotL</a:t>
            </a:r>
            <a:r>
              <a:rPr lang="tr-TR" dirty="0" smtClean="0"/>
              <a:t>) teknikleri ile sistemin kendi araçları (</a:t>
            </a:r>
            <a:r>
              <a:rPr lang="tr-TR" dirty="0" err="1" smtClean="0"/>
              <a:t>PowerShell</a:t>
            </a:r>
            <a:r>
              <a:rPr lang="tr-TR" dirty="0" smtClean="0"/>
              <a:t>, WMI, </a:t>
            </a:r>
            <a:r>
              <a:rPr lang="tr-TR" dirty="0" err="1" smtClean="0"/>
              <a:t>PsExec</a:t>
            </a:r>
            <a:r>
              <a:rPr lang="tr-TR" dirty="0" smtClean="0"/>
              <a:t>) kullanılarak tespit zorlaştırılır. </a:t>
            </a:r>
            <a:r>
              <a:rPr lang="tr-TR" dirty="0" err="1" smtClean="0"/>
              <a:t>Covert</a:t>
            </a:r>
            <a:r>
              <a:rPr lang="tr-TR" dirty="0" smtClean="0"/>
              <a:t> </a:t>
            </a:r>
            <a:r>
              <a:rPr lang="tr-TR" dirty="0" err="1" smtClean="0"/>
              <a:t>communication</a:t>
            </a:r>
            <a:r>
              <a:rPr lang="tr-TR" dirty="0" smtClean="0"/>
              <a:t> için </a:t>
            </a:r>
            <a:r>
              <a:rPr lang="tr-TR" dirty="0" err="1" smtClean="0"/>
              <a:t>steganografi</a:t>
            </a:r>
            <a:r>
              <a:rPr lang="tr-TR" dirty="0" smtClean="0"/>
              <a:t>, DNS </a:t>
            </a:r>
            <a:r>
              <a:rPr lang="tr-TR" dirty="0" err="1" smtClean="0"/>
              <a:t>tunneling</a:t>
            </a:r>
            <a:r>
              <a:rPr lang="tr-TR" dirty="0" smtClean="0"/>
              <a:t>, HTTPS kullanılır. Memory-</a:t>
            </a:r>
            <a:r>
              <a:rPr lang="tr-TR" dirty="0" err="1" smtClean="0"/>
              <a:t>only</a:t>
            </a:r>
            <a:r>
              <a:rPr lang="tr-TR" dirty="0" smtClean="0"/>
              <a:t> </a:t>
            </a:r>
            <a:r>
              <a:rPr lang="tr-TR" dirty="0" err="1" smtClean="0"/>
              <a:t>malware</a:t>
            </a:r>
            <a:r>
              <a:rPr lang="tr-TR" dirty="0" smtClean="0"/>
              <a:t> kullanarak disk yazma işlemi yapılmaz. </a:t>
            </a:r>
            <a:r>
              <a:rPr lang="tr-TR" dirty="0" err="1" smtClean="0"/>
              <a:t>Fileless</a:t>
            </a:r>
            <a:r>
              <a:rPr lang="tr-TR" dirty="0" smtClean="0"/>
              <a:t> </a:t>
            </a:r>
            <a:r>
              <a:rPr lang="tr-TR" dirty="0" err="1" smtClean="0"/>
              <a:t>malware</a:t>
            </a:r>
            <a:r>
              <a:rPr lang="tr-TR" dirty="0" smtClean="0"/>
              <a:t> ile </a:t>
            </a:r>
            <a:r>
              <a:rPr lang="tr-TR" dirty="0" err="1" smtClean="0"/>
              <a:t>antivirüs</a:t>
            </a:r>
            <a:r>
              <a:rPr lang="tr-TR" dirty="0" smtClean="0"/>
              <a:t> atlatılır.</a:t>
            </a:r>
          </a:p>
          <a:p>
            <a:endParaRPr lang="tr-TR" dirty="0" smtClean="0"/>
          </a:p>
          <a:p>
            <a:r>
              <a:rPr lang="tr-TR" b="1" dirty="0" smtClean="0">
                <a:solidFill>
                  <a:srgbClr val="FF0000"/>
                </a:solidFill>
              </a:rPr>
              <a:t>Güncel Olay:</a:t>
            </a:r>
            <a:endParaRPr lang="tr-TR" dirty="0" smtClean="0">
              <a:solidFill>
                <a:srgbClr val="FF0000"/>
              </a:solidFill>
            </a:endParaRPr>
          </a:p>
          <a:p>
            <a:pPr>
              <a:buFont typeface="Arial" panose="020B0604020202020204" pitchFamily="34" charset="0"/>
              <a:buChar char="•"/>
            </a:pPr>
            <a:r>
              <a:rPr lang="tr-TR" b="1" dirty="0" smtClean="0"/>
              <a:t>Volt </a:t>
            </a:r>
            <a:r>
              <a:rPr lang="tr-TR" b="1" dirty="0" err="1" smtClean="0"/>
              <a:t>Typhoon</a:t>
            </a:r>
            <a:r>
              <a:rPr lang="tr-TR" b="1" dirty="0" smtClean="0"/>
              <a:t> Operasyonu (Mayıs 2024):</a:t>
            </a:r>
            <a:r>
              <a:rPr lang="tr-TR" dirty="0" smtClean="0"/>
              <a:t> Çin bağlantılı APT grubu, ABD'de kritik altyapıları (elektrik şebekeleri, su sistemleri, ulaşım, telekomünikasyon) hedef aldı. Guam'daki askeri üslerin iletişim ağlarına sızdılar. Microsoft ve CISA ortak rapor yayınladı. Grup, yakalanmamak için ağ cihazlarını (</a:t>
            </a:r>
            <a:r>
              <a:rPr lang="tr-TR" dirty="0" err="1" smtClean="0"/>
              <a:t>router</a:t>
            </a:r>
            <a:r>
              <a:rPr lang="tr-TR" dirty="0" smtClean="0"/>
              <a:t>, firewall) </a:t>
            </a:r>
            <a:r>
              <a:rPr lang="tr-TR" dirty="0" err="1" smtClean="0"/>
              <a:t>kompromize</a:t>
            </a:r>
            <a:r>
              <a:rPr lang="tr-TR" dirty="0" smtClean="0"/>
              <a:t> etti ve </a:t>
            </a:r>
            <a:r>
              <a:rPr lang="tr-TR" dirty="0" err="1" smtClean="0"/>
              <a:t>living-off-the-land</a:t>
            </a:r>
            <a:r>
              <a:rPr lang="tr-TR" dirty="0" smtClean="0"/>
              <a:t> teknikleri kullandı.</a:t>
            </a:r>
          </a:p>
          <a:p>
            <a:pPr>
              <a:buFont typeface="Arial" panose="020B0604020202020204" pitchFamily="34" charset="0"/>
              <a:buChar char="•"/>
            </a:pPr>
            <a:r>
              <a:rPr lang="tr-TR" b="1" dirty="0" err="1" smtClean="0"/>
              <a:t>Lazarus</a:t>
            </a:r>
            <a:r>
              <a:rPr lang="tr-TR" b="1" dirty="0" smtClean="0"/>
              <a:t> </a:t>
            </a:r>
            <a:r>
              <a:rPr lang="tr-TR" b="1" dirty="0" err="1" smtClean="0"/>
              <a:t>Group</a:t>
            </a:r>
            <a:r>
              <a:rPr lang="tr-TR" b="1" dirty="0" smtClean="0"/>
              <a:t> (2024 devam ediyor):</a:t>
            </a:r>
            <a:r>
              <a:rPr lang="tr-TR" dirty="0" smtClean="0"/>
              <a:t> Kuzey Kore bağlantılı grup, kripto borsalarından 200+ milyon dolar çaldı, nükleer program finansmanı şüphesi var.</a:t>
            </a:r>
            <a:endParaRPr lang="tr-TR" dirty="0"/>
          </a:p>
        </p:txBody>
      </p:sp>
    </p:spTree>
    <p:extLst>
      <p:ext uri="{BB962C8B-B14F-4D97-AF65-F5344CB8AC3E}">
        <p14:creationId xmlns:p14="http://schemas.microsoft.com/office/powerpoint/2010/main" val="10057951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6988" y="828007"/>
            <a:ext cx="9813290" cy="443070"/>
          </a:xfrm>
          <a:prstGeom prst="rect">
            <a:avLst/>
          </a:prstGeom>
        </p:spPr>
        <p:txBody>
          <a:bodyPr vert="horz" wrap="square" lIns="0" tIns="12065" rIns="0" bIns="0" rtlCol="0">
            <a:spAutoFit/>
          </a:bodyPr>
          <a:lstStyle/>
          <a:p>
            <a:pPr algn="r"/>
            <a:r>
              <a:rPr lang="tr-TR" sz="2800" dirty="0"/>
              <a:t>7. Sıfırıncı Gün Açıkları (Zero-</a:t>
            </a:r>
            <a:r>
              <a:rPr lang="tr-TR" sz="2800" dirty="0" err="1"/>
              <a:t>Day</a:t>
            </a:r>
            <a:r>
              <a:rPr lang="tr-TR" sz="2800" dirty="0"/>
              <a:t> </a:t>
            </a:r>
            <a:r>
              <a:rPr lang="tr-TR" sz="2800" dirty="0" err="1"/>
              <a:t>Exploits</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21</a:t>
            </a:fld>
            <a:endParaRPr lang="tr-TR" sz="2000" b="1" dirty="0">
              <a:solidFill>
                <a:schemeClr val="bg1"/>
              </a:solidFill>
            </a:endParaRPr>
          </a:p>
        </p:txBody>
      </p:sp>
      <p:sp>
        <p:nvSpPr>
          <p:cNvPr id="2" name="Dikdörtgen 1"/>
          <p:cNvSpPr/>
          <p:nvPr/>
        </p:nvSpPr>
        <p:spPr>
          <a:xfrm>
            <a:off x="1326988" y="1614236"/>
            <a:ext cx="9813290" cy="4801314"/>
          </a:xfrm>
          <a:prstGeom prst="rect">
            <a:avLst/>
          </a:prstGeom>
        </p:spPr>
        <p:txBody>
          <a:bodyPr wrap="square">
            <a:spAutoFit/>
          </a:bodyPr>
          <a:lstStyle/>
          <a:p>
            <a:r>
              <a:rPr lang="tr-TR" b="1" dirty="0" smtClean="0">
                <a:solidFill>
                  <a:srgbClr val="FF0000"/>
                </a:solidFill>
              </a:rPr>
              <a:t>Tanım:</a:t>
            </a:r>
            <a:r>
              <a:rPr lang="tr-TR" dirty="0" smtClean="0">
                <a:solidFill>
                  <a:srgbClr val="FF0000"/>
                </a:solidFill>
              </a:rPr>
              <a:t> </a:t>
            </a:r>
            <a:r>
              <a:rPr lang="tr-TR" dirty="0" smtClean="0"/>
              <a:t>Yazılım geliştiricilerinin henüz farkında olmadığı veya yamasını yayınlamadığı güvenlik açıklarıdır. "Sıfırıncı gün" terimi, geliştiricilerin açığı öğrendikten sonra düzeltme için sıfır gün zamanları olduğunu ifade eder. Bu açıklar son derece değerlidir çünkü savunma yoktur. Genellikle devlet destekli gruplar, siber silah şirketleri veya organize suç örgütleri tarafından kullanılır.</a:t>
            </a:r>
          </a:p>
          <a:p>
            <a:r>
              <a:rPr lang="tr-TR" b="1" dirty="0" smtClean="0"/>
              <a:t>Teknik:</a:t>
            </a:r>
            <a:r>
              <a:rPr lang="tr-TR" dirty="0" smtClean="0"/>
              <a:t> Zero-</a:t>
            </a:r>
            <a:r>
              <a:rPr lang="tr-TR" dirty="0" err="1" smtClean="0"/>
              <a:t>day</a:t>
            </a:r>
            <a:r>
              <a:rPr lang="tr-TR" dirty="0" smtClean="0"/>
              <a:t> açıkları genellikle </a:t>
            </a:r>
            <a:r>
              <a:rPr lang="tr-TR" dirty="0" err="1" smtClean="0"/>
              <a:t>fuzzing</a:t>
            </a:r>
            <a:r>
              <a:rPr lang="tr-TR" dirty="0" smtClean="0"/>
              <a:t> (otomatik test), </a:t>
            </a:r>
            <a:r>
              <a:rPr lang="tr-TR" dirty="0" err="1" smtClean="0"/>
              <a:t>reverse</a:t>
            </a:r>
            <a:r>
              <a:rPr lang="tr-TR" dirty="0" smtClean="0"/>
              <a:t> </a:t>
            </a:r>
            <a:r>
              <a:rPr lang="tr-TR" dirty="0" err="1" smtClean="0"/>
              <a:t>engineering</a:t>
            </a:r>
            <a:r>
              <a:rPr lang="tr-TR" dirty="0" smtClean="0"/>
              <a:t>, kod analizi veya </a:t>
            </a:r>
            <a:r>
              <a:rPr lang="tr-TR" dirty="0" err="1" smtClean="0"/>
              <a:t>white</a:t>
            </a:r>
            <a:r>
              <a:rPr lang="tr-TR" dirty="0" smtClean="0"/>
              <a:t>-hat araştırmacıların keşifleri sonucu bulunur. Saldırganlar </a:t>
            </a:r>
            <a:r>
              <a:rPr lang="tr-TR" dirty="0" err="1" smtClean="0"/>
              <a:t>exploit</a:t>
            </a:r>
            <a:r>
              <a:rPr lang="tr-TR" dirty="0" smtClean="0"/>
              <a:t> </a:t>
            </a:r>
            <a:r>
              <a:rPr lang="tr-TR" dirty="0" err="1" smtClean="0"/>
              <a:t>chain</a:t>
            </a:r>
            <a:r>
              <a:rPr lang="tr-TR" dirty="0" smtClean="0"/>
              <a:t> (açık zinciri) oluşturarak birden fazla </a:t>
            </a:r>
            <a:r>
              <a:rPr lang="tr-TR" dirty="0" err="1" smtClean="0"/>
              <a:t>zero-day'i</a:t>
            </a:r>
            <a:r>
              <a:rPr lang="tr-TR" dirty="0" smtClean="0"/>
              <a:t> kombine kullanır. Browser </a:t>
            </a:r>
            <a:r>
              <a:rPr lang="tr-TR" dirty="0" err="1" smtClean="0"/>
              <a:t>zero-day'leri</a:t>
            </a:r>
            <a:r>
              <a:rPr lang="tr-TR" dirty="0" smtClean="0"/>
              <a:t> ile </a:t>
            </a:r>
            <a:r>
              <a:rPr lang="tr-TR" dirty="0" err="1" smtClean="0"/>
              <a:t>drive-by</a:t>
            </a:r>
            <a:r>
              <a:rPr lang="tr-TR" dirty="0" smtClean="0"/>
              <a:t> </a:t>
            </a:r>
            <a:r>
              <a:rPr lang="tr-TR" dirty="0" err="1" smtClean="0"/>
              <a:t>download</a:t>
            </a:r>
            <a:r>
              <a:rPr lang="tr-TR" dirty="0" smtClean="0"/>
              <a:t> saldırıları, OS </a:t>
            </a:r>
            <a:r>
              <a:rPr lang="tr-TR" dirty="0" err="1" smtClean="0"/>
              <a:t>zero-day'leri</a:t>
            </a:r>
            <a:r>
              <a:rPr lang="tr-TR" dirty="0" smtClean="0"/>
              <a:t> ile </a:t>
            </a:r>
            <a:r>
              <a:rPr lang="tr-TR" dirty="0" err="1" smtClean="0"/>
              <a:t>privilege</a:t>
            </a:r>
            <a:r>
              <a:rPr lang="tr-TR" dirty="0" smtClean="0"/>
              <a:t> </a:t>
            </a:r>
            <a:r>
              <a:rPr lang="tr-TR" dirty="0" err="1" smtClean="0"/>
              <a:t>escalation</a:t>
            </a:r>
            <a:r>
              <a:rPr lang="tr-TR" dirty="0" smtClean="0"/>
              <a:t>, network </a:t>
            </a:r>
            <a:r>
              <a:rPr lang="tr-TR" dirty="0" err="1" smtClean="0"/>
              <a:t>device</a:t>
            </a:r>
            <a:r>
              <a:rPr lang="tr-TR" dirty="0" smtClean="0"/>
              <a:t> </a:t>
            </a:r>
            <a:r>
              <a:rPr lang="tr-TR" dirty="0" err="1" smtClean="0"/>
              <a:t>zero-day'leri</a:t>
            </a:r>
            <a:r>
              <a:rPr lang="tr-TR" dirty="0" smtClean="0"/>
              <a:t> ile ağ sızması gerçekleştirilir. CVSS skorları genellikle 9.0-10.0 arasındadır. </a:t>
            </a:r>
            <a:r>
              <a:rPr lang="tr-TR" dirty="0" err="1" smtClean="0"/>
              <a:t>Exploit</a:t>
            </a:r>
            <a:r>
              <a:rPr lang="tr-TR" dirty="0" smtClean="0"/>
              <a:t> kitleri hazırlanarak otomatik saldırılar yapılır.</a:t>
            </a:r>
          </a:p>
          <a:p>
            <a:endParaRPr lang="tr-TR" dirty="0" smtClean="0"/>
          </a:p>
          <a:p>
            <a:r>
              <a:rPr lang="tr-TR" b="1" dirty="0" smtClean="0">
                <a:solidFill>
                  <a:srgbClr val="FF0000"/>
                </a:solidFill>
              </a:rPr>
              <a:t>Güncel Olay:</a:t>
            </a:r>
            <a:endParaRPr lang="tr-TR" dirty="0" smtClean="0">
              <a:solidFill>
                <a:srgbClr val="FF0000"/>
              </a:solidFill>
            </a:endParaRPr>
          </a:p>
          <a:p>
            <a:pPr>
              <a:buFont typeface="Arial" panose="020B0604020202020204" pitchFamily="34" charset="0"/>
              <a:buChar char="•"/>
            </a:pPr>
            <a:r>
              <a:rPr lang="tr-TR" b="1" dirty="0" smtClean="0"/>
              <a:t>Google </a:t>
            </a:r>
            <a:r>
              <a:rPr lang="tr-TR" b="1" dirty="0" err="1" smtClean="0"/>
              <a:t>Chrome</a:t>
            </a:r>
            <a:r>
              <a:rPr lang="tr-TR" b="1" dirty="0" smtClean="0"/>
              <a:t> Zero-</a:t>
            </a:r>
            <a:r>
              <a:rPr lang="tr-TR" b="1" dirty="0" err="1" smtClean="0"/>
              <a:t>Day</a:t>
            </a:r>
            <a:r>
              <a:rPr lang="tr-TR" b="1" dirty="0" smtClean="0"/>
              <a:t> (CVE-2024-7971, Ağustos 2024):</a:t>
            </a:r>
            <a:r>
              <a:rPr lang="tr-TR" dirty="0" smtClean="0"/>
              <a:t> </a:t>
            </a:r>
            <a:r>
              <a:rPr lang="tr-TR" dirty="0" err="1" smtClean="0"/>
              <a:t>Chrome'da</a:t>
            </a:r>
            <a:r>
              <a:rPr lang="tr-TR" dirty="0" smtClean="0"/>
              <a:t> yüksek seviye tip karışıklığı (</a:t>
            </a:r>
            <a:r>
              <a:rPr lang="tr-TR" dirty="0" err="1" smtClean="0"/>
              <a:t>type</a:t>
            </a:r>
            <a:r>
              <a:rPr lang="tr-TR" dirty="0" smtClean="0"/>
              <a:t> </a:t>
            </a:r>
            <a:r>
              <a:rPr lang="tr-TR" dirty="0" err="1" smtClean="0"/>
              <a:t>confusion</a:t>
            </a:r>
            <a:r>
              <a:rPr lang="tr-TR" dirty="0" smtClean="0"/>
              <a:t>) zafiyeti aktif olarak istismar edildi. Saldırganlar, özel hazırlanmış web siteleri üzerinden kullanıcıların sistemlerine uzaktan kod çalıştırabildi. Google acil yama yayınladı. 2024 yılında </a:t>
            </a:r>
            <a:r>
              <a:rPr lang="tr-TR" dirty="0" err="1" smtClean="0"/>
              <a:t>Chrome'da</a:t>
            </a:r>
            <a:r>
              <a:rPr lang="tr-TR" dirty="0" smtClean="0"/>
              <a:t> bulunan 8. </a:t>
            </a:r>
            <a:r>
              <a:rPr lang="tr-TR" dirty="0" err="1" smtClean="0"/>
              <a:t>zero-day</a:t>
            </a:r>
            <a:r>
              <a:rPr lang="tr-TR" dirty="0" smtClean="0"/>
              <a:t> açığı.</a:t>
            </a:r>
            <a:endParaRPr lang="tr-TR" dirty="0"/>
          </a:p>
        </p:txBody>
      </p:sp>
    </p:spTree>
    <p:extLst>
      <p:ext uri="{BB962C8B-B14F-4D97-AF65-F5344CB8AC3E}">
        <p14:creationId xmlns:p14="http://schemas.microsoft.com/office/powerpoint/2010/main" val="5050286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6988" y="828007"/>
            <a:ext cx="9813290" cy="443070"/>
          </a:xfrm>
          <a:prstGeom prst="rect">
            <a:avLst/>
          </a:prstGeom>
        </p:spPr>
        <p:txBody>
          <a:bodyPr vert="horz" wrap="square" lIns="0" tIns="12065" rIns="0" bIns="0" rtlCol="0">
            <a:spAutoFit/>
          </a:bodyPr>
          <a:lstStyle/>
          <a:p>
            <a:pPr algn="r"/>
            <a:r>
              <a:rPr lang="tr-TR" sz="2800" dirty="0"/>
              <a:t>8. Bulut Güvenliği Riskleri (</a:t>
            </a:r>
            <a:r>
              <a:rPr lang="tr-TR" sz="2800" dirty="0" err="1"/>
              <a:t>Cloud</a:t>
            </a:r>
            <a:r>
              <a:rPr lang="tr-TR" sz="2800" dirty="0"/>
              <a:t> Security </a:t>
            </a:r>
            <a:r>
              <a:rPr lang="tr-TR" sz="2800" dirty="0" err="1"/>
              <a:t>Risks</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22</a:t>
            </a:fld>
            <a:endParaRPr lang="tr-TR" sz="2000" b="1" dirty="0">
              <a:solidFill>
                <a:schemeClr val="bg1"/>
              </a:solidFill>
            </a:endParaRPr>
          </a:p>
        </p:txBody>
      </p:sp>
      <p:sp>
        <p:nvSpPr>
          <p:cNvPr id="2" name="Dikdörtgen 1"/>
          <p:cNvSpPr/>
          <p:nvPr/>
        </p:nvSpPr>
        <p:spPr>
          <a:xfrm>
            <a:off x="1338072" y="1614236"/>
            <a:ext cx="9813290" cy="5078313"/>
          </a:xfrm>
          <a:prstGeom prst="rect">
            <a:avLst/>
          </a:prstGeom>
        </p:spPr>
        <p:txBody>
          <a:bodyPr wrap="square">
            <a:spAutoFit/>
          </a:bodyPr>
          <a:lstStyle/>
          <a:p>
            <a:r>
              <a:rPr lang="tr-TR" b="1" dirty="0" smtClean="0">
                <a:solidFill>
                  <a:srgbClr val="FF0000"/>
                </a:solidFill>
              </a:rPr>
              <a:t>Tanım:</a:t>
            </a:r>
            <a:r>
              <a:rPr lang="tr-TR" dirty="0" smtClean="0">
                <a:solidFill>
                  <a:srgbClr val="FF0000"/>
                </a:solidFill>
              </a:rPr>
              <a:t> </a:t>
            </a:r>
            <a:r>
              <a:rPr lang="tr-TR" dirty="0" smtClean="0"/>
              <a:t>Bulut bilişim hizmetlerinin (AWS, </a:t>
            </a:r>
            <a:r>
              <a:rPr lang="tr-TR" dirty="0" err="1" smtClean="0"/>
              <a:t>Azure</a:t>
            </a:r>
            <a:r>
              <a:rPr lang="tr-TR" dirty="0" smtClean="0"/>
              <a:t>, Google </a:t>
            </a:r>
            <a:r>
              <a:rPr lang="tr-TR" dirty="0" err="1" smtClean="0"/>
              <a:t>Cloud</a:t>
            </a:r>
            <a:r>
              <a:rPr lang="tr-TR" dirty="0" smtClean="0"/>
              <a:t>) kullanımından kaynaklanan güvenlik açıkları ve risklerdir. Yanlış yapılandırmalar, yetersiz erişim kontrolleri, veri şifreleme eksikliği, API güvenliği zayıflıkları ve paylaşımlı sorumluluk modelinin yanlış anlaşılması sonucu oluşan tehditleri kapsar. Bulut ortamlarının karmaşıklığı ve dinamik yapısı güvenlik yönetimini zorlaştırır.</a:t>
            </a:r>
          </a:p>
          <a:p>
            <a:r>
              <a:rPr lang="tr-TR" b="1" dirty="0" smtClean="0"/>
              <a:t>Teknik:</a:t>
            </a:r>
            <a:r>
              <a:rPr lang="tr-TR" dirty="0" smtClean="0"/>
              <a:t> S3 </a:t>
            </a:r>
            <a:r>
              <a:rPr lang="tr-TR" dirty="0" err="1" smtClean="0"/>
              <a:t>bucket'ları</a:t>
            </a:r>
            <a:r>
              <a:rPr lang="tr-TR" dirty="0" smtClean="0"/>
              <a:t> </a:t>
            </a:r>
            <a:r>
              <a:rPr lang="tr-TR" dirty="0" err="1" smtClean="0"/>
              <a:t>public</a:t>
            </a:r>
            <a:r>
              <a:rPr lang="tr-TR" dirty="0" smtClean="0"/>
              <a:t> olarak yanlış yapılandırılır ve hassas veriler internete açılır. IAM (Identity </a:t>
            </a:r>
            <a:r>
              <a:rPr lang="tr-TR" dirty="0" err="1" smtClean="0"/>
              <a:t>and</a:t>
            </a:r>
            <a:r>
              <a:rPr lang="tr-TR" dirty="0" smtClean="0"/>
              <a:t> Access Management) politikaları aşırı yetkilerle yapılandırılır (</a:t>
            </a:r>
            <a:r>
              <a:rPr lang="tr-TR" dirty="0" err="1" smtClean="0"/>
              <a:t>privilege</a:t>
            </a:r>
            <a:r>
              <a:rPr lang="tr-TR" dirty="0" smtClean="0"/>
              <a:t> </a:t>
            </a:r>
            <a:r>
              <a:rPr lang="tr-TR" dirty="0" err="1" smtClean="0"/>
              <a:t>escalation</a:t>
            </a:r>
            <a:r>
              <a:rPr lang="tr-TR" dirty="0" smtClean="0"/>
              <a:t> riski). API anahtarları </a:t>
            </a:r>
            <a:r>
              <a:rPr lang="tr-TR" dirty="0" err="1" smtClean="0"/>
              <a:t>GitHub</a:t>
            </a:r>
            <a:r>
              <a:rPr lang="tr-TR" dirty="0" smtClean="0"/>
              <a:t> veya </a:t>
            </a:r>
            <a:r>
              <a:rPr lang="tr-TR" dirty="0" err="1" smtClean="0"/>
              <a:t>public</a:t>
            </a:r>
            <a:r>
              <a:rPr lang="tr-TR" dirty="0" smtClean="0"/>
              <a:t> </a:t>
            </a:r>
            <a:r>
              <a:rPr lang="tr-TR" dirty="0" err="1" smtClean="0"/>
              <a:t>repository'lerde</a:t>
            </a:r>
            <a:r>
              <a:rPr lang="tr-TR" dirty="0" smtClean="0"/>
              <a:t> sabit kodlanır. </a:t>
            </a:r>
            <a:r>
              <a:rPr lang="tr-TR" dirty="0" err="1" smtClean="0"/>
              <a:t>Metadata</a:t>
            </a:r>
            <a:r>
              <a:rPr lang="tr-TR" dirty="0" smtClean="0"/>
              <a:t> servisleri (169.254.169.254) istismar edilerek AWS </a:t>
            </a:r>
            <a:r>
              <a:rPr lang="tr-TR" dirty="0" err="1" smtClean="0"/>
              <a:t>credentials</a:t>
            </a:r>
            <a:r>
              <a:rPr lang="tr-TR" dirty="0" smtClean="0"/>
              <a:t> çalınır. </a:t>
            </a:r>
            <a:r>
              <a:rPr lang="tr-TR" dirty="0" err="1" smtClean="0"/>
              <a:t>Container</a:t>
            </a:r>
            <a:r>
              <a:rPr lang="tr-TR" dirty="0" smtClean="0"/>
              <a:t> </a:t>
            </a:r>
            <a:r>
              <a:rPr lang="tr-TR" dirty="0" err="1" smtClean="0"/>
              <a:t>escape</a:t>
            </a:r>
            <a:r>
              <a:rPr lang="tr-TR" dirty="0" smtClean="0"/>
              <a:t> ile </a:t>
            </a:r>
            <a:r>
              <a:rPr lang="tr-TR" dirty="0" err="1" smtClean="0"/>
              <a:t>Kubernetes</a:t>
            </a:r>
            <a:r>
              <a:rPr lang="tr-TR" dirty="0" smtClean="0"/>
              <a:t> </a:t>
            </a:r>
            <a:r>
              <a:rPr lang="tr-TR" dirty="0" err="1" smtClean="0"/>
              <a:t>cluster'ına</a:t>
            </a:r>
            <a:r>
              <a:rPr lang="tr-TR" dirty="0" smtClean="0"/>
              <a:t> sızılır. </a:t>
            </a:r>
            <a:r>
              <a:rPr lang="tr-TR" dirty="0" err="1" smtClean="0"/>
              <a:t>Shadow</a:t>
            </a:r>
            <a:r>
              <a:rPr lang="tr-TR" dirty="0" smtClean="0"/>
              <a:t> IT ile onaylanmamış bulut servisleri kullanılır. Cross-</a:t>
            </a:r>
            <a:r>
              <a:rPr lang="tr-TR" dirty="0" err="1" smtClean="0"/>
              <a:t>tenant</a:t>
            </a:r>
            <a:r>
              <a:rPr lang="tr-TR" dirty="0" smtClean="0"/>
              <a:t> veri sızıntısı riskleri vardır. </a:t>
            </a:r>
            <a:r>
              <a:rPr lang="tr-TR" dirty="0" err="1" smtClean="0"/>
              <a:t>Snapshot'lar</a:t>
            </a:r>
            <a:r>
              <a:rPr lang="tr-TR" dirty="0" smtClean="0"/>
              <a:t> ve </a:t>
            </a:r>
            <a:r>
              <a:rPr lang="tr-TR" dirty="0" err="1" smtClean="0"/>
              <a:t>backup'lar</a:t>
            </a:r>
            <a:r>
              <a:rPr lang="tr-TR" dirty="0" smtClean="0"/>
              <a:t> </a:t>
            </a:r>
            <a:r>
              <a:rPr lang="tr-TR" dirty="0" err="1" smtClean="0"/>
              <a:t>public</a:t>
            </a:r>
            <a:r>
              <a:rPr lang="tr-TR" dirty="0" smtClean="0"/>
              <a:t> erişime açılır.</a:t>
            </a:r>
          </a:p>
          <a:p>
            <a:endParaRPr lang="tr-TR" dirty="0" smtClean="0"/>
          </a:p>
          <a:p>
            <a:r>
              <a:rPr lang="tr-TR" b="1" dirty="0" smtClean="0">
                <a:solidFill>
                  <a:srgbClr val="FF0000"/>
                </a:solidFill>
              </a:rPr>
              <a:t>Güncel Olay:</a:t>
            </a:r>
            <a:endParaRPr lang="tr-TR" dirty="0" smtClean="0">
              <a:solidFill>
                <a:srgbClr val="FF0000"/>
              </a:solidFill>
            </a:endParaRPr>
          </a:p>
          <a:p>
            <a:pPr>
              <a:buFont typeface="Arial" panose="020B0604020202020204" pitchFamily="34" charset="0"/>
              <a:buChar char="•"/>
            </a:pPr>
            <a:r>
              <a:rPr lang="tr-TR" b="1" dirty="0" err="1" smtClean="0"/>
              <a:t>Snowflake</a:t>
            </a:r>
            <a:r>
              <a:rPr lang="tr-TR" b="1" dirty="0" smtClean="0"/>
              <a:t> Veri İhlali (Mayıs 2024):</a:t>
            </a:r>
            <a:r>
              <a:rPr lang="tr-TR" dirty="0" smtClean="0"/>
              <a:t> Veri ambarı platformu </a:t>
            </a:r>
            <a:r>
              <a:rPr lang="tr-TR" dirty="0" err="1" smtClean="0"/>
              <a:t>Snowflake</a:t>
            </a:r>
            <a:r>
              <a:rPr lang="tr-TR" dirty="0" smtClean="0"/>
              <a:t> kullanan 165 şirket (</a:t>
            </a:r>
            <a:r>
              <a:rPr lang="tr-TR" dirty="0" err="1" smtClean="0"/>
              <a:t>Ticketmaster</a:t>
            </a:r>
            <a:r>
              <a:rPr lang="tr-TR" dirty="0" smtClean="0"/>
              <a:t>, </a:t>
            </a:r>
            <a:r>
              <a:rPr lang="tr-TR" dirty="0" err="1" smtClean="0"/>
              <a:t>Santander</a:t>
            </a:r>
            <a:r>
              <a:rPr lang="tr-TR" dirty="0" smtClean="0"/>
              <a:t> Bank, </a:t>
            </a:r>
            <a:r>
              <a:rPr lang="tr-TR" dirty="0" err="1" smtClean="0"/>
              <a:t>Advance</a:t>
            </a:r>
            <a:r>
              <a:rPr lang="tr-TR" dirty="0" smtClean="0"/>
              <a:t> Auto </a:t>
            </a:r>
            <a:r>
              <a:rPr lang="tr-TR" dirty="0" err="1" smtClean="0"/>
              <a:t>Parts</a:t>
            </a:r>
            <a:r>
              <a:rPr lang="tr-TR" dirty="0" smtClean="0"/>
              <a:t>) veri ihlali yaşadı. 560 milyon </a:t>
            </a:r>
            <a:r>
              <a:rPr lang="tr-TR" dirty="0" err="1" smtClean="0"/>
              <a:t>Ticketmaster</a:t>
            </a:r>
            <a:r>
              <a:rPr lang="tr-TR" dirty="0" smtClean="0"/>
              <a:t> müşterisinin bilgileri çalındı. Saldırganlar, çok faktörlü kimlik doğrulama (MFA) kullanılmayan hesaplara </a:t>
            </a:r>
            <a:r>
              <a:rPr lang="tr-TR" dirty="0" err="1" smtClean="0"/>
              <a:t>infostealer</a:t>
            </a:r>
            <a:r>
              <a:rPr lang="tr-TR" dirty="0" smtClean="0"/>
              <a:t> </a:t>
            </a:r>
            <a:r>
              <a:rPr lang="tr-TR" dirty="0" err="1" smtClean="0"/>
              <a:t>malware</a:t>
            </a:r>
            <a:r>
              <a:rPr lang="tr-TR" dirty="0" smtClean="0"/>
              <a:t> ile elde edilen kimlik bilgileriyle eriştiler. </a:t>
            </a:r>
            <a:r>
              <a:rPr lang="tr-TR" dirty="0" err="1" smtClean="0"/>
              <a:t>ShinyHunters</a:t>
            </a:r>
            <a:r>
              <a:rPr lang="tr-TR" dirty="0" smtClean="0"/>
              <a:t> hacker grubu verileri </a:t>
            </a:r>
            <a:r>
              <a:rPr lang="tr-TR" dirty="0" err="1" smtClean="0"/>
              <a:t>dark</a:t>
            </a:r>
            <a:r>
              <a:rPr lang="tr-TR" dirty="0" smtClean="0"/>
              <a:t> </a:t>
            </a:r>
            <a:r>
              <a:rPr lang="tr-TR" dirty="0" err="1" smtClean="0"/>
              <a:t>web'de</a:t>
            </a:r>
            <a:r>
              <a:rPr lang="tr-TR" dirty="0" smtClean="0"/>
              <a:t> satışa çıkardı.</a:t>
            </a:r>
            <a:endParaRPr lang="tr-TR" dirty="0"/>
          </a:p>
        </p:txBody>
      </p:sp>
    </p:spTree>
    <p:extLst>
      <p:ext uri="{BB962C8B-B14F-4D97-AF65-F5344CB8AC3E}">
        <p14:creationId xmlns:p14="http://schemas.microsoft.com/office/powerpoint/2010/main" val="1125471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6988" y="828007"/>
            <a:ext cx="9813290" cy="443070"/>
          </a:xfrm>
          <a:prstGeom prst="rect">
            <a:avLst/>
          </a:prstGeom>
        </p:spPr>
        <p:txBody>
          <a:bodyPr vert="horz" wrap="square" lIns="0" tIns="12065" rIns="0" bIns="0" rtlCol="0">
            <a:spAutoFit/>
          </a:bodyPr>
          <a:lstStyle/>
          <a:p>
            <a:pPr algn="r"/>
            <a:r>
              <a:rPr lang="tr-TR" sz="2800" dirty="0"/>
              <a:t>9. Mobil Cihaz Zararlı Yazılımları (Mobile </a:t>
            </a:r>
            <a:r>
              <a:rPr lang="tr-TR" sz="2800" dirty="0" err="1"/>
              <a:t>Malware</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23</a:t>
            </a:fld>
            <a:endParaRPr lang="tr-TR" sz="2000" b="1" dirty="0">
              <a:solidFill>
                <a:schemeClr val="bg1"/>
              </a:solidFill>
            </a:endParaRPr>
          </a:p>
        </p:txBody>
      </p:sp>
      <p:sp>
        <p:nvSpPr>
          <p:cNvPr id="2" name="Dikdörtgen 1"/>
          <p:cNvSpPr/>
          <p:nvPr/>
        </p:nvSpPr>
        <p:spPr>
          <a:xfrm>
            <a:off x="1326988" y="1614236"/>
            <a:ext cx="9824374" cy="4801314"/>
          </a:xfrm>
          <a:prstGeom prst="rect">
            <a:avLst/>
          </a:prstGeom>
        </p:spPr>
        <p:txBody>
          <a:bodyPr wrap="square">
            <a:spAutoFit/>
          </a:bodyPr>
          <a:lstStyle/>
          <a:p>
            <a:r>
              <a:rPr lang="tr-TR" b="1" dirty="0" smtClean="0">
                <a:solidFill>
                  <a:srgbClr val="FF0000"/>
                </a:solidFill>
              </a:rPr>
              <a:t>Tanım:</a:t>
            </a:r>
            <a:r>
              <a:rPr lang="tr-TR" dirty="0" smtClean="0">
                <a:solidFill>
                  <a:srgbClr val="FF0000"/>
                </a:solidFill>
              </a:rPr>
              <a:t> </a:t>
            </a:r>
            <a:r>
              <a:rPr lang="tr-TR" dirty="0" smtClean="0"/>
              <a:t>Akıllı telefonlar ve tabletleri hedef alan kötü amaçlı yazılımlardır. </a:t>
            </a:r>
            <a:r>
              <a:rPr lang="tr-TR" dirty="0" err="1" smtClean="0"/>
              <a:t>Android</a:t>
            </a:r>
            <a:r>
              <a:rPr lang="tr-TR" dirty="0" smtClean="0"/>
              <a:t> ve </a:t>
            </a:r>
            <a:r>
              <a:rPr lang="tr-TR" dirty="0" err="1" smtClean="0"/>
              <a:t>iOS</a:t>
            </a:r>
            <a:r>
              <a:rPr lang="tr-TR" dirty="0" smtClean="0"/>
              <a:t> işletim sistemlerini etkileyen </a:t>
            </a:r>
            <a:r>
              <a:rPr lang="tr-TR" dirty="0" err="1" smtClean="0"/>
              <a:t>trojanlar</a:t>
            </a:r>
            <a:r>
              <a:rPr lang="tr-TR" dirty="0" smtClean="0"/>
              <a:t>, </a:t>
            </a:r>
            <a:r>
              <a:rPr lang="tr-TR" dirty="0" err="1" smtClean="0"/>
              <a:t>spyware</a:t>
            </a:r>
            <a:r>
              <a:rPr lang="tr-TR" dirty="0" smtClean="0"/>
              <a:t>, </a:t>
            </a:r>
            <a:r>
              <a:rPr lang="tr-TR" dirty="0" err="1" smtClean="0"/>
              <a:t>adware</a:t>
            </a:r>
            <a:r>
              <a:rPr lang="tr-TR" dirty="0" smtClean="0"/>
              <a:t>, bankacılık zararlıları, </a:t>
            </a:r>
            <a:r>
              <a:rPr lang="tr-TR" dirty="0" err="1" smtClean="0"/>
              <a:t>ransomware</a:t>
            </a:r>
            <a:r>
              <a:rPr lang="tr-TR" dirty="0" smtClean="0"/>
              <a:t> ve </a:t>
            </a:r>
            <a:r>
              <a:rPr lang="tr-TR" dirty="0" err="1" smtClean="0"/>
              <a:t>rooting</a:t>
            </a:r>
            <a:r>
              <a:rPr lang="tr-TR" dirty="0" smtClean="0"/>
              <a:t>/</a:t>
            </a:r>
            <a:r>
              <a:rPr lang="tr-TR" dirty="0" err="1" smtClean="0"/>
              <a:t>jailbreak</a:t>
            </a:r>
            <a:r>
              <a:rPr lang="tr-TR" dirty="0" smtClean="0"/>
              <a:t> araçlarını içerir. Mobil cihazlar üzerindeki hassas bilgiler (bankacılık uygulamaları, SMS, konum, kamera, mikrofon erişimi) nedeniyle değerli hedeflerdir.</a:t>
            </a:r>
          </a:p>
          <a:p>
            <a:r>
              <a:rPr lang="tr-TR" b="1" dirty="0" smtClean="0"/>
              <a:t>Teknik:</a:t>
            </a:r>
            <a:r>
              <a:rPr lang="tr-TR" dirty="0" smtClean="0"/>
              <a:t> </a:t>
            </a:r>
            <a:r>
              <a:rPr lang="tr-TR" dirty="0" err="1" smtClean="0"/>
              <a:t>Android'de</a:t>
            </a:r>
            <a:r>
              <a:rPr lang="tr-TR" dirty="0" smtClean="0"/>
              <a:t> APK dosyaları resmi Play </a:t>
            </a:r>
            <a:r>
              <a:rPr lang="tr-TR" dirty="0" err="1" smtClean="0"/>
              <a:t>Store</a:t>
            </a:r>
            <a:r>
              <a:rPr lang="tr-TR" dirty="0" smtClean="0"/>
              <a:t> dışından (</a:t>
            </a:r>
            <a:r>
              <a:rPr lang="tr-TR" dirty="0" err="1" smtClean="0"/>
              <a:t>sideloading</a:t>
            </a:r>
            <a:r>
              <a:rPr lang="tr-TR" dirty="0" smtClean="0"/>
              <a:t>) yüklenir. Sahte uygulamalar meşru uygulamaları taklit eder (</a:t>
            </a:r>
            <a:r>
              <a:rPr lang="tr-TR" dirty="0" err="1" smtClean="0"/>
              <a:t>repackaging</a:t>
            </a:r>
            <a:r>
              <a:rPr lang="tr-TR" dirty="0" smtClean="0"/>
              <a:t>). Accessibility Service kötüye kullanılarak tam cihaz kontrolü elde edilir. SMS </a:t>
            </a:r>
            <a:r>
              <a:rPr lang="tr-TR" dirty="0" err="1" smtClean="0"/>
              <a:t>interception</a:t>
            </a:r>
            <a:r>
              <a:rPr lang="tr-TR" dirty="0" smtClean="0"/>
              <a:t> ile 2FA kodları çalınır. </a:t>
            </a:r>
            <a:r>
              <a:rPr lang="tr-TR" dirty="0" err="1" smtClean="0"/>
              <a:t>Overlay</a:t>
            </a:r>
            <a:r>
              <a:rPr lang="tr-TR" dirty="0" smtClean="0"/>
              <a:t> </a:t>
            </a:r>
            <a:r>
              <a:rPr lang="tr-TR" dirty="0" err="1" smtClean="0"/>
              <a:t>attack</a:t>
            </a:r>
            <a:r>
              <a:rPr lang="tr-TR" dirty="0" smtClean="0"/>
              <a:t> ile sahte </a:t>
            </a:r>
            <a:r>
              <a:rPr lang="tr-TR" dirty="0" err="1" smtClean="0"/>
              <a:t>login</a:t>
            </a:r>
            <a:r>
              <a:rPr lang="tr-TR" dirty="0" smtClean="0"/>
              <a:t> ekranları gerçek uygulamaların üzerine bindirilir. </a:t>
            </a:r>
            <a:r>
              <a:rPr lang="tr-TR" dirty="0" err="1" smtClean="0"/>
              <a:t>Rooting</a:t>
            </a:r>
            <a:r>
              <a:rPr lang="tr-TR" dirty="0" smtClean="0"/>
              <a:t>/</a:t>
            </a:r>
            <a:r>
              <a:rPr lang="tr-TR" dirty="0" err="1" smtClean="0"/>
              <a:t>jailbreak</a:t>
            </a:r>
            <a:r>
              <a:rPr lang="tr-TR" dirty="0" smtClean="0"/>
              <a:t> sonrası sistem güvenliği devre dışı kalır. </a:t>
            </a:r>
            <a:r>
              <a:rPr lang="tr-TR" dirty="0" err="1" smtClean="0"/>
              <a:t>iOS'ta</a:t>
            </a:r>
            <a:r>
              <a:rPr lang="tr-TR" dirty="0" smtClean="0"/>
              <a:t> </a:t>
            </a:r>
            <a:r>
              <a:rPr lang="tr-TR" dirty="0" err="1" smtClean="0"/>
              <a:t>enterprise</a:t>
            </a:r>
            <a:r>
              <a:rPr lang="tr-TR" dirty="0" smtClean="0"/>
              <a:t> </a:t>
            </a:r>
            <a:r>
              <a:rPr lang="tr-TR" dirty="0" err="1" smtClean="0"/>
              <a:t>certificate</a:t>
            </a:r>
            <a:r>
              <a:rPr lang="tr-TR" dirty="0" smtClean="0"/>
              <a:t> kötüye kullanılır. </a:t>
            </a:r>
            <a:r>
              <a:rPr lang="tr-TR" dirty="0" err="1" smtClean="0"/>
              <a:t>Dropper</a:t>
            </a:r>
            <a:r>
              <a:rPr lang="tr-TR" dirty="0" smtClean="0"/>
              <a:t> uygulamalar kullanılarak zararlı yük sonradan indirilir. </a:t>
            </a:r>
            <a:r>
              <a:rPr lang="tr-TR" dirty="0" err="1" smtClean="0"/>
              <a:t>Fleeceware</a:t>
            </a:r>
            <a:r>
              <a:rPr lang="tr-TR" dirty="0" smtClean="0"/>
              <a:t> ile abonelik dolandırıcılığı yapılır.</a:t>
            </a:r>
          </a:p>
          <a:p>
            <a:endParaRPr lang="tr-TR" dirty="0" smtClean="0"/>
          </a:p>
          <a:p>
            <a:r>
              <a:rPr lang="tr-TR" b="1" dirty="0" smtClean="0">
                <a:solidFill>
                  <a:srgbClr val="FF0000"/>
                </a:solidFill>
              </a:rPr>
              <a:t>Güncel Olay:</a:t>
            </a:r>
            <a:endParaRPr lang="tr-TR" dirty="0" smtClean="0">
              <a:solidFill>
                <a:srgbClr val="FF0000"/>
              </a:solidFill>
            </a:endParaRPr>
          </a:p>
          <a:p>
            <a:pPr>
              <a:buFont typeface="Arial" panose="020B0604020202020204" pitchFamily="34" charset="0"/>
              <a:buChar char="•"/>
            </a:pPr>
            <a:r>
              <a:rPr lang="tr-TR" b="1" dirty="0" err="1" smtClean="0"/>
              <a:t>XLoader</a:t>
            </a:r>
            <a:r>
              <a:rPr lang="tr-TR" b="1" dirty="0" smtClean="0"/>
              <a:t> </a:t>
            </a:r>
            <a:r>
              <a:rPr lang="tr-TR" b="1" dirty="0" err="1" smtClean="0"/>
              <a:t>Android</a:t>
            </a:r>
            <a:r>
              <a:rPr lang="tr-TR" b="1" dirty="0" smtClean="0"/>
              <a:t> </a:t>
            </a:r>
            <a:r>
              <a:rPr lang="tr-TR" b="1" dirty="0" err="1" smtClean="0"/>
              <a:t>Banking</a:t>
            </a:r>
            <a:r>
              <a:rPr lang="tr-TR" b="1" dirty="0" smtClean="0"/>
              <a:t> </a:t>
            </a:r>
            <a:r>
              <a:rPr lang="tr-TR" b="1" dirty="0" err="1" smtClean="0"/>
              <a:t>Trojan</a:t>
            </a:r>
            <a:r>
              <a:rPr lang="tr-TR" b="1" dirty="0" smtClean="0"/>
              <a:t> (Şubat 2024):</a:t>
            </a:r>
            <a:r>
              <a:rPr lang="tr-TR" dirty="0" smtClean="0"/>
              <a:t> 300.000'den fazla </a:t>
            </a:r>
            <a:r>
              <a:rPr lang="tr-TR" dirty="0" err="1" smtClean="0"/>
              <a:t>Android</a:t>
            </a:r>
            <a:r>
              <a:rPr lang="tr-TR" dirty="0" smtClean="0"/>
              <a:t> cihazı </a:t>
            </a:r>
            <a:r>
              <a:rPr lang="tr-TR" dirty="0" err="1" smtClean="0"/>
              <a:t>enfekte</a:t>
            </a:r>
            <a:r>
              <a:rPr lang="tr-TR" dirty="0" smtClean="0"/>
              <a:t> eden bankacılık zararlısı tespit edildi. Popüler uygulamaları (</a:t>
            </a:r>
            <a:r>
              <a:rPr lang="tr-TR" dirty="0" err="1" smtClean="0"/>
              <a:t>Chrome</a:t>
            </a:r>
            <a:r>
              <a:rPr lang="tr-TR" dirty="0" smtClean="0"/>
              <a:t>, </a:t>
            </a:r>
            <a:r>
              <a:rPr lang="tr-TR" dirty="0" err="1" smtClean="0"/>
              <a:t>banking</a:t>
            </a:r>
            <a:r>
              <a:rPr lang="tr-TR" dirty="0" smtClean="0"/>
              <a:t> </a:t>
            </a:r>
            <a:r>
              <a:rPr lang="tr-TR" dirty="0" err="1" smtClean="0"/>
              <a:t>apps</a:t>
            </a:r>
            <a:r>
              <a:rPr lang="tr-TR" dirty="0" smtClean="0"/>
              <a:t>) taklit eden sahte </a:t>
            </a:r>
            <a:r>
              <a:rPr lang="tr-TR" dirty="0" err="1" smtClean="0"/>
              <a:t>APK'lar</a:t>
            </a:r>
            <a:r>
              <a:rPr lang="tr-TR" dirty="0" smtClean="0"/>
              <a:t> dağıtıldı. Zararlı, </a:t>
            </a:r>
            <a:r>
              <a:rPr lang="tr-TR" dirty="0" err="1" smtClean="0"/>
              <a:t>keylogger</a:t>
            </a:r>
            <a:r>
              <a:rPr lang="tr-TR" dirty="0" smtClean="0"/>
              <a:t>, ekran kaydı, SMS çalma ve </a:t>
            </a:r>
            <a:r>
              <a:rPr lang="tr-TR" dirty="0" err="1" smtClean="0"/>
              <a:t>overlay</a:t>
            </a:r>
            <a:r>
              <a:rPr lang="tr-TR" dirty="0" smtClean="0"/>
              <a:t> saldırıları gerçekleştiriyor. 7 farklı ülkede 77 banka uygulaması hedeflendi.</a:t>
            </a:r>
            <a:endParaRPr lang="tr-TR" dirty="0"/>
          </a:p>
        </p:txBody>
      </p:sp>
    </p:spTree>
    <p:extLst>
      <p:ext uri="{BB962C8B-B14F-4D97-AF65-F5344CB8AC3E}">
        <p14:creationId xmlns:p14="http://schemas.microsoft.com/office/powerpoint/2010/main" val="29086745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6988" y="828007"/>
            <a:ext cx="9813290" cy="443070"/>
          </a:xfrm>
          <a:prstGeom prst="rect">
            <a:avLst/>
          </a:prstGeom>
        </p:spPr>
        <p:txBody>
          <a:bodyPr vert="horz" wrap="square" lIns="0" tIns="12065" rIns="0" bIns="0" rtlCol="0">
            <a:spAutoFit/>
          </a:bodyPr>
          <a:lstStyle/>
          <a:p>
            <a:pPr algn="r"/>
            <a:r>
              <a:rPr lang="en-US" sz="2800" dirty="0"/>
              <a:t>10. </a:t>
            </a:r>
            <a:r>
              <a:rPr lang="en-US" sz="2800" dirty="0" err="1"/>
              <a:t>İçeriden</a:t>
            </a:r>
            <a:r>
              <a:rPr lang="en-US" sz="2800" dirty="0"/>
              <a:t> </a:t>
            </a:r>
            <a:r>
              <a:rPr lang="en-US" sz="2800" dirty="0" err="1"/>
              <a:t>Tehditler</a:t>
            </a:r>
            <a:r>
              <a:rPr lang="en-US" sz="2800" dirty="0"/>
              <a:t> (Insider Threats)</a:t>
            </a:r>
            <a:endParaRPr lang="tr-TR" sz="2800" dirty="0"/>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24</a:t>
            </a:fld>
            <a:endParaRPr lang="tr-TR" sz="2000" b="1" dirty="0">
              <a:solidFill>
                <a:schemeClr val="bg1"/>
              </a:solidFill>
            </a:endParaRPr>
          </a:p>
        </p:txBody>
      </p:sp>
      <p:sp>
        <p:nvSpPr>
          <p:cNvPr id="7" name="Dikdörtgen 6"/>
          <p:cNvSpPr/>
          <p:nvPr/>
        </p:nvSpPr>
        <p:spPr>
          <a:xfrm>
            <a:off x="1326988" y="1538463"/>
            <a:ext cx="9811905" cy="5078313"/>
          </a:xfrm>
          <a:prstGeom prst="rect">
            <a:avLst/>
          </a:prstGeom>
        </p:spPr>
        <p:txBody>
          <a:bodyPr wrap="square">
            <a:spAutoFit/>
          </a:bodyPr>
          <a:lstStyle/>
          <a:p>
            <a:r>
              <a:rPr lang="tr-TR" b="1" dirty="0" smtClean="0">
                <a:solidFill>
                  <a:srgbClr val="FF0000"/>
                </a:solidFill>
              </a:rPr>
              <a:t>Tanım:</a:t>
            </a:r>
            <a:r>
              <a:rPr lang="tr-TR" dirty="0" smtClean="0">
                <a:solidFill>
                  <a:srgbClr val="FF0000"/>
                </a:solidFill>
              </a:rPr>
              <a:t> </a:t>
            </a:r>
            <a:r>
              <a:rPr lang="tr-TR" dirty="0" smtClean="0"/>
              <a:t>Organizasyon içinden, yetkili erişime sahip kişiler (çalışanlar, yükleniciler, iş ortakları, eski çalışanlar) tarafından kasıtlı veya kasıtsız olarak gerçekleştirilen güvenlik ihlalleridir. Kötü niyetli </a:t>
            </a:r>
            <a:r>
              <a:rPr lang="tr-TR" dirty="0" err="1" smtClean="0"/>
              <a:t>insider'lar</a:t>
            </a:r>
            <a:r>
              <a:rPr lang="tr-TR" dirty="0" smtClean="0"/>
              <a:t> ticari sır çalabilir, sabotaj yapabilir veya rakip firmaya bilgi satabilir. Dikkatsiz </a:t>
            </a:r>
            <a:r>
              <a:rPr lang="tr-TR" dirty="0" err="1" smtClean="0"/>
              <a:t>insider'lar</a:t>
            </a:r>
            <a:r>
              <a:rPr lang="tr-TR" dirty="0" smtClean="0"/>
              <a:t> ise güvenlik politikalarını ihlal ederek kazara veri sızıntısına neden olabilir.</a:t>
            </a:r>
          </a:p>
          <a:p>
            <a:r>
              <a:rPr lang="tr-TR" b="1" dirty="0" smtClean="0"/>
              <a:t>Teknik:</a:t>
            </a:r>
            <a:r>
              <a:rPr lang="tr-TR" dirty="0" smtClean="0"/>
              <a:t> </a:t>
            </a:r>
            <a:r>
              <a:rPr lang="tr-TR" dirty="0" err="1" smtClean="0"/>
              <a:t>Privileged</a:t>
            </a:r>
            <a:r>
              <a:rPr lang="tr-TR" dirty="0" smtClean="0"/>
              <a:t> </a:t>
            </a:r>
            <a:r>
              <a:rPr lang="tr-TR" dirty="0" err="1" smtClean="0"/>
              <a:t>access</a:t>
            </a:r>
            <a:r>
              <a:rPr lang="tr-TR" dirty="0" smtClean="0"/>
              <a:t> </a:t>
            </a:r>
            <a:r>
              <a:rPr lang="tr-TR" dirty="0" err="1" smtClean="0"/>
              <a:t>abuse</a:t>
            </a:r>
            <a:r>
              <a:rPr lang="tr-TR" dirty="0" smtClean="0"/>
              <a:t> ile yetkililer veri tabanlarına, dosya sistemlerine yetkisiz erişim sağlar. Data </a:t>
            </a:r>
            <a:r>
              <a:rPr lang="tr-TR" dirty="0" err="1" smtClean="0"/>
              <a:t>exfiltration</a:t>
            </a:r>
            <a:r>
              <a:rPr lang="tr-TR" dirty="0" smtClean="0"/>
              <a:t> için USB sürücüler, bulut depolama (</a:t>
            </a:r>
            <a:r>
              <a:rPr lang="tr-TR" dirty="0" err="1" smtClean="0"/>
              <a:t>Dropbox</a:t>
            </a:r>
            <a:r>
              <a:rPr lang="tr-TR" dirty="0" smtClean="0"/>
              <a:t>, Google Drive), e-posta veya FTP kullanılır. </a:t>
            </a:r>
            <a:r>
              <a:rPr lang="tr-TR" dirty="0" err="1" smtClean="0"/>
              <a:t>Screen</a:t>
            </a:r>
            <a:r>
              <a:rPr lang="tr-TR" dirty="0" smtClean="0"/>
              <a:t> </a:t>
            </a:r>
            <a:r>
              <a:rPr lang="tr-TR" dirty="0" err="1" smtClean="0"/>
              <a:t>scraping</a:t>
            </a:r>
            <a:r>
              <a:rPr lang="tr-TR" dirty="0" smtClean="0"/>
              <a:t> ve fotoğraflama ile bilgiler kopyalanır. </a:t>
            </a:r>
            <a:r>
              <a:rPr lang="tr-TR" dirty="0" err="1" smtClean="0"/>
              <a:t>Departing</a:t>
            </a:r>
            <a:r>
              <a:rPr lang="tr-TR" dirty="0" smtClean="0"/>
              <a:t> </a:t>
            </a:r>
            <a:r>
              <a:rPr lang="tr-TR" dirty="0" err="1" smtClean="0"/>
              <a:t>employee</a:t>
            </a:r>
            <a:r>
              <a:rPr lang="tr-TR" dirty="0" smtClean="0"/>
              <a:t> senaryosunda, işten ayrılan çalışanlar erişimleri kapatılmadan önce veri çalar. </a:t>
            </a:r>
            <a:r>
              <a:rPr lang="tr-TR" dirty="0" err="1" smtClean="0"/>
              <a:t>Compromised</a:t>
            </a:r>
            <a:r>
              <a:rPr lang="tr-TR" dirty="0" smtClean="0"/>
              <a:t> </a:t>
            </a:r>
            <a:r>
              <a:rPr lang="tr-TR" dirty="0" err="1" smtClean="0"/>
              <a:t>insider'lar</a:t>
            </a:r>
            <a:r>
              <a:rPr lang="tr-TR" dirty="0" smtClean="0"/>
              <a:t> dış saldırganlarla iş birliği yapar. </a:t>
            </a:r>
            <a:r>
              <a:rPr lang="tr-TR" dirty="0" err="1" smtClean="0"/>
              <a:t>Shadow</a:t>
            </a:r>
            <a:r>
              <a:rPr lang="tr-TR" dirty="0" smtClean="0"/>
              <a:t> IT kullanımı ile onaylanmamış uygulamalara veri taşınır. DLP (Data </a:t>
            </a:r>
            <a:r>
              <a:rPr lang="tr-TR" dirty="0" err="1" smtClean="0"/>
              <a:t>Loss</a:t>
            </a:r>
            <a:r>
              <a:rPr lang="tr-TR" dirty="0" smtClean="0"/>
              <a:t> </a:t>
            </a:r>
            <a:r>
              <a:rPr lang="tr-TR" dirty="0" err="1" smtClean="0"/>
              <a:t>Prevention</a:t>
            </a:r>
            <a:r>
              <a:rPr lang="tr-TR" dirty="0" smtClean="0"/>
              <a:t>) sistemleri atlatılır.</a:t>
            </a:r>
          </a:p>
          <a:p>
            <a:endParaRPr lang="tr-TR" dirty="0" smtClean="0"/>
          </a:p>
          <a:p>
            <a:r>
              <a:rPr lang="tr-TR" b="1" dirty="0" smtClean="0">
                <a:solidFill>
                  <a:srgbClr val="FF0000"/>
                </a:solidFill>
              </a:rPr>
              <a:t>Güncel Olay:</a:t>
            </a:r>
            <a:endParaRPr lang="tr-TR" dirty="0" smtClean="0">
              <a:solidFill>
                <a:srgbClr val="FF0000"/>
              </a:solidFill>
            </a:endParaRPr>
          </a:p>
          <a:p>
            <a:pPr>
              <a:buFont typeface="Arial" panose="020B0604020202020204" pitchFamily="34" charset="0"/>
              <a:buChar char="•"/>
            </a:pPr>
            <a:r>
              <a:rPr lang="tr-TR" b="1" dirty="0" err="1" smtClean="0"/>
              <a:t>Tesla</a:t>
            </a:r>
            <a:r>
              <a:rPr lang="tr-TR" b="1" dirty="0" smtClean="0"/>
              <a:t> Çalışan Veri Sızıntısı (Mayıs 2024):</a:t>
            </a:r>
            <a:r>
              <a:rPr lang="tr-TR" dirty="0" smtClean="0"/>
              <a:t> Eski </a:t>
            </a:r>
            <a:r>
              <a:rPr lang="tr-TR" dirty="0" err="1" smtClean="0"/>
              <a:t>Tesla</a:t>
            </a:r>
            <a:r>
              <a:rPr lang="tr-TR" dirty="0" smtClean="0"/>
              <a:t> çalışanları, 75.000 kişinin kişisel bilgilerini (isim, adres, telefon, e-posta, iş pozisyonları, maaş bilgileri) alman medya kuruluşu </a:t>
            </a:r>
            <a:r>
              <a:rPr lang="tr-TR" dirty="0" err="1" smtClean="0"/>
              <a:t>Handelsblatt'a</a:t>
            </a:r>
            <a:r>
              <a:rPr lang="tr-TR" dirty="0" smtClean="0"/>
              <a:t> sızdırdılar. </a:t>
            </a:r>
            <a:r>
              <a:rPr lang="tr-TR" dirty="0" err="1" smtClean="0"/>
              <a:t>Whistleblowing</a:t>
            </a:r>
            <a:r>
              <a:rPr lang="tr-TR" dirty="0" smtClean="0"/>
              <a:t> iddiasıyla yapılan sızıntı, </a:t>
            </a:r>
            <a:r>
              <a:rPr lang="tr-TR" dirty="0" err="1" smtClean="0"/>
              <a:t>Tesla'nın</a:t>
            </a:r>
            <a:r>
              <a:rPr lang="tr-TR" dirty="0" smtClean="0"/>
              <a:t> veri güvenliği politikalarını sorgulatıp. Şirket çalışanlara karşı dava açtı.</a:t>
            </a:r>
          </a:p>
          <a:p>
            <a:pPr>
              <a:buFont typeface="Arial" panose="020B0604020202020204" pitchFamily="34" charset="0"/>
              <a:buChar char="•"/>
            </a:pPr>
            <a:r>
              <a:rPr lang="tr-TR" b="1" dirty="0" err="1" smtClean="0"/>
              <a:t>Samsung</a:t>
            </a:r>
            <a:r>
              <a:rPr lang="tr-TR" b="1" dirty="0" smtClean="0"/>
              <a:t> Çalışanı </a:t>
            </a:r>
            <a:r>
              <a:rPr lang="tr-TR" b="1" dirty="0" err="1" smtClean="0"/>
              <a:t>ChatGPT</a:t>
            </a:r>
            <a:r>
              <a:rPr lang="tr-TR" b="1" dirty="0" smtClean="0"/>
              <a:t> Sızıntısı (2024):</a:t>
            </a:r>
            <a:r>
              <a:rPr lang="tr-TR" dirty="0" smtClean="0"/>
              <a:t> Mühendisler, hassas kaynak kodunu </a:t>
            </a:r>
            <a:r>
              <a:rPr lang="tr-TR" dirty="0" err="1" smtClean="0"/>
              <a:t>ChatGPT'ye</a:t>
            </a:r>
            <a:r>
              <a:rPr lang="tr-TR" dirty="0" smtClean="0"/>
              <a:t> girerek veri sızıntısına neden oldular, </a:t>
            </a:r>
            <a:r>
              <a:rPr lang="tr-TR" dirty="0" err="1" smtClean="0"/>
              <a:t>Samsung</a:t>
            </a:r>
            <a:r>
              <a:rPr lang="tr-TR" dirty="0" smtClean="0"/>
              <a:t> </a:t>
            </a:r>
            <a:r>
              <a:rPr lang="tr-TR" dirty="0" err="1" smtClean="0"/>
              <a:t>ChatGPT</a:t>
            </a:r>
            <a:r>
              <a:rPr lang="tr-TR" dirty="0" smtClean="0"/>
              <a:t> kullanımını yasakladı.</a:t>
            </a:r>
            <a:endParaRPr lang="tr-TR" dirty="0"/>
          </a:p>
        </p:txBody>
      </p:sp>
    </p:spTree>
    <p:extLst>
      <p:ext uri="{BB962C8B-B14F-4D97-AF65-F5344CB8AC3E}">
        <p14:creationId xmlns:p14="http://schemas.microsoft.com/office/powerpoint/2010/main" val="12108868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6988" y="828007"/>
            <a:ext cx="9813290" cy="443070"/>
          </a:xfrm>
          <a:prstGeom prst="rect">
            <a:avLst/>
          </a:prstGeom>
        </p:spPr>
        <p:txBody>
          <a:bodyPr vert="horz" wrap="square" lIns="0" tIns="12065" rIns="0" bIns="0" rtlCol="0">
            <a:spAutoFit/>
          </a:bodyPr>
          <a:lstStyle/>
          <a:p>
            <a:pPr algn="r"/>
            <a:r>
              <a:rPr lang="tr-TR" sz="2800" dirty="0"/>
              <a:t>11. Yapay Zeka Kötüye Kullanımı (AI </a:t>
            </a:r>
            <a:r>
              <a:rPr lang="tr-TR" sz="2800" dirty="0" err="1"/>
              <a:t>Misuse</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25</a:t>
            </a:fld>
            <a:endParaRPr lang="tr-TR" sz="2000" b="1" dirty="0">
              <a:solidFill>
                <a:schemeClr val="bg1"/>
              </a:solidFill>
            </a:endParaRPr>
          </a:p>
        </p:txBody>
      </p:sp>
      <p:sp>
        <p:nvSpPr>
          <p:cNvPr id="2" name="Dikdörtgen 1"/>
          <p:cNvSpPr/>
          <p:nvPr/>
        </p:nvSpPr>
        <p:spPr>
          <a:xfrm>
            <a:off x="1326988" y="1610080"/>
            <a:ext cx="9824374" cy="4801314"/>
          </a:xfrm>
          <a:prstGeom prst="rect">
            <a:avLst/>
          </a:prstGeom>
        </p:spPr>
        <p:txBody>
          <a:bodyPr wrap="square">
            <a:spAutoFit/>
          </a:bodyPr>
          <a:lstStyle/>
          <a:p>
            <a:r>
              <a:rPr lang="tr-TR" b="1" dirty="0" smtClean="0">
                <a:solidFill>
                  <a:srgbClr val="FF0000"/>
                </a:solidFill>
              </a:rPr>
              <a:t>Tanım:</a:t>
            </a:r>
            <a:r>
              <a:rPr lang="tr-TR" dirty="0" smtClean="0">
                <a:solidFill>
                  <a:srgbClr val="FF0000"/>
                </a:solidFill>
              </a:rPr>
              <a:t> </a:t>
            </a:r>
            <a:r>
              <a:rPr lang="tr-TR" dirty="0" smtClean="0"/>
              <a:t>Yapay zeka sistemlerinin tasarım amacı dışında, kötü niyetli şekilde kullanılması veya AI modellerinin kendisinin saldırıya uğramasıdır. Bu kategori, AI modellerine karşı yapılan saldırıları (model </a:t>
            </a:r>
            <a:r>
              <a:rPr lang="tr-TR" dirty="0" err="1" smtClean="0"/>
              <a:t>poisoning</a:t>
            </a:r>
            <a:r>
              <a:rPr lang="tr-TR" dirty="0" smtClean="0"/>
              <a:t>, </a:t>
            </a:r>
            <a:r>
              <a:rPr lang="tr-TR" dirty="0" err="1" smtClean="0"/>
              <a:t>adversarial</a:t>
            </a:r>
            <a:r>
              <a:rPr lang="tr-TR" dirty="0" smtClean="0"/>
              <a:t> </a:t>
            </a:r>
            <a:r>
              <a:rPr lang="tr-TR" dirty="0" err="1" smtClean="0"/>
              <a:t>attacks</a:t>
            </a:r>
            <a:r>
              <a:rPr lang="tr-TR" dirty="0" smtClean="0"/>
              <a:t>), </a:t>
            </a:r>
            <a:r>
              <a:rPr lang="tr-TR" dirty="0" err="1" smtClean="0"/>
              <a:t>AI'nin</a:t>
            </a:r>
            <a:r>
              <a:rPr lang="tr-TR" dirty="0" smtClean="0"/>
              <a:t> etik olmayan kullanımını (</a:t>
            </a:r>
            <a:r>
              <a:rPr lang="tr-TR" dirty="0" err="1" smtClean="0"/>
              <a:t>disinformation</a:t>
            </a:r>
            <a:r>
              <a:rPr lang="tr-TR" dirty="0" smtClean="0"/>
              <a:t>, </a:t>
            </a:r>
            <a:r>
              <a:rPr lang="tr-TR" dirty="0" err="1" smtClean="0"/>
              <a:t>deepfake</a:t>
            </a:r>
            <a:r>
              <a:rPr lang="tr-TR" dirty="0" smtClean="0"/>
              <a:t>, </a:t>
            </a:r>
            <a:r>
              <a:rPr lang="tr-TR" dirty="0" err="1" smtClean="0"/>
              <a:t>autonomous</a:t>
            </a:r>
            <a:r>
              <a:rPr lang="tr-TR" dirty="0" smtClean="0"/>
              <a:t> </a:t>
            </a:r>
            <a:r>
              <a:rPr lang="tr-TR" dirty="0" err="1" smtClean="0"/>
              <a:t>weapons</a:t>
            </a:r>
            <a:r>
              <a:rPr lang="tr-TR" dirty="0" smtClean="0"/>
              <a:t>), ve AI sistemlerinin manipüle edilmesini (</a:t>
            </a:r>
            <a:r>
              <a:rPr lang="tr-TR" dirty="0" err="1" smtClean="0"/>
              <a:t>jailbreaking</a:t>
            </a:r>
            <a:r>
              <a:rPr lang="tr-TR" dirty="0" smtClean="0"/>
              <a:t>, </a:t>
            </a:r>
            <a:r>
              <a:rPr lang="tr-TR" dirty="0" err="1" smtClean="0"/>
              <a:t>prompt</a:t>
            </a:r>
            <a:r>
              <a:rPr lang="tr-TR" dirty="0" smtClean="0"/>
              <a:t> </a:t>
            </a:r>
            <a:r>
              <a:rPr lang="tr-TR" dirty="0" err="1" smtClean="0"/>
              <a:t>injection</a:t>
            </a:r>
            <a:r>
              <a:rPr lang="tr-TR" dirty="0" smtClean="0"/>
              <a:t>) içerir.</a:t>
            </a:r>
          </a:p>
          <a:p>
            <a:r>
              <a:rPr lang="tr-TR" b="1" dirty="0" smtClean="0"/>
              <a:t>Teknik:</a:t>
            </a:r>
            <a:r>
              <a:rPr lang="tr-TR" dirty="0" smtClean="0"/>
              <a:t> </a:t>
            </a:r>
            <a:r>
              <a:rPr lang="tr-TR" dirty="0" err="1" smtClean="0"/>
              <a:t>Prompt</a:t>
            </a:r>
            <a:r>
              <a:rPr lang="tr-TR" dirty="0" smtClean="0"/>
              <a:t> </a:t>
            </a:r>
            <a:r>
              <a:rPr lang="tr-TR" dirty="0" err="1" smtClean="0"/>
              <a:t>injection</a:t>
            </a:r>
            <a:r>
              <a:rPr lang="tr-TR" dirty="0" smtClean="0"/>
              <a:t> ile </a:t>
            </a:r>
            <a:r>
              <a:rPr lang="tr-TR" dirty="0" err="1" smtClean="0"/>
              <a:t>LLM'ler</a:t>
            </a:r>
            <a:r>
              <a:rPr lang="tr-TR" dirty="0" smtClean="0"/>
              <a:t> istenmeyen çıktılar üretmeye zorlanır. </a:t>
            </a:r>
            <a:r>
              <a:rPr lang="tr-TR" dirty="0" err="1" smtClean="0"/>
              <a:t>Jailbreaking</a:t>
            </a:r>
            <a:r>
              <a:rPr lang="tr-TR" dirty="0" smtClean="0"/>
              <a:t> teknikleriyle AI güvenlik kısıtlamaları atlatılır. Data </a:t>
            </a:r>
            <a:r>
              <a:rPr lang="tr-TR" dirty="0" err="1" smtClean="0"/>
              <a:t>poisoning</a:t>
            </a:r>
            <a:r>
              <a:rPr lang="tr-TR" dirty="0" smtClean="0"/>
              <a:t> ile eğitim verisi manipüle edilerek model davranışı değiştirilir. Model </a:t>
            </a:r>
            <a:r>
              <a:rPr lang="tr-TR" dirty="0" err="1" smtClean="0"/>
              <a:t>inversion</a:t>
            </a:r>
            <a:r>
              <a:rPr lang="tr-TR" dirty="0" smtClean="0"/>
              <a:t> </a:t>
            </a:r>
            <a:r>
              <a:rPr lang="tr-TR" dirty="0" err="1" smtClean="0"/>
              <a:t>attack</a:t>
            </a:r>
            <a:r>
              <a:rPr lang="tr-TR" dirty="0" smtClean="0"/>
              <a:t> ile eğitim verisindeki hassas bilgiler çıkarılır. Model </a:t>
            </a:r>
            <a:r>
              <a:rPr lang="tr-TR" dirty="0" err="1" smtClean="0"/>
              <a:t>stealing</a:t>
            </a:r>
            <a:r>
              <a:rPr lang="tr-TR" dirty="0" smtClean="0"/>
              <a:t> ile </a:t>
            </a:r>
            <a:r>
              <a:rPr lang="tr-TR" dirty="0" err="1" smtClean="0"/>
              <a:t>proprietary</a:t>
            </a:r>
            <a:r>
              <a:rPr lang="tr-TR" dirty="0" smtClean="0"/>
              <a:t> AI modelleri kopyalanır. </a:t>
            </a:r>
            <a:r>
              <a:rPr lang="tr-TR" dirty="0" err="1" smtClean="0"/>
              <a:t>Adversarial</a:t>
            </a:r>
            <a:r>
              <a:rPr lang="tr-TR" dirty="0" smtClean="0"/>
              <a:t> </a:t>
            </a:r>
            <a:r>
              <a:rPr lang="tr-TR" dirty="0" err="1" smtClean="0"/>
              <a:t>examples</a:t>
            </a:r>
            <a:r>
              <a:rPr lang="tr-TR" dirty="0" smtClean="0"/>
              <a:t> ile AI sınıflandırıcıları yanıltılır. AI </a:t>
            </a:r>
            <a:r>
              <a:rPr lang="tr-TR" dirty="0" err="1" smtClean="0"/>
              <a:t>hallucination</a:t>
            </a:r>
            <a:r>
              <a:rPr lang="tr-TR" dirty="0" smtClean="0"/>
              <a:t> istismar edilerek yanlış bilgi üretilir. </a:t>
            </a:r>
            <a:r>
              <a:rPr lang="tr-TR" dirty="0" err="1" smtClean="0"/>
              <a:t>Bias</a:t>
            </a:r>
            <a:r>
              <a:rPr lang="tr-TR" dirty="0" smtClean="0"/>
              <a:t> </a:t>
            </a:r>
            <a:r>
              <a:rPr lang="tr-TR" dirty="0" err="1" smtClean="0"/>
              <a:t>amplification</a:t>
            </a:r>
            <a:r>
              <a:rPr lang="tr-TR" dirty="0" smtClean="0"/>
              <a:t> ile önyargılı kararlar tetiklenir.</a:t>
            </a:r>
          </a:p>
          <a:p>
            <a:endParaRPr lang="tr-TR" dirty="0" smtClean="0">
              <a:solidFill>
                <a:srgbClr val="FF0000"/>
              </a:solidFill>
            </a:endParaRPr>
          </a:p>
          <a:p>
            <a:r>
              <a:rPr lang="tr-TR" b="1" dirty="0" smtClean="0">
                <a:solidFill>
                  <a:srgbClr val="FF0000"/>
                </a:solidFill>
              </a:rPr>
              <a:t>Güncel Olay:</a:t>
            </a:r>
            <a:endParaRPr lang="tr-TR" dirty="0" smtClean="0">
              <a:solidFill>
                <a:srgbClr val="FF0000"/>
              </a:solidFill>
            </a:endParaRPr>
          </a:p>
          <a:p>
            <a:pPr>
              <a:buFont typeface="Arial" panose="020B0604020202020204" pitchFamily="34" charset="0"/>
              <a:buChar char="•"/>
            </a:pPr>
            <a:r>
              <a:rPr lang="tr-TR" b="1" dirty="0" err="1" smtClean="0"/>
              <a:t>ChatGPT</a:t>
            </a:r>
            <a:r>
              <a:rPr lang="tr-TR" b="1" dirty="0" smtClean="0"/>
              <a:t> "</a:t>
            </a:r>
            <a:r>
              <a:rPr lang="tr-TR" b="1" dirty="0" err="1" smtClean="0"/>
              <a:t>Grandma</a:t>
            </a:r>
            <a:r>
              <a:rPr lang="tr-TR" b="1" dirty="0" smtClean="0"/>
              <a:t> </a:t>
            </a:r>
            <a:r>
              <a:rPr lang="tr-TR" b="1" dirty="0" err="1" smtClean="0"/>
              <a:t>Exploit</a:t>
            </a:r>
            <a:r>
              <a:rPr lang="tr-TR" b="1" dirty="0" smtClean="0"/>
              <a:t>" ve </a:t>
            </a:r>
            <a:r>
              <a:rPr lang="tr-TR" b="1" dirty="0" err="1" smtClean="0"/>
              <a:t>Jailbreak</a:t>
            </a:r>
            <a:r>
              <a:rPr lang="tr-TR" b="1" dirty="0" smtClean="0"/>
              <a:t> (2024 devam ediyor):</a:t>
            </a:r>
            <a:r>
              <a:rPr lang="tr-TR" dirty="0" smtClean="0"/>
              <a:t> Saldırganlar, </a:t>
            </a:r>
            <a:r>
              <a:rPr lang="tr-TR" dirty="0" err="1" smtClean="0"/>
              <a:t>ChatGPT'yi</a:t>
            </a:r>
            <a:r>
              <a:rPr lang="tr-TR" dirty="0" smtClean="0"/>
              <a:t> manipüle ederek etik kısıtlamaları aşan içerikler ürettiler. "Ölen büyükannem bana uyku ilacı formülü söylerdi" gibi senaryolarla bomba yapımı, </a:t>
            </a:r>
            <a:r>
              <a:rPr lang="tr-TR" dirty="0" err="1" smtClean="0"/>
              <a:t>malware</a:t>
            </a:r>
            <a:r>
              <a:rPr lang="tr-TR" dirty="0" smtClean="0"/>
              <a:t> kodu, </a:t>
            </a:r>
            <a:r>
              <a:rPr lang="tr-TR" dirty="0" err="1" smtClean="0"/>
              <a:t>phishing</a:t>
            </a:r>
            <a:r>
              <a:rPr lang="tr-TR" dirty="0" smtClean="0"/>
              <a:t> şablonları elde ettiler. </a:t>
            </a:r>
            <a:r>
              <a:rPr lang="tr-TR" dirty="0" err="1" smtClean="0"/>
              <a:t>OpenAI</a:t>
            </a:r>
            <a:r>
              <a:rPr lang="tr-TR" dirty="0" smtClean="0"/>
              <a:t> sürekli yama yayınlasa da yeni </a:t>
            </a:r>
            <a:r>
              <a:rPr lang="tr-TR" dirty="0" err="1" smtClean="0"/>
              <a:t>jailbreak</a:t>
            </a:r>
            <a:r>
              <a:rPr lang="tr-TR" dirty="0" smtClean="0"/>
              <a:t> teknikleri keşfediliyor.</a:t>
            </a:r>
            <a:endParaRPr lang="tr-TR" dirty="0"/>
          </a:p>
        </p:txBody>
      </p:sp>
    </p:spTree>
    <p:extLst>
      <p:ext uri="{BB962C8B-B14F-4D97-AF65-F5344CB8AC3E}">
        <p14:creationId xmlns:p14="http://schemas.microsoft.com/office/powerpoint/2010/main" val="5318130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22832" y="399891"/>
            <a:ext cx="9802206" cy="873957"/>
          </a:xfrm>
          <a:prstGeom prst="rect">
            <a:avLst/>
          </a:prstGeom>
        </p:spPr>
        <p:txBody>
          <a:bodyPr vert="horz" wrap="square" lIns="0" tIns="12065" rIns="0" bIns="0" rtlCol="0">
            <a:spAutoFit/>
          </a:bodyPr>
          <a:lstStyle/>
          <a:p>
            <a:pPr algn="r"/>
            <a:r>
              <a:rPr lang="tr-TR" sz="2800" dirty="0"/>
              <a:t>12. Veri İhlalleri ve Gizlilik İhlalleri </a:t>
            </a:r>
            <a:r>
              <a:rPr lang="tr-TR" sz="2800" dirty="0" smtClean="0"/>
              <a:t/>
            </a:r>
            <a:br>
              <a:rPr lang="tr-TR" sz="2800" dirty="0" smtClean="0"/>
            </a:br>
            <a:r>
              <a:rPr lang="tr-TR" sz="2800" dirty="0" smtClean="0"/>
              <a:t>(</a:t>
            </a:r>
            <a:r>
              <a:rPr lang="tr-TR" sz="2800" dirty="0"/>
              <a:t>Data </a:t>
            </a:r>
            <a:r>
              <a:rPr lang="tr-TR" sz="2800" dirty="0" err="1"/>
              <a:t>Breaches</a:t>
            </a:r>
            <a:r>
              <a:rPr lang="tr-TR" sz="2800" dirty="0"/>
              <a:t> </a:t>
            </a:r>
            <a:r>
              <a:rPr lang="tr-TR" sz="2800" dirty="0" err="1"/>
              <a:t>and</a:t>
            </a:r>
            <a:r>
              <a:rPr lang="tr-TR" sz="2800" dirty="0"/>
              <a:t> </a:t>
            </a:r>
            <a:r>
              <a:rPr lang="tr-TR" sz="2800" dirty="0" err="1"/>
              <a:t>Privacy</a:t>
            </a:r>
            <a:r>
              <a:rPr lang="tr-TR" sz="2800" dirty="0"/>
              <a:t> </a:t>
            </a:r>
            <a:r>
              <a:rPr lang="tr-TR" sz="2800" dirty="0" err="1"/>
              <a:t>Violations</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26</a:t>
            </a:fld>
            <a:endParaRPr lang="tr-TR" sz="2000" b="1" dirty="0">
              <a:solidFill>
                <a:schemeClr val="bg1"/>
              </a:solidFill>
            </a:endParaRPr>
          </a:p>
        </p:txBody>
      </p:sp>
      <p:sp>
        <p:nvSpPr>
          <p:cNvPr id="2" name="Dikdörtgen 1"/>
          <p:cNvSpPr/>
          <p:nvPr/>
        </p:nvSpPr>
        <p:spPr>
          <a:xfrm>
            <a:off x="1326988" y="1611465"/>
            <a:ext cx="9813290" cy="4801314"/>
          </a:xfrm>
          <a:prstGeom prst="rect">
            <a:avLst/>
          </a:prstGeom>
        </p:spPr>
        <p:txBody>
          <a:bodyPr wrap="square">
            <a:spAutoFit/>
          </a:bodyPr>
          <a:lstStyle/>
          <a:p>
            <a:r>
              <a:rPr lang="tr-TR" b="1" dirty="0" smtClean="0"/>
              <a:t>Tanım:</a:t>
            </a:r>
            <a:r>
              <a:rPr lang="tr-TR" dirty="0" smtClean="0"/>
              <a:t> Hassas, korunan veya gizli verilerin yetkisiz kişilerce erişilmesi, kopyalanması, iletilmesi, görüntülenmesi, çalınması veya kullanılmasıdır. Kişisel veriler (PII), finansal bilgiler, sağlık kayıtları (PHI), ticari sırlar, fikri mülkiyet gibi değerli bilgilerin sızıntısını içerir. GDPR, KVKK, HIPAA gibi veri koruma düzenlemelerinin ihlali ciddi yasal ve mali sonuçlar doğurur.</a:t>
            </a:r>
          </a:p>
          <a:p>
            <a:r>
              <a:rPr lang="tr-TR" b="1" dirty="0" smtClean="0"/>
              <a:t>Teknik:</a:t>
            </a:r>
            <a:r>
              <a:rPr lang="tr-TR" dirty="0" smtClean="0"/>
              <a:t> SQL </a:t>
            </a:r>
            <a:r>
              <a:rPr lang="tr-TR" dirty="0" err="1" smtClean="0"/>
              <a:t>injection</a:t>
            </a:r>
            <a:r>
              <a:rPr lang="tr-TR" dirty="0" smtClean="0"/>
              <a:t> ile </a:t>
            </a:r>
            <a:r>
              <a:rPr lang="tr-TR" dirty="0" err="1" smtClean="0"/>
              <a:t>veritabanlarına</a:t>
            </a:r>
            <a:r>
              <a:rPr lang="tr-TR" dirty="0" smtClean="0"/>
              <a:t> erişilir. </a:t>
            </a:r>
            <a:r>
              <a:rPr lang="tr-TR" dirty="0" err="1" smtClean="0"/>
              <a:t>Unpatched</a:t>
            </a:r>
            <a:r>
              <a:rPr lang="tr-TR" dirty="0" smtClean="0"/>
              <a:t> </a:t>
            </a:r>
            <a:r>
              <a:rPr lang="tr-TR" dirty="0" err="1" smtClean="0"/>
              <a:t>vulnerabilities</a:t>
            </a:r>
            <a:r>
              <a:rPr lang="tr-TR" dirty="0" smtClean="0"/>
              <a:t> kullanılarak sistemlere sızılır. </a:t>
            </a:r>
            <a:r>
              <a:rPr lang="tr-TR" dirty="0" err="1" smtClean="0"/>
              <a:t>Stolen</a:t>
            </a:r>
            <a:r>
              <a:rPr lang="tr-TR" dirty="0" smtClean="0"/>
              <a:t> </a:t>
            </a:r>
            <a:r>
              <a:rPr lang="tr-TR" dirty="0" err="1" smtClean="0"/>
              <a:t>credentials</a:t>
            </a:r>
            <a:r>
              <a:rPr lang="tr-TR" dirty="0" smtClean="0"/>
              <a:t> ile yetkili erişim sağlanır. API </a:t>
            </a:r>
            <a:r>
              <a:rPr lang="tr-TR" dirty="0" err="1" smtClean="0"/>
              <a:t>exploitation</a:t>
            </a:r>
            <a:r>
              <a:rPr lang="tr-TR" dirty="0" smtClean="0"/>
              <a:t> ile veri sızıntısı yapılır. </a:t>
            </a:r>
            <a:r>
              <a:rPr lang="tr-TR" dirty="0" err="1" smtClean="0"/>
              <a:t>Misconfigured</a:t>
            </a:r>
            <a:r>
              <a:rPr lang="tr-TR" dirty="0" smtClean="0"/>
              <a:t> </a:t>
            </a:r>
            <a:r>
              <a:rPr lang="tr-TR" dirty="0" err="1" smtClean="0"/>
              <a:t>databases</a:t>
            </a:r>
            <a:r>
              <a:rPr lang="tr-TR" dirty="0" smtClean="0"/>
              <a:t> (</a:t>
            </a:r>
            <a:r>
              <a:rPr lang="tr-TR" dirty="0" err="1" smtClean="0"/>
              <a:t>MongoDB</a:t>
            </a:r>
            <a:r>
              <a:rPr lang="tr-TR" dirty="0" smtClean="0"/>
              <a:t>, </a:t>
            </a:r>
            <a:r>
              <a:rPr lang="tr-TR" dirty="0" err="1" smtClean="0"/>
              <a:t>Elasticsearch</a:t>
            </a:r>
            <a:r>
              <a:rPr lang="tr-TR" dirty="0" smtClean="0"/>
              <a:t>) internete açık kalır. Third-</a:t>
            </a:r>
            <a:r>
              <a:rPr lang="tr-TR" dirty="0" err="1" smtClean="0"/>
              <a:t>party</a:t>
            </a:r>
            <a:r>
              <a:rPr lang="tr-TR" dirty="0" smtClean="0"/>
              <a:t> </a:t>
            </a:r>
            <a:r>
              <a:rPr lang="tr-TR" dirty="0" err="1" smtClean="0"/>
              <a:t>breach</a:t>
            </a:r>
            <a:r>
              <a:rPr lang="tr-TR" dirty="0" smtClean="0"/>
              <a:t> sonucu zincirleme ihlaller oluşur. Web </a:t>
            </a:r>
            <a:r>
              <a:rPr lang="tr-TR" dirty="0" err="1" smtClean="0"/>
              <a:t>scraping</a:t>
            </a:r>
            <a:r>
              <a:rPr lang="tr-TR" dirty="0" smtClean="0"/>
              <a:t> ile </a:t>
            </a:r>
            <a:r>
              <a:rPr lang="tr-TR" dirty="0" err="1" smtClean="0"/>
              <a:t>public</a:t>
            </a:r>
            <a:r>
              <a:rPr lang="tr-TR" dirty="0" smtClean="0"/>
              <a:t> olmayan veriler toplanır. </a:t>
            </a:r>
            <a:r>
              <a:rPr lang="tr-TR" dirty="0" err="1" smtClean="0"/>
              <a:t>Backup</a:t>
            </a:r>
            <a:r>
              <a:rPr lang="tr-TR" dirty="0" smtClean="0"/>
              <a:t> </a:t>
            </a:r>
            <a:r>
              <a:rPr lang="tr-TR" dirty="0" err="1" smtClean="0"/>
              <a:t>exposure</a:t>
            </a:r>
            <a:r>
              <a:rPr lang="tr-TR" dirty="0" smtClean="0"/>
              <a:t> ile eski veriler sızdırılır. Brute </a:t>
            </a:r>
            <a:r>
              <a:rPr lang="tr-TR" dirty="0" err="1" smtClean="0"/>
              <a:t>force</a:t>
            </a:r>
            <a:r>
              <a:rPr lang="tr-TR" dirty="0" smtClean="0"/>
              <a:t> </a:t>
            </a:r>
            <a:r>
              <a:rPr lang="tr-TR" dirty="0" err="1" smtClean="0"/>
              <a:t>attack</a:t>
            </a:r>
            <a:r>
              <a:rPr lang="tr-TR" dirty="0" smtClean="0"/>
              <a:t> ile şifreler kırılır. </a:t>
            </a:r>
            <a:r>
              <a:rPr lang="tr-TR" dirty="0" err="1" smtClean="0"/>
              <a:t>Social</a:t>
            </a:r>
            <a:r>
              <a:rPr lang="tr-TR" dirty="0" smtClean="0"/>
              <a:t> </a:t>
            </a:r>
            <a:r>
              <a:rPr lang="tr-TR" dirty="0" err="1" smtClean="0"/>
              <a:t>engineering</a:t>
            </a:r>
            <a:r>
              <a:rPr lang="tr-TR" dirty="0" smtClean="0"/>
              <a:t> ile veriler kandırılarak alınır.</a:t>
            </a:r>
          </a:p>
          <a:p>
            <a:endParaRPr lang="tr-TR" dirty="0" smtClean="0"/>
          </a:p>
          <a:p>
            <a:r>
              <a:rPr lang="tr-TR" b="1" dirty="0" smtClean="0"/>
              <a:t>Güncel Olay:</a:t>
            </a:r>
            <a:endParaRPr lang="tr-TR" dirty="0" smtClean="0"/>
          </a:p>
          <a:p>
            <a:pPr>
              <a:buFont typeface="Arial" panose="020B0604020202020204" pitchFamily="34" charset="0"/>
              <a:buChar char="•"/>
            </a:pPr>
            <a:r>
              <a:rPr lang="tr-TR" b="1" dirty="0" err="1" smtClean="0"/>
              <a:t>National</a:t>
            </a:r>
            <a:r>
              <a:rPr lang="tr-TR" b="1" dirty="0" smtClean="0"/>
              <a:t> </a:t>
            </a:r>
            <a:r>
              <a:rPr lang="tr-TR" b="1" dirty="0" err="1" smtClean="0"/>
              <a:t>Public</a:t>
            </a:r>
            <a:r>
              <a:rPr lang="tr-TR" b="1" dirty="0" smtClean="0"/>
              <a:t> Data </a:t>
            </a:r>
            <a:r>
              <a:rPr lang="tr-TR" b="1" dirty="0" err="1" smtClean="0"/>
              <a:t>Breach</a:t>
            </a:r>
            <a:r>
              <a:rPr lang="tr-TR" b="1" dirty="0" smtClean="0"/>
              <a:t> (Ağustos 2024):</a:t>
            </a:r>
            <a:r>
              <a:rPr lang="tr-TR" dirty="0" smtClean="0"/>
              <a:t> ABD'de geçmiş kontrolü yapan şirket </a:t>
            </a:r>
            <a:r>
              <a:rPr lang="tr-TR" dirty="0" err="1" smtClean="0"/>
              <a:t>National</a:t>
            </a:r>
            <a:r>
              <a:rPr lang="tr-TR" dirty="0" smtClean="0"/>
              <a:t> </a:t>
            </a:r>
            <a:r>
              <a:rPr lang="tr-TR" dirty="0" err="1" smtClean="0"/>
              <a:t>Public</a:t>
            </a:r>
            <a:r>
              <a:rPr lang="tr-TR" dirty="0" smtClean="0"/>
              <a:t> Data, 2.9 milyar kişinin Sosyal Güvenlik Numarası (SSN), tam adres, telefon numarası ve diğer kişisel bilgilerini içeren veri ihlali yaşadı. Tarihte bilinen en büyük SSN sızıntısı. Veriler </a:t>
            </a:r>
            <a:r>
              <a:rPr lang="tr-TR" dirty="0" err="1" smtClean="0"/>
              <a:t>dark</a:t>
            </a:r>
            <a:r>
              <a:rPr lang="tr-TR" dirty="0" smtClean="0"/>
              <a:t> </a:t>
            </a:r>
            <a:r>
              <a:rPr lang="tr-TR" dirty="0" err="1" smtClean="0"/>
              <a:t>web'de</a:t>
            </a:r>
            <a:r>
              <a:rPr lang="tr-TR" dirty="0" smtClean="0"/>
              <a:t> ücretsiz dağıtıldı. ABD, Kanada, İngiltere vatandaşları etkilendi. Toplu davalar başlatıldı.</a:t>
            </a:r>
            <a:endParaRPr lang="tr-TR" dirty="0"/>
          </a:p>
        </p:txBody>
      </p:sp>
    </p:spTree>
    <p:extLst>
      <p:ext uri="{BB962C8B-B14F-4D97-AF65-F5344CB8AC3E}">
        <p14:creationId xmlns:p14="http://schemas.microsoft.com/office/powerpoint/2010/main" val="10630081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47770" y="487356"/>
            <a:ext cx="9813290" cy="873957"/>
          </a:xfrm>
          <a:prstGeom prst="rect">
            <a:avLst/>
          </a:prstGeom>
        </p:spPr>
        <p:txBody>
          <a:bodyPr vert="horz" wrap="square" lIns="0" tIns="12065" rIns="0" bIns="0" rtlCol="0">
            <a:spAutoFit/>
          </a:bodyPr>
          <a:lstStyle/>
          <a:p>
            <a:pPr algn="r"/>
            <a:r>
              <a:rPr lang="tr-TR" sz="2800" dirty="0"/>
              <a:t>13. Gelişmiş Kimlik Avı Teknikleri </a:t>
            </a:r>
            <a:r>
              <a:rPr lang="tr-TR" sz="2800" dirty="0" smtClean="0"/>
              <a:t/>
            </a:r>
            <a:br>
              <a:rPr lang="tr-TR" sz="2800" dirty="0" smtClean="0"/>
            </a:br>
            <a:r>
              <a:rPr lang="tr-TR" sz="2800" dirty="0" smtClean="0"/>
              <a:t>(</a:t>
            </a:r>
            <a:r>
              <a:rPr lang="tr-TR" sz="2800" dirty="0"/>
              <a:t>Advanced </a:t>
            </a:r>
            <a:r>
              <a:rPr lang="tr-TR" sz="2800" dirty="0" err="1"/>
              <a:t>Phishing</a:t>
            </a:r>
            <a:r>
              <a:rPr lang="tr-TR" sz="2800" dirty="0"/>
              <a:t> </a:t>
            </a:r>
            <a:r>
              <a:rPr lang="tr-TR" sz="2800" dirty="0" err="1"/>
              <a:t>Techniques</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27</a:t>
            </a:fld>
            <a:endParaRPr lang="tr-TR" sz="2000" b="1" dirty="0">
              <a:solidFill>
                <a:schemeClr val="bg1"/>
              </a:solidFill>
            </a:endParaRPr>
          </a:p>
        </p:txBody>
      </p:sp>
      <p:sp>
        <p:nvSpPr>
          <p:cNvPr id="2" name="Dikdörtgen 1"/>
          <p:cNvSpPr/>
          <p:nvPr/>
        </p:nvSpPr>
        <p:spPr>
          <a:xfrm>
            <a:off x="1339457" y="1524000"/>
            <a:ext cx="9811905" cy="5355312"/>
          </a:xfrm>
          <a:prstGeom prst="rect">
            <a:avLst/>
          </a:prstGeom>
        </p:spPr>
        <p:txBody>
          <a:bodyPr wrap="square">
            <a:spAutoFit/>
          </a:bodyPr>
          <a:lstStyle/>
          <a:p>
            <a:r>
              <a:rPr lang="tr-TR" b="1" dirty="0" smtClean="0"/>
              <a:t>Tanım:</a:t>
            </a:r>
            <a:r>
              <a:rPr lang="tr-TR" dirty="0" smtClean="0"/>
              <a:t> Geleneksel e-posta tabanlı </a:t>
            </a:r>
            <a:r>
              <a:rPr lang="tr-TR" dirty="0" err="1" smtClean="0"/>
              <a:t>phishing'in</a:t>
            </a:r>
            <a:r>
              <a:rPr lang="tr-TR" dirty="0" smtClean="0"/>
              <a:t> ötesine geçen, çok kanallı ve sofistike kimlik avı yöntemleridir. QR kod </a:t>
            </a:r>
            <a:r>
              <a:rPr lang="tr-TR" dirty="0" err="1" smtClean="0"/>
              <a:t>phishing</a:t>
            </a:r>
            <a:r>
              <a:rPr lang="tr-TR" dirty="0" smtClean="0"/>
              <a:t> (</a:t>
            </a:r>
            <a:r>
              <a:rPr lang="tr-TR" dirty="0" err="1" smtClean="0"/>
              <a:t>quishing</a:t>
            </a:r>
            <a:r>
              <a:rPr lang="tr-TR" dirty="0" smtClean="0"/>
              <a:t>), ses </a:t>
            </a:r>
            <a:r>
              <a:rPr lang="tr-TR" dirty="0" err="1" smtClean="0"/>
              <a:t>phishing</a:t>
            </a:r>
            <a:r>
              <a:rPr lang="tr-TR" dirty="0" smtClean="0"/>
              <a:t> (</a:t>
            </a:r>
            <a:r>
              <a:rPr lang="tr-TR" dirty="0" err="1" smtClean="0"/>
              <a:t>vishing</a:t>
            </a:r>
            <a:r>
              <a:rPr lang="tr-TR" dirty="0" smtClean="0"/>
              <a:t>), SMS </a:t>
            </a:r>
            <a:r>
              <a:rPr lang="tr-TR" dirty="0" err="1" smtClean="0"/>
              <a:t>phishing</a:t>
            </a:r>
            <a:r>
              <a:rPr lang="tr-TR" dirty="0" smtClean="0"/>
              <a:t> (</a:t>
            </a:r>
            <a:r>
              <a:rPr lang="tr-TR" dirty="0" err="1" smtClean="0"/>
              <a:t>smishing</a:t>
            </a:r>
            <a:r>
              <a:rPr lang="tr-TR" dirty="0" smtClean="0"/>
              <a:t>), sosyal medya </a:t>
            </a:r>
            <a:r>
              <a:rPr lang="tr-TR" dirty="0" err="1" smtClean="0"/>
              <a:t>phishing</a:t>
            </a:r>
            <a:r>
              <a:rPr lang="tr-TR" dirty="0" smtClean="0"/>
              <a:t>, MFA yorgunluk saldırıları, </a:t>
            </a:r>
            <a:r>
              <a:rPr lang="tr-TR" dirty="0" err="1" smtClean="0"/>
              <a:t>man</a:t>
            </a:r>
            <a:r>
              <a:rPr lang="tr-TR" dirty="0" smtClean="0"/>
              <a:t>-in-</a:t>
            </a:r>
            <a:r>
              <a:rPr lang="tr-TR" dirty="0" err="1" smtClean="0"/>
              <a:t>the</a:t>
            </a:r>
            <a:r>
              <a:rPr lang="tr-TR" dirty="0" smtClean="0"/>
              <a:t>-</a:t>
            </a:r>
            <a:r>
              <a:rPr lang="tr-TR" dirty="0" err="1" smtClean="0"/>
              <a:t>middle</a:t>
            </a:r>
            <a:r>
              <a:rPr lang="tr-TR" dirty="0" smtClean="0"/>
              <a:t> </a:t>
            </a:r>
            <a:r>
              <a:rPr lang="tr-TR" dirty="0" err="1" smtClean="0"/>
              <a:t>proxy</a:t>
            </a:r>
            <a:r>
              <a:rPr lang="tr-TR" dirty="0" smtClean="0"/>
              <a:t> </a:t>
            </a:r>
            <a:r>
              <a:rPr lang="tr-TR" dirty="0" err="1" smtClean="0"/>
              <a:t>phishing</a:t>
            </a:r>
            <a:r>
              <a:rPr lang="tr-TR" dirty="0" smtClean="0"/>
              <a:t> gibi modern teknikleri içerir. Bu yöntemler, güvenlik farkındalığı eğitimlerini ve geleneksel e-posta filtreleme sistemlerini atlatmak için geliştirilmiştir.</a:t>
            </a:r>
          </a:p>
          <a:p>
            <a:r>
              <a:rPr lang="tr-TR" b="1" dirty="0" smtClean="0"/>
              <a:t>Teknik:</a:t>
            </a:r>
            <a:r>
              <a:rPr lang="tr-TR" dirty="0" smtClean="0"/>
              <a:t> QR kod </a:t>
            </a:r>
            <a:r>
              <a:rPr lang="tr-TR" dirty="0" err="1" smtClean="0"/>
              <a:t>phishing'de</a:t>
            </a:r>
            <a:r>
              <a:rPr lang="tr-TR" dirty="0" smtClean="0"/>
              <a:t> PDF veya e-postalardaki QR kodlar mobil cihazlarda taranır, güvenlik kontrollerini atlatır. </a:t>
            </a:r>
            <a:r>
              <a:rPr lang="tr-TR" dirty="0" err="1" smtClean="0"/>
              <a:t>Vishing'de</a:t>
            </a:r>
            <a:r>
              <a:rPr lang="tr-TR" dirty="0" smtClean="0"/>
              <a:t> AI </a:t>
            </a:r>
            <a:r>
              <a:rPr lang="tr-TR" dirty="0" err="1" smtClean="0"/>
              <a:t>voice</a:t>
            </a:r>
            <a:r>
              <a:rPr lang="tr-TR" dirty="0" smtClean="0"/>
              <a:t> </a:t>
            </a:r>
            <a:r>
              <a:rPr lang="tr-TR" dirty="0" err="1" smtClean="0"/>
              <a:t>cloning</a:t>
            </a:r>
            <a:r>
              <a:rPr lang="tr-TR" dirty="0" smtClean="0"/>
              <a:t> kullanılarak tanıdık sesler taklit edilir. MFA </a:t>
            </a:r>
            <a:r>
              <a:rPr lang="tr-TR" dirty="0" err="1" smtClean="0"/>
              <a:t>fatigue</a:t>
            </a:r>
            <a:r>
              <a:rPr lang="tr-TR" dirty="0" smtClean="0"/>
              <a:t> </a:t>
            </a:r>
            <a:r>
              <a:rPr lang="tr-TR" dirty="0" err="1" smtClean="0"/>
              <a:t>attack'ta</a:t>
            </a:r>
            <a:r>
              <a:rPr lang="tr-TR" dirty="0" smtClean="0"/>
              <a:t> kullanıcıya sürekli </a:t>
            </a:r>
            <a:r>
              <a:rPr lang="tr-TR" dirty="0" err="1" smtClean="0"/>
              <a:t>push</a:t>
            </a:r>
            <a:r>
              <a:rPr lang="tr-TR" dirty="0" smtClean="0"/>
              <a:t> </a:t>
            </a:r>
            <a:r>
              <a:rPr lang="tr-TR" dirty="0" err="1" smtClean="0"/>
              <a:t>notification</a:t>
            </a:r>
            <a:r>
              <a:rPr lang="tr-TR" dirty="0" smtClean="0"/>
              <a:t> gönderilerek onaylatılır. </a:t>
            </a:r>
            <a:r>
              <a:rPr lang="tr-TR" dirty="0" err="1" smtClean="0"/>
              <a:t>Adversary</a:t>
            </a:r>
            <a:r>
              <a:rPr lang="tr-TR" dirty="0" smtClean="0"/>
              <a:t>-in-</a:t>
            </a:r>
            <a:r>
              <a:rPr lang="tr-TR" dirty="0" err="1" smtClean="0"/>
              <a:t>the</a:t>
            </a:r>
            <a:r>
              <a:rPr lang="tr-TR" dirty="0" smtClean="0"/>
              <a:t>-</a:t>
            </a:r>
            <a:r>
              <a:rPr lang="tr-TR" dirty="0" err="1" smtClean="0"/>
              <a:t>middle</a:t>
            </a:r>
            <a:r>
              <a:rPr lang="tr-TR" dirty="0" smtClean="0"/>
              <a:t> (</a:t>
            </a:r>
            <a:r>
              <a:rPr lang="tr-TR" dirty="0" err="1" smtClean="0"/>
              <a:t>AitM</a:t>
            </a:r>
            <a:r>
              <a:rPr lang="tr-TR" dirty="0" smtClean="0"/>
              <a:t>) </a:t>
            </a:r>
            <a:r>
              <a:rPr lang="tr-TR" dirty="0" err="1" smtClean="0"/>
              <a:t>phishing'de</a:t>
            </a:r>
            <a:r>
              <a:rPr lang="tr-TR" dirty="0" smtClean="0"/>
              <a:t> </a:t>
            </a:r>
            <a:r>
              <a:rPr lang="tr-TR" dirty="0" err="1" smtClean="0"/>
              <a:t>reverse</a:t>
            </a:r>
            <a:r>
              <a:rPr lang="tr-TR" dirty="0" smtClean="0"/>
              <a:t> </a:t>
            </a:r>
            <a:r>
              <a:rPr lang="tr-TR" dirty="0" err="1" smtClean="0"/>
              <a:t>proxy</a:t>
            </a:r>
            <a:r>
              <a:rPr lang="tr-TR" dirty="0" smtClean="0"/>
              <a:t> kullanılarak gerçek site ile kullanıcı arasına girilir, MFA </a:t>
            </a:r>
            <a:r>
              <a:rPr lang="tr-TR" dirty="0" err="1" smtClean="0"/>
              <a:t>tokenları</a:t>
            </a:r>
            <a:r>
              <a:rPr lang="tr-TR" dirty="0" smtClean="0"/>
              <a:t> </a:t>
            </a:r>
            <a:r>
              <a:rPr lang="tr-TR" dirty="0" err="1" smtClean="0"/>
              <a:t>real</a:t>
            </a:r>
            <a:r>
              <a:rPr lang="tr-TR" dirty="0" smtClean="0"/>
              <a:t>-time çalınır. </a:t>
            </a:r>
            <a:r>
              <a:rPr lang="tr-TR" dirty="0" err="1" smtClean="0"/>
              <a:t>EvilProxy</a:t>
            </a:r>
            <a:r>
              <a:rPr lang="tr-TR" dirty="0" smtClean="0"/>
              <a:t> ve </a:t>
            </a:r>
            <a:r>
              <a:rPr lang="tr-TR" dirty="0" err="1" smtClean="0"/>
              <a:t>Evilginx</a:t>
            </a:r>
            <a:r>
              <a:rPr lang="tr-TR" dirty="0" smtClean="0"/>
              <a:t> gibi </a:t>
            </a:r>
            <a:r>
              <a:rPr lang="tr-TR" dirty="0" err="1" smtClean="0"/>
              <a:t>phishing</a:t>
            </a:r>
            <a:r>
              <a:rPr lang="tr-TR" dirty="0" smtClean="0"/>
              <a:t>-as-a-service araçları kullanılır. Browser-in-</a:t>
            </a:r>
            <a:r>
              <a:rPr lang="tr-TR" dirty="0" err="1" smtClean="0"/>
              <a:t>the</a:t>
            </a:r>
            <a:r>
              <a:rPr lang="tr-TR" dirty="0" smtClean="0"/>
              <a:t>-browser (</a:t>
            </a:r>
            <a:r>
              <a:rPr lang="tr-TR" dirty="0" err="1" smtClean="0"/>
              <a:t>BitB</a:t>
            </a:r>
            <a:r>
              <a:rPr lang="tr-TR" dirty="0" smtClean="0"/>
              <a:t>) saldırılarında sahte </a:t>
            </a:r>
            <a:r>
              <a:rPr lang="tr-TR" dirty="0" err="1" smtClean="0"/>
              <a:t>popup'lar</a:t>
            </a:r>
            <a:r>
              <a:rPr lang="tr-TR" dirty="0" smtClean="0"/>
              <a:t> gösterilerek </a:t>
            </a:r>
            <a:r>
              <a:rPr lang="tr-TR" dirty="0" err="1" smtClean="0"/>
              <a:t>OAuth</a:t>
            </a:r>
            <a:r>
              <a:rPr lang="tr-TR" dirty="0" smtClean="0"/>
              <a:t> akışı taklit edilir.</a:t>
            </a:r>
          </a:p>
          <a:p>
            <a:endParaRPr lang="tr-TR" dirty="0" smtClean="0"/>
          </a:p>
          <a:p>
            <a:r>
              <a:rPr lang="tr-TR" b="1" dirty="0" smtClean="0"/>
              <a:t>Güncel Olay:</a:t>
            </a:r>
            <a:endParaRPr lang="tr-TR" dirty="0" smtClean="0"/>
          </a:p>
          <a:p>
            <a:pPr>
              <a:buFont typeface="Arial" panose="020B0604020202020204" pitchFamily="34" charset="0"/>
              <a:buChar char="•"/>
            </a:pPr>
            <a:r>
              <a:rPr lang="tr-TR" b="1" dirty="0" smtClean="0"/>
              <a:t>Microsoft 365 QR Kod </a:t>
            </a:r>
            <a:r>
              <a:rPr lang="tr-TR" b="1" dirty="0" err="1" smtClean="0"/>
              <a:t>Phishing</a:t>
            </a:r>
            <a:r>
              <a:rPr lang="tr-TR" b="1" dirty="0" smtClean="0"/>
              <a:t> Kampanyası (Haziran 2024):</a:t>
            </a:r>
            <a:r>
              <a:rPr lang="tr-TR" dirty="0" smtClean="0"/>
              <a:t> Saldırganlar, PDF eklerindeki QR kodları kullanarak Microsoft 365 kimlik bilgilerini çaldılar. E-posta güvenlik </a:t>
            </a:r>
            <a:r>
              <a:rPr lang="tr-TR" dirty="0" err="1" smtClean="0"/>
              <a:t>gateway'leri</a:t>
            </a:r>
            <a:r>
              <a:rPr lang="tr-TR" dirty="0" smtClean="0"/>
              <a:t> QR kodları tararken mobil cihazlarda açılan sahte </a:t>
            </a:r>
            <a:r>
              <a:rPr lang="tr-TR" dirty="0" err="1" smtClean="0"/>
              <a:t>login</a:t>
            </a:r>
            <a:r>
              <a:rPr lang="tr-TR" dirty="0" smtClean="0"/>
              <a:t> sayfalarını tespit edemedi. Kampanya, finans ve hukuk sektörlerinde 1000+ kuruluşu hedef aldı. %300 başarı oranıyla geleneksel </a:t>
            </a:r>
            <a:r>
              <a:rPr lang="tr-TR" dirty="0" err="1" smtClean="0"/>
              <a:t>phishing'i</a:t>
            </a:r>
            <a:r>
              <a:rPr lang="tr-TR" dirty="0" smtClean="0"/>
              <a:t> geride bıraktı.</a:t>
            </a:r>
            <a:endParaRPr lang="tr-TR" dirty="0"/>
          </a:p>
        </p:txBody>
      </p:sp>
    </p:spTree>
    <p:extLst>
      <p:ext uri="{BB962C8B-B14F-4D97-AF65-F5344CB8AC3E}">
        <p14:creationId xmlns:p14="http://schemas.microsoft.com/office/powerpoint/2010/main" val="36031176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38072" y="397120"/>
            <a:ext cx="9813290" cy="873957"/>
          </a:xfrm>
          <a:prstGeom prst="rect">
            <a:avLst/>
          </a:prstGeom>
        </p:spPr>
        <p:txBody>
          <a:bodyPr vert="horz" wrap="square" lIns="0" tIns="12065" rIns="0" bIns="0" rtlCol="0">
            <a:spAutoFit/>
          </a:bodyPr>
          <a:lstStyle/>
          <a:p>
            <a:pPr algn="r"/>
            <a:r>
              <a:rPr lang="tr-TR" sz="2800" dirty="0"/>
              <a:t>14. Ulus-Devlet Siber Saldırıları </a:t>
            </a:r>
            <a:r>
              <a:rPr lang="tr-TR" sz="2800" dirty="0" smtClean="0"/>
              <a:t/>
            </a:r>
            <a:br>
              <a:rPr lang="tr-TR" sz="2800" dirty="0" smtClean="0"/>
            </a:br>
            <a:r>
              <a:rPr lang="tr-TR" sz="2800" dirty="0" smtClean="0"/>
              <a:t>(</a:t>
            </a:r>
            <a:r>
              <a:rPr lang="tr-TR" sz="2800" dirty="0" err="1"/>
              <a:t>Nation-State</a:t>
            </a:r>
            <a:r>
              <a:rPr lang="tr-TR" sz="2800" dirty="0"/>
              <a:t> </a:t>
            </a:r>
            <a:r>
              <a:rPr lang="tr-TR" sz="2800" dirty="0" err="1"/>
              <a:t>Cyber</a:t>
            </a:r>
            <a:r>
              <a:rPr lang="tr-TR" sz="2800" dirty="0"/>
              <a:t> </a:t>
            </a:r>
            <a:r>
              <a:rPr lang="tr-TR" sz="2800" dirty="0" err="1"/>
              <a:t>Attacks</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28</a:t>
            </a:fld>
            <a:endParaRPr lang="tr-TR" sz="2000" b="1" dirty="0">
              <a:solidFill>
                <a:schemeClr val="bg1"/>
              </a:solidFill>
            </a:endParaRPr>
          </a:p>
        </p:txBody>
      </p:sp>
      <p:sp>
        <p:nvSpPr>
          <p:cNvPr id="2" name="Dikdörtgen 1"/>
          <p:cNvSpPr/>
          <p:nvPr/>
        </p:nvSpPr>
        <p:spPr>
          <a:xfrm>
            <a:off x="1326988" y="1614236"/>
            <a:ext cx="9802206" cy="5078313"/>
          </a:xfrm>
          <a:prstGeom prst="rect">
            <a:avLst/>
          </a:prstGeom>
        </p:spPr>
        <p:txBody>
          <a:bodyPr wrap="square">
            <a:spAutoFit/>
          </a:bodyPr>
          <a:lstStyle/>
          <a:p>
            <a:r>
              <a:rPr lang="tr-TR" b="1" dirty="0" smtClean="0"/>
              <a:t>Tanım:</a:t>
            </a:r>
            <a:r>
              <a:rPr lang="tr-TR" dirty="0" smtClean="0"/>
              <a:t> Devletler veya devlet destekli gruplar tarafından gerçekleştirilen, jeopolitik amaçlı siber casusluk, sabotaj, bilgi operasyonları ve siber savaş faaliyetleridir. Hedefler arasında kritik altyapılar, savunma sanayii, enerji tesisleri, hükümet kurumları, seçim sistemleri ve stratejik endüstriler bulunur. Bu saldırılar genellikle büyük kaynaklara, ileri düzey yeteneklere ve uzun vadeli stratejik hedeflere sahiptir.</a:t>
            </a:r>
          </a:p>
          <a:p>
            <a:r>
              <a:rPr lang="tr-TR" b="1" dirty="0" smtClean="0"/>
              <a:t>Teknik:</a:t>
            </a:r>
            <a:r>
              <a:rPr lang="tr-TR" dirty="0" smtClean="0"/>
              <a:t> Çok aşamalı APT kampanyaları yürütülür. </a:t>
            </a:r>
            <a:r>
              <a:rPr lang="tr-TR" dirty="0" err="1" smtClean="0"/>
              <a:t>Multiple</a:t>
            </a:r>
            <a:r>
              <a:rPr lang="tr-TR" dirty="0" smtClean="0"/>
              <a:t> </a:t>
            </a:r>
            <a:r>
              <a:rPr lang="tr-TR" dirty="0" err="1" smtClean="0"/>
              <a:t>zero-day</a:t>
            </a:r>
            <a:r>
              <a:rPr lang="tr-TR" dirty="0" smtClean="0"/>
              <a:t> </a:t>
            </a:r>
            <a:r>
              <a:rPr lang="tr-TR" dirty="0" err="1" smtClean="0"/>
              <a:t>exploits</a:t>
            </a:r>
            <a:r>
              <a:rPr lang="tr-TR" dirty="0" smtClean="0"/>
              <a:t> aynı anda kullanılır. </a:t>
            </a:r>
            <a:r>
              <a:rPr lang="tr-TR" dirty="0" err="1" smtClean="0"/>
              <a:t>Supply</a:t>
            </a:r>
            <a:r>
              <a:rPr lang="tr-TR" dirty="0" smtClean="0"/>
              <a:t> </a:t>
            </a:r>
            <a:r>
              <a:rPr lang="tr-TR" dirty="0" err="1" smtClean="0"/>
              <a:t>chain'e</a:t>
            </a:r>
            <a:r>
              <a:rPr lang="tr-TR" dirty="0" smtClean="0"/>
              <a:t> stratejik sızma yapılır. Critical </a:t>
            </a:r>
            <a:r>
              <a:rPr lang="tr-TR" dirty="0" err="1" smtClean="0"/>
              <a:t>infrastructure'a</a:t>
            </a:r>
            <a:r>
              <a:rPr lang="tr-TR" dirty="0" smtClean="0"/>
              <a:t> yönelik SCADA/ICS sistemleri hedeflenir (</a:t>
            </a:r>
            <a:r>
              <a:rPr lang="tr-TR" dirty="0" err="1" smtClean="0"/>
              <a:t>Stuxnet</a:t>
            </a:r>
            <a:r>
              <a:rPr lang="tr-TR" dirty="0" smtClean="0"/>
              <a:t> benzeri). </a:t>
            </a:r>
            <a:r>
              <a:rPr lang="tr-TR" dirty="0" err="1" smtClean="0"/>
              <a:t>Disinformation</a:t>
            </a:r>
            <a:r>
              <a:rPr lang="tr-TR" dirty="0" smtClean="0"/>
              <a:t> </a:t>
            </a:r>
            <a:r>
              <a:rPr lang="tr-TR" dirty="0" err="1" smtClean="0"/>
              <a:t>campaigns</a:t>
            </a:r>
            <a:r>
              <a:rPr lang="tr-TR" dirty="0" smtClean="0"/>
              <a:t> ile psikolojik operasyonlar yürütülür. </a:t>
            </a:r>
            <a:r>
              <a:rPr lang="tr-TR" dirty="0" err="1" smtClean="0"/>
              <a:t>Satellite</a:t>
            </a:r>
            <a:r>
              <a:rPr lang="tr-TR" dirty="0" smtClean="0"/>
              <a:t> </a:t>
            </a:r>
            <a:r>
              <a:rPr lang="tr-TR" dirty="0" err="1" smtClean="0"/>
              <a:t>communication'a</a:t>
            </a:r>
            <a:r>
              <a:rPr lang="tr-TR" dirty="0" smtClean="0"/>
              <a:t> müdahale edilir. </a:t>
            </a:r>
            <a:r>
              <a:rPr lang="tr-TR" dirty="0" err="1" smtClean="0"/>
              <a:t>Underwater</a:t>
            </a:r>
            <a:r>
              <a:rPr lang="tr-TR" dirty="0" smtClean="0"/>
              <a:t> </a:t>
            </a:r>
            <a:r>
              <a:rPr lang="tr-TR" dirty="0" err="1" smtClean="0"/>
              <a:t>cable</a:t>
            </a:r>
            <a:r>
              <a:rPr lang="tr-TR" dirty="0" smtClean="0"/>
              <a:t> </a:t>
            </a:r>
            <a:r>
              <a:rPr lang="tr-TR" dirty="0" err="1" smtClean="0"/>
              <a:t>tapping</a:t>
            </a:r>
            <a:r>
              <a:rPr lang="tr-TR" dirty="0" smtClean="0"/>
              <a:t> ile iletişim dinlenir. </a:t>
            </a:r>
            <a:r>
              <a:rPr lang="tr-TR" dirty="0" err="1" smtClean="0"/>
              <a:t>Destructive</a:t>
            </a:r>
            <a:r>
              <a:rPr lang="tr-TR" dirty="0" smtClean="0"/>
              <a:t> </a:t>
            </a:r>
            <a:r>
              <a:rPr lang="tr-TR" dirty="0" err="1" smtClean="0"/>
              <a:t>malware</a:t>
            </a:r>
            <a:r>
              <a:rPr lang="tr-TR" dirty="0" smtClean="0"/>
              <a:t> (</a:t>
            </a:r>
            <a:r>
              <a:rPr lang="tr-TR" dirty="0" err="1" smtClean="0"/>
              <a:t>wiper</a:t>
            </a:r>
            <a:r>
              <a:rPr lang="tr-TR" dirty="0" smtClean="0"/>
              <a:t>) kullanılarak veri imha edilir. </a:t>
            </a:r>
            <a:r>
              <a:rPr lang="tr-TR" dirty="0" err="1" smtClean="0"/>
              <a:t>False</a:t>
            </a:r>
            <a:r>
              <a:rPr lang="tr-TR" dirty="0" smtClean="0"/>
              <a:t> </a:t>
            </a:r>
            <a:r>
              <a:rPr lang="tr-TR" dirty="0" err="1" smtClean="0"/>
              <a:t>flag</a:t>
            </a:r>
            <a:r>
              <a:rPr lang="tr-TR" dirty="0" smtClean="0"/>
              <a:t> </a:t>
            </a:r>
            <a:r>
              <a:rPr lang="tr-TR" dirty="0" err="1" smtClean="0"/>
              <a:t>operations</a:t>
            </a:r>
            <a:r>
              <a:rPr lang="tr-TR" dirty="0" smtClean="0"/>
              <a:t> ile başka ülke sorumlu gösterilmeye çalışılır. </a:t>
            </a:r>
            <a:r>
              <a:rPr lang="tr-TR" dirty="0" err="1" smtClean="0"/>
              <a:t>Cyber</a:t>
            </a:r>
            <a:r>
              <a:rPr lang="tr-TR" dirty="0" smtClean="0"/>
              <a:t> </a:t>
            </a:r>
            <a:r>
              <a:rPr lang="tr-TR" dirty="0" err="1" smtClean="0"/>
              <a:t>espionage</a:t>
            </a:r>
            <a:r>
              <a:rPr lang="tr-TR" dirty="0" smtClean="0"/>
              <a:t> ile fikri mülkiyet çalınır.</a:t>
            </a:r>
          </a:p>
          <a:p>
            <a:endParaRPr lang="tr-TR" dirty="0" smtClean="0"/>
          </a:p>
          <a:p>
            <a:r>
              <a:rPr lang="tr-TR" b="1" dirty="0" smtClean="0"/>
              <a:t>Güncel Olay:</a:t>
            </a:r>
            <a:endParaRPr lang="tr-TR" dirty="0" smtClean="0"/>
          </a:p>
          <a:p>
            <a:pPr>
              <a:buFont typeface="Arial" panose="020B0604020202020204" pitchFamily="34" charset="0"/>
              <a:buChar char="•"/>
            </a:pPr>
            <a:r>
              <a:rPr lang="tr-TR" b="1" dirty="0" smtClean="0"/>
              <a:t>Rusya-Ukrayna Siber Savaşı (2024 devam ediyor):</a:t>
            </a:r>
            <a:r>
              <a:rPr lang="tr-TR" dirty="0" smtClean="0"/>
              <a:t> Rusya, Ukrayna'ya karşı kapsamlı siber operasyonlar yürütüyor. </a:t>
            </a:r>
            <a:r>
              <a:rPr lang="tr-TR" dirty="0" err="1" smtClean="0"/>
              <a:t>Sandworm</a:t>
            </a:r>
            <a:r>
              <a:rPr lang="tr-TR" dirty="0" smtClean="0"/>
              <a:t> (GRU birim), Industroyer2 </a:t>
            </a:r>
            <a:r>
              <a:rPr lang="tr-TR" dirty="0" err="1" smtClean="0"/>
              <a:t>malware</a:t>
            </a:r>
            <a:r>
              <a:rPr lang="tr-TR" dirty="0" smtClean="0"/>
              <a:t> ile elektrik şebekelerini vurdu. </a:t>
            </a:r>
            <a:r>
              <a:rPr lang="tr-TR" dirty="0" err="1" smtClean="0"/>
              <a:t>WhisperGate</a:t>
            </a:r>
            <a:r>
              <a:rPr lang="tr-TR" dirty="0" smtClean="0"/>
              <a:t> </a:t>
            </a:r>
            <a:r>
              <a:rPr lang="tr-TR" dirty="0" err="1" smtClean="0"/>
              <a:t>wiper</a:t>
            </a:r>
            <a:r>
              <a:rPr lang="tr-TR" dirty="0" smtClean="0"/>
              <a:t> </a:t>
            </a:r>
            <a:r>
              <a:rPr lang="tr-TR" dirty="0" err="1" smtClean="0"/>
              <a:t>malware'i</a:t>
            </a:r>
            <a:r>
              <a:rPr lang="tr-TR" dirty="0" smtClean="0"/>
              <a:t> devlet kurumlarını hedef aldı. </a:t>
            </a:r>
            <a:r>
              <a:rPr lang="tr-TR" dirty="0" err="1" smtClean="0"/>
              <a:t>DDoS</a:t>
            </a:r>
            <a:r>
              <a:rPr lang="tr-TR" dirty="0" smtClean="0"/>
              <a:t> saldırıları ile hükümet web siteleri çökertildi. Ukrayna savunması için IT ordusu kuruldu. NATO ülkeleri siber destek sağlıyor. Kasım 2024'te enerji altyapısına yönelik saldırılar yoğunlaştı.</a:t>
            </a:r>
            <a:endParaRPr lang="tr-TR" dirty="0"/>
          </a:p>
        </p:txBody>
      </p:sp>
    </p:spTree>
    <p:extLst>
      <p:ext uri="{BB962C8B-B14F-4D97-AF65-F5344CB8AC3E}">
        <p14:creationId xmlns:p14="http://schemas.microsoft.com/office/powerpoint/2010/main" val="38117058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38072" y="1411224"/>
            <a:ext cx="9813290" cy="62865"/>
          </a:xfrm>
          <a:custGeom>
            <a:avLst/>
            <a:gdLst/>
            <a:ahLst/>
            <a:cxnLst/>
            <a:rect l="l" t="t" r="r" b="b"/>
            <a:pathLst>
              <a:path w="9813290" h="62865">
                <a:moveTo>
                  <a:pt x="9813036" y="0"/>
                </a:moveTo>
                <a:lnTo>
                  <a:pt x="0" y="0"/>
                </a:lnTo>
                <a:lnTo>
                  <a:pt x="0" y="62484"/>
                </a:lnTo>
                <a:lnTo>
                  <a:pt x="9813036" y="62484"/>
                </a:lnTo>
                <a:lnTo>
                  <a:pt x="9813036" y="0"/>
                </a:lnTo>
                <a:close/>
              </a:path>
            </a:pathLst>
          </a:custGeom>
          <a:solidFill>
            <a:srgbClr val="F88556"/>
          </a:solidFill>
        </p:spPr>
        <p:txBody>
          <a:bodyPr wrap="square" lIns="0" tIns="0" rIns="0" bIns="0" rtlCol="0"/>
          <a:lstStyle/>
          <a:p>
            <a:endParaRPr/>
          </a:p>
        </p:txBody>
      </p:sp>
      <p:sp>
        <p:nvSpPr>
          <p:cNvPr id="6" name="object 6"/>
          <p:cNvSpPr txBox="1">
            <a:spLocks noGrp="1"/>
          </p:cNvSpPr>
          <p:nvPr>
            <p:ph type="title"/>
          </p:nvPr>
        </p:nvSpPr>
        <p:spPr>
          <a:xfrm>
            <a:off x="1315904" y="442413"/>
            <a:ext cx="9813290" cy="873957"/>
          </a:xfrm>
          <a:prstGeom prst="rect">
            <a:avLst/>
          </a:prstGeom>
        </p:spPr>
        <p:txBody>
          <a:bodyPr vert="horz" wrap="square" lIns="0" tIns="12065" rIns="0" bIns="0" rtlCol="0">
            <a:spAutoFit/>
          </a:bodyPr>
          <a:lstStyle/>
          <a:p>
            <a:pPr algn="r"/>
            <a:r>
              <a:rPr lang="tr-TR" sz="2800" dirty="0"/>
              <a:t>15. Kripto Para İle İlgili </a:t>
            </a:r>
            <a:r>
              <a:rPr lang="tr-TR" sz="2800" dirty="0" smtClean="0"/>
              <a:t>Tehditler</a:t>
            </a:r>
            <a:br>
              <a:rPr lang="tr-TR" sz="2800" dirty="0" smtClean="0"/>
            </a:br>
            <a:r>
              <a:rPr lang="tr-TR" sz="2800" dirty="0" smtClean="0"/>
              <a:t>(</a:t>
            </a:r>
            <a:r>
              <a:rPr lang="tr-TR" sz="2800" dirty="0" err="1" smtClean="0"/>
              <a:t>Cryptocurrency-Related</a:t>
            </a:r>
            <a:r>
              <a:rPr lang="tr-TR" sz="2800" dirty="0" smtClean="0"/>
              <a:t> </a:t>
            </a:r>
            <a:r>
              <a:rPr lang="tr-TR" sz="2800" dirty="0" err="1"/>
              <a:t>Threats</a:t>
            </a:r>
            <a:r>
              <a:rPr lang="tr-TR" sz="2800" dirty="0"/>
              <a:t>)</a:t>
            </a:r>
          </a:p>
        </p:txBody>
      </p:sp>
      <p:sp>
        <p:nvSpPr>
          <p:cNvPr id="8" name="object 8"/>
          <p:cNvSpPr txBox="1"/>
          <p:nvPr/>
        </p:nvSpPr>
        <p:spPr>
          <a:xfrm>
            <a:off x="461202" y="6081471"/>
            <a:ext cx="140335" cy="535305"/>
          </a:xfrm>
          <a:prstGeom prst="rect">
            <a:avLst/>
          </a:prstGeom>
        </p:spPr>
        <p:txBody>
          <a:bodyPr vert="vert" wrap="square" lIns="0" tIns="3810" rIns="0" bIns="0" rtlCol="0">
            <a:spAutoFit/>
          </a:bodyPr>
          <a:lstStyle/>
          <a:p>
            <a:pPr marL="12700">
              <a:lnSpc>
                <a:spcPct val="100000"/>
              </a:lnSpc>
              <a:spcBef>
                <a:spcPts val="30"/>
              </a:spcBef>
            </a:pPr>
            <a:r>
              <a:rPr sz="800" spc="-10" dirty="0">
                <a:solidFill>
                  <a:srgbClr val="FFFFFF"/>
                </a:solidFill>
                <a:latin typeface="Arial"/>
                <a:cs typeface="Arial"/>
              </a:rPr>
              <a:t>22.09.2025</a:t>
            </a:r>
            <a:endParaRPr sz="800">
              <a:latin typeface="Arial"/>
              <a:cs typeface="Arial"/>
            </a:endParaRPr>
          </a:p>
        </p:txBody>
      </p:sp>
      <p:sp>
        <p:nvSpPr>
          <p:cNvPr id="11" name="Slayt Numarası Yer Tutucusu 11"/>
          <p:cNvSpPr>
            <a:spLocks noGrp="1"/>
          </p:cNvSpPr>
          <p:nvPr>
            <p:ph type="sldNum" sz="quarter" idx="7"/>
          </p:nvPr>
        </p:nvSpPr>
        <p:spPr>
          <a:xfrm>
            <a:off x="184900" y="228600"/>
            <a:ext cx="577100" cy="307777"/>
          </a:xfrm>
        </p:spPr>
        <p:txBody>
          <a:bodyPr/>
          <a:lstStyle/>
          <a:p>
            <a:fld id="{B6F15528-21DE-4FAA-801E-634DDDAF4B2B}" type="slidenum">
              <a:rPr lang="tr-TR" sz="2000" b="1" smtClean="0">
                <a:solidFill>
                  <a:schemeClr val="bg1"/>
                </a:solidFill>
              </a:rPr>
              <a:t>29</a:t>
            </a:fld>
            <a:endParaRPr lang="tr-TR" sz="2000" b="1" dirty="0">
              <a:solidFill>
                <a:schemeClr val="bg1"/>
              </a:solidFill>
            </a:endParaRPr>
          </a:p>
        </p:txBody>
      </p:sp>
      <p:sp>
        <p:nvSpPr>
          <p:cNvPr id="2" name="Dikdörtgen 1"/>
          <p:cNvSpPr/>
          <p:nvPr/>
        </p:nvSpPr>
        <p:spPr>
          <a:xfrm>
            <a:off x="1326988" y="1568943"/>
            <a:ext cx="9802206" cy="5078313"/>
          </a:xfrm>
          <a:prstGeom prst="rect">
            <a:avLst/>
          </a:prstGeom>
        </p:spPr>
        <p:txBody>
          <a:bodyPr wrap="square">
            <a:spAutoFit/>
          </a:bodyPr>
          <a:lstStyle/>
          <a:p>
            <a:r>
              <a:rPr lang="tr-TR" b="1" dirty="0" smtClean="0"/>
              <a:t>Tanım:</a:t>
            </a:r>
            <a:r>
              <a:rPr lang="tr-TR" dirty="0" smtClean="0"/>
              <a:t> Kripto para ekosistemini hedef alan çeşitli siber tehditlerdir. Kripto cüzdan hırsızlığı, </a:t>
            </a:r>
            <a:r>
              <a:rPr lang="tr-TR" dirty="0" err="1" smtClean="0"/>
              <a:t>exchange</a:t>
            </a:r>
            <a:r>
              <a:rPr lang="tr-TR" dirty="0" smtClean="0"/>
              <a:t> </a:t>
            </a:r>
            <a:r>
              <a:rPr lang="tr-TR" dirty="0" err="1" smtClean="0"/>
              <a:t>hack'leri</a:t>
            </a:r>
            <a:r>
              <a:rPr lang="tr-TR" dirty="0" smtClean="0"/>
              <a:t>, </a:t>
            </a:r>
            <a:r>
              <a:rPr lang="tr-TR" dirty="0" err="1" smtClean="0"/>
              <a:t>DeFi</a:t>
            </a:r>
            <a:r>
              <a:rPr lang="tr-TR" dirty="0" smtClean="0"/>
              <a:t> protokol açıklarının istismarı, NFT dolandırıcılığı, </a:t>
            </a:r>
            <a:r>
              <a:rPr lang="tr-TR" dirty="0" err="1" smtClean="0"/>
              <a:t>rug</a:t>
            </a:r>
            <a:r>
              <a:rPr lang="tr-TR" dirty="0" smtClean="0"/>
              <a:t> </a:t>
            </a:r>
            <a:r>
              <a:rPr lang="tr-TR" dirty="0" err="1" smtClean="0"/>
              <a:t>pull</a:t>
            </a:r>
            <a:r>
              <a:rPr lang="tr-TR" dirty="0" smtClean="0"/>
              <a:t> </a:t>
            </a:r>
            <a:r>
              <a:rPr lang="tr-TR" dirty="0" err="1" smtClean="0"/>
              <a:t>scam'leri</a:t>
            </a:r>
            <a:r>
              <a:rPr lang="tr-TR" dirty="0" smtClean="0"/>
              <a:t>, </a:t>
            </a:r>
            <a:r>
              <a:rPr lang="tr-TR" dirty="0" err="1" smtClean="0"/>
              <a:t>pump-and-dump</a:t>
            </a:r>
            <a:r>
              <a:rPr lang="tr-TR" dirty="0" smtClean="0"/>
              <a:t> şemaları, kripto </a:t>
            </a:r>
            <a:r>
              <a:rPr lang="tr-TR" dirty="0" err="1" smtClean="0"/>
              <a:t>jacking</a:t>
            </a:r>
            <a:r>
              <a:rPr lang="tr-TR" dirty="0" smtClean="0"/>
              <a:t> (gizli madencilik), </a:t>
            </a:r>
            <a:r>
              <a:rPr lang="tr-TR" dirty="0" err="1" smtClean="0"/>
              <a:t>pig</a:t>
            </a:r>
            <a:r>
              <a:rPr lang="tr-TR" dirty="0" smtClean="0"/>
              <a:t> </a:t>
            </a:r>
            <a:r>
              <a:rPr lang="tr-TR" dirty="0" err="1" smtClean="0"/>
              <a:t>butchering</a:t>
            </a:r>
            <a:r>
              <a:rPr lang="tr-TR" dirty="0" smtClean="0"/>
              <a:t> </a:t>
            </a:r>
            <a:r>
              <a:rPr lang="tr-TR" dirty="0" err="1" smtClean="0"/>
              <a:t>scam'leri</a:t>
            </a:r>
            <a:r>
              <a:rPr lang="tr-TR" dirty="0" smtClean="0"/>
              <a:t> ve </a:t>
            </a:r>
            <a:r>
              <a:rPr lang="tr-TR" dirty="0" err="1" smtClean="0"/>
              <a:t>blockchain</a:t>
            </a:r>
            <a:r>
              <a:rPr lang="tr-TR" dirty="0" smtClean="0"/>
              <a:t> köprü saldırılarını içerir. Kripto paraların anonim ve geri dönüşü olmayan yapısı, saldırganlar için cazip hedefler oluşturur.</a:t>
            </a:r>
          </a:p>
          <a:p>
            <a:r>
              <a:rPr lang="tr-TR" b="1" dirty="0" smtClean="0"/>
              <a:t>Teknik:</a:t>
            </a:r>
            <a:r>
              <a:rPr lang="tr-TR" dirty="0" smtClean="0"/>
              <a:t> </a:t>
            </a:r>
            <a:r>
              <a:rPr lang="tr-TR" dirty="0" err="1" smtClean="0"/>
              <a:t>Private</a:t>
            </a:r>
            <a:r>
              <a:rPr lang="tr-TR" dirty="0" smtClean="0"/>
              <a:t> </a:t>
            </a:r>
            <a:r>
              <a:rPr lang="tr-TR" dirty="0" err="1" smtClean="0"/>
              <a:t>key</a:t>
            </a:r>
            <a:r>
              <a:rPr lang="tr-TR" dirty="0" smtClean="0"/>
              <a:t> </a:t>
            </a:r>
            <a:r>
              <a:rPr lang="tr-TR" dirty="0" err="1" smtClean="0"/>
              <a:t>theft</a:t>
            </a:r>
            <a:r>
              <a:rPr lang="tr-TR" dirty="0" smtClean="0"/>
              <a:t> ile cüzdanlar boşaltılır. Smart </a:t>
            </a:r>
            <a:r>
              <a:rPr lang="tr-TR" dirty="0" err="1" smtClean="0"/>
              <a:t>contract</a:t>
            </a:r>
            <a:r>
              <a:rPr lang="tr-TR" dirty="0" smtClean="0"/>
              <a:t> </a:t>
            </a:r>
            <a:r>
              <a:rPr lang="tr-TR" dirty="0" err="1" smtClean="0"/>
              <a:t>vulnerabilities</a:t>
            </a:r>
            <a:r>
              <a:rPr lang="tr-TR" dirty="0" smtClean="0"/>
              <a:t> (</a:t>
            </a:r>
            <a:r>
              <a:rPr lang="tr-TR" dirty="0" err="1" smtClean="0"/>
              <a:t>reentrancy</a:t>
            </a:r>
            <a:r>
              <a:rPr lang="tr-TR" dirty="0" smtClean="0"/>
              <a:t>, </a:t>
            </a:r>
            <a:r>
              <a:rPr lang="tr-TR" dirty="0" err="1" smtClean="0"/>
              <a:t>flash</a:t>
            </a:r>
            <a:r>
              <a:rPr lang="tr-TR" dirty="0" smtClean="0"/>
              <a:t> </a:t>
            </a:r>
            <a:r>
              <a:rPr lang="tr-TR" dirty="0" err="1" smtClean="0"/>
              <a:t>loan</a:t>
            </a:r>
            <a:r>
              <a:rPr lang="tr-TR" dirty="0" smtClean="0"/>
              <a:t> </a:t>
            </a:r>
            <a:r>
              <a:rPr lang="tr-TR" dirty="0" err="1" smtClean="0"/>
              <a:t>attack</a:t>
            </a:r>
            <a:r>
              <a:rPr lang="tr-TR" dirty="0" smtClean="0"/>
              <a:t>) istismar edilir. </a:t>
            </a:r>
            <a:r>
              <a:rPr lang="tr-TR" dirty="0" err="1" smtClean="0"/>
              <a:t>Phishing</a:t>
            </a:r>
            <a:r>
              <a:rPr lang="tr-TR" dirty="0" smtClean="0"/>
              <a:t> ile </a:t>
            </a:r>
            <a:r>
              <a:rPr lang="tr-TR" dirty="0" err="1" smtClean="0"/>
              <a:t>seed</a:t>
            </a:r>
            <a:r>
              <a:rPr lang="tr-TR" dirty="0" smtClean="0"/>
              <a:t> </a:t>
            </a:r>
            <a:r>
              <a:rPr lang="tr-TR" dirty="0" err="1" smtClean="0"/>
              <a:t>phrase'ler</a:t>
            </a:r>
            <a:r>
              <a:rPr lang="tr-TR" dirty="0" smtClean="0"/>
              <a:t> çalınır. </a:t>
            </a:r>
            <a:r>
              <a:rPr lang="tr-TR" dirty="0" err="1" smtClean="0"/>
              <a:t>Fake</a:t>
            </a:r>
            <a:r>
              <a:rPr lang="tr-TR" dirty="0" smtClean="0"/>
              <a:t> </a:t>
            </a:r>
            <a:r>
              <a:rPr lang="tr-TR" dirty="0" err="1" smtClean="0"/>
              <a:t>wallet</a:t>
            </a:r>
            <a:r>
              <a:rPr lang="tr-TR" dirty="0" smtClean="0"/>
              <a:t> </a:t>
            </a:r>
            <a:r>
              <a:rPr lang="tr-TR" dirty="0" err="1" smtClean="0"/>
              <a:t>apps</a:t>
            </a:r>
            <a:r>
              <a:rPr lang="tr-TR" dirty="0" smtClean="0"/>
              <a:t> mobil mağazalarda dağıtılır. MEV (</a:t>
            </a:r>
            <a:r>
              <a:rPr lang="tr-TR" dirty="0" err="1" smtClean="0"/>
              <a:t>Miner</a:t>
            </a:r>
            <a:r>
              <a:rPr lang="tr-TR" dirty="0" smtClean="0"/>
              <a:t> </a:t>
            </a:r>
            <a:r>
              <a:rPr lang="tr-TR" dirty="0" err="1" smtClean="0"/>
              <a:t>Extractable</a:t>
            </a:r>
            <a:r>
              <a:rPr lang="tr-TR" dirty="0" smtClean="0"/>
              <a:t> Value) ile işlemler manipüle edilir. 51% </a:t>
            </a:r>
            <a:r>
              <a:rPr lang="tr-TR" dirty="0" err="1" smtClean="0"/>
              <a:t>attack</a:t>
            </a:r>
            <a:r>
              <a:rPr lang="tr-TR" dirty="0" smtClean="0"/>
              <a:t> ile </a:t>
            </a:r>
            <a:r>
              <a:rPr lang="tr-TR" dirty="0" err="1" smtClean="0"/>
              <a:t>blockchain'e</a:t>
            </a:r>
            <a:r>
              <a:rPr lang="tr-TR" dirty="0" smtClean="0"/>
              <a:t> müdahale edilir. Bridge </a:t>
            </a:r>
            <a:r>
              <a:rPr lang="tr-TR" dirty="0" err="1" smtClean="0"/>
              <a:t>exploits</a:t>
            </a:r>
            <a:r>
              <a:rPr lang="tr-TR" dirty="0" smtClean="0"/>
              <a:t> ile </a:t>
            </a:r>
            <a:r>
              <a:rPr lang="tr-TR" dirty="0" err="1" smtClean="0"/>
              <a:t>cross-chain</a:t>
            </a:r>
            <a:r>
              <a:rPr lang="tr-TR" dirty="0" smtClean="0"/>
              <a:t> transferler hedeflenir. </a:t>
            </a:r>
            <a:r>
              <a:rPr lang="tr-TR" dirty="0" err="1" smtClean="0"/>
              <a:t>Ice</a:t>
            </a:r>
            <a:r>
              <a:rPr lang="tr-TR" dirty="0" smtClean="0"/>
              <a:t> </a:t>
            </a:r>
            <a:r>
              <a:rPr lang="tr-TR" dirty="0" err="1" smtClean="0"/>
              <a:t>phishing'de</a:t>
            </a:r>
            <a:r>
              <a:rPr lang="tr-TR" dirty="0" smtClean="0"/>
              <a:t> </a:t>
            </a:r>
            <a:r>
              <a:rPr lang="tr-TR" dirty="0" err="1" smtClean="0"/>
              <a:t>approval</a:t>
            </a:r>
            <a:r>
              <a:rPr lang="tr-TR" dirty="0" smtClean="0"/>
              <a:t> </a:t>
            </a:r>
            <a:r>
              <a:rPr lang="tr-TR" dirty="0" err="1" smtClean="0"/>
              <a:t>transactions</a:t>
            </a:r>
            <a:r>
              <a:rPr lang="tr-TR" dirty="0" smtClean="0"/>
              <a:t> imzalatılır. </a:t>
            </a:r>
            <a:r>
              <a:rPr lang="tr-TR" dirty="0" err="1" smtClean="0"/>
              <a:t>Dusting</a:t>
            </a:r>
            <a:r>
              <a:rPr lang="tr-TR" dirty="0" smtClean="0"/>
              <a:t> </a:t>
            </a:r>
            <a:r>
              <a:rPr lang="tr-TR" dirty="0" err="1" smtClean="0"/>
              <a:t>attack</a:t>
            </a:r>
            <a:r>
              <a:rPr lang="tr-TR" dirty="0" smtClean="0"/>
              <a:t> ile cüzdan sahipleri belirlenir. </a:t>
            </a:r>
            <a:r>
              <a:rPr lang="tr-TR" dirty="0" err="1" smtClean="0"/>
              <a:t>Cryptojacking</a:t>
            </a:r>
            <a:r>
              <a:rPr lang="tr-TR" dirty="0" smtClean="0"/>
              <a:t> </a:t>
            </a:r>
            <a:r>
              <a:rPr lang="tr-TR" dirty="0" err="1" smtClean="0"/>
              <a:t>malware</a:t>
            </a:r>
            <a:r>
              <a:rPr lang="tr-TR" dirty="0" smtClean="0"/>
              <a:t> ile </a:t>
            </a:r>
            <a:r>
              <a:rPr lang="tr-TR" dirty="0" err="1" smtClean="0"/>
              <a:t>botnetler</a:t>
            </a:r>
            <a:r>
              <a:rPr lang="tr-TR" dirty="0" smtClean="0"/>
              <a:t> oluşturulur. </a:t>
            </a:r>
            <a:r>
              <a:rPr lang="tr-TR" dirty="0" err="1" smtClean="0"/>
              <a:t>Social</a:t>
            </a:r>
            <a:r>
              <a:rPr lang="tr-TR" dirty="0" smtClean="0"/>
              <a:t> </a:t>
            </a:r>
            <a:r>
              <a:rPr lang="tr-TR" dirty="0" err="1" smtClean="0"/>
              <a:t>engineering</a:t>
            </a:r>
            <a:r>
              <a:rPr lang="tr-TR" dirty="0" smtClean="0"/>
              <a:t> ile </a:t>
            </a:r>
            <a:r>
              <a:rPr lang="tr-TR" dirty="0" err="1" smtClean="0"/>
              <a:t>fake</a:t>
            </a:r>
            <a:r>
              <a:rPr lang="tr-TR" dirty="0" smtClean="0"/>
              <a:t> ICO/</a:t>
            </a:r>
            <a:r>
              <a:rPr lang="tr-TR" dirty="0" err="1" smtClean="0"/>
              <a:t>IDO'lar</a:t>
            </a:r>
            <a:r>
              <a:rPr lang="tr-TR" dirty="0" smtClean="0"/>
              <a:t> pazarlanır.</a:t>
            </a:r>
          </a:p>
          <a:p>
            <a:endParaRPr lang="tr-TR" dirty="0" smtClean="0"/>
          </a:p>
          <a:p>
            <a:r>
              <a:rPr lang="tr-TR" b="1" dirty="0" smtClean="0"/>
              <a:t>Güncel Olay:</a:t>
            </a:r>
            <a:endParaRPr lang="tr-TR" dirty="0" smtClean="0"/>
          </a:p>
          <a:p>
            <a:pPr>
              <a:buFont typeface="Arial" panose="020B0604020202020204" pitchFamily="34" charset="0"/>
              <a:buChar char="•"/>
            </a:pPr>
            <a:r>
              <a:rPr lang="tr-TR" b="1" dirty="0" smtClean="0"/>
              <a:t>DMM </a:t>
            </a:r>
            <a:r>
              <a:rPr lang="tr-TR" b="1" dirty="0" err="1" smtClean="0"/>
              <a:t>Bitcoin</a:t>
            </a:r>
            <a:r>
              <a:rPr lang="tr-TR" b="1" dirty="0" smtClean="0"/>
              <a:t> </a:t>
            </a:r>
            <a:r>
              <a:rPr lang="tr-TR" b="1" dirty="0" err="1" smtClean="0"/>
              <a:t>Hack</a:t>
            </a:r>
            <a:r>
              <a:rPr lang="tr-TR" b="1" dirty="0" smtClean="0"/>
              <a:t> (Mayıs 2024):</a:t>
            </a:r>
            <a:r>
              <a:rPr lang="tr-TR" dirty="0" smtClean="0"/>
              <a:t> Japonya'nın önde gelen kripto borsası DMM </a:t>
            </a:r>
            <a:r>
              <a:rPr lang="tr-TR" dirty="0" err="1" smtClean="0"/>
              <a:t>Bitcoin</a:t>
            </a:r>
            <a:r>
              <a:rPr lang="tr-TR" dirty="0" smtClean="0"/>
              <a:t>, 4.502 </a:t>
            </a:r>
            <a:r>
              <a:rPr lang="tr-TR" dirty="0" err="1" smtClean="0"/>
              <a:t>Bitcoin</a:t>
            </a:r>
            <a:r>
              <a:rPr lang="tr-TR" dirty="0" smtClean="0"/>
              <a:t> (yaklaşık 305 milyon dolar) çalındı. Saldırganlar, hot </a:t>
            </a:r>
            <a:r>
              <a:rPr lang="tr-TR" dirty="0" err="1" smtClean="0"/>
              <a:t>wallet'tan</a:t>
            </a:r>
            <a:r>
              <a:rPr lang="tr-TR" dirty="0" smtClean="0"/>
              <a:t> </a:t>
            </a:r>
            <a:r>
              <a:rPr lang="tr-TR" dirty="0" err="1" smtClean="0"/>
              <a:t>cold</a:t>
            </a:r>
            <a:r>
              <a:rPr lang="tr-TR" dirty="0" smtClean="0"/>
              <a:t> </a:t>
            </a:r>
            <a:r>
              <a:rPr lang="tr-TR" dirty="0" err="1" smtClean="0"/>
              <a:t>wallet'a</a:t>
            </a:r>
            <a:r>
              <a:rPr lang="tr-TR" dirty="0" smtClean="0"/>
              <a:t> transfer sırasında </a:t>
            </a:r>
            <a:r>
              <a:rPr lang="tr-TR" dirty="0" err="1" smtClean="0"/>
              <a:t>private</a:t>
            </a:r>
            <a:r>
              <a:rPr lang="tr-TR" dirty="0" smtClean="0"/>
              <a:t> </a:t>
            </a:r>
            <a:r>
              <a:rPr lang="tr-TR" dirty="0" err="1" smtClean="0"/>
              <a:t>key'leri</a:t>
            </a:r>
            <a:r>
              <a:rPr lang="tr-TR" dirty="0" smtClean="0"/>
              <a:t> ele geçirdiler. </a:t>
            </a:r>
            <a:r>
              <a:rPr lang="tr-TR" dirty="0" err="1" smtClean="0"/>
              <a:t>Lazarus</a:t>
            </a:r>
            <a:r>
              <a:rPr lang="tr-TR" dirty="0" smtClean="0"/>
              <a:t> </a:t>
            </a:r>
            <a:r>
              <a:rPr lang="tr-TR" dirty="0" err="1" smtClean="0"/>
              <a:t>Group</a:t>
            </a:r>
            <a:r>
              <a:rPr lang="tr-TR" dirty="0" smtClean="0"/>
              <a:t> (Kuzey Kore) sorumlu tutuldu. Şirket müşterilere tam tazminat sözü verdi. 2024'ün en büyük kripto hırsızlığı.</a:t>
            </a:r>
            <a:endParaRPr lang="tr-TR" dirty="0"/>
          </a:p>
        </p:txBody>
      </p:sp>
    </p:spTree>
    <p:extLst>
      <p:ext uri="{BB962C8B-B14F-4D97-AF65-F5344CB8AC3E}">
        <p14:creationId xmlns:p14="http://schemas.microsoft.com/office/powerpoint/2010/main" val="25835718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994</TotalTime>
  <Words>3296</Words>
  <Application>Microsoft Office PowerPoint</Application>
  <PresentationFormat>Geniş ekran</PresentationFormat>
  <Paragraphs>178</Paragraphs>
  <Slides>29</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29</vt:i4>
      </vt:variant>
    </vt:vector>
  </HeadingPairs>
  <TitlesOfParts>
    <vt:vector size="33" baseType="lpstr">
      <vt:lpstr>Arial</vt:lpstr>
      <vt:lpstr>Calibri</vt:lpstr>
      <vt:lpstr>Microsoft Sans Serif</vt:lpstr>
      <vt:lpstr>Office Theme</vt:lpstr>
      <vt:lpstr>SİBER OLAYLAR</vt:lpstr>
      <vt:lpstr>Sayılarla Dünya Analizi</vt:lpstr>
      <vt:lpstr>Sayılarla Türkiye Analizi</vt:lpstr>
      <vt:lpstr>Küresel Siber Suçlar</vt:lpstr>
      <vt:lpstr>2023 Yılı Dünya Genelinde Siber Saldırı Türleri</vt:lpstr>
      <vt:lpstr>Avrupa Birliği Siber Güvenlik Ajansı (ENISA) Başlıca Siber Tehditler - 2023</vt:lpstr>
      <vt:lpstr>Avrupa Birliği Siber Güvenlik Ajansı (ENISA) Başlıca Siber Tehditler - 2030</vt:lpstr>
      <vt:lpstr>Başlıca Siber Tehditlerde İlk 15</vt:lpstr>
      <vt:lpstr>Kaspersky Siber Tehdit Haritası</vt:lpstr>
      <vt:lpstr>Siber Saldırı Olayları</vt:lpstr>
      <vt:lpstr>Siber Saldırı Olayları</vt:lpstr>
      <vt:lpstr>Siber Saldırı Olayları</vt:lpstr>
      <vt:lpstr>KVKK Veri İhlali Bildirimi</vt:lpstr>
      <vt:lpstr>PowerPoint Sunusu</vt:lpstr>
      <vt:lpstr>1. Fidye Yazılımı Saldırıları (Ransomware)</vt:lpstr>
      <vt:lpstr>2. Nesnelerin İnterneti (IoT) Güvenlik Açıkları</vt:lpstr>
      <vt:lpstr>3. Sosyal Mühendislik ve Kimlik Avı (Phishing)</vt:lpstr>
      <vt:lpstr>4. Tedarik Zinciri Saldırıları (Supply Chain Attacks)</vt:lpstr>
      <vt:lpstr>5. Yapay Zeka Destekli Siber Tehditler</vt:lpstr>
      <vt:lpstr>6. Gelişmiş Kalıcı Tehditler (APT - Advanced Persistent Threats)</vt:lpstr>
      <vt:lpstr>7. Sıfırıncı Gün Açıkları (Zero-Day Exploits)</vt:lpstr>
      <vt:lpstr>8. Bulut Güvenliği Riskleri (Cloud Security Risks)</vt:lpstr>
      <vt:lpstr>9. Mobil Cihaz Zararlı Yazılımları (Mobile Malware)</vt:lpstr>
      <vt:lpstr>10. İçeriden Tehditler (Insider Threats)</vt:lpstr>
      <vt:lpstr>11. Yapay Zeka Kötüye Kullanımı (AI Misuse)</vt:lpstr>
      <vt:lpstr>12. Veri İhlalleri ve Gizlilik İhlalleri  (Data Breaches and Privacy Violations)</vt:lpstr>
      <vt:lpstr>13. Gelişmiş Kimlik Avı Teknikleri  (Advanced Phishing Techniques)</vt:lpstr>
      <vt:lpstr>14. Ulus-Devlet Siber Saldırıları  (Nation-State Cyber Attacks)</vt:lpstr>
      <vt:lpstr>15. Kripto Para İle İlgili Tehditler (Cryptocurrency-Related Threats)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Bilgisayar Donanımı</dc:title>
  <dc:creator>Erkan Kaynak</dc:creator>
  <cp:lastModifiedBy>Halil Arslan</cp:lastModifiedBy>
  <cp:revision>81</cp:revision>
  <dcterms:created xsi:type="dcterms:W3CDTF">2025-10-19T18:39:34Z</dcterms:created>
  <dcterms:modified xsi:type="dcterms:W3CDTF">2025-11-09T16:39:54Z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2025-09-22T00:00:00Z</vt:filetime>
  </property>
  <property fmtid="{D5CDD505-2E9C-101B-9397-08002B2CF9AE}" pid="3" name="Creator">
    <vt:lpwstr>Microsoft® PowerPoint® 2016</vt:lpwstr>
  </property>
  <property fmtid="{D5CDD505-2E9C-101B-9397-08002B2CF9AE}" pid="4" name="LastSaved">
    <vt:filetime>2025-10-19T00:00:00Z</vt:filetime>
  </property>
  <property fmtid="{D5CDD505-2E9C-101B-9397-08002B2CF9AE}" pid="5" name="Producer">
    <vt:lpwstr>Microsoft® PowerPoint® 2016</vt:lpwstr>
  </property>
</Properties>
</file>