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41" r:id="rId3"/>
    <p:sldId id="342" r:id="rId4"/>
    <p:sldId id="344" r:id="rId5"/>
    <p:sldId id="345" r:id="rId6"/>
    <p:sldId id="346" r:id="rId7"/>
    <p:sldId id="347" r:id="rId8"/>
    <p:sldId id="376" r:id="rId9"/>
    <p:sldId id="259" r:id="rId10"/>
    <p:sldId id="340" r:id="rId11"/>
    <p:sldId id="352" r:id="rId12"/>
    <p:sldId id="37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1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17C3B-1BFC-4645-9A7E-CFD598D7AF85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8A4B9-0741-462C-B321-6B0FE3B75F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422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D14F1-F049-4039-9D45-C21EC6A01681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333F2-83F2-4E70-A193-61FE464B47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7028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41054" y="778891"/>
            <a:ext cx="209003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91FF7-987F-49A6-8465-DDAFB3FDBE46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95AEA-B31B-4927-BAEB-89FE4F6867F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45DF0-34D0-47CC-A354-ED04965C8C2C}" type="datetime1">
              <a:rPr lang="en-US" smtClean="0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1D5A6-3674-4970-BF02-4C9200B17B5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9369D-FF24-45DF-A56F-4FB39123F2A1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3058" y="778891"/>
            <a:ext cx="714336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16888"/>
            <a:ext cx="9582150" cy="425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E9150-29C0-4E38-BF4E-9A0BF4C5E418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07363" y="0"/>
            <a:ext cx="7961630" cy="6858000"/>
            <a:chOff x="1007363" y="0"/>
            <a:chExt cx="7961630" cy="6858000"/>
          </a:xfrm>
        </p:grpSpPr>
        <p:sp>
          <p:nvSpPr>
            <p:cNvPr id="9" name="object 9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08199" y="2104642"/>
            <a:ext cx="704794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4800" b="0" dirty="0" smtClean="0">
                <a:solidFill>
                  <a:srgbClr val="FFFFFF"/>
                </a:solidFill>
              </a:rPr>
              <a:t>BİLİŞİM SİSTEMLERİNE</a:t>
            </a:r>
            <a:br>
              <a:rPr lang="tr-TR" sz="4800" b="0" dirty="0" smtClean="0">
                <a:solidFill>
                  <a:srgbClr val="FFFFFF"/>
                </a:solidFill>
              </a:rPr>
            </a:br>
            <a:r>
              <a:rPr lang="tr-TR" sz="4800" b="0" dirty="0" smtClean="0">
                <a:solidFill>
                  <a:srgbClr val="FFFFFF"/>
                </a:solidFill>
              </a:rPr>
              <a:t>YÖNELİK TEHDİTLER</a:t>
            </a:r>
            <a:endParaRPr sz="4800" dirty="0"/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Arial"/>
                <a:cs typeface="Arial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Arial"/>
                <a:cs typeface="Arial"/>
              </a:rPr>
              <a:t>. Gör. Halil ARSLAN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Slayt Numarası Yer Tutucusu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1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38072" y="778891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Bilişim Sistemlerine Yönelik Tehditler</a:t>
            </a:r>
            <a:endParaRPr spc="-1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3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4" name="object 4"/>
          <p:cNvSpPr txBox="1"/>
          <p:nvPr/>
        </p:nvSpPr>
        <p:spPr>
          <a:xfrm>
            <a:off x="2438400" y="2002986"/>
            <a:ext cx="7185339" cy="3619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544320" indent="-457200">
              <a:lnSpc>
                <a:spcPct val="139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Microsoft Sans Serif"/>
                <a:cs typeface="Microsoft Sans Serif"/>
              </a:rPr>
              <a:t>Zararlı </a:t>
            </a:r>
            <a:r>
              <a:rPr sz="2800" spc="-10" dirty="0" err="1">
                <a:latin typeface="Microsoft Sans Serif"/>
                <a:cs typeface="Microsoft Sans Serif"/>
              </a:rPr>
              <a:t>Yazılımlar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endParaRPr lang="tr-TR" sz="2800" spc="-10" dirty="0" smtClean="0">
              <a:latin typeface="Microsoft Sans Serif"/>
              <a:cs typeface="Microsoft Sans Serif"/>
            </a:endParaRPr>
          </a:p>
          <a:p>
            <a:pPr marL="469900" marR="1544320" indent="-457200">
              <a:lnSpc>
                <a:spcPct val="139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dirty="0" err="1" smtClean="0">
                <a:latin typeface="Microsoft Sans Serif"/>
                <a:cs typeface="Microsoft Sans Serif"/>
              </a:rPr>
              <a:t>Ağlara</a:t>
            </a:r>
            <a:r>
              <a:rPr sz="2800" spc="-140" dirty="0" smtClean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Yönelik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Tehditler</a:t>
            </a:r>
            <a:endParaRPr sz="2800" dirty="0">
              <a:latin typeface="Microsoft Sans Serif"/>
              <a:cs typeface="Microsoft Sans Serif"/>
            </a:endParaRPr>
          </a:p>
          <a:p>
            <a:pPr marL="488950" marR="5080" indent="-457200">
              <a:lnSpc>
                <a:spcPct val="139300"/>
              </a:lnSpc>
              <a:buFont typeface="Arial" panose="020B0604020202020204" pitchFamily="34" charset="0"/>
              <a:buChar char="•"/>
            </a:pPr>
            <a:r>
              <a:rPr sz="2800" dirty="0">
                <a:latin typeface="Microsoft Sans Serif"/>
                <a:cs typeface="Microsoft Sans Serif"/>
              </a:rPr>
              <a:t>Mobil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Güvenliğe</a:t>
            </a:r>
            <a:r>
              <a:rPr sz="2800" spc="-1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Yönelik</a:t>
            </a:r>
            <a:r>
              <a:rPr sz="2800" spc="-140" dirty="0">
                <a:latin typeface="Microsoft Sans Serif"/>
                <a:cs typeface="Microsoft Sans Serif"/>
              </a:rPr>
              <a:t> </a:t>
            </a:r>
            <a:r>
              <a:rPr sz="2800" spc="-30" dirty="0" err="1">
                <a:latin typeface="Microsoft Sans Serif"/>
                <a:cs typeface="Microsoft Sans Serif"/>
              </a:rPr>
              <a:t>Tehditler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endParaRPr lang="tr-TR" sz="2800" spc="-30" dirty="0" smtClean="0">
              <a:latin typeface="Microsoft Sans Serif"/>
              <a:cs typeface="Microsoft Sans Serif"/>
            </a:endParaRPr>
          </a:p>
          <a:p>
            <a:pPr marL="488950" marR="5080" indent="-457200">
              <a:lnSpc>
                <a:spcPct val="139300"/>
              </a:lnSpc>
              <a:buFont typeface="Arial" panose="020B0604020202020204" pitchFamily="34" charset="0"/>
              <a:buChar char="•"/>
            </a:pPr>
            <a:r>
              <a:rPr sz="2800" dirty="0" err="1" smtClean="0">
                <a:latin typeface="Microsoft Sans Serif"/>
                <a:cs typeface="Microsoft Sans Serif"/>
              </a:rPr>
              <a:t>Bulut</a:t>
            </a:r>
            <a:r>
              <a:rPr sz="2800" spc="-75" dirty="0" smtClean="0">
                <a:latin typeface="Microsoft Sans Serif"/>
                <a:cs typeface="Microsoft Sans Serif"/>
              </a:rPr>
              <a:t> </a:t>
            </a:r>
            <a:r>
              <a:rPr sz="2800" dirty="0" err="1">
                <a:latin typeface="Microsoft Sans Serif"/>
                <a:cs typeface="Microsoft Sans Serif"/>
              </a:rPr>
              <a:t>Bilişim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lang="tr-TR" sz="2800" spc="-20" dirty="0">
                <a:latin typeface="Microsoft Sans Serif"/>
                <a:cs typeface="Microsoft Sans Serif"/>
              </a:rPr>
              <a:t>v</a:t>
            </a:r>
            <a:r>
              <a:rPr sz="2800" spc="-20" dirty="0" smtClean="0">
                <a:latin typeface="Microsoft Sans Serif"/>
                <a:cs typeface="Microsoft Sans Serif"/>
              </a:rPr>
              <a:t>e</a:t>
            </a:r>
            <a:r>
              <a:rPr sz="2800" spc="-120" dirty="0" smtClean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Tehditler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endParaRPr lang="tr-TR" sz="2800" spc="-10" dirty="0" smtClean="0">
              <a:latin typeface="Microsoft Sans Serif"/>
              <a:cs typeface="Microsoft Sans Serif"/>
            </a:endParaRPr>
          </a:p>
          <a:p>
            <a:pPr marL="488950" marR="5080" indent="-457200">
              <a:lnSpc>
                <a:spcPct val="139300"/>
              </a:lnSpc>
              <a:buFont typeface="Arial" panose="020B0604020202020204" pitchFamily="34" charset="0"/>
              <a:buChar char="•"/>
            </a:pPr>
            <a:r>
              <a:rPr sz="2800" dirty="0" err="1" smtClean="0">
                <a:latin typeface="Microsoft Sans Serif"/>
                <a:cs typeface="Microsoft Sans Serif"/>
              </a:rPr>
              <a:t>Nesnelerin</a:t>
            </a:r>
            <a:r>
              <a:rPr sz="2800" spc="-130" dirty="0" smtClean="0">
                <a:latin typeface="Microsoft Sans Serif"/>
                <a:cs typeface="Microsoft Sans Serif"/>
              </a:rPr>
              <a:t> </a:t>
            </a:r>
            <a:r>
              <a:rPr sz="2800" dirty="0" err="1">
                <a:latin typeface="Microsoft Sans Serif"/>
                <a:cs typeface="Microsoft Sans Serif"/>
              </a:rPr>
              <a:t>İnterneti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lang="tr-TR" sz="2800" spc="-130" dirty="0" smtClean="0">
                <a:latin typeface="Microsoft Sans Serif"/>
                <a:cs typeface="Microsoft Sans Serif"/>
              </a:rPr>
              <a:t>v</a:t>
            </a:r>
            <a:r>
              <a:rPr sz="2800" spc="-10" dirty="0" smtClean="0">
                <a:latin typeface="Microsoft Sans Serif"/>
                <a:cs typeface="Microsoft Sans Serif"/>
              </a:rPr>
              <a:t>e</a:t>
            </a:r>
            <a:r>
              <a:rPr sz="2800" spc="-170" dirty="0" smtClean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Tehditler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endParaRPr lang="tr-TR" sz="2800" spc="-10" dirty="0" smtClean="0">
              <a:latin typeface="Microsoft Sans Serif"/>
              <a:cs typeface="Microsoft Sans Serif"/>
            </a:endParaRPr>
          </a:p>
          <a:p>
            <a:pPr marL="488950" marR="5080" indent="-457200">
              <a:lnSpc>
                <a:spcPct val="139300"/>
              </a:lnSpc>
              <a:buFont typeface="Arial" panose="020B0604020202020204" pitchFamily="34" charset="0"/>
              <a:buChar char="•"/>
            </a:pPr>
            <a:r>
              <a:rPr sz="2800" dirty="0" err="1" smtClean="0">
                <a:latin typeface="Microsoft Sans Serif"/>
                <a:cs typeface="Microsoft Sans Serif"/>
              </a:rPr>
              <a:t>Sosyal</a:t>
            </a:r>
            <a:r>
              <a:rPr sz="2800" spc="-50" dirty="0" smtClean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Mühendislik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62980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Microsoft Sans Serif"/>
                <a:cs typeface="Microsoft Sans Serif"/>
              </a:rPr>
              <a:t>Zararlı</a:t>
            </a:r>
            <a:r>
              <a:rPr lang="tr-TR" spc="-40" dirty="0">
                <a:latin typeface="Microsoft Sans Serif"/>
                <a:cs typeface="Microsoft Sans Serif"/>
              </a:rPr>
              <a:t> </a:t>
            </a:r>
            <a:r>
              <a:rPr lang="tr-TR" dirty="0">
                <a:latin typeface="Microsoft Sans Serif"/>
                <a:cs typeface="Microsoft Sans Serif"/>
              </a:rPr>
              <a:t>Yazılımlar</a:t>
            </a:r>
            <a:r>
              <a:rPr lang="tr-TR" spc="40" dirty="0">
                <a:latin typeface="Microsoft Sans Serif"/>
                <a:cs typeface="Microsoft Sans Serif"/>
              </a:rPr>
              <a:t> </a:t>
            </a:r>
            <a:r>
              <a:rPr lang="tr-TR" spc="-10" dirty="0">
                <a:latin typeface="Microsoft Sans Serif"/>
                <a:cs typeface="Microsoft Sans Serif"/>
              </a:rPr>
              <a:t>(</a:t>
            </a:r>
            <a:r>
              <a:rPr lang="tr-TR" spc="-10" dirty="0" err="1">
                <a:latin typeface="Microsoft Sans Serif"/>
                <a:cs typeface="Microsoft Sans Serif"/>
              </a:rPr>
              <a:t>Malware</a:t>
            </a:r>
            <a:r>
              <a:rPr lang="tr-TR" spc="-10" dirty="0">
                <a:latin typeface="Microsoft Sans Serif"/>
                <a:cs typeface="Microsoft Sans Serif"/>
              </a:rPr>
              <a:t>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3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3" name="object 3"/>
          <p:cNvSpPr txBox="1"/>
          <p:nvPr/>
        </p:nvSpPr>
        <p:spPr>
          <a:xfrm>
            <a:off x="2270887" y="2277071"/>
            <a:ext cx="7947659" cy="378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Kötü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amaçlı,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kötücül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yazılım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-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Malicious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Software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ct val="126200"/>
              </a:lnSpc>
              <a:spcBef>
                <a:spcPts val="2280"/>
              </a:spcBef>
            </a:pPr>
            <a:r>
              <a:rPr sz="3200" dirty="0">
                <a:latin typeface="Microsoft Sans Serif"/>
                <a:cs typeface="Microsoft Sans Serif"/>
              </a:rPr>
              <a:t>Bilişim</a:t>
            </a:r>
            <a:r>
              <a:rPr sz="3200" spc="-10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sistemlerinin</a:t>
            </a:r>
            <a:r>
              <a:rPr sz="3200" spc="-10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işlevlerini</a:t>
            </a:r>
            <a:r>
              <a:rPr sz="3200" spc="-10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bozmak,</a:t>
            </a:r>
            <a:r>
              <a:rPr sz="3200" spc="-10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kritik </a:t>
            </a:r>
            <a:r>
              <a:rPr sz="3200" dirty="0">
                <a:latin typeface="Microsoft Sans Serif"/>
                <a:cs typeface="Microsoft Sans Serif"/>
              </a:rPr>
              <a:t>bilgileri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toplamak,</a:t>
            </a:r>
            <a:r>
              <a:rPr sz="3200" spc="-2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zarar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vermek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gibi</a:t>
            </a:r>
            <a:r>
              <a:rPr sz="3200" spc="-1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kötücül </a:t>
            </a:r>
            <a:r>
              <a:rPr sz="3200" dirty="0">
                <a:latin typeface="Microsoft Sans Serif"/>
                <a:cs typeface="Microsoft Sans Serif"/>
              </a:rPr>
              <a:t>amaçlı</a:t>
            </a:r>
            <a:r>
              <a:rPr sz="3200" spc="6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kullanılan</a:t>
            </a:r>
            <a:r>
              <a:rPr sz="3200" spc="7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her</a:t>
            </a:r>
            <a:r>
              <a:rPr sz="3200" spc="7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türlü</a:t>
            </a:r>
            <a:r>
              <a:rPr sz="3200" spc="7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zararlı</a:t>
            </a:r>
            <a:r>
              <a:rPr sz="3200" spc="65" dirty="0">
                <a:latin typeface="Microsoft Sans Serif"/>
                <a:cs typeface="Microsoft Sans Serif"/>
              </a:rPr>
              <a:t> </a:t>
            </a:r>
            <a:r>
              <a:rPr sz="3200" spc="-20" dirty="0">
                <a:latin typeface="Microsoft Sans Serif"/>
                <a:cs typeface="Microsoft Sans Serif"/>
              </a:rPr>
              <a:t>kod, </a:t>
            </a:r>
            <a:r>
              <a:rPr sz="3200" dirty="0">
                <a:latin typeface="Microsoft Sans Serif"/>
                <a:cs typeface="Microsoft Sans Serif"/>
              </a:rPr>
              <a:t>program</a:t>
            </a:r>
            <a:r>
              <a:rPr sz="3200" spc="16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ve</a:t>
            </a:r>
            <a:r>
              <a:rPr sz="3200" spc="17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yazılımları</a:t>
            </a:r>
            <a:r>
              <a:rPr sz="3200" spc="16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tanımlamak</a:t>
            </a:r>
            <a:r>
              <a:rPr sz="3200" spc="170" dirty="0">
                <a:latin typeface="Microsoft Sans Serif"/>
                <a:cs typeface="Microsoft Sans Serif"/>
              </a:rPr>
              <a:t> </a:t>
            </a:r>
            <a:r>
              <a:rPr sz="3200" spc="-20" dirty="0">
                <a:latin typeface="Microsoft Sans Serif"/>
                <a:cs typeface="Microsoft Sans Serif"/>
              </a:rPr>
              <a:t>için </a:t>
            </a:r>
            <a:r>
              <a:rPr sz="3200" dirty="0">
                <a:latin typeface="Microsoft Sans Serif"/>
                <a:cs typeface="Microsoft Sans Serif"/>
              </a:rPr>
              <a:t>kullanılan</a:t>
            </a:r>
            <a:r>
              <a:rPr sz="3200" spc="4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genel</a:t>
            </a:r>
            <a:r>
              <a:rPr sz="3200" spc="4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bir</a:t>
            </a:r>
            <a:r>
              <a:rPr sz="3200" spc="4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ifadedir.</a:t>
            </a:r>
            <a:endParaRPr sz="32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04937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3008" y="759997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Microsoft Sans Serif"/>
                <a:cs typeface="Microsoft Sans Serif"/>
              </a:rPr>
              <a:t>Zararlı</a:t>
            </a:r>
            <a:r>
              <a:rPr lang="tr-TR" spc="-40" dirty="0">
                <a:latin typeface="Microsoft Sans Serif"/>
                <a:cs typeface="Microsoft Sans Serif"/>
              </a:rPr>
              <a:t> </a:t>
            </a:r>
            <a:r>
              <a:rPr lang="tr-TR" dirty="0">
                <a:latin typeface="Microsoft Sans Serif"/>
                <a:cs typeface="Microsoft Sans Serif"/>
              </a:rPr>
              <a:t>Yazılımlar</a:t>
            </a:r>
            <a:r>
              <a:rPr lang="tr-TR" spc="40" dirty="0">
                <a:latin typeface="Microsoft Sans Serif"/>
                <a:cs typeface="Microsoft Sans Serif"/>
              </a:rPr>
              <a:t> </a:t>
            </a:r>
            <a:r>
              <a:rPr lang="tr-TR" spc="-10" dirty="0">
                <a:latin typeface="Microsoft Sans Serif"/>
                <a:cs typeface="Microsoft Sans Serif"/>
              </a:rPr>
              <a:t>(</a:t>
            </a:r>
            <a:r>
              <a:rPr lang="tr-TR" spc="-10" dirty="0" err="1">
                <a:latin typeface="Microsoft Sans Serif"/>
                <a:cs typeface="Microsoft Sans Serif"/>
              </a:rPr>
              <a:t>Malware</a:t>
            </a:r>
            <a:r>
              <a:rPr lang="tr-TR" spc="-10" dirty="0">
                <a:latin typeface="Microsoft Sans Serif"/>
                <a:cs typeface="Microsoft Sans Serif"/>
              </a:rPr>
              <a:t>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4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7" name="object 13"/>
          <p:cNvSpPr txBox="1"/>
          <p:nvPr/>
        </p:nvSpPr>
        <p:spPr>
          <a:xfrm>
            <a:off x="1600200" y="1556662"/>
            <a:ext cx="6019800" cy="5004318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944"/>
              </a:spcBef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2000" b="1" spc="300" dirty="0" err="1" smtClean="0">
                <a:solidFill>
                  <a:srgbClr val="FF0000"/>
                </a:solidFill>
                <a:latin typeface="Microsoft Sans Serif"/>
                <a:cs typeface="Microsoft Sans Serif"/>
              </a:rPr>
              <a:t>Virüsler</a:t>
            </a:r>
            <a:endParaRPr lang="tr-TR" sz="2000" b="1" spc="300" dirty="0">
              <a:solidFill>
                <a:srgbClr val="FF0000"/>
              </a:solidFill>
              <a:latin typeface="Microsoft Sans Serif"/>
              <a:cs typeface="Microsoft Sans Serif"/>
            </a:endParaRPr>
          </a:p>
          <a:p>
            <a:pPr marL="396240" indent="-383540">
              <a:lnSpc>
                <a:spcPct val="100000"/>
              </a:lnSpc>
              <a:spcBef>
                <a:spcPts val="944"/>
              </a:spcBef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2000" b="1" spc="300" dirty="0" err="1" smtClean="0">
                <a:solidFill>
                  <a:srgbClr val="FF0000"/>
                </a:solidFill>
                <a:latin typeface="Microsoft Sans Serif"/>
                <a:cs typeface="Microsoft Sans Serif"/>
              </a:rPr>
              <a:t>Solucanlar</a:t>
            </a:r>
            <a:r>
              <a:rPr sz="2000" b="1" spc="300" dirty="0" smtClean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300" dirty="0">
                <a:solidFill>
                  <a:srgbClr val="FF0000"/>
                </a:solidFill>
                <a:latin typeface="Microsoft Sans Serif"/>
                <a:cs typeface="Microsoft Sans Serif"/>
              </a:rPr>
              <a:t>(Worms)</a:t>
            </a: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2000" b="1" spc="300" dirty="0">
                <a:solidFill>
                  <a:srgbClr val="FF0000"/>
                </a:solidFill>
                <a:latin typeface="Microsoft Sans Serif"/>
                <a:cs typeface="Microsoft Sans Serif"/>
              </a:rPr>
              <a:t>Truva Atları (Trojans) </a:t>
            </a:r>
            <a:endParaRPr lang="tr-TR" sz="1700" b="1" spc="300" dirty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smtClean="0">
                <a:latin typeface="Microsoft Sans Serif"/>
                <a:cs typeface="Microsoft Sans Serif"/>
              </a:rPr>
              <a:t>Casus</a:t>
            </a:r>
            <a:r>
              <a:rPr sz="1700" spc="-35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Yazılımlar</a:t>
            </a:r>
            <a:r>
              <a:rPr sz="1700" spc="-10" dirty="0">
                <a:latin typeface="Microsoft Sans Serif"/>
                <a:cs typeface="Microsoft Sans Serif"/>
              </a:rPr>
              <a:t> (</a:t>
            </a:r>
            <a:r>
              <a:rPr sz="1700" spc="-10" dirty="0" smtClean="0">
                <a:latin typeface="Microsoft Sans Serif"/>
                <a:cs typeface="Microsoft Sans Serif"/>
              </a:rPr>
              <a:t>Spyware)</a:t>
            </a:r>
            <a:endParaRPr lang="tr-TR" sz="1700" dirty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smtClean="0">
                <a:latin typeface="Microsoft Sans Serif"/>
                <a:cs typeface="Microsoft Sans Serif"/>
              </a:rPr>
              <a:t>Rootkit</a:t>
            </a:r>
            <a:r>
              <a:rPr sz="1700" spc="10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(Kök</a:t>
            </a:r>
            <a:r>
              <a:rPr sz="1700" spc="15" dirty="0">
                <a:latin typeface="Microsoft Sans Serif"/>
                <a:cs typeface="Microsoft Sans Serif"/>
              </a:rPr>
              <a:t> </a:t>
            </a:r>
            <a:r>
              <a:rPr sz="1700" dirty="0" err="1">
                <a:latin typeface="Microsoft Sans Serif"/>
                <a:cs typeface="Microsoft Sans Serif"/>
              </a:rPr>
              <a:t>kullanıcı</a:t>
            </a:r>
            <a:r>
              <a:rPr sz="1700" spc="10" dirty="0">
                <a:latin typeface="Microsoft Sans Serif"/>
                <a:cs typeface="Microsoft Sans Serif"/>
              </a:rPr>
              <a:t> </a:t>
            </a:r>
            <a:r>
              <a:rPr sz="1700" spc="-10" dirty="0" err="1" smtClean="0">
                <a:latin typeface="Microsoft Sans Serif"/>
                <a:cs typeface="Microsoft Sans Serif"/>
              </a:rPr>
              <a:t>takımı</a:t>
            </a:r>
            <a:r>
              <a:rPr sz="1700" spc="-10" dirty="0" smtClean="0">
                <a:latin typeface="Microsoft Sans Serif"/>
                <a:cs typeface="Microsoft Sans Serif"/>
              </a:rPr>
              <a:t>)</a:t>
            </a:r>
            <a:endParaRPr lang="tr-TR" sz="1700" dirty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err="1" smtClean="0">
                <a:latin typeface="Microsoft Sans Serif"/>
                <a:cs typeface="Microsoft Sans Serif"/>
              </a:rPr>
              <a:t>Fidye</a:t>
            </a:r>
            <a:r>
              <a:rPr sz="1700" spc="-40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Yazılımları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(Ransomware</a:t>
            </a:r>
            <a:r>
              <a:rPr sz="1700" dirty="0" smtClean="0">
                <a:latin typeface="Microsoft Sans Serif"/>
                <a:cs typeface="Microsoft Sans Serif"/>
              </a:rPr>
              <a:t>)</a:t>
            </a:r>
            <a:endParaRPr lang="tr-TR" sz="1700" spc="-15" dirty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spc="-10" dirty="0" smtClean="0">
                <a:latin typeface="Microsoft Sans Serif"/>
                <a:cs typeface="Microsoft Sans Serif"/>
              </a:rPr>
              <a:t>(</a:t>
            </a:r>
            <a:r>
              <a:rPr sz="1700" spc="-10" dirty="0">
                <a:latin typeface="Microsoft Sans Serif"/>
                <a:cs typeface="Microsoft Sans Serif"/>
              </a:rPr>
              <a:t>Şantaj) </a:t>
            </a:r>
            <a:r>
              <a:rPr sz="1700" dirty="0">
                <a:latin typeface="Microsoft Sans Serif"/>
                <a:cs typeface="Microsoft Sans Serif"/>
              </a:rPr>
              <a:t>Uzaktan</a:t>
            </a:r>
            <a:r>
              <a:rPr sz="1700" spc="-20" dirty="0">
                <a:latin typeface="Microsoft Sans Serif"/>
                <a:cs typeface="Microsoft Sans Serif"/>
              </a:rPr>
              <a:t> </a:t>
            </a:r>
            <a:r>
              <a:rPr sz="1700" spc="-10" dirty="0" err="1">
                <a:latin typeface="Microsoft Sans Serif"/>
                <a:cs typeface="Microsoft Sans Serif"/>
              </a:rPr>
              <a:t>Yönetim</a:t>
            </a:r>
            <a:r>
              <a:rPr sz="1700" spc="-85" dirty="0">
                <a:latin typeface="Microsoft Sans Serif"/>
                <a:cs typeface="Microsoft Sans Serif"/>
              </a:rPr>
              <a:t> </a:t>
            </a:r>
            <a:r>
              <a:rPr sz="1700" dirty="0" err="1" smtClean="0">
                <a:latin typeface="Microsoft Sans Serif"/>
                <a:cs typeface="Microsoft Sans Serif"/>
              </a:rPr>
              <a:t>Aracı</a:t>
            </a:r>
            <a:r>
              <a:rPr lang="tr-TR" sz="1700" spc="5" dirty="0">
                <a:latin typeface="Microsoft Sans Serif"/>
                <a:cs typeface="Microsoft Sans Serif"/>
              </a:rPr>
              <a:t> </a:t>
            </a:r>
            <a:r>
              <a:rPr sz="1700" spc="-20" dirty="0" smtClean="0">
                <a:latin typeface="Microsoft Sans Serif"/>
                <a:cs typeface="Microsoft Sans Serif"/>
              </a:rPr>
              <a:t>(RAT)</a:t>
            </a:r>
            <a:endParaRPr lang="tr-TR" sz="1700" spc="-20" dirty="0" smtClean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err="1" smtClean="0">
                <a:latin typeface="Microsoft Sans Serif"/>
                <a:cs typeface="Microsoft Sans Serif"/>
              </a:rPr>
              <a:t>Cryptojacking</a:t>
            </a:r>
            <a:r>
              <a:rPr sz="1700" spc="-50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(Kripto</a:t>
            </a:r>
            <a:r>
              <a:rPr sz="1700" spc="-4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para</a:t>
            </a:r>
            <a:r>
              <a:rPr sz="1700" spc="-50" dirty="0">
                <a:latin typeface="Microsoft Sans Serif"/>
                <a:cs typeface="Microsoft Sans Serif"/>
              </a:rPr>
              <a:t> </a:t>
            </a:r>
            <a:r>
              <a:rPr sz="1700" spc="-10" dirty="0" err="1" smtClean="0">
                <a:latin typeface="Microsoft Sans Serif"/>
                <a:cs typeface="Microsoft Sans Serif"/>
              </a:rPr>
              <a:t>madenciliği</a:t>
            </a:r>
            <a:r>
              <a:rPr sz="1700" spc="-10" dirty="0" smtClean="0">
                <a:latin typeface="Microsoft Sans Serif"/>
                <a:cs typeface="Microsoft Sans Serif"/>
              </a:rPr>
              <a:t>)</a:t>
            </a:r>
            <a:endParaRPr lang="tr-TR" sz="1700" dirty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err="1" smtClean="0">
                <a:latin typeface="Microsoft Sans Serif"/>
                <a:cs typeface="Microsoft Sans Serif"/>
              </a:rPr>
              <a:t>Arka</a:t>
            </a:r>
            <a:r>
              <a:rPr sz="1700" spc="30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kapı</a:t>
            </a:r>
            <a:r>
              <a:rPr sz="1700" spc="35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(</a:t>
            </a:r>
            <a:r>
              <a:rPr sz="1700" spc="-10" dirty="0" smtClean="0">
                <a:latin typeface="Microsoft Sans Serif"/>
                <a:cs typeface="Microsoft Sans Serif"/>
              </a:rPr>
              <a:t>Backdoor)</a:t>
            </a:r>
            <a:endParaRPr lang="tr-TR" sz="1700" dirty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err="1" smtClean="0">
                <a:latin typeface="Microsoft Sans Serif"/>
                <a:cs typeface="Microsoft Sans Serif"/>
              </a:rPr>
              <a:t>Tarayıcı</a:t>
            </a:r>
            <a:r>
              <a:rPr sz="1700" spc="-40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ele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geçirme</a:t>
            </a:r>
            <a:r>
              <a:rPr sz="1700" spc="-4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(Browser</a:t>
            </a:r>
            <a:r>
              <a:rPr sz="1700" spc="-35" dirty="0">
                <a:latin typeface="Microsoft Sans Serif"/>
                <a:cs typeface="Microsoft Sans Serif"/>
              </a:rPr>
              <a:t> </a:t>
            </a:r>
            <a:r>
              <a:rPr sz="1700" spc="-10" dirty="0" smtClean="0">
                <a:latin typeface="Microsoft Sans Serif"/>
                <a:cs typeface="Microsoft Sans Serif"/>
              </a:rPr>
              <a:t>hijacking)</a:t>
            </a:r>
            <a:endParaRPr lang="tr-TR" sz="1700" spc="-10" dirty="0" smtClean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err="1" smtClean="0">
                <a:latin typeface="Microsoft Sans Serif"/>
                <a:cs typeface="Microsoft Sans Serif"/>
              </a:rPr>
              <a:t>Korunmasızlık</a:t>
            </a:r>
            <a:r>
              <a:rPr sz="1700" spc="15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sömürücü</a:t>
            </a:r>
            <a:r>
              <a:rPr sz="1700" spc="1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(Exploit) </a:t>
            </a:r>
            <a:endParaRPr lang="tr-TR" sz="1700" spc="-10" dirty="0" smtClean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err="1" smtClean="0">
                <a:latin typeface="Microsoft Sans Serif"/>
                <a:cs typeface="Microsoft Sans Serif"/>
              </a:rPr>
              <a:t>Klavye</a:t>
            </a:r>
            <a:r>
              <a:rPr sz="1700" spc="-40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dinleme</a:t>
            </a:r>
            <a:r>
              <a:rPr sz="1700" spc="-4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sistemi</a:t>
            </a:r>
            <a:r>
              <a:rPr sz="1700" spc="-4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(Keylogger) </a:t>
            </a:r>
            <a:endParaRPr lang="tr-TR" sz="1700" spc="-10" dirty="0" smtClean="0">
              <a:latin typeface="Microsoft Sans Serif"/>
              <a:cs typeface="Microsoft Sans Serif"/>
            </a:endParaRPr>
          </a:p>
          <a:p>
            <a:pPr marL="392430" marR="1228725" indent="-380365">
              <a:lnSpc>
                <a:spcPct val="141600"/>
              </a:lnSpc>
              <a:buSzPct val="44117"/>
              <a:buFont typeface="Lucida Sans Unicode"/>
              <a:buChar char="●"/>
              <a:tabLst>
                <a:tab pos="396240" algn="l"/>
              </a:tabLst>
            </a:pPr>
            <a:r>
              <a:rPr sz="1700" dirty="0" err="1" smtClean="0">
                <a:latin typeface="Microsoft Sans Serif"/>
                <a:cs typeface="Microsoft Sans Serif"/>
              </a:rPr>
              <a:t>Mesaj</a:t>
            </a:r>
            <a:r>
              <a:rPr sz="1700" spc="20" dirty="0" smtClean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sağanağı</a:t>
            </a:r>
            <a:r>
              <a:rPr sz="1700" spc="2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(spam)</a:t>
            </a:r>
            <a:r>
              <a:rPr sz="1700" spc="2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(Yığın</a:t>
            </a:r>
            <a:r>
              <a:rPr sz="1700" spc="25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ileti)</a:t>
            </a:r>
            <a:endParaRPr sz="1700" dirty="0">
              <a:latin typeface="Microsoft Sans Serif"/>
              <a:cs typeface="Microsoft Sans Serif"/>
            </a:endParaRPr>
          </a:p>
        </p:txBody>
      </p:sp>
      <p:pic>
        <p:nvPicPr>
          <p:cNvPr id="9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3048000"/>
            <a:ext cx="4020121" cy="230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9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3008" y="759997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Microsoft Sans Serif"/>
                <a:cs typeface="Microsoft Sans Serif"/>
              </a:rPr>
              <a:t>Zararlı</a:t>
            </a:r>
            <a:r>
              <a:rPr lang="tr-TR" spc="-40" dirty="0">
                <a:latin typeface="Microsoft Sans Serif"/>
                <a:cs typeface="Microsoft Sans Serif"/>
              </a:rPr>
              <a:t> </a:t>
            </a:r>
            <a:r>
              <a:rPr lang="tr-TR" dirty="0">
                <a:latin typeface="Microsoft Sans Serif"/>
                <a:cs typeface="Microsoft Sans Serif"/>
              </a:rPr>
              <a:t>Yazılımlar</a:t>
            </a:r>
            <a:r>
              <a:rPr lang="tr-TR" spc="40" dirty="0">
                <a:latin typeface="Microsoft Sans Serif"/>
                <a:cs typeface="Microsoft Sans Serif"/>
              </a:rPr>
              <a:t> </a:t>
            </a:r>
            <a:r>
              <a:rPr lang="tr-TR" spc="-10" dirty="0">
                <a:latin typeface="Microsoft Sans Serif"/>
                <a:cs typeface="Microsoft Sans Serif"/>
              </a:rPr>
              <a:t>(</a:t>
            </a:r>
            <a:r>
              <a:rPr lang="tr-TR" spc="-10" dirty="0" err="1">
                <a:latin typeface="Microsoft Sans Serif"/>
                <a:cs typeface="Microsoft Sans Serif"/>
              </a:rPr>
              <a:t>Malware</a:t>
            </a:r>
            <a:r>
              <a:rPr lang="tr-TR" spc="-10" dirty="0">
                <a:latin typeface="Microsoft Sans Serif"/>
                <a:cs typeface="Microsoft Sans Serif"/>
              </a:rPr>
              <a:t>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5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7" name="object 3"/>
          <p:cNvSpPr txBox="1"/>
          <p:nvPr/>
        </p:nvSpPr>
        <p:spPr>
          <a:xfrm>
            <a:off x="2133600" y="1594069"/>
            <a:ext cx="8025765" cy="134459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  <a:buSzPct val="44444"/>
              <a:tabLst>
                <a:tab pos="444500" algn="l"/>
              </a:tabLst>
            </a:pPr>
            <a:r>
              <a:rPr sz="1800" b="1" dirty="0" err="1" smtClean="0">
                <a:solidFill>
                  <a:srgbClr val="FF0000"/>
                </a:solidFill>
                <a:latin typeface="Arial"/>
                <a:cs typeface="Arial"/>
              </a:rPr>
              <a:t>Virüsler</a:t>
            </a:r>
            <a:r>
              <a:rPr sz="1800" b="1" spc="-6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(Virus</a:t>
            </a:r>
            <a:r>
              <a:rPr sz="1800" spc="-10" dirty="0" smtClean="0">
                <a:solidFill>
                  <a:srgbClr val="FF0000"/>
                </a:solidFill>
                <a:latin typeface="Microsoft Sans Serif"/>
                <a:cs typeface="Microsoft Sans Serif"/>
              </a:rPr>
              <a:t>)</a:t>
            </a:r>
            <a:endParaRPr sz="1600" dirty="0">
              <a:solidFill>
                <a:srgbClr val="FF0000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ts val="1885"/>
              </a:lnSpc>
              <a:spcBef>
                <a:spcPts val="585"/>
              </a:spcBef>
            </a:pPr>
            <a:r>
              <a:rPr sz="1800" dirty="0">
                <a:latin typeface="Microsoft Sans Serif"/>
                <a:cs typeface="Microsoft Sans Serif"/>
              </a:rPr>
              <a:t>Bilişim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sisteminin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normal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çalışmasını,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kullanıcının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haberi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olmadan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değiştirmeye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1614"/>
              </a:lnSpc>
            </a:pPr>
            <a:r>
              <a:rPr sz="1800" dirty="0">
                <a:latin typeface="Microsoft Sans Serif"/>
                <a:cs typeface="Microsoft Sans Serif"/>
              </a:rPr>
              <a:t>çalışan,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kendini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gizleyen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dosyaya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bulaşan,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bilgisayardan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diğerine</a:t>
            </a:r>
            <a:endParaRPr sz="1800" dirty="0">
              <a:latin typeface="Microsoft Sans Serif"/>
              <a:cs typeface="Microsoft Sans Serif"/>
            </a:endParaRPr>
          </a:p>
          <a:p>
            <a:pPr marL="12700" marR="386080">
              <a:lnSpc>
                <a:spcPct val="74700"/>
              </a:lnSpc>
              <a:spcBef>
                <a:spcPts val="275"/>
              </a:spcBef>
            </a:pPr>
            <a:r>
              <a:rPr sz="1800" dirty="0">
                <a:latin typeface="Microsoft Sans Serif"/>
                <a:cs typeface="Microsoft Sans Serif"/>
              </a:rPr>
              <a:t>bulaşmaya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çalışan,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zararlı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kodlar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içeren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bilgisayar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programıdır.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Bulaştığı </a:t>
            </a:r>
            <a:r>
              <a:rPr sz="1800" dirty="0">
                <a:latin typeface="Microsoft Sans Serif"/>
                <a:cs typeface="Microsoft Sans Serif"/>
              </a:rPr>
              <a:t>dosyanın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etkileşime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geçmesi,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çalışması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ile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virüs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harekete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geçer.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18" name="object 5"/>
          <p:cNvSpPr txBox="1"/>
          <p:nvPr/>
        </p:nvSpPr>
        <p:spPr>
          <a:xfrm>
            <a:off x="2143298" y="3276600"/>
            <a:ext cx="2129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Solucanlar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(Worms)</a:t>
            </a:r>
            <a:endParaRPr sz="1800" dirty="0">
              <a:solidFill>
                <a:srgbClr val="FF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9" name="object 6"/>
          <p:cNvSpPr txBox="1"/>
          <p:nvPr/>
        </p:nvSpPr>
        <p:spPr>
          <a:xfrm>
            <a:off x="2133600" y="3615453"/>
            <a:ext cx="8202930" cy="91440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ct val="74700"/>
              </a:lnSpc>
              <a:spcBef>
                <a:spcPts val="645"/>
              </a:spcBef>
            </a:pPr>
            <a:r>
              <a:rPr sz="1800" dirty="0">
                <a:latin typeface="Microsoft Sans Serif"/>
                <a:cs typeface="Microsoft Sans Serif"/>
              </a:rPr>
              <a:t>Bilişim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sisteminde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bir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dosyaya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ilişme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ihtiyacı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veya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insan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etkileşimi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olmadan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kendi </a:t>
            </a:r>
            <a:r>
              <a:rPr sz="1800" dirty="0">
                <a:latin typeface="Microsoft Sans Serif"/>
                <a:cs typeface="Microsoft Sans Serif"/>
              </a:rPr>
              <a:t>başlarına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otomatik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olarak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çalışabilen,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başka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sistemlere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yayılmaya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çalışan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zararlı </a:t>
            </a:r>
            <a:r>
              <a:rPr sz="1800" dirty="0">
                <a:latin typeface="Microsoft Sans Serif"/>
                <a:cs typeface="Microsoft Sans Serif"/>
              </a:rPr>
              <a:t>kodlar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içeren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bilgisayar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programıdır.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E-</a:t>
            </a:r>
            <a:r>
              <a:rPr sz="1800" dirty="0">
                <a:latin typeface="Microsoft Sans Serif"/>
                <a:cs typeface="Microsoft Sans Serif"/>
              </a:rPr>
              <a:t>posta,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download,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reklam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vb.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yollar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ile </a:t>
            </a:r>
            <a:r>
              <a:rPr sz="1800" dirty="0">
                <a:latin typeface="Microsoft Sans Serif"/>
                <a:cs typeface="Microsoft Sans Serif"/>
              </a:rPr>
              <a:t>bilgisayara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girebilirler.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8"/>
          <p:cNvSpPr txBox="1"/>
          <p:nvPr/>
        </p:nvSpPr>
        <p:spPr>
          <a:xfrm>
            <a:off x="2143298" y="4876800"/>
            <a:ext cx="2244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Truva</a:t>
            </a:r>
            <a:r>
              <a:rPr sz="18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Atları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(Trojans)</a:t>
            </a:r>
            <a:endParaRPr sz="1800" dirty="0">
              <a:solidFill>
                <a:srgbClr val="FF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21" name="object 9"/>
          <p:cNvSpPr txBox="1"/>
          <p:nvPr/>
        </p:nvSpPr>
        <p:spPr>
          <a:xfrm>
            <a:off x="2133600" y="5213494"/>
            <a:ext cx="7897495" cy="12636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ct val="74700"/>
              </a:lnSpc>
              <a:spcBef>
                <a:spcPts val="645"/>
              </a:spcBef>
            </a:pPr>
            <a:r>
              <a:rPr sz="1800" dirty="0">
                <a:latin typeface="Microsoft Sans Serif"/>
                <a:cs typeface="Microsoft Sans Serif"/>
              </a:rPr>
              <a:t>Bilinen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bir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yazılımın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içerisine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eklenmiş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veya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hedeflenen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sistemler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için</a:t>
            </a:r>
            <a:r>
              <a:rPr sz="1800" spc="-10" dirty="0">
                <a:latin typeface="Microsoft Sans Serif"/>
                <a:cs typeface="Microsoft Sans Serif"/>
              </a:rPr>
              <a:t> yazılmış </a:t>
            </a:r>
            <a:r>
              <a:rPr sz="1800" dirty="0">
                <a:latin typeface="Microsoft Sans Serif"/>
                <a:cs typeface="Microsoft Sans Serif"/>
              </a:rPr>
              <a:t>içerisinde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zararlı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kodlar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barındıran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programlardır.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Eklendikleri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program </a:t>
            </a:r>
            <a:r>
              <a:rPr sz="1800" dirty="0">
                <a:latin typeface="Microsoft Sans Serif"/>
                <a:cs typeface="Microsoft Sans Serif"/>
              </a:rPr>
              <a:t>dosyasının</a:t>
            </a:r>
            <a:r>
              <a:rPr sz="1800" spc="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çalışması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ile</a:t>
            </a:r>
            <a:r>
              <a:rPr sz="1800" spc="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aktif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olurlar.</a:t>
            </a:r>
            <a:endParaRPr sz="1800" dirty="0">
              <a:latin typeface="Microsoft Sans Serif"/>
              <a:cs typeface="Microsoft Sans Serif"/>
            </a:endParaRPr>
          </a:p>
          <a:p>
            <a:pPr marL="12700" marR="154940">
              <a:lnSpc>
                <a:spcPct val="74700"/>
              </a:lnSpc>
              <a:spcBef>
                <a:spcPts val="1135"/>
              </a:spcBef>
            </a:pP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Arka</a:t>
            </a:r>
            <a:r>
              <a:rPr sz="1800" spc="-25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kapı,</a:t>
            </a:r>
            <a:r>
              <a:rPr sz="1800" spc="-2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rootkit,</a:t>
            </a:r>
            <a:r>
              <a:rPr sz="1800" spc="-2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Banking,</a:t>
            </a:r>
            <a:r>
              <a:rPr sz="1800" spc="-2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DdoS,</a:t>
            </a:r>
            <a:r>
              <a:rPr sz="1800" spc="-2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Spy,</a:t>
            </a:r>
            <a:r>
              <a:rPr sz="1800" spc="-25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Psw,</a:t>
            </a:r>
            <a:r>
              <a:rPr sz="1800" spc="-2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proxy,</a:t>
            </a:r>
            <a:r>
              <a:rPr sz="1800" spc="-25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clickers,</a:t>
            </a:r>
            <a:r>
              <a:rPr sz="1800" spc="-2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vb.</a:t>
            </a:r>
            <a:r>
              <a:rPr sz="1800" spc="-20" dirty="0">
                <a:solidFill>
                  <a:schemeClr val="accent6">
                    <a:lumMod val="75000"/>
                  </a:schemeClr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gibi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zararları içerirler.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22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78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7323" y="714124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spcBef>
                <a:spcPts val="95"/>
              </a:spcBef>
            </a:pPr>
            <a:r>
              <a:rPr lang="tr-TR" dirty="0">
                <a:latin typeface="Microsoft Sans Serif"/>
                <a:cs typeface="Microsoft Sans Serif"/>
              </a:rPr>
              <a:t>Zararlı</a:t>
            </a:r>
            <a:r>
              <a:rPr lang="tr-TR" spc="-40" dirty="0">
                <a:latin typeface="Microsoft Sans Serif"/>
                <a:cs typeface="Microsoft Sans Serif"/>
              </a:rPr>
              <a:t> </a:t>
            </a:r>
            <a:r>
              <a:rPr lang="tr-TR" dirty="0">
                <a:latin typeface="Microsoft Sans Serif"/>
                <a:cs typeface="Microsoft Sans Serif"/>
              </a:rPr>
              <a:t>Yazılımlar</a:t>
            </a:r>
            <a:r>
              <a:rPr lang="tr-TR" spc="40" dirty="0">
                <a:latin typeface="Microsoft Sans Serif"/>
                <a:cs typeface="Microsoft Sans Serif"/>
              </a:rPr>
              <a:t> </a:t>
            </a:r>
            <a:r>
              <a:rPr lang="tr-TR" spc="-10" dirty="0">
                <a:latin typeface="Microsoft Sans Serif"/>
                <a:cs typeface="Microsoft Sans Serif"/>
              </a:rPr>
              <a:t>(</a:t>
            </a:r>
            <a:r>
              <a:rPr lang="tr-TR" spc="-10" dirty="0" err="1">
                <a:latin typeface="Microsoft Sans Serif"/>
                <a:cs typeface="Microsoft Sans Serif"/>
              </a:rPr>
              <a:t>Malware</a:t>
            </a:r>
            <a:r>
              <a:rPr lang="tr-TR" spc="-10" dirty="0">
                <a:latin typeface="Microsoft Sans Serif"/>
                <a:cs typeface="Microsoft Sans Serif"/>
              </a:rPr>
              <a:t>)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6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2133600" y="1907295"/>
            <a:ext cx="8610600" cy="12211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000" b="1" spc="-10" dirty="0" smtClean="0">
                <a:latin typeface="Arial"/>
                <a:cs typeface="Arial"/>
              </a:rPr>
              <a:t>Rootkit</a:t>
            </a:r>
            <a:endParaRPr sz="2000" dirty="0">
              <a:latin typeface="Arial"/>
              <a:cs typeface="Arial"/>
            </a:endParaRPr>
          </a:p>
          <a:p>
            <a:pPr marL="12700" marR="5080">
              <a:lnSpc>
                <a:spcPct val="74400"/>
              </a:lnSpc>
              <a:spcBef>
                <a:spcPts val="1130"/>
              </a:spcBef>
            </a:pPr>
            <a:r>
              <a:rPr sz="2000" dirty="0">
                <a:latin typeface="Microsoft Sans Serif"/>
                <a:cs typeface="Microsoft Sans Serif"/>
              </a:rPr>
              <a:t>İşletim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sistemi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çekirdeğine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sızarak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saldırgana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tam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yetki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veren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zararlı </a:t>
            </a:r>
            <a:r>
              <a:rPr sz="2000" dirty="0">
                <a:latin typeface="Microsoft Sans Serif"/>
                <a:cs typeface="Microsoft Sans Serif"/>
              </a:rPr>
              <a:t>yazılımlardır. Kernel, firmware, application, memory, bootkit, </a:t>
            </a:r>
            <a:r>
              <a:rPr sz="2000" spc="-10" dirty="0">
                <a:latin typeface="Microsoft Sans Serif"/>
                <a:cs typeface="Microsoft Sans Serif"/>
              </a:rPr>
              <a:t>library, </a:t>
            </a:r>
            <a:r>
              <a:rPr sz="2000" dirty="0">
                <a:latin typeface="Microsoft Sans Serif"/>
                <a:cs typeface="Microsoft Sans Serif"/>
              </a:rPr>
              <a:t>hypervisor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vmm </a:t>
            </a:r>
            <a:r>
              <a:rPr sz="2000" spc="-20" dirty="0">
                <a:latin typeface="Microsoft Sans Serif"/>
                <a:cs typeface="Microsoft Sans Serif"/>
              </a:rPr>
              <a:t>vb...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2133600" y="3502453"/>
            <a:ext cx="8610600" cy="12211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000" b="1" dirty="0" smtClean="0">
                <a:latin typeface="Arial"/>
                <a:cs typeface="Arial"/>
              </a:rPr>
              <a:t>Ransomware</a:t>
            </a:r>
            <a:r>
              <a:rPr sz="2000" b="1" spc="-75" dirty="0" smtClean="0">
                <a:latin typeface="Arial"/>
                <a:cs typeface="Arial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(Fidye)</a:t>
            </a: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74400"/>
              </a:lnSpc>
              <a:spcBef>
                <a:spcPts val="1130"/>
              </a:spcBef>
            </a:pPr>
            <a:r>
              <a:rPr sz="2000" dirty="0">
                <a:latin typeface="Microsoft Sans Serif"/>
                <a:cs typeface="Microsoft Sans Serif"/>
              </a:rPr>
              <a:t>Bulaştığı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sistem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üzerinde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dosyaların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erişimini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şifreleyip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engelleyen, </a:t>
            </a:r>
            <a:r>
              <a:rPr sz="2000" dirty="0">
                <a:latin typeface="Microsoft Sans Serif"/>
                <a:cs typeface="Microsoft Sans Serif"/>
              </a:rPr>
              <a:t>dosyaların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yeniden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kullanımı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için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fidye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talep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eden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şifreli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yazılımlardır. </a:t>
            </a:r>
            <a:r>
              <a:rPr sz="2000" dirty="0">
                <a:latin typeface="Microsoft Sans Serif"/>
                <a:cs typeface="Microsoft Sans Serif"/>
              </a:rPr>
              <a:t>Genellikle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kripto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(crypto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coin)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talep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ederler.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(WannaCry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gibi..)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4" name="object 8"/>
          <p:cNvSpPr txBox="1"/>
          <p:nvPr/>
        </p:nvSpPr>
        <p:spPr>
          <a:xfrm>
            <a:off x="2133600" y="5097612"/>
            <a:ext cx="8610600" cy="98385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000" b="1" spc="-35" dirty="0" smtClean="0">
                <a:latin typeface="Arial"/>
                <a:cs typeface="Arial"/>
              </a:rPr>
              <a:t>RAT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(Remote</a:t>
            </a:r>
            <a:r>
              <a:rPr sz="2000" spc="-1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Administration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Tool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-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Uzaktan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Yönetim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Aracı)</a:t>
            </a: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74400"/>
              </a:lnSpc>
              <a:spcBef>
                <a:spcPts val="1130"/>
              </a:spcBef>
            </a:pPr>
            <a:r>
              <a:rPr sz="2000" dirty="0">
                <a:latin typeface="Microsoft Sans Serif"/>
                <a:cs typeface="Microsoft Sans Serif"/>
              </a:rPr>
              <a:t>Sistemleri uzaktan yönetip teknik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destek veya sunucu </a:t>
            </a:r>
            <a:r>
              <a:rPr sz="2000" spc="-10" dirty="0">
                <a:latin typeface="Microsoft Sans Serif"/>
                <a:cs typeface="Microsoft Sans Serif"/>
              </a:rPr>
              <a:t>yönetimi </a:t>
            </a:r>
            <a:r>
              <a:rPr sz="2000" dirty="0">
                <a:latin typeface="Microsoft Sans Serif"/>
                <a:cs typeface="Microsoft Sans Serif"/>
              </a:rPr>
              <a:t>amaçlı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faydalı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kullanımın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kötü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amaçlar</a:t>
            </a:r>
            <a:r>
              <a:rPr sz="2000" spc="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için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yapılmasıdır.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02092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7323" y="718107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Microsoft Sans Serif"/>
                <a:cs typeface="Microsoft Sans Serif"/>
              </a:rPr>
              <a:t>Ağlara</a:t>
            </a:r>
            <a:r>
              <a:rPr lang="tr-TR" spc="-180" dirty="0">
                <a:latin typeface="Microsoft Sans Serif"/>
                <a:cs typeface="Microsoft Sans Serif"/>
              </a:rPr>
              <a:t> </a:t>
            </a:r>
            <a:r>
              <a:rPr lang="tr-TR" dirty="0">
                <a:latin typeface="Microsoft Sans Serif"/>
                <a:cs typeface="Microsoft Sans Serif"/>
              </a:rPr>
              <a:t>Yönelik</a:t>
            </a:r>
            <a:r>
              <a:rPr lang="tr-TR" spc="-175" dirty="0">
                <a:latin typeface="Microsoft Sans Serif"/>
                <a:cs typeface="Microsoft Sans Serif"/>
              </a:rPr>
              <a:t> </a:t>
            </a:r>
            <a:r>
              <a:rPr lang="tr-TR" spc="-40" dirty="0">
                <a:latin typeface="Microsoft Sans Serif"/>
                <a:cs typeface="Microsoft Sans Serif"/>
              </a:rPr>
              <a:t>Tehditler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7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2286000" y="2209800"/>
            <a:ext cx="7220077" cy="2969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Microsoft Sans Serif"/>
                <a:cs typeface="Microsoft Sans Serif"/>
              </a:rPr>
              <a:t>Hizmet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Dışı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Bırakma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(DoS)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10" dirty="0" err="1" smtClean="0">
                <a:latin typeface="Microsoft Sans Serif"/>
                <a:cs typeface="Microsoft Sans Serif"/>
              </a:rPr>
              <a:t>Saldırıs</a:t>
            </a:r>
            <a:r>
              <a:rPr lang="tr-TR" sz="2800" spc="-10" dirty="0" smtClean="0">
                <a:latin typeface="Microsoft Sans Serif"/>
                <a:cs typeface="Microsoft Sans Serif"/>
              </a:rPr>
              <a:t>ı</a:t>
            </a:r>
          </a:p>
          <a:p>
            <a:pPr marL="469900" marR="5080" indent="-4572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800" dirty="0" err="1" smtClean="0">
                <a:latin typeface="Microsoft Sans Serif"/>
                <a:cs typeface="Microsoft Sans Serif"/>
              </a:rPr>
              <a:t>Botnetler</a:t>
            </a:r>
            <a:r>
              <a:rPr sz="2800" spc="30" dirty="0" smtClean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ve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DdoS</a:t>
            </a:r>
            <a:endParaRPr sz="2800" dirty="0">
              <a:latin typeface="Microsoft Sans Serif"/>
              <a:cs typeface="Microsoft Sans Serif"/>
            </a:endParaRPr>
          </a:p>
          <a:p>
            <a:pPr marL="469900" marR="3370579" indent="-457200"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Microsoft Sans Serif"/>
                <a:cs typeface="Microsoft Sans Serif"/>
              </a:rPr>
              <a:t>Port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 err="1" smtClean="0">
                <a:latin typeface="Microsoft Sans Serif"/>
                <a:cs typeface="Microsoft Sans Serif"/>
              </a:rPr>
              <a:t>Yönlendirme</a:t>
            </a:r>
            <a:endParaRPr lang="tr-TR" sz="2800" spc="-10" dirty="0" smtClean="0">
              <a:latin typeface="Microsoft Sans Serif"/>
              <a:cs typeface="Microsoft Sans Serif"/>
            </a:endParaRPr>
          </a:p>
          <a:p>
            <a:pPr marL="469900" marR="3370579" indent="-457200"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sz="2800" spc="-10" dirty="0" smtClean="0">
                <a:latin typeface="Microsoft Sans Serif"/>
                <a:cs typeface="Microsoft Sans Serif"/>
              </a:rPr>
              <a:t>Spoofing</a:t>
            </a:r>
            <a:endParaRPr sz="2800" dirty="0">
              <a:latin typeface="Microsoft Sans Serif"/>
              <a:cs typeface="Microsoft Sans Serif"/>
            </a:endParaRPr>
          </a:p>
          <a:p>
            <a:pPr marL="469900" indent="-4572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Microsoft Sans Serif"/>
                <a:cs typeface="Microsoft Sans Serif"/>
              </a:rPr>
              <a:t>Parola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Saldırıları</a:t>
            </a:r>
            <a:endParaRPr sz="2800" dirty="0">
              <a:latin typeface="Microsoft Sans Serif"/>
              <a:cs typeface="Microsoft Sans Serif"/>
            </a:endParaRPr>
          </a:p>
          <a:p>
            <a:pPr marL="469900" indent="-457200">
              <a:spcBef>
                <a:spcPts val="1165"/>
              </a:spcBef>
              <a:buFont typeface="Arial" panose="020B0604020202020204" pitchFamily="34" charset="0"/>
              <a:buChar char="•"/>
            </a:pPr>
            <a:r>
              <a:rPr sz="2800" spc="-25" dirty="0">
                <a:latin typeface="Microsoft Sans Serif"/>
                <a:cs typeface="Microsoft Sans Serif"/>
              </a:rPr>
              <a:t>...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73278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7323" y="718107"/>
            <a:ext cx="9698354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Microsoft Sans Serif"/>
                <a:cs typeface="Microsoft Sans Serif"/>
              </a:rPr>
              <a:t>Ağlara</a:t>
            </a:r>
            <a:r>
              <a:rPr lang="tr-TR" spc="-180" dirty="0">
                <a:latin typeface="Microsoft Sans Serif"/>
                <a:cs typeface="Microsoft Sans Serif"/>
              </a:rPr>
              <a:t> </a:t>
            </a:r>
            <a:r>
              <a:rPr lang="tr-TR" dirty="0">
                <a:latin typeface="Microsoft Sans Serif"/>
                <a:cs typeface="Microsoft Sans Serif"/>
              </a:rPr>
              <a:t>Yönelik</a:t>
            </a:r>
            <a:r>
              <a:rPr lang="tr-TR" spc="-175" dirty="0">
                <a:latin typeface="Microsoft Sans Serif"/>
                <a:cs typeface="Microsoft Sans Serif"/>
              </a:rPr>
              <a:t> </a:t>
            </a:r>
            <a:r>
              <a:rPr lang="tr-TR" spc="-40" dirty="0">
                <a:latin typeface="Microsoft Sans Serif"/>
                <a:cs typeface="Microsoft Sans Serif"/>
              </a:rPr>
              <a:t>Tehditler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8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2286000" y="1828800"/>
            <a:ext cx="7432675" cy="15627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142240">
              <a:lnSpc>
                <a:spcPts val="3100"/>
              </a:lnSpc>
              <a:spcBef>
                <a:spcPts val="280"/>
              </a:spcBef>
            </a:pPr>
            <a:r>
              <a:rPr sz="2200" b="1" dirty="0">
                <a:latin typeface="Arial"/>
                <a:cs typeface="Arial"/>
              </a:rPr>
              <a:t>DoS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(Denial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of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Service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Hizmet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Dışı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Bırakma)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Saldırısı </a:t>
            </a:r>
            <a:r>
              <a:rPr sz="2200" dirty="0">
                <a:latin typeface="Microsoft Sans Serif"/>
                <a:cs typeface="Microsoft Sans Serif"/>
              </a:rPr>
              <a:t>Hedef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sistemin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kaynaklarını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tüketip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hizmetlerini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geçici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veya</a:t>
            </a:r>
            <a:endParaRPr sz="2200" dirty="0">
              <a:latin typeface="Microsoft Sans Serif"/>
              <a:cs typeface="Microsoft Sans Serif"/>
            </a:endParaRPr>
          </a:p>
          <a:p>
            <a:pPr marL="12700">
              <a:lnSpc>
                <a:spcPts val="1450"/>
              </a:lnSpc>
            </a:pPr>
            <a:r>
              <a:rPr sz="2200" dirty="0">
                <a:latin typeface="Microsoft Sans Serif"/>
                <a:cs typeface="Microsoft Sans Serif"/>
              </a:rPr>
              <a:t>süresiz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olarak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aksatarak,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görevini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yerine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getirememesine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ve</a:t>
            </a:r>
            <a:endParaRPr sz="2200" dirty="0">
              <a:latin typeface="Microsoft Sans Serif"/>
              <a:cs typeface="Microsoft Sans Serif"/>
            </a:endParaRPr>
          </a:p>
          <a:p>
            <a:pPr marL="12700" marR="592455">
              <a:lnSpc>
                <a:spcPct val="74500"/>
              </a:lnSpc>
              <a:spcBef>
                <a:spcPts val="335"/>
              </a:spcBef>
            </a:pPr>
            <a:r>
              <a:rPr sz="2200" dirty="0">
                <a:latin typeface="Microsoft Sans Serif"/>
                <a:cs typeface="Microsoft Sans Serif"/>
              </a:rPr>
              <a:t>asıl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kullanıcılar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tarafından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ulaşılamamasına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neden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olan </a:t>
            </a:r>
            <a:r>
              <a:rPr sz="2200" spc="-10" dirty="0">
                <a:latin typeface="Microsoft Sans Serif"/>
                <a:cs typeface="Microsoft Sans Serif"/>
              </a:rPr>
              <a:t>erişilebilirliği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hedefleyen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bir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siber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saldırı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türüdür.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2286000" y="3822484"/>
            <a:ext cx="7757795" cy="206248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200" b="1" dirty="0">
                <a:latin typeface="Arial"/>
                <a:cs typeface="Arial"/>
              </a:rPr>
              <a:t>Botnetler</a:t>
            </a:r>
            <a:r>
              <a:rPr sz="2200" b="1" spc="-100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(robot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network)</a:t>
            </a:r>
            <a:endParaRPr sz="2200">
              <a:latin typeface="Microsoft Sans Serif"/>
              <a:cs typeface="Microsoft Sans Serif"/>
            </a:endParaRPr>
          </a:p>
          <a:p>
            <a:pPr marL="12700" marR="5080">
              <a:lnSpc>
                <a:spcPct val="74500"/>
              </a:lnSpc>
              <a:spcBef>
                <a:spcPts val="1135"/>
              </a:spcBef>
            </a:pPr>
            <a:r>
              <a:rPr sz="2200" dirty="0">
                <a:latin typeface="Microsoft Sans Serif"/>
                <a:cs typeface="Microsoft Sans Serif"/>
              </a:rPr>
              <a:t>Saldırganlar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tarafından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trojan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veya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zararlı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yazılımlar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ile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ele </a:t>
            </a:r>
            <a:r>
              <a:rPr sz="2200" dirty="0">
                <a:latin typeface="Microsoft Sans Serif"/>
                <a:cs typeface="Microsoft Sans Serif"/>
              </a:rPr>
              <a:t>geçirilen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ve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uzaktan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yönetilebilen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bilgisayarlardan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oluşturulan </a:t>
            </a:r>
            <a:r>
              <a:rPr sz="2200" dirty="0">
                <a:latin typeface="Microsoft Sans Serif"/>
                <a:cs typeface="Microsoft Sans Serif"/>
              </a:rPr>
              <a:t>bir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bilgisayar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ağıdır.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Botnet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üyesi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bilgisayarlar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köle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veya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zombi </a:t>
            </a:r>
            <a:r>
              <a:rPr sz="2200" dirty="0">
                <a:latin typeface="Microsoft Sans Serif"/>
                <a:cs typeface="Microsoft Sans Serif"/>
              </a:rPr>
              <a:t>olarak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ifade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edilirler.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Botnetler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tek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bir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birim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olarak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hareket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etme </a:t>
            </a:r>
            <a:r>
              <a:rPr sz="2200" spc="-10" dirty="0">
                <a:latin typeface="Microsoft Sans Serif"/>
                <a:cs typeface="Microsoft Sans Serif"/>
              </a:rPr>
              <a:t>yeteneklerine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sahiptir.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DdoS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(Dağıtık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DoS)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gibi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saldırılar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için </a:t>
            </a:r>
            <a:r>
              <a:rPr sz="2200" dirty="0">
                <a:latin typeface="Microsoft Sans Serif"/>
                <a:cs typeface="Microsoft Sans Serif"/>
              </a:rPr>
              <a:t>yaygın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olarak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kullanılırlar.</a:t>
            </a:r>
            <a:endParaRPr sz="22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7515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8488" y="3163900"/>
            <a:ext cx="9302877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Arial"/>
                <a:cs typeface="Arial"/>
              </a:rPr>
              <a:t>Tespit Yöntemleri</a:t>
            </a:r>
            <a:endParaRPr sz="4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 smtClean="0">
                <a:solidFill>
                  <a:schemeClr val="bg1"/>
                </a:solidFill>
              </a:rPr>
              <a:t>9</a:t>
            </a:r>
            <a:endParaRPr lang="tr-T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Virüsler</a:t>
            </a:r>
            <a:endParaRPr lang="tr-TR" sz="2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10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1326988" y="1614236"/>
            <a:ext cx="9813290" cy="4801314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Tanım: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smtClean="0"/>
              <a:t>Kendini kopyalayarak diğer dosyalara, program kodlarına ve sistem alanlarına bulaşan zararlı kod parçacıkları. Çalışmak için bir taşıyıcı programa ihtiyaç duyar ve kullanıcı etkileşimi gerektirir.</a:t>
            </a:r>
          </a:p>
          <a:p>
            <a:endParaRPr lang="tr-TR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Tespit Yöntemleri:</a:t>
            </a:r>
            <a:endParaRPr lang="tr-T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İmza tabanlı tarama:</a:t>
            </a:r>
            <a:r>
              <a:rPr lang="tr-TR" dirty="0" smtClean="0"/>
              <a:t> Bilinen virüs imzalarının veri tabanıyla karşılaştırma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Sezgisel analiz:</a:t>
            </a:r>
            <a:r>
              <a:rPr lang="tr-TR" dirty="0" smtClean="0"/>
              <a:t> Virüs benzeri davranışları tespit etme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Davranış analizi:</a:t>
            </a:r>
            <a:r>
              <a:rPr lang="tr-TR" dirty="0" smtClean="0"/>
              <a:t> Programların gerçek zamanlı davranışlarını izleme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 smtClean="0"/>
              <a:t>Sandbox</a:t>
            </a:r>
            <a:r>
              <a:rPr lang="tr-TR" b="1" dirty="0" smtClean="0"/>
              <a:t> testi:</a:t>
            </a:r>
            <a:r>
              <a:rPr lang="tr-TR" dirty="0" smtClean="0"/>
              <a:t> İzole ortamda dosya çalıştırma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Dosya bütünlük kontrolü (FIM):</a:t>
            </a:r>
            <a:r>
              <a:rPr lang="tr-TR" dirty="0" smtClean="0"/>
              <a:t> </a:t>
            </a:r>
            <a:r>
              <a:rPr lang="tr-TR" dirty="0" err="1" smtClean="0"/>
              <a:t>Hash</a:t>
            </a:r>
            <a:r>
              <a:rPr lang="tr-TR" dirty="0" smtClean="0"/>
              <a:t> değerleri karşılaştırma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 smtClean="0"/>
              <a:t>Polimorfik</a:t>
            </a:r>
            <a:r>
              <a:rPr lang="tr-TR" b="1" dirty="0" smtClean="0"/>
              <a:t> </a:t>
            </a:r>
            <a:r>
              <a:rPr lang="tr-TR" b="1" dirty="0" err="1" smtClean="0"/>
              <a:t>virus</a:t>
            </a:r>
            <a:r>
              <a:rPr lang="tr-TR" b="1" dirty="0" smtClean="0"/>
              <a:t> tespiti:</a:t>
            </a:r>
            <a:r>
              <a:rPr lang="tr-TR" dirty="0" smtClean="0"/>
              <a:t> Şekil değiştiren virüsleri algılama</a:t>
            </a:r>
          </a:p>
          <a:p>
            <a:endParaRPr lang="tr-TR" dirty="0"/>
          </a:p>
          <a:p>
            <a:r>
              <a:rPr lang="tr-TR" b="1" dirty="0" smtClean="0">
                <a:solidFill>
                  <a:srgbClr val="FF0000"/>
                </a:solidFill>
              </a:rPr>
              <a:t>Göstergeler:</a:t>
            </a:r>
            <a:endParaRPr lang="tr-T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Sistem performansında belirgin yavaşlama | Dosya boyutlarında beklenmedik artış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Program başlatma sürelerinde uzama | </a:t>
            </a:r>
            <a:r>
              <a:rPr lang="tr-TR" dirty="0" err="1" smtClean="0"/>
              <a:t>Antivirüs</a:t>
            </a:r>
            <a:r>
              <a:rPr lang="tr-TR" dirty="0" smtClean="0"/>
              <a:t> yazılımının kendiliğinden kapanması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Yeni dosyaların otomatik oluşması | Sabit disk aktivitesinde artış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Sistem kaynaklarının anormal kullanımı | .</a:t>
            </a:r>
            <a:r>
              <a:rPr lang="tr-TR" dirty="0" err="1" smtClean="0"/>
              <a:t>exe</a:t>
            </a:r>
            <a:r>
              <a:rPr lang="tr-TR" dirty="0" smtClean="0"/>
              <a:t> dosyalarının açılmaması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2947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Solucanlar</a:t>
            </a:r>
            <a:endParaRPr lang="tr-TR" sz="2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11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1338072" y="1614236"/>
            <a:ext cx="980220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Tanım: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smtClean="0"/>
              <a:t>Kullanıcı etkileşimi olmadan ağ üzerinden kendini kopyalayarak yayılan bağımsız zararlı yazılımlar. Host dosyaya ihtiyaç duymadan çalışabilir ve otomatik olarak yayılır.</a:t>
            </a:r>
          </a:p>
          <a:p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Tespit Yöntemleri:</a:t>
            </a:r>
            <a:endParaRPr lang="tr-T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Ağ trafiği analizi:</a:t>
            </a:r>
            <a:r>
              <a:rPr lang="tr-TR" dirty="0" smtClean="0"/>
              <a:t> Paket içeriği ve akış inceleme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Anormal bağlantı taraması:</a:t>
            </a:r>
            <a:r>
              <a:rPr lang="tr-TR" dirty="0" smtClean="0"/>
              <a:t> Port tarama aktiviteleri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IDS/IPS sistemleri:</a:t>
            </a:r>
            <a:r>
              <a:rPr lang="tr-TR" dirty="0" smtClean="0"/>
              <a:t> İmza ve anomali tabanlı tespit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Ağ davranış anomali tespiti (NBA):</a:t>
            </a:r>
            <a:r>
              <a:rPr lang="tr-TR" dirty="0" smtClean="0"/>
              <a:t> Normal davranıştan sapmaları bulma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Güvenlik duvarı günlük analizi:</a:t>
            </a:r>
            <a:r>
              <a:rPr lang="tr-TR" dirty="0" smtClean="0"/>
              <a:t> Bağlantı girişimlerini izleme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Bant genişliği izleme:</a:t>
            </a:r>
            <a:r>
              <a:rPr lang="tr-TR" dirty="0" smtClean="0"/>
              <a:t> Trafik artışlarını gözlemleme</a:t>
            </a:r>
          </a:p>
          <a:p>
            <a:endParaRPr lang="tr-TR" b="1" dirty="0"/>
          </a:p>
          <a:p>
            <a:r>
              <a:rPr lang="tr-TR" b="1" dirty="0" smtClean="0">
                <a:solidFill>
                  <a:srgbClr val="FF0000"/>
                </a:solidFill>
              </a:rPr>
              <a:t>Göstergeler:</a:t>
            </a:r>
            <a:endParaRPr lang="tr-T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Ağ trafiğinde ani ve sürekli artış | Birden fazla sistemde eş zamanlı bulaşma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Giden bağlantılarda anormal artış | E-posta trafiğinde patlama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Dosya paylaşım aktivitesinde artış | CPU ve bellek kullanımında artış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Açık portlarda artış | Güvenlik duvarı </a:t>
            </a:r>
            <a:r>
              <a:rPr lang="tr-TR" dirty="0" err="1" smtClean="0"/>
              <a:t>loglarında</a:t>
            </a:r>
            <a:r>
              <a:rPr lang="tr-TR" dirty="0" smtClean="0"/>
              <a:t> tekrarlı bağlantı denemeleri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1191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26988" y="828007"/>
            <a:ext cx="98132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 lang="tr-TR" sz="280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Truva Atları (</a:t>
            </a:r>
            <a:r>
              <a:rPr lang="tr-TR" sz="2800" dirty="0" err="1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Trojens</a:t>
            </a:r>
            <a:r>
              <a:rPr lang="tr-TR" sz="280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lang="tr-TR" sz="2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326988" y="1614236"/>
            <a:ext cx="981329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Tanım: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smtClean="0"/>
              <a:t>Meşru veya yararlı bir yazılım gibi görünen ancak arka planda zararlı işlevler gerçekleştiren programlar. Kendini kopyalamaz, kullanıcı tarafından kasıtlı olarak çalıştırılır.</a:t>
            </a:r>
          </a:p>
          <a:p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Tespit Yöntemleri:</a:t>
            </a:r>
            <a:endParaRPr lang="tr-T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Uygulama beyaz liste kontrolü:</a:t>
            </a:r>
            <a:r>
              <a:rPr lang="tr-TR" dirty="0" smtClean="0"/>
              <a:t> Sadece onaylı uygulamaların çalışmasına izin verme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Dijital imza doğrulama:</a:t>
            </a:r>
            <a:r>
              <a:rPr lang="tr-TR" dirty="0" smtClean="0"/>
              <a:t> Yazılımın güvenilir kaynaklardan geldiğini kontrol etme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 smtClean="0"/>
              <a:t>Sandbox</a:t>
            </a:r>
            <a:r>
              <a:rPr lang="tr-TR" b="1" dirty="0" smtClean="0"/>
              <a:t> izolasyonu:</a:t>
            </a:r>
            <a:r>
              <a:rPr lang="tr-TR" dirty="0" smtClean="0"/>
              <a:t> Şüpheli dosyaları izole ortamda çalıştırma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Tersine mühendislik:</a:t>
            </a:r>
            <a:r>
              <a:rPr lang="tr-TR" dirty="0" smtClean="0"/>
              <a:t> Program kodunu analiz etme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EDR sistemleri:</a:t>
            </a:r>
            <a:r>
              <a:rPr lang="tr-TR" dirty="0" smtClean="0"/>
              <a:t> Uç nokta davranışlarını izleme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 smtClean="0"/>
              <a:t>Hash</a:t>
            </a:r>
            <a:r>
              <a:rPr lang="tr-TR" b="1" dirty="0" smtClean="0"/>
              <a:t> analizi:</a:t>
            </a:r>
            <a:r>
              <a:rPr lang="tr-TR" dirty="0" smtClean="0"/>
              <a:t> </a:t>
            </a:r>
            <a:r>
              <a:rPr lang="tr-TR" dirty="0" err="1" smtClean="0"/>
              <a:t>VirusTotal</a:t>
            </a:r>
            <a:r>
              <a:rPr lang="tr-TR" dirty="0" smtClean="0"/>
              <a:t> gibi platformlarda kontrol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smtClean="0"/>
              <a:t>Ağ bağlantı analizi:</a:t>
            </a:r>
            <a:r>
              <a:rPr lang="tr-TR" dirty="0" smtClean="0"/>
              <a:t> C&amp;C sunucu iletişimini tespit</a:t>
            </a:r>
          </a:p>
          <a:p>
            <a:pPr>
              <a:buFont typeface="Arial" panose="020B0604020202020204" pitchFamily="34" charset="0"/>
              <a:buChar char="•"/>
            </a:pPr>
            <a:endParaRPr lang="tr-TR" b="1" dirty="0"/>
          </a:p>
          <a:p>
            <a:r>
              <a:rPr lang="tr-TR" b="1" dirty="0" smtClean="0">
                <a:solidFill>
                  <a:srgbClr val="FF0000"/>
                </a:solidFill>
              </a:rPr>
              <a:t>Göstergeler:</a:t>
            </a:r>
            <a:endParaRPr lang="tr-T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Beklenmeyen yeni program yüklemeleri | Tanımadığınız süreçlerin çalışması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 smtClean="0"/>
              <a:t>Antivirüs</a:t>
            </a:r>
            <a:r>
              <a:rPr lang="tr-TR" dirty="0" smtClean="0"/>
              <a:t> yazılımının devre dışı bırakılması | Güvenlik duvarı ayarlarında değişiklik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Yeni ağ bağlantıları ve portlar | Kayıt defterinde değişiklikler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smtClean="0"/>
              <a:t>Kullanıcı hesaplarında yetkisiz değişiklikler | Sistem konfigürasyonunda otomatik değişiklikler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2858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1076</TotalTime>
  <Words>936</Words>
  <Application>Microsoft Office PowerPoint</Application>
  <PresentationFormat>Geniş ekran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Arial</vt:lpstr>
      <vt:lpstr>Calibri</vt:lpstr>
      <vt:lpstr>Lucida Sans Unicode</vt:lpstr>
      <vt:lpstr>Microsoft Sans Serif</vt:lpstr>
      <vt:lpstr>Office Theme</vt:lpstr>
      <vt:lpstr>BİLİŞİM SİSTEMLERİNE YÖNELİK TEHDİTLER</vt:lpstr>
      <vt:lpstr>Bilişim Sistemlerine Yönelik Tehditler</vt:lpstr>
      <vt:lpstr>Zararlı Yazılımlar (Malware)</vt:lpstr>
      <vt:lpstr>Zararlı Yazılımlar (Malware)</vt:lpstr>
      <vt:lpstr>Zararlı Yazılımlar (Malware)</vt:lpstr>
      <vt:lpstr>Zararlı Yazılımlar (Malware)</vt:lpstr>
      <vt:lpstr>Ağlara Yönelik Tehditler</vt:lpstr>
      <vt:lpstr>Ağlara Yönelik Tehditler</vt:lpstr>
      <vt:lpstr>PowerPoint Sunusu</vt:lpstr>
      <vt:lpstr>Virüsler</vt:lpstr>
      <vt:lpstr>Solucanlar</vt:lpstr>
      <vt:lpstr>Truva Atları (Trojens)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Bilgisayar Donanımı</dc:title>
  <dc:creator>Erkan Kaynak</dc:creator>
  <cp:lastModifiedBy>Halil Arslan</cp:lastModifiedBy>
  <cp:revision>102</cp:revision>
  <dcterms:created xsi:type="dcterms:W3CDTF">2025-10-19T18:39:34Z</dcterms:created>
  <dcterms:modified xsi:type="dcterms:W3CDTF">2025-11-09T18:13:02Z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